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b.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73" r:id="rId24"/>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4" Type="http://schemas.openxmlformats.org/officeDocument/2006/relationships/slide" Target="slides/slide4b.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2769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 Id="rId5" Type="http://schemas.openxmlformats.org/officeDocument/2006/relationships/image" Target="../media/logo_cliente_portada.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4b.xml.rels><?xml version="1.0" encoding="UTF-8" standalone="yes"?>
<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3.png"/><Relationship Id="rId21" Type="http://schemas.openxmlformats.org/officeDocument/2006/relationships/image" Target="../media/image35.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5" Type="http://schemas.openxmlformats.org/officeDocument/2006/relationships/image" Target="../media/image39.png"/><Relationship Id="rId2" Type="http://schemas.openxmlformats.org/officeDocument/2006/relationships/notesSlide" Target="../notesSlides/notesSlide16.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24" Type="http://schemas.openxmlformats.org/officeDocument/2006/relationships/image" Target="../media/image38.png"/><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image" Target="../media/image37.png"/><Relationship Id="rId10" Type="http://schemas.openxmlformats.org/officeDocument/2006/relationships/image" Target="../media/image24.pn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 Id="rId5" Type="http://schemas.openxmlformats.org/officeDocument/2006/relationships/image" Target="../media/logo_cliente_cierre.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6ecba087-9563-50f1-9ffc-6a20c07eac08/scratchpad/decks/kit/bg_grad_d.png"/>
          <p:cNvPicPr>
            <a:picLocks noChangeAspect="1"/>
          </p:cNvPicPr>
          <p:nvPr/>
        </p:nvPicPr>
        <p:blipFill>
          <a:blip r:embed="rId3"/>
          <a:stretch>
            <a:fillRect/>
          </a:stretch>
        </p:blipFill>
        <p:spPr>
          <a:xfrm>
            <a:off x="0" y="0"/>
            <a:ext cx="12191695" cy="6858000"/>
          </a:xfrm>
          <a:prstGeom prst="rect">
            <a:avLst/>
          </a:prstGeom>
        </p:spPr>
      </p:pic>
      <p:pic>
        <p:nvPicPr>
          <p:cNvPr id="4" name="Image 2" descr="/tmp/claude-0/-home-claude/6ecba087-9563-50f1-9ffc-6a20c07eac08/scratchpad/decks/kit/logo_white.png"/>
          <p:cNvPicPr>
            <a:picLocks noChangeAspect="1"/>
          </p:cNvPicPr>
          <p:nvPr/>
        </p:nvPicPr>
        <p:blipFill>
          <a:blip r:embed="rId4"/>
          <a:stretch>
            <a:fillRect/>
          </a:stretch>
        </p:blipFill>
        <p:spPr>
          <a:xfrm>
            <a:off x="548640" y="548640"/>
            <a:ext cx="1554480" cy="307732"/>
          </a:xfrm>
          <a:prstGeom prst="rect">
            <a:avLst/>
          </a:prstGeom>
        </p:spPr>
      </p:pic>
      <p:sp>
        <p:nvSpPr>
          <p:cNvPr id="5" name="Text 0"/>
          <p:cNvSpPr txBox="1"/>
          <p:nvPr/>
        </p:nvSpPr>
        <p:spPr>
          <a:xfrm>
            <a:off x="10728655" y="566928"/>
            <a:ext cx="914400" cy="274320"/>
          </a:xfrm>
          <a:prstGeom prst="rect">
            <a:avLst/>
          </a:prstGeom>
          <a:noFill/>
          <a:ln/>
        </p:spPr>
        <p:txBody>
          <a:bodyPr wrap="square" lIns="0" tIns="0" rIns="0" bIns="0" rtlCol="0" anchor="t"/>
          <a:lstStyle/>
          <a:p>
            <a:pPr marL="0" indent="0" algn="r">
              <a:buNone/>
            </a:pPr>
            <a:r>
              <a:rPr lang="en-US" sz="1000" kern="0" spc="200" dirty="0">
                <a:solidFill>
                  <a:srgbClr val="E6ECEC"/>
                </a:solidFill>
                <a:latin typeface="Manrope" pitchFamily="34" charset="0"/>
                <a:ea typeface="Manrope" pitchFamily="34" charset="-122"/>
                <a:cs typeface="Manrope" pitchFamily="34" charset="-120"/>
              </a:rPr>
              <a:t>2026</a:t>
            </a:r>
            <a:endParaRPr lang="en-US" sz="1000" dirty="0"/>
          </a:p>
        </p:txBody>
      </p:sp>
      <p:sp>
        <p:nvSpPr>
          <p:cNvPr id="6" name="Text 1"/>
          <p:cNvSpPr txBox="1"/>
          <p:nvPr/>
        </p:nvSpPr>
        <p:spPr>
          <a:xfrm>
            <a:off x="548640" y="1828800"/>
            <a:ext cx="8229600" cy="1828800"/>
          </a:xfrm>
          <a:prstGeom prst="rect">
            <a:avLst/>
          </a:prstGeom>
          <a:noFill/>
          <a:ln/>
        </p:spPr>
        <p:txBody>
          <a:bodyPr wrap="square" lIns="0" tIns="0" rIns="0" bIns="0" rtlCol="0" anchor="b"/>
          <a:lstStyle/>
          <a:p>
            <a:pPr marL="0" indent="0">
              <a:lnSpc>
                <a:spcPct val="95000"/>
              </a:lnSpc>
              <a:buNone/>
            </a:pPr>
            <a:r>
              <a:rPr lang="en-US" sz="5400" kern="0" spc="-100" dirty="0">
                <a:solidFill>
                  <a:srgbClr val="FFFFFF"/>
                </a:solidFill>
                <a:latin typeface="Raleway Light" pitchFamily="34" charset="0"/>
                <a:ea typeface="Raleway Light" pitchFamily="34" charset="-122"/>
                <a:cs typeface="Raleway Light" pitchFamily="34" charset="-120"/>
              </a:rPr>
              <a:t>Somos tu</a:t>
            </a:r>
            <a:endParaRPr lang="en-US" sz="5400" dirty="0"/>
          </a:p>
          <a:p>
            <a:pPr marL="0" indent="0">
              <a:lnSpc>
                <a:spcPct val="95000"/>
              </a:lnSpc>
              <a:buNone/>
            </a:pPr>
            <a:r>
              <a:rPr lang="en-US" sz="5400" kern="0" spc="-100" dirty="0">
                <a:solidFill>
                  <a:srgbClr val="FFFFFF"/>
                </a:solidFill>
                <a:latin typeface="Raleway Light" pitchFamily="34" charset="0"/>
                <a:ea typeface="Raleway Light" pitchFamily="34" charset="-122"/>
                <a:cs typeface="Raleway Light" pitchFamily="34" charset="-120"/>
              </a:rPr>
              <a:t>Partner.</a:t>
            </a:r>
            <a:endParaRPr lang="en-US" sz="5400" dirty="0"/>
          </a:p>
        </p:txBody>
      </p:sp>
      <p:sp>
        <p:nvSpPr>
          <p:cNvPr id="7" name="Text 2"/>
          <p:cNvSpPr txBox="1"/>
          <p:nvPr/>
        </p:nvSpPr>
        <p:spPr>
          <a:xfrm>
            <a:off x="548640" y="5989320"/>
            <a:ext cx="4572000" cy="274320"/>
          </a:xfrm>
          <a:prstGeom prst="rect">
            <a:avLst/>
          </a:prstGeom>
          <a:noFill/>
          <a:ln/>
        </p:spPr>
        <p:txBody>
          <a:bodyPr wrap="square" lIns="0" tIns="0" rIns="0" bIns="0" rtlCol="0" anchor="t"/>
          <a:lstStyle/>
          <a:p>
            <a:pPr marL="0" indent="0">
              <a:buNone/>
            </a:pPr>
            <a:r>
              <a:rPr lang="en-US" sz="1200" dirty="0">
                <a:solidFill>
                  <a:srgbClr val="E6ECEC"/>
                </a:solidFill>
                <a:latin typeface="Raleway" pitchFamily="34" charset="0"/>
                <a:ea typeface="Raleway" pitchFamily="34" charset="-122"/>
                <a:cs typeface="Raleway" pitchFamily="34" charset="-120"/>
              </a:rPr>
              <a:t>Better decisions, </a:t>
            </a:r>
            <a:r>
              <a:rPr lang="en-US" sz="1200" dirty="0">
                <a:solidFill>
                  <a:srgbClr val="FFFFFF"/>
                </a:solidFill>
                <a:latin typeface="Raleway SemiBold" pitchFamily="34" charset="0"/>
                <a:ea typeface="Raleway SemiBold" pitchFamily="34" charset="-122"/>
                <a:cs typeface="Raleway SemiBold" pitchFamily="34" charset="-120"/>
              </a:rPr>
              <a:t>together</a:t>
            </a:r>
            <a:r>
              <a:rPr lang="en-US" sz="1200" dirty="0">
                <a:solidFill>
                  <a:srgbClr val="E6ECEC"/>
                </a:solidFill>
                <a:latin typeface="Raleway" pitchFamily="34" charset="0"/>
                <a:ea typeface="Raleway" pitchFamily="34" charset="-122"/>
                <a:cs typeface="Raleway" pitchFamily="34" charset="-120"/>
              </a:rPr>
              <a:t>.</a:t>
            </a:r>
            <a:endParaRPr lang="en-US" sz="1200" dirty="0"/>
          </a:p>
        </p:txBody>
      </p:sp>
      <p:pic>
        <p:nvPicPr>
          <p:cNvPr id="8" name="Logo cliente"/>
          <p:cNvPicPr>
            <a:picLocks noChangeAspect="1"/>
          </p:cNvPicPr>
          <p:nvPr/>
        </p:nvPicPr>
        <p:blipFill>
          <a:blip r:embed="rId5"/>
          <a:stretch>
            <a:fillRect/>
          </a:stretch>
        </p:blipFill>
        <p:spPr>
          <a:xfrm>
            <a:off x="7112000" y="1905000"/>
            <a:ext cx="4318000" cy="330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6ECEC"/>
        </a:solidFill>
        <a:effectLst/>
      </p:bgPr>
    </p:bg>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NOSOTROS</a:t>
            </a:r>
            <a:endParaRPr lang="en-US" sz="750" dirty="0"/>
          </a:p>
        </p:txBody>
      </p:sp>
      <p:sp>
        <p:nvSpPr>
          <p:cNvPr id="4"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NUESTRO EQUIPO</a:t>
            </a:r>
            <a:endParaRPr lang="en-US" sz="750" dirty="0"/>
          </a:p>
        </p:txBody>
      </p:sp>
      <p:sp>
        <p:nvSpPr>
          <p:cNvPr id="5"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pitchFamily="2" charset="0"/>
                <a:ea typeface="Raleway Medium" pitchFamily="34" charset="-122"/>
                <a:cs typeface="Raleway Medium" pitchFamily="34" charset="-120"/>
              </a:rPr>
              <a:t>2026</a:t>
            </a:r>
            <a:endParaRPr lang="en-US" sz="750" dirty="0">
              <a:latin typeface="Manrope" pitchFamily="2" charset="0"/>
            </a:endParaRPr>
          </a:p>
        </p:txBody>
      </p:sp>
      <p:sp>
        <p:nvSpPr>
          <p:cNvPr id="6"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El Equipo</a:t>
            </a:r>
            <a:endParaRPr lang="en-US" sz="3400" dirty="0"/>
          </a:p>
        </p:txBody>
      </p:sp>
      <p:sp>
        <p:nvSpPr>
          <p:cNvPr id="7" name="Text 4"/>
          <p:cNvSpPr txBox="1"/>
          <p:nvPr/>
        </p:nvSpPr>
        <p:spPr>
          <a:xfrm>
            <a:off x="9265615" y="804672"/>
            <a:ext cx="2377440" cy="685800"/>
          </a:xfrm>
          <a:prstGeom prst="rect">
            <a:avLst/>
          </a:prstGeom>
          <a:noFill/>
          <a:ln/>
        </p:spPr>
        <p:txBody>
          <a:bodyPr wrap="square" lIns="0" tIns="0" rIns="0" bIns="0" rtlCol="0" anchor="t"/>
          <a:lstStyle/>
          <a:p>
            <a:pPr marL="0" indent="0" algn="r">
              <a:buNone/>
            </a:pPr>
            <a:r>
              <a:rPr lang="en-US" sz="4400" dirty="0">
                <a:solidFill>
                  <a:srgbClr val="587579"/>
                </a:solidFill>
                <a:latin typeface="Manrope Light" pitchFamily="34" charset="0"/>
                <a:ea typeface="Manrope Light" pitchFamily="34" charset="-122"/>
                <a:cs typeface="Manrope Light" pitchFamily="34" charset="-120"/>
              </a:rPr>
              <a:t>+21</a:t>
            </a:r>
            <a:endParaRPr lang="en-US" sz="4400" dirty="0"/>
          </a:p>
        </p:txBody>
      </p:sp>
      <p:sp>
        <p:nvSpPr>
          <p:cNvPr id="8" name="Text 5"/>
          <p:cNvSpPr txBox="1"/>
          <p:nvPr/>
        </p:nvSpPr>
        <p:spPr>
          <a:xfrm>
            <a:off x="9265615" y="1481328"/>
            <a:ext cx="2377440" cy="228600"/>
          </a:xfrm>
          <a:prstGeom prst="rect">
            <a:avLst/>
          </a:prstGeom>
          <a:noFill/>
          <a:ln/>
        </p:spPr>
        <p:txBody>
          <a:bodyPr wrap="square" lIns="0" tIns="0" rIns="0" bIns="0" rtlCol="0" anchor="t"/>
          <a:lstStyle/>
          <a:p>
            <a:pPr marL="0" indent="0" algn="r">
              <a:buNone/>
            </a:pPr>
            <a:r>
              <a:rPr lang="en-US" sz="1000" dirty="0">
                <a:solidFill>
                  <a:srgbClr val="5C5C6E"/>
                </a:solidFill>
                <a:latin typeface="Raleway" pitchFamily="34" charset="0"/>
                <a:ea typeface="Raleway" pitchFamily="34" charset="-122"/>
                <a:cs typeface="Raleway" pitchFamily="34" charset="-120"/>
              </a:rPr>
              <a:t>consultores</a:t>
            </a:r>
            <a:endParaRPr lang="en-US" sz="1000" dirty="0"/>
          </a:p>
        </p:txBody>
      </p:sp>
      <p:pic>
        <p:nvPicPr>
          <p:cNvPr id="9" name="Image 1" descr="/tmp/claude-0/-home-claude/6ecba087-9563-50f1-9ffc-6a20c07eac08/scratchpad/decks/kit/t_manuel.png"/>
          <p:cNvPicPr>
            <a:picLocks noChangeAspect="1"/>
          </p:cNvPicPr>
          <p:nvPr/>
        </p:nvPicPr>
        <p:blipFill>
          <a:blip r:embed="rId4"/>
          <a:stretch>
            <a:fillRect/>
          </a:stretch>
        </p:blipFill>
        <p:spPr>
          <a:xfrm>
            <a:off x="548640" y="2377440"/>
            <a:ext cx="2377440" cy="2971800"/>
          </a:xfrm>
          <a:prstGeom prst="rect">
            <a:avLst/>
          </a:prstGeom>
        </p:spPr>
      </p:pic>
      <p:sp>
        <p:nvSpPr>
          <p:cNvPr id="10" name="Text 6"/>
          <p:cNvSpPr txBox="1"/>
          <p:nvPr/>
        </p:nvSpPr>
        <p:spPr>
          <a:xfrm>
            <a:off x="3246120" y="2377440"/>
            <a:ext cx="2643988" cy="256032"/>
          </a:xfrm>
          <a:prstGeom prst="rect">
            <a:avLst/>
          </a:prstGeom>
          <a:noFill/>
          <a:ln/>
        </p:spPr>
        <p:txBody>
          <a:bodyPr wrap="square" lIns="0" tIns="0" rIns="0" bIns="0" rtlCol="0" anchor="t"/>
          <a:lstStyle/>
          <a:p>
            <a:pPr marL="0" indent="0">
              <a:buNone/>
            </a:pPr>
            <a:r>
              <a:rPr lang="en-US" sz="1200" kern="0" spc="100" dirty="0">
                <a:solidFill>
                  <a:srgbClr val="202031"/>
                </a:solidFill>
                <a:latin typeface="Raleway SemiBold" pitchFamily="34" charset="0"/>
                <a:ea typeface="Raleway SemiBold" pitchFamily="34" charset="-122"/>
                <a:cs typeface="Raleway SemiBold" pitchFamily="34" charset="-120"/>
              </a:rPr>
              <a:t>MANUEL PINA</a:t>
            </a:r>
            <a:endParaRPr lang="en-US" sz="1200" dirty="0"/>
          </a:p>
        </p:txBody>
      </p:sp>
      <p:sp>
        <p:nvSpPr>
          <p:cNvPr id="11" name="Text 7"/>
          <p:cNvSpPr txBox="1"/>
          <p:nvPr/>
        </p:nvSpPr>
        <p:spPr>
          <a:xfrm>
            <a:off x="3246120" y="2651760"/>
            <a:ext cx="264398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PARTNER</a:t>
            </a:r>
            <a:endParaRPr lang="en-US" sz="850" dirty="0"/>
          </a:p>
        </p:txBody>
      </p:sp>
      <p:sp>
        <p:nvSpPr>
          <p:cNvPr id="12" name="Text 8"/>
          <p:cNvSpPr txBox="1"/>
          <p:nvPr/>
        </p:nvSpPr>
        <p:spPr>
          <a:xfrm>
            <a:off x="3246120" y="2944368"/>
            <a:ext cx="2643988" cy="2971800"/>
          </a:xfrm>
          <a:prstGeom prst="rect">
            <a:avLst/>
          </a:prstGeom>
          <a:noFill/>
          <a:ln/>
        </p:spPr>
        <p:txBody>
          <a:bodyPr wrap="square" lIns="0" tIns="0" rIns="0" bIns="0" rtlCol="0" anchor="t"/>
          <a:lstStyle/>
          <a:p>
            <a:pPr marL="0" indent="0">
              <a:lnSpc>
                <a:spcPct val="118000"/>
              </a:lnSpc>
              <a:buNone/>
            </a:pPr>
            <a:r>
              <a:rPr lang="en-US" sz="1100" dirty="0">
                <a:solidFill>
                  <a:srgbClr val="4A4A5C"/>
                </a:solidFill>
                <a:latin typeface="Raleway" pitchFamily="34" charset="0"/>
                <a:ea typeface="Raleway" pitchFamily="34" charset="-122"/>
                <a:cs typeface="Raleway" pitchFamily="34" charset="-120"/>
              </a:rPr>
              <a:t>Con más de </a:t>
            </a:r>
            <a:r>
              <a:rPr lang="en-US" sz="1100" dirty="0">
                <a:solidFill>
                  <a:srgbClr val="4A4A5C"/>
                </a:solidFill>
                <a:latin typeface="Manrope" pitchFamily="2" charset="0"/>
                <a:ea typeface="Raleway" pitchFamily="34" charset="-122"/>
                <a:cs typeface="Raleway" pitchFamily="34" charset="-120"/>
              </a:rPr>
              <a:t>10</a:t>
            </a:r>
            <a:r>
              <a:rPr lang="en-US" sz="1100" dirty="0">
                <a:solidFill>
                  <a:srgbClr val="4A4A5C"/>
                </a:solidFill>
                <a:latin typeface="Raleway" pitchFamily="34" charset="0"/>
                <a:ea typeface="Raleway" pitchFamily="34" charset="-122"/>
                <a:cs typeface="Raleway" pitchFamily="34" charset="-120"/>
              </a:rPr>
              <a:t> años de experiencia en Big Four en Auditoría, Due Diligence y M&amp;A, posteriormente asumió posiciones como CFO en grandes pymes españolas. En la actualidad lidera Tessera Finance, coordinando un equipo especializado en servicios de CFO, transacciones, Due Diligence y asesoramiento financiero estratégico para compañías en distintas fases de crecimiento.</a:t>
            </a:r>
            <a:endParaRPr lang="en-US" sz="1100" dirty="0"/>
          </a:p>
        </p:txBody>
      </p:sp>
      <p:pic>
        <p:nvPicPr>
          <p:cNvPr id="13" name="Image 2" descr="/tmp/claude-0/-home-claude/6ecba087-9563-50f1-9ffc-6a20c07eac08/scratchpad/decks/kit/t_edward.png"/>
          <p:cNvPicPr>
            <a:picLocks noChangeAspect="1"/>
          </p:cNvPicPr>
          <p:nvPr/>
        </p:nvPicPr>
        <p:blipFill>
          <a:blip r:embed="rId5"/>
          <a:stretch>
            <a:fillRect/>
          </a:stretch>
        </p:blipFill>
        <p:spPr>
          <a:xfrm>
            <a:off x="6301588" y="2377440"/>
            <a:ext cx="2377440" cy="2971800"/>
          </a:xfrm>
          <a:prstGeom prst="rect">
            <a:avLst/>
          </a:prstGeom>
        </p:spPr>
      </p:pic>
      <p:sp>
        <p:nvSpPr>
          <p:cNvPr id="14" name="Text 9"/>
          <p:cNvSpPr txBox="1"/>
          <p:nvPr/>
        </p:nvSpPr>
        <p:spPr>
          <a:xfrm>
            <a:off x="8999068" y="2377440"/>
            <a:ext cx="2643988" cy="256032"/>
          </a:xfrm>
          <a:prstGeom prst="rect">
            <a:avLst/>
          </a:prstGeom>
          <a:noFill/>
          <a:ln/>
        </p:spPr>
        <p:txBody>
          <a:bodyPr wrap="square" lIns="0" tIns="0" rIns="0" bIns="0" rtlCol="0" anchor="t"/>
          <a:lstStyle/>
          <a:p>
            <a:pPr marL="0" indent="0">
              <a:buNone/>
            </a:pPr>
            <a:r>
              <a:rPr lang="en-US" sz="1200" kern="0" spc="100" dirty="0">
                <a:solidFill>
                  <a:srgbClr val="202031"/>
                </a:solidFill>
                <a:latin typeface="Raleway SemiBold" pitchFamily="34" charset="0"/>
                <a:ea typeface="Raleway SemiBold" pitchFamily="34" charset="-122"/>
                <a:cs typeface="Raleway SemiBold" pitchFamily="34" charset="-120"/>
              </a:rPr>
              <a:t>EDWARD MANRIQUE</a:t>
            </a:r>
            <a:endParaRPr lang="en-US" sz="1200" dirty="0"/>
          </a:p>
        </p:txBody>
      </p:sp>
      <p:sp>
        <p:nvSpPr>
          <p:cNvPr id="15" name="Text 10"/>
          <p:cNvSpPr txBox="1"/>
          <p:nvPr/>
        </p:nvSpPr>
        <p:spPr>
          <a:xfrm>
            <a:off x="8999068" y="2651760"/>
            <a:ext cx="264398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HEAD OF TALENT</a:t>
            </a:r>
            <a:endParaRPr lang="en-US" sz="850" dirty="0"/>
          </a:p>
        </p:txBody>
      </p:sp>
      <p:sp>
        <p:nvSpPr>
          <p:cNvPr id="16" name="Text 11"/>
          <p:cNvSpPr txBox="1"/>
          <p:nvPr/>
        </p:nvSpPr>
        <p:spPr>
          <a:xfrm>
            <a:off x="8999068" y="2944368"/>
            <a:ext cx="2643988" cy="2971800"/>
          </a:xfrm>
          <a:prstGeom prst="rect">
            <a:avLst/>
          </a:prstGeom>
          <a:noFill/>
          <a:ln/>
        </p:spPr>
        <p:txBody>
          <a:bodyPr wrap="square" lIns="0" tIns="0" rIns="0" bIns="0" rtlCol="0" anchor="t"/>
          <a:lstStyle/>
          <a:p>
            <a:pPr marL="0" indent="0">
              <a:lnSpc>
                <a:spcPct val="118000"/>
              </a:lnSpc>
              <a:buNone/>
            </a:pPr>
            <a:r>
              <a:rPr lang="en-US" sz="1100" dirty="0">
                <a:solidFill>
                  <a:srgbClr val="4A4A5C"/>
                </a:solidFill>
                <a:latin typeface="Raleway" pitchFamily="34" charset="0"/>
                <a:ea typeface="Raleway" pitchFamily="34" charset="-122"/>
                <a:cs typeface="Raleway" pitchFamily="34" charset="-120"/>
              </a:rPr>
              <a:t>Más de </a:t>
            </a:r>
            <a:r>
              <a:rPr lang="en-US" sz="1100" dirty="0">
                <a:solidFill>
                  <a:srgbClr val="4A4A5C"/>
                </a:solidFill>
                <a:latin typeface="Manrope" pitchFamily="2" charset="0"/>
                <a:ea typeface="Raleway" pitchFamily="34" charset="-122"/>
                <a:cs typeface="Raleway" pitchFamily="34" charset="-120"/>
              </a:rPr>
              <a:t>8</a:t>
            </a:r>
            <a:r>
              <a:rPr lang="en-US" sz="1100" dirty="0">
                <a:solidFill>
                  <a:srgbClr val="4A4A5C"/>
                </a:solidFill>
                <a:latin typeface="Raleway" pitchFamily="34" charset="0"/>
                <a:ea typeface="Raleway" pitchFamily="34" charset="-122"/>
                <a:cs typeface="Raleway" pitchFamily="34" charset="-120"/>
              </a:rPr>
              <a:t> años de experiencia en identificación y evaluación de talento. Experiencia en Seedtag, donde lideró la contratación de más de </a:t>
            </a:r>
            <a:r>
              <a:rPr lang="en-US" sz="1100" dirty="0">
                <a:solidFill>
                  <a:srgbClr val="4A4A5C"/>
                </a:solidFill>
                <a:latin typeface="Manrope" pitchFamily="2" charset="0"/>
                <a:ea typeface="Raleway" pitchFamily="34" charset="-122"/>
                <a:cs typeface="Raleway" pitchFamily="34" charset="-120"/>
              </a:rPr>
              <a:t>200</a:t>
            </a:r>
            <a:r>
              <a:rPr lang="en-US" sz="1100" dirty="0">
                <a:solidFill>
                  <a:srgbClr val="4A4A5C"/>
                </a:solidFill>
                <a:latin typeface="Raleway" pitchFamily="34" charset="0"/>
                <a:ea typeface="Raleway" pitchFamily="34" charset="-122"/>
                <a:cs typeface="Raleway" pitchFamily="34" charset="-120"/>
              </a:rPr>
              <a:t> profesionales en </a:t>
            </a:r>
            <a:r>
              <a:rPr lang="en-US" sz="1100" dirty="0">
                <a:solidFill>
                  <a:srgbClr val="4A4A5C"/>
                </a:solidFill>
                <a:latin typeface="Manrope" pitchFamily="2" charset="0"/>
                <a:ea typeface="Raleway" pitchFamily="34" charset="-122"/>
                <a:cs typeface="Raleway" pitchFamily="34" charset="-120"/>
              </a:rPr>
              <a:t>16</a:t>
            </a:r>
            <a:r>
              <a:rPr lang="en-US" sz="1100" dirty="0">
                <a:solidFill>
                  <a:srgbClr val="4A4A5C"/>
                </a:solidFill>
                <a:latin typeface="Raleway" pitchFamily="34" charset="0"/>
                <a:ea typeface="Raleway" pitchFamily="34" charset="-122"/>
                <a:cs typeface="Raleway" pitchFamily="34" charset="-120"/>
              </a:rPr>
              <a:t> países, así como en grandes entidades financieras internacionales como Santander, BNP Paribas y BBVA.</a:t>
            </a:r>
            <a:endParaRPr lang="en-US" sz="1100" dirty="0"/>
          </a:p>
        </p:txBody>
      </p:sp>
      <p:sp>
        <p:nvSpPr>
          <p:cNvPr id="17" name="Text 12"/>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E6ECEC"/>
        </a:solidFill>
        <a:effectLst/>
      </p:bgPr>
    </p:bg>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NOSOTROS</a:t>
            </a:r>
            <a:endParaRPr lang="en-US" sz="750" dirty="0"/>
          </a:p>
        </p:txBody>
      </p:sp>
      <p:sp>
        <p:nvSpPr>
          <p:cNvPr id="4"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NUESTRO EQUIPO</a:t>
            </a:r>
            <a:endParaRPr lang="en-US" sz="750" dirty="0"/>
          </a:p>
        </p:txBody>
      </p:sp>
      <p:sp>
        <p:nvSpPr>
          <p:cNvPr id="5"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pitchFamily="2" charset="0"/>
                <a:ea typeface="Raleway Medium" pitchFamily="34" charset="-122"/>
                <a:cs typeface="Raleway Medium" pitchFamily="34" charset="-120"/>
              </a:rPr>
              <a:t>2026</a:t>
            </a:r>
            <a:endParaRPr lang="en-US" sz="750" dirty="0">
              <a:latin typeface="Manrope" pitchFamily="2" charset="0"/>
            </a:endParaRPr>
          </a:p>
        </p:txBody>
      </p:sp>
      <p:sp>
        <p:nvSpPr>
          <p:cNvPr id="6"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El Equipo</a:t>
            </a:r>
            <a:endParaRPr lang="en-US" sz="3400" dirty="0"/>
          </a:p>
        </p:txBody>
      </p:sp>
      <p:sp>
        <p:nvSpPr>
          <p:cNvPr id="7" name="Text 4"/>
          <p:cNvSpPr txBox="1"/>
          <p:nvPr/>
        </p:nvSpPr>
        <p:spPr>
          <a:xfrm>
            <a:off x="9265615" y="804672"/>
            <a:ext cx="2377440" cy="685800"/>
          </a:xfrm>
          <a:prstGeom prst="rect">
            <a:avLst/>
          </a:prstGeom>
          <a:noFill/>
          <a:ln/>
        </p:spPr>
        <p:txBody>
          <a:bodyPr wrap="square" lIns="0" tIns="0" rIns="0" bIns="0" rtlCol="0" anchor="t"/>
          <a:lstStyle/>
          <a:p>
            <a:pPr marL="0" indent="0" algn="r">
              <a:buNone/>
            </a:pPr>
            <a:r>
              <a:rPr lang="en-US" sz="4400" dirty="0">
                <a:solidFill>
                  <a:srgbClr val="587579"/>
                </a:solidFill>
                <a:latin typeface="Manrope Light" pitchFamily="34" charset="0"/>
                <a:ea typeface="Manrope Light" pitchFamily="34" charset="-122"/>
                <a:cs typeface="Manrope Light" pitchFamily="34" charset="-120"/>
              </a:rPr>
              <a:t>+21</a:t>
            </a:r>
            <a:endParaRPr lang="en-US" sz="4400" dirty="0"/>
          </a:p>
        </p:txBody>
      </p:sp>
      <p:sp>
        <p:nvSpPr>
          <p:cNvPr id="8" name="Text 5"/>
          <p:cNvSpPr txBox="1"/>
          <p:nvPr/>
        </p:nvSpPr>
        <p:spPr>
          <a:xfrm>
            <a:off x="9265615" y="1481328"/>
            <a:ext cx="2377440" cy="228600"/>
          </a:xfrm>
          <a:prstGeom prst="rect">
            <a:avLst/>
          </a:prstGeom>
          <a:noFill/>
          <a:ln/>
        </p:spPr>
        <p:txBody>
          <a:bodyPr wrap="square" lIns="0" tIns="0" rIns="0" bIns="0" rtlCol="0" anchor="t"/>
          <a:lstStyle/>
          <a:p>
            <a:pPr marL="0" indent="0" algn="r">
              <a:buNone/>
            </a:pPr>
            <a:r>
              <a:rPr lang="en-US" sz="1000" dirty="0">
                <a:solidFill>
                  <a:srgbClr val="5C5C6E"/>
                </a:solidFill>
                <a:latin typeface="Raleway" pitchFamily="34" charset="0"/>
                <a:ea typeface="Raleway" pitchFamily="34" charset="-122"/>
                <a:cs typeface="Raleway" pitchFamily="34" charset="-120"/>
              </a:rPr>
              <a:t>consultores</a:t>
            </a:r>
            <a:endParaRPr lang="en-US" sz="1000" dirty="0"/>
          </a:p>
        </p:txBody>
      </p:sp>
      <p:pic>
        <p:nvPicPr>
          <p:cNvPr id="9" name="Image 1" descr="/tmp/claude-0/-home-claude/6ecba087-9563-50f1-9ffc-6a20c07eac08/scratchpad/decks/kit/t_eduardo.png"/>
          <p:cNvPicPr>
            <a:picLocks noChangeAspect="1"/>
          </p:cNvPicPr>
          <p:nvPr/>
        </p:nvPicPr>
        <p:blipFill>
          <a:blip r:embed="rId4"/>
          <a:stretch>
            <a:fillRect/>
          </a:stretch>
        </p:blipFill>
        <p:spPr>
          <a:xfrm>
            <a:off x="548640" y="2148840"/>
            <a:ext cx="1711909" cy="2139887"/>
          </a:xfrm>
          <a:prstGeom prst="rect">
            <a:avLst/>
          </a:prstGeom>
        </p:spPr>
      </p:pic>
      <p:sp>
        <p:nvSpPr>
          <p:cNvPr id="10" name="Text 6"/>
          <p:cNvSpPr txBox="1"/>
          <p:nvPr/>
        </p:nvSpPr>
        <p:spPr>
          <a:xfrm>
            <a:off x="548640" y="4489895"/>
            <a:ext cx="3423818" cy="256032"/>
          </a:xfrm>
          <a:prstGeom prst="rect">
            <a:avLst/>
          </a:prstGeom>
          <a:noFill/>
          <a:ln/>
        </p:spPr>
        <p:txBody>
          <a:bodyPr wrap="square" lIns="0" tIns="0" rIns="0" bIns="0" rtlCol="0" anchor="t"/>
          <a:lstStyle/>
          <a:p>
            <a:pPr marL="0" indent="0">
              <a:buNone/>
            </a:pPr>
            <a:r>
              <a:rPr lang="en-US" sz="1200" kern="0" spc="100" dirty="0">
                <a:solidFill>
                  <a:srgbClr val="202031"/>
                </a:solidFill>
                <a:latin typeface="Raleway SemiBold" pitchFamily="34" charset="0"/>
                <a:ea typeface="Raleway SemiBold" pitchFamily="34" charset="-122"/>
                <a:cs typeface="Raleway SemiBold" pitchFamily="34" charset="-120"/>
              </a:rPr>
              <a:t>EDUARDO SERRANO</a:t>
            </a:r>
            <a:endParaRPr lang="en-US" sz="1200" dirty="0"/>
          </a:p>
        </p:txBody>
      </p:sp>
      <p:sp>
        <p:nvSpPr>
          <p:cNvPr id="11" name="Text 7"/>
          <p:cNvSpPr txBox="1"/>
          <p:nvPr/>
        </p:nvSpPr>
        <p:spPr>
          <a:xfrm>
            <a:off x="548640" y="4764215"/>
            <a:ext cx="342381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PARTNER</a:t>
            </a:r>
            <a:endParaRPr lang="en-US" sz="850" dirty="0"/>
          </a:p>
        </p:txBody>
      </p:sp>
      <p:sp>
        <p:nvSpPr>
          <p:cNvPr id="12" name="Text 8"/>
          <p:cNvSpPr txBox="1"/>
          <p:nvPr/>
        </p:nvSpPr>
        <p:spPr>
          <a:xfrm>
            <a:off x="548640" y="5056823"/>
            <a:ext cx="3423818" cy="1115378"/>
          </a:xfrm>
          <a:prstGeom prst="rect">
            <a:avLst/>
          </a:prstGeom>
          <a:noFill/>
          <a:ln/>
        </p:spPr>
        <p:txBody>
          <a:bodyPr wrap="square" lIns="0" tIns="0" rIns="0" bIns="0" rtlCol="0" anchor="t"/>
          <a:lstStyle/>
          <a:p>
            <a:pPr marL="0" indent="0">
              <a:lnSpc>
                <a:spcPct val="118000"/>
              </a:lnSpc>
              <a:buNone/>
            </a:pPr>
            <a:r>
              <a:rPr lang="en-US" sz="900" dirty="0">
                <a:solidFill>
                  <a:srgbClr val="4A4A5C"/>
                </a:solidFill>
                <a:latin typeface="Manrope" pitchFamily="2" charset="0"/>
                <a:ea typeface="Raleway" pitchFamily="34" charset="-122"/>
                <a:cs typeface="Raleway" pitchFamily="34" charset="-120"/>
              </a:rPr>
              <a:t>17</a:t>
            </a:r>
            <a:r>
              <a:rPr lang="en-US" sz="900" dirty="0">
                <a:solidFill>
                  <a:srgbClr val="4A4A5C"/>
                </a:solidFill>
                <a:latin typeface="Raleway" pitchFamily="34" charset="0"/>
                <a:ea typeface="Raleway" pitchFamily="34" charset="-122"/>
                <a:cs typeface="Raleway" pitchFamily="34" charset="-120"/>
              </a:rPr>
              <a:t> años en el mundo del emprendimiento tanto como CFO de grandes startups internacionales como de CFO en fondos líderes de Venture Capital y Venture Builders, especializado en aportar valor al negocio y su expansión desde el área financiera, la gestión de tesorería y la consecución de financiación y capital para todas ellas, con experiencia en el sector publicitario como Business Global Director en Adglow.</a:t>
            </a:r>
            <a:endParaRPr lang="en-US" sz="900" dirty="0"/>
          </a:p>
        </p:txBody>
      </p:sp>
      <p:pic>
        <p:nvPicPr>
          <p:cNvPr id="13" name="Image 2" descr="/tmp/claude-0/-home-claude/6ecba087-9563-50f1-9ffc-6a20c07eac08/scratchpad/decks/kit/t_manuel.png"/>
          <p:cNvPicPr>
            <a:picLocks noChangeAspect="1"/>
          </p:cNvPicPr>
          <p:nvPr/>
        </p:nvPicPr>
        <p:blipFill>
          <a:blip r:embed="rId5"/>
          <a:stretch>
            <a:fillRect/>
          </a:stretch>
        </p:blipFill>
        <p:spPr>
          <a:xfrm>
            <a:off x="4383938" y="2148840"/>
            <a:ext cx="1711909" cy="2139887"/>
          </a:xfrm>
          <a:prstGeom prst="rect">
            <a:avLst/>
          </a:prstGeom>
        </p:spPr>
      </p:pic>
      <p:sp>
        <p:nvSpPr>
          <p:cNvPr id="14" name="Text 9"/>
          <p:cNvSpPr txBox="1"/>
          <p:nvPr/>
        </p:nvSpPr>
        <p:spPr>
          <a:xfrm>
            <a:off x="4383938" y="4489895"/>
            <a:ext cx="3423818" cy="256032"/>
          </a:xfrm>
          <a:prstGeom prst="rect">
            <a:avLst/>
          </a:prstGeom>
          <a:noFill/>
          <a:ln/>
        </p:spPr>
        <p:txBody>
          <a:bodyPr wrap="square" lIns="0" tIns="0" rIns="0" bIns="0" rtlCol="0" anchor="t"/>
          <a:lstStyle/>
          <a:p>
            <a:pPr marL="0" indent="0">
              <a:buNone/>
            </a:pPr>
            <a:r>
              <a:rPr lang="en-US" sz="1200" kern="0" spc="100" dirty="0">
                <a:solidFill>
                  <a:srgbClr val="202031"/>
                </a:solidFill>
                <a:latin typeface="Raleway SemiBold" pitchFamily="34" charset="0"/>
                <a:ea typeface="Raleway SemiBold" pitchFamily="34" charset="-122"/>
                <a:cs typeface="Raleway SemiBold" pitchFamily="34" charset="-120"/>
              </a:rPr>
              <a:t>MANUEL PINA</a:t>
            </a:r>
            <a:endParaRPr lang="en-US" sz="1200" dirty="0"/>
          </a:p>
        </p:txBody>
      </p:sp>
      <p:sp>
        <p:nvSpPr>
          <p:cNvPr id="15" name="Text 10"/>
          <p:cNvSpPr txBox="1"/>
          <p:nvPr/>
        </p:nvSpPr>
        <p:spPr>
          <a:xfrm>
            <a:off x="4383938" y="4764215"/>
            <a:ext cx="342381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PARTNER</a:t>
            </a:r>
            <a:endParaRPr lang="en-US" sz="850" dirty="0"/>
          </a:p>
        </p:txBody>
      </p:sp>
      <p:sp>
        <p:nvSpPr>
          <p:cNvPr id="16" name="Text 11"/>
          <p:cNvSpPr txBox="1"/>
          <p:nvPr/>
        </p:nvSpPr>
        <p:spPr>
          <a:xfrm>
            <a:off x="4383938" y="5056823"/>
            <a:ext cx="3423818" cy="1115378"/>
          </a:xfrm>
          <a:prstGeom prst="rect">
            <a:avLst/>
          </a:prstGeom>
          <a:noFill/>
          <a:ln/>
        </p:spPr>
        <p:txBody>
          <a:bodyPr wrap="square" lIns="0" tIns="0" rIns="0" bIns="0" rtlCol="0" anchor="t"/>
          <a:lstStyle/>
          <a:p>
            <a:pPr marL="0" indent="0">
              <a:lnSpc>
                <a:spcPct val="118000"/>
              </a:lnSpc>
              <a:buNone/>
            </a:pPr>
            <a:r>
              <a:rPr lang="en-US" sz="900" dirty="0">
                <a:solidFill>
                  <a:srgbClr val="4A4A5C"/>
                </a:solidFill>
                <a:latin typeface="Raleway" pitchFamily="34" charset="0"/>
                <a:ea typeface="Raleway" pitchFamily="34" charset="-122"/>
                <a:cs typeface="Raleway" pitchFamily="34" charset="-120"/>
              </a:rPr>
              <a:t>Con más de </a:t>
            </a:r>
            <a:r>
              <a:rPr lang="en-US" sz="900" dirty="0">
                <a:solidFill>
                  <a:srgbClr val="4A4A5C"/>
                </a:solidFill>
                <a:latin typeface="Manrope" pitchFamily="2" charset="0"/>
                <a:ea typeface="Raleway" pitchFamily="34" charset="-122"/>
                <a:cs typeface="Raleway" pitchFamily="34" charset="-120"/>
              </a:rPr>
              <a:t>10</a:t>
            </a:r>
            <a:r>
              <a:rPr lang="en-US" sz="900" dirty="0">
                <a:solidFill>
                  <a:srgbClr val="4A4A5C"/>
                </a:solidFill>
                <a:latin typeface="Raleway" pitchFamily="34" charset="0"/>
                <a:ea typeface="Raleway" pitchFamily="34" charset="-122"/>
                <a:cs typeface="Raleway" pitchFamily="34" charset="-120"/>
              </a:rPr>
              <a:t> años de experiencia en Big Four en Auditoría, Due Diligence y M&amp;A, posteriormente asumió posiciones como CFO en grandes pymes españolas. En la actualidad lidera Tessera Finance, coordinando un equipo especializado en servicios de CFO, transacciones, Due Diligence y asesoramiento financiero estratégico para compañías en distintas fases de crecimiento.</a:t>
            </a:r>
            <a:endParaRPr lang="en-US" sz="900" dirty="0"/>
          </a:p>
        </p:txBody>
      </p:sp>
      <p:pic>
        <p:nvPicPr>
          <p:cNvPr id="17" name="Image 3" descr="/tmp/claude-0/-home-claude/6ecba087-9563-50f1-9ffc-6a20c07eac08/scratchpad/decks/kit/t_edward.png"/>
          <p:cNvPicPr>
            <a:picLocks noChangeAspect="1"/>
          </p:cNvPicPr>
          <p:nvPr/>
        </p:nvPicPr>
        <p:blipFill>
          <a:blip r:embed="rId6"/>
          <a:stretch>
            <a:fillRect/>
          </a:stretch>
        </p:blipFill>
        <p:spPr>
          <a:xfrm>
            <a:off x="8219237" y="2148840"/>
            <a:ext cx="1711909" cy="2139887"/>
          </a:xfrm>
          <a:prstGeom prst="rect">
            <a:avLst/>
          </a:prstGeom>
        </p:spPr>
      </p:pic>
      <p:sp>
        <p:nvSpPr>
          <p:cNvPr id="18" name="Text 12"/>
          <p:cNvSpPr txBox="1"/>
          <p:nvPr/>
        </p:nvSpPr>
        <p:spPr>
          <a:xfrm>
            <a:off x="8219237" y="4489895"/>
            <a:ext cx="3423818" cy="256032"/>
          </a:xfrm>
          <a:prstGeom prst="rect">
            <a:avLst/>
          </a:prstGeom>
          <a:noFill/>
          <a:ln/>
        </p:spPr>
        <p:txBody>
          <a:bodyPr wrap="square" lIns="0" tIns="0" rIns="0" bIns="0" rtlCol="0" anchor="t"/>
          <a:lstStyle/>
          <a:p>
            <a:pPr marL="0" indent="0">
              <a:buNone/>
            </a:pPr>
            <a:r>
              <a:rPr lang="en-US" sz="1200" kern="0" spc="100" dirty="0">
                <a:solidFill>
                  <a:srgbClr val="202031"/>
                </a:solidFill>
                <a:latin typeface="Raleway SemiBold" pitchFamily="34" charset="0"/>
                <a:ea typeface="Raleway SemiBold" pitchFamily="34" charset="-122"/>
                <a:cs typeface="Raleway SemiBold" pitchFamily="34" charset="-120"/>
              </a:rPr>
              <a:t>EDWARD MANRIQUE</a:t>
            </a:r>
            <a:endParaRPr lang="en-US" sz="1200" dirty="0"/>
          </a:p>
        </p:txBody>
      </p:sp>
      <p:sp>
        <p:nvSpPr>
          <p:cNvPr id="19" name="Text 13"/>
          <p:cNvSpPr txBox="1"/>
          <p:nvPr/>
        </p:nvSpPr>
        <p:spPr>
          <a:xfrm>
            <a:off x="8219237" y="4764215"/>
            <a:ext cx="342381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HEAD OF TALENT</a:t>
            </a:r>
            <a:endParaRPr lang="en-US" sz="850" dirty="0"/>
          </a:p>
        </p:txBody>
      </p:sp>
      <p:sp>
        <p:nvSpPr>
          <p:cNvPr id="20" name="Text 14"/>
          <p:cNvSpPr txBox="1"/>
          <p:nvPr/>
        </p:nvSpPr>
        <p:spPr>
          <a:xfrm>
            <a:off x="8219237" y="5056823"/>
            <a:ext cx="3423818" cy="1115378"/>
          </a:xfrm>
          <a:prstGeom prst="rect">
            <a:avLst/>
          </a:prstGeom>
          <a:noFill/>
          <a:ln/>
        </p:spPr>
        <p:txBody>
          <a:bodyPr wrap="square" lIns="0" tIns="0" rIns="0" bIns="0" rtlCol="0" anchor="t"/>
          <a:lstStyle/>
          <a:p>
            <a:pPr marL="0" indent="0">
              <a:lnSpc>
                <a:spcPct val="118000"/>
              </a:lnSpc>
              <a:buNone/>
            </a:pPr>
            <a:r>
              <a:rPr lang="en-US" sz="900" dirty="0">
                <a:solidFill>
                  <a:srgbClr val="4A4A5C"/>
                </a:solidFill>
                <a:latin typeface="Raleway" pitchFamily="34" charset="0"/>
                <a:ea typeface="Raleway" pitchFamily="34" charset="-122"/>
                <a:cs typeface="Raleway" pitchFamily="34" charset="-120"/>
              </a:rPr>
              <a:t>Más de </a:t>
            </a:r>
            <a:r>
              <a:rPr lang="en-US" sz="900" dirty="0">
                <a:solidFill>
                  <a:srgbClr val="4A4A5C"/>
                </a:solidFill>
                <a:latin typeface="Manrope" pitchFamily="2" charset="0"/>
                <a:ea typeface="Raleway" pitchFamily="34" charset="-122"/>
                <a:cs typeface="Raleway" pitchFamily="34" charset="-120"/>
              </a:rPr>
              <a:t>8</a:t>
            </a:r>
            <a:r>
              <a:rPr lang="en-US" sz="900" dirty="0">
                <a:solidFill>
                  <a:srgbClr val="4A4A5C"/>
                </a:solidFill>
                <a:latin typeface="Raleway" pitchFamily="34" charset="0"/>
                <a:ea typeface="Raleway" pitchFamily="34" charset="-122"/>
                <a:cs typeface="Raleway" pitchFamily="34" charset="-120"/>
              </a:rPr>
              <a:t> años de experiencia en identificación y evaluación de talento. Experiencia en Seedtag, donde lideró la contratación de más de </a:t>
            </a:r>
            <a:r>
              <a:rPr lang="en-US" sz="900" dirty="0">
                <a:solidFill>
                  <a:srgbClr val="4A4A5C"/>
                </a:solidFill>
                <a:latin typeface="Manrope" pitchFamily="2" charset="0"/>
                <a:ea typeface="Raleway" pitchFamily="34" charset="-122"/>
                <a:cs typeface="Raleway" pitchFamily="34" charset="-120"/>
              </a:rPr>
              <a:t>200</a:t>
            </a:r>
            <a:r>
              <a:rPr lang="en-US" sz="900" dirty="0">
                <a:solidFill>
                  <a:srgbClr val="4A4A5C"/>
                </a:solidFill>
                <a:latin typeface="Raleway" pitchFamily="34" charset="0"/>
                <a:ea typeface="Raleway" pitchFamily="34" charset="-122"/>
                <a:cs typeface="Raleway" pitchFamily="34" charset="-120"/>
              </a:rPr>
              <a:t> profesionales en </a:t>
            </a:r>
            <a:r>
              <a:rPr lang="en-US" sz="900" dirty="0">
                <a:solidFill>
                  <a:srgbClr val="4A4A5C"/>
                </a:solidFill>
                <a:latin typeface="Manrope" pitchFamily="2" charset="0"/>
                <a:ea typeface="Raleway" pitchFamily="34" charset="-122"/>
                <a:cs typeface="Raleway" pitchFamily="34" charset="-120"/>
              </a:rPr>
              <a:t>16</a:t>
            </a:r>
            <a:r>
              <a:rPr lang="en-US" sz="900" dirty="0">
                <a:solidFill>
                  <a:srgbClr val="4A4A5C"/>
                </a:solidFill>
                <a:latin typeface="Raleway" pitchFamily="34" charset="0"/>
                <a:ea typeface="Raleway" pitchFamily="34" charset="-122"/>
                <a:cs typeface="Raleway" pitchFamily="34" charset="-120"/>
              </a:rPr>
              <a:t> países, así como en grandes entidades financieras internacionales como Santander, BNP Paribas y BBVA.</a:t>
            </a:r>
            <a:endParaRPr lang="en-US" sz="900" dirty="0"/>
          </a:p>
        </p:txBody>
      </p:sp>
      <p:sp>
        <p:nvSpPr>
          <p:cNvPr id="21" name="Text 15"/>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NUESTRA FUERZA</a:t>
            </a:r>
            <a:endParaRPr lang="en-US" sz="750" dirty="0"/>
          </a:p>
        </p:txBody>
      </p:sp>
      <p:sp>
        <p:nvSpPr>
          <p:cNvPr id="4" name="Text 1"/>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pitchFamily="2" charset="0"/>
                <a:ea typeface="Raleway Medium" pitchFamily="34" charset="-122"/>
                <a:cs typeface="Raleway Medium" pitchFamily="34" charset="-120"/>
              </a:rPr>
              <a:t>2026</a:t>
            </a:r>
            <a:endParaRPr lang="en-US" sz="750" dirty="0">
              <a:latin typeface="Manrope" pitchFamily="2" charset="0"/>
            </a:endParaRPr>
          </a:p>
        </p:txBody>
      </p:sp>
      <p:sp>
        <p:nvSpPr>
          <p:cNvPr id="5" name="Text 2"/>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Dónde estamos</a:t>
            </a:r>
            <a:endParaRPr lang="en-US" sz="3400" dirty="0"/>
          </a:p>
        </p:txBody>
      </p:sp>
      <p:pic>
        <p:nvPicPr>
          <p:cNvPr id="6" name="Image 1" descr="/tmp/claude-0/-home-claude/6ecba087-9563-50f1-9ffc-6a20c07eac08/scratchpad/decks/kit/c_madrid.jpg"/>
          <p:cNvPicPr>
            <a:picLocks noChangeAspect="1"/>
          </p:cNvPicPr>
          <p:nvPr/>
        </p:nvPicPr>
        <p:blipFill>
          <a:blip r:embed="rId4"/>
          <a:srcRect/>
          <a:stretch/>
        </p:blipFill>
        <p:spPr>
          <a:xfrm>
            <a:off x="548640" y="1783080"/>
            <a:ext cx="3515258" cy="2788920"/>
          </a:xfrm>
          <a:prstGeom prst="rect">
            <a:avLst/>
          </a:prstGeom>
        </p:spPr>
      </p:pic>
      <p:sp>
        <p:nvSpPr>
          <p:cNvPr id="7" name="Text 3"/>
          <p:cNvSpPr txBox="1"/>
          <p:nvPr/>
        </p:nvSpPr>
        <p:spPr>
          <a:xfrm>
            <a:off x="548640" y="4709160"/>
            <a:ext cx="3515258" cy="274320"/>
          </a:xfrm>
          <a:prstGeom prst="rect">
            <a:avLst/>
          </a:prstGeom>
          <a:noFill/>
          <a:ln/>
        </p:spPr>
        <p:txBody>
          <a:bodyPr wrap="square" lIns="0" tIns="0" rIns="0" bIns="0" rtlCol="0" anchor="t"/>
          <a:lstStyle/>
          <a:p>
            <a:pPr marL="0" indent="0">
              <a:buNone/>
            </a:pPr>
            <a:r>
              <a:rPr lang="en-US" sz="1300" kern="0" spc="250" dirty="0">
                <a:solidFill>
                  <a:srgbClr val="202031"/>
                </a:solidFill>
                <a:latin typeface="Raleway SemiBold" pitchFamily="34" charset="0"/>
                <a:ea typeface="Raleway SemiBold" pitchFamily="34" charset="-122"/>
                <a:cs typeface="Raleway SemiBold" pitchFamily="34" charset="-120"/>
              </a:rPr>
              <a:t>MADRID</a:t>
            </a:r>
            <a:endParaRPr lang="en-US" sz="1300" dirty="0"/>
          </a:p>
        </p:txBody>
      </p:sp>
      <p:sp>
        <p:nvSpPr>
          <p:cNvPr id="8" name="Text 4"/>
          <p:cNvSpPr txBox="1"/>
          <p:nvPr/>
        </p:nvSpPr>
        <p:spPr>
          <a:xfrm>
            <a:off x="548640" y="4983480"/>
            <a:ext cx="3515258" cy="228600"/>
          </a:xfrm>
          <a:prstGeom prst="rect">
            <a:avLst/>
          </a:prstGeom>
          <a:noFill/>
          <a:ln/>
        </p:spPr>
        <p:txBody>
          <a:bodyPr wrap="square" lIns="0" tIns="0" rIns="0" bIns="0" rtlCol="0" anchor="t"/>
          <a:lstStyle/>
          <a:p>
            <a:pPr marL="0" indent="0">
              <a:buNone/>
            </a:pPr>
            <a:r>
              <a:rPr lang="en-US" sz="1000" dirty="0">
                <a:solidFill>
                  <a:srgbClr val="5C5C6E"/>
                </a:solidFill>
                <a:latin typeface="Raleway" pitchFamily="34" charset="0"/>
                <a:ea typeface="Raleway" pitchFamily="34" charset="-122"/>
                <a:cs typeface="Raleway" pitchFamily="34" charset="-120"/>
              </a:rPr>
              <a:t>Sede central</a:t>
            </a:r>
            <a:endParaRPr lang="en-US" sz="1000" dirty="0"/>
          </a:p>
        </p:txBody>
      </p:sp>
      <p:pic>
        <p:nvPicPr>
          <p:cNvPr id="9" name="Image 2" descr="/tmp/claude-0/-home-claude/6ecba087-9563-50f1-9ffc-6a20c07eac08/scratchpad/decks/kit/c_bilbao.jpg"/>
          <p:cNvPicPr>
            <a:picLocks noChangeAspect="1"/>
          </p:cNvPicPr>
          <p:nvPr/>
        </p:nvPicPr>
        <p:blipFill>
          <a:blip r:embed="rId5"/>
          <a:srcRect/>
          <a:stretch/>
        </p:blipFill>
        <p:spPr>
          <a:xfrm>
            <a:off x="4338218" y="1783080"/>
            <a:ext cx="3515258" cy="2788920"/>
          </a:xfrm>
          <a:prstGeom prst="rect">
            <a:avLst/>
          </a:prstGeom>
        </p:spPr>
      </p:pic>
      <p:sp>
        <p:nvSpPr>
          <p:cNvPr id="10" name="Text 5"/>
          <p:cNvSpPr txBox="1"/>
          <p:nvPr/>
        </p:nvSpPr>
        <p:spPr>
          <a:xfrm>
            <a:off x="4338218" y="4709160"/>
            <a:ext cx="3515258" cy="274320"/>
          </a:xfrm>
          <a:prstGeom prst="rect">
            <a:avLst/>
          </a:prstGeom>
          <a:noFill/>
          <a:ln/>
        </p:spPr>
        <p:txBody>
          <a:bodyPr wrap="square" lIns="0" tIns="0" rIns="0" bIns="0" rtlCol="0" anchor="t"/>
          <a:lstStyle/>
          <a:p>
            <a:pPr marL="0" indent="0">
              <a:buNone/>
            </a:pPr>
            <a:r>
              <a:rPr lang="en-US" sz="1300" kern="0" spc="250" dirty="0">
                <a:solidFill>
                  <a:srgbClr val="202031"/>
                </a:solidFill>
                <a:latin typeface="Raleway SemiBold" pitchFamily="34" charset="0"/>
                <a:ea typeface="Raleway SemiBold" pitchFamily="34" charset="-122"/>
                <a:cs typeface="Raleway SemiBold" pitchFamily="34" charset="-120"/>
              </a:rPr>
              <a:t>BILBAO</a:t>
            </a:r>
            <a:endParaRPr lang="en-US" sz="1300" dirty="0"/>
          </a:p>
        </p:txBody>
      </p:sp>
      <p:sp>
        <p:nvSpPr>
          <p:cNvPr id="11" name="Text 6"/>
          <p:cNvSpPr txBox="1"/>
          <p:nvPr/>
        </p:nvSpPr>
        <p:spPr>
          <a:xfrm>
            <a:off x="4338218" y="4983480"/>
            <a:ext cx="3515258" cy="228600"/>
          </a:xfrm>
          <a:prstGeom prst="rect">
            <a:avLst/>
          </a:prstGeom>
          <a:noFill/>
          <a:ln/>
        </p:spPr>
        <p:txBody>
          <a:bodyPr wrap="square" lIns="0" tIns="0" rIns="0" bIns="0" rtlCol="0" anchor="t"/>
          <a:lstStyle/>
          <a:p>
            <a:pPr marL="0" indent="0">
              <a:buNone/>
            </a:pPr>
            <a:r>
              <a:rPr lang="en-US" sz="1000" dirty="0">
                <a:solidFill>
                  <a:srgbClr val="5C5C6E"/>
                </a:solidFill>
                <a:latin typeface="Raleway" pitchFamily="34" charset="0"/>
                <a:ea typeface="Raleway" pitchFamily="34" charset="-122"/>
                <a:cs typeface="Raleway" pitchFamily="34" charset="-120"/>
              </a:rPr>
              <a:t>País Vasco - España</a:t>
            </a:r>
            <a:endParaRPr lang="en-US" sz="1000" dirty="0"/>
          </a:p>
        </p:txBody>
      </p:sp>
      <p:pic>
        <p:nvPicPr>
          <p:cNvPr id="12" name="Image 3" descr="/tmp/claude-0/-home-claude/6ecba087-9563-50f1-9ffc-6a20c07eac08/scratchpad/decks/kit/c_oviedo.jpg"/>
          <p:cNvPicPr>
            <a:picLocks noChangeAspect="1"/>
          </p:cNvPicPr>
          <p:nvPr/>
        </p:nvPicPr>
        <p:blipFill>
          <a:blip r:embed="rId6"/>
          <a:srcRect/>
          <a:stretch/>
        </p:blipFill>
        <p:spPr>
          <a:xfrm>
            <a:off x="8127797" y="1783080"/>
            <a:ext cx="3515258" cy="2788920"/>
          </a:xfrm>
          <a:prstGeom prst="rect">
            <a:avLst/>
          </a:prstGeom>
        </p:spPr>
      </p:pic>
      <p:sp>
        <p:nvSpPr>
          <p:cNvPr id="13" name="Text 7"/>
          <p:cNvSpPr txBox="1"/>
          <p:nvPr/>
        </p:nvSpPr>
        <p:spPr>
          <a:xfrm>
            <a:off x="8127797" y="4709160"/>
            <a:ext cx="3515258" cy="274320"/>
          </a:xfrm>
          <a:prstGeom prst="rect">
            <a:avLst/>
          </a:prstGeom>
          <a:noFill/>
          <a:ln/>
        </p:spPr>
        <p:txBody>
          <a:bodyPr wrap="square" lIns="0" tIns="0" rIns="0" bIns="0" rtlCol="0" anchor="t"/>
          <a:lstStyle/>
          <a:p>
            <a:pPr marL="0" indent="0">
              <a:buNone/>
            </a:pPr>
            <a:r>
              <a:rPr lang="en-US" sz="1300" kern="0" spc="250" dirty="0">
                <a:solidFill>
                  <a:srgbClr val="202031"/>
                </a:solidFill>
                <a:latin typeface="Raleway SemiBold" pitchFamily="34" charset="0"/>
                <a:ea typeface="Raleway SemiBold" pitchFamily="34" charset="-122"/>
                <a:cs typeface="Raleway SemiBold" pitchFamily="34" charset="-120"/>
              </a:rPr>
              <a:t>OVIEDO</a:t>
            </a:r>
            <a:endParaRPr lang="en-US" sz="1300" dirty="0"/>
          </a:p>
        </p:txBody>
      </p:sp>
      <p:sp>
        <p:nvSpPr>
          <p:cNvPr id="14" name="Text 8"/>
          <p:cNvSpPr txBox="1"/>
          <p:nvPr/>
        </p:nvSpPr>
        <p:spPr>
          <a:xfrm>
            <a:off x="8127797" y="4983480"/>
            <a:ext cx="3515258" cy="228600"/>
          </a:xfrm>
          <a:prstGeom prst="rect">
            <a:avLst/>
          </a:prstGeom>
          <a:noFill/>
          <a:ln/>
        </p:spPr>
        <p:txBody>
          <a:bodyPr wrap="square" lIns="0" tIns="0" rIns="0" bIns="0" rtlCol="0" anchor="t"/>
          <a:lstStyle/>
          <a:p>
            <a:pPr marL="0" indent="0">
              <a:buNone/>
            </a:pPr>
            <a:r>
              <a:rPr lang="en-US" sz="1000" dirty="0">
                <a:solidFill>
                  <a:srgbClr val="5C5C6E"/>
                </a:solidFill>
                <a:latin typeface="Raleway" pitchFamily="34" charset="0"/>
                <a:ea typeface="Raleway" pitchFamily="34" charset="-122"/>
                <a:cs typeface="Raleway" pitchFamily="34" charset="-120"/>
              </a:rPr>
              <a:t>Asturias - España</a:t>
            </a:r>
            <a:endParaRPr lang="en-US" sz="1000" dirty="0"/>
          </a:p>
        </p:txBody>
      </p:sp>
      <p:sp>
        <p:nvSpPr>
          <p:cNvPr id="15" name="Shape 9"/>
          <p:cNvSpPr/>
          <p:nvPr/>
        </p:nvSpPr>
        <p:spPr>
          <a:xfrm>
            <a:off x="0" y="5440680"/>
            <a:ext cx="12191695" cy="1417320"/>
          </a:xfrm>
          <a:prstGeom prst="rect">
            <a:avLst/>
          </a:prstGeom>
          <a:solidFill>
            <a:srgbClr val="587579"/>
          </a:solidFill>
          <a:ln w="12700">
            <a:solidFill>
              <a:srgbClr val="587579"/>
            </a:solidFill>
            <a:prstDash val="solid"/>
          </a:ln>
        </p:spPr>
        <p:txBody>
          <a:bodyPr/>
          <a:lstStyle/>
          <a:p>
            <a:endParaRPr lang="es-ES"/>
          </a:p>
        </p:txBody>
      </p:sp>
      <p:sp>
        <p:nvSpPr>
          <p:cNvPr id="16" name="Text 10"/>
          <p:cNvSpPr txBox="1"/>
          <p:nvPr/>
        </p:nvSpPr>
        <p:spPr>
          <a:xfrm>
            <a:off x="548640" y="5623560"/>
            <a:ext cx="3515258" cy="457200"/>
          </a:xfrm>
          <a:prstGeom prst="rect">
            <a:avLst/>
          </a:prstGeom>
          <a:noFill/>
          <a:ln/>
        </p:spPr>
        <p:txBody>
          <a:bodyPr wrap="square" lIns="0" tIns="0" rIns="0" bIns="0" rtlCol="0" anchor="ctr"/>
          <a:lstStyle/>
          <a:p>
            <a:pPr marL="0" indent="0">
              <a:buNone/>
            </a:pPr>
            <a:r>
              <a:rPr lang="en-US" sz="2600" dirty="0">
                <a:solidFill>
                  <a:srgbClr val="FFFFFF"/>
                </a:solidFill>
                <a:latin typeface="Manrope Light" pitchFamily="34" charset="0"/>
                <a:ea typeface="Manrope Light" pitchFamily="34" charset="-122"/>
                <a:cs typeface="Manrope Light" pitchFamily="34" charset="-120"/>
              </a:rPr>
              <a:t>3</a:t>
            </a:r>
            <a:r>
              <a:rPr lang="en-US" sz="2600" dirty="0">
                <a:solidFill>
                  <a:srgbClr val="FFFFFF"/>
                </a:solidFill>
                <a:latin typeface="Raleway Light" pitchFamily="34" charset="0"/>
                <a:ea typeface="Raleway Light" pitchFamily="34" charset="-122"/>
                <a:cs typeface="Raleway Light" pitchFamily="34" charset="-120"/>
              </a:rPr>
              <a:t> </a:t>
            </a:r>
            <a:r>
              <a:rPr lang="en-US" sz="950" kern="0" spc="200" dirty="0">
                <a:solidFill>
                  <a:srgbClr val="FFFFFF"/>
                </a:solidFill>
                <a:latin typeface="Raleway SemiBold" pitchFamily="34" charset="0"/>
                <a:ea typeface="Raleway SemiBold" pitchFamily="34" charset="-122"/>
                <a:cs typeface="Raleway SemiBold" pitchFamily="34" charset="-120"/>
              </a:rPr>
              <a:t>CIUDADES</a:t>
            </a:r>
            <a:endParaRPr lang="en-US" sz="1100" dirty="0"/>
          </a:p>
        </p:txBody>
      </p:sp>
      <p:sp>
        <p:nvSpPr>
          <p:cNvPr id="17" name="Text 11"/>
          <p:cNvSpPr txBox="1"/>
          <p:nvPr/>
        </p:nvSpPr>
        <p:spPr>
          <a:xfrm>
            <a:off x="548640" y="6108192"/>
            <a:ext cx="3515258" cy="274320"/>
          </a:xfrm>
          <a:prstGeom prst="rect">
            <a:avLst/>
          </a:prstGeom>
          <a:noFill/>
          <a:ln/>
        </p:spPr>
        <p:txBody>
          <a:bodyPr wrap="square" lIns="0" tIns="0" rIns="0" bIns="0" rtlCol="0" anchor="t"/>
          <a:lstStyle/>
          <a:p>
            <a:pPr marL="0" indent="0">
              <a:buNone/>
            </a:pPr>
            <a:r>
              <a:rPr lang="en-US" sz="1100" dirty="0">
                <a:solidFill>
                  <a:srgbClr val="E6ECEC"/>
                </a:solidFill>
                <a:latin typeface="Raleway" pitchFamily="34" charset="0"/>
                <a:ea typeface="Raleway" pitchFamily="34" charset="-122"/>
                <a:cs typeface="Raleway" pitchFamily="34" charset="-120"/>
              </a:rPr>
              <a:t>Madrid, Bilbao y Oviedo</a:t>
            </a:r>
            <a:endParaRPr lang="en-US" sz="1100" dirty="0"/>
          </a:p>
        </p:txBody>
      </p:sp>
      <p:sp>
        <p:nvSpPr>
          <p:cNvPr id="18" name="Shape 12"/>
          <p:cNvSpPr/>
          <p:nvPr/>
        </p:nvSpPr>
        <p:spPr>
          <a:xfrm>
            <a:off x="4201058" y="5687568"/>
            <a:ext cx="0" cy="822960"/>
          </a:xfrm>
          <a:prstGeom prst="line">
            <a:avLst/>
          </a:prstGeom>
          <a:noFill/>
          <a:ln w="9525">
            <a:solidFill>
              <a:srgbClr val="7F9A9D"/>
            </a:solidFill>
            <a:prstDash val="solid"/>
          </a:ln>
        </p:spPr>
        <p:txBody>
          <a:bodyPr/>
          <a:lstStyle/>
          <a:p>
            <a:endParaRPr lang="es-ES"/>
          </a:p>
        </p:txBody>
      </p:sp>
      <p:sp>
        <p:nvSpPr>
          <p:cNvPr id="19" name="Text 13"/>
          <p:cNvSpPr txBox="1"/>
          <p:nvPr/>
        </p:nvSpPr>
        <p:spPr>
          <a:xfrm>
            <a:off x="4338218" y="5623560"/>
            <a:ext cx="3515258" cy="457200"/>
          </a:xfrm>
          <a:prstGeom prst="rect">
            <a:avLst/>
          </a:prstGeom>
          <a:noFill/>
          <a:ln/>
        </p:spPr>
        <p:txBody>
          <a:bodyPr wrap="square" lIns="0" tIns="0" rIns="0" bIns="0" rtlCol="0" anchor="ctr"/>
          <a:lstStyle/>
          <a:p>
            <a:pPr marL="0" indent="0">
              <a:buNone/>
            </a:pPr>
            <a:r>
              <a:rPr lang="en-US" sz="2600" dirty="0">
                <a:solidFill>
                  <a:srgbClr val="FFFFFF"/>
                </a:solidFill>
                <a:latin typeface="Manrope Light" pitchFamily="34" charset="0"/>
                <a:ea typeface="Manrope Light" pitchFamily="34" charset="-122"/>
                <a:cs typeface="Manrope Light" pitchFamily="34" charset="-120"/>
              </a:rPr>
              <a:t>1</a:t>
            </a:r>
            <a:r>
              <a:rPr lang="en-US" sz="2600" dirty="0">
                <a:solidFill>
                  <a:srgbClr val="FFFFFF"/>
                </a:solidFill>
                <a:latin typeface="Raleway Light" pitchFamily="34" charset="0"/>
                <a:ea typeface="Raleway Light" pitchFamily="34" charset="-122"/>
                <a:cs typeface="Raleway Light" pitchFamily="34" charset="-120"/>
              </a:rPr>
              <a:t> </a:t>
            </a:r>
            <a:r>
              <a:rPr lang="en-US" sz="950" kern="0" spc="200" dirty="0">
                <a:solidFill>
                  <a:srgbClr val="FFFFFF"/>
                </a:solidFill>
                <a:latin typeface="Raleway SemiBold" pitchFamily="34" charset="0"/>
                <a:ea typeface="Raleway SemiBold" pitchFamily="34" charset="-122"/>
                <a:cs typeface="Raleway SemiBold" pitchFamily="34" charset="-120"/>
              </a:rPr>
              <a:t>EQUIPO</a:t>
            </a:r>
            <a:endParaRPr lang="en-US" sz="1100" dirty="0"/>
          </a:p>
        </p:txBody>
      </p:sp>
      <p:sp>
        <p:nvSpPr>
          <p:cNvPr id="20" name="Text 14"/>
          <p:cNvSpPr txBox="1"/>
          <p:nvPr/>
        </p:nvSpPr>
        <p:spPr>
          <a:xfrm>
            <a:off x="4338218" y="6108192"/>
            <a:ext cx="3515258" cy="274320"/>
          </a:xfrm>
          <a:prstGeom prst="rect">
            <a:avLst/>
          </a:prstGeom>
          <a:noFill/>
          <a:ln/>
        </p:spPr>
        <p:txBody>
          <a:bodyPr wrap="square" lIns="0" tIns="0" rIns="0" bIns="0" rtlCol="0" anchor="t"/>
          <a:lstStyle/>
          <a:p>
            <a:pPr marL="0" indent="0">
              <a:buNone/>
            </a:pPr>
            <a:r>
              <a:rPr lang="en-US" sz="1100" dirty="0">
                <a:solidFill>
                  <a:srgbClr val="E6ECEC"/>
                </a:solidFill>
                <a:latin typeface="Raleway" pitchFamily="34" charset="0"/>
                <a:ea typeface="Raleway" pitchFamily="34" charset="-122"/>
                <a:cs typeface="Raleway" pitchFamily="34" charset="-120"/>
              </a:rPr>
              <a:t>El mismo estándar en cada oficina</a:t>
            </a:r>
            <a:endParaRPr lang="en-US" sz="1100" dirty="0"/>
          </a:p>
        </p:txBody>
      </p:sp>
      <p:sp>
        <p:nvSpPr>
          <p:cNvPr id="21" name="Text 15"/>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E6ECEC"/>
                </a:solidFill>
                <a:latin typeface="Manrope" pitchFamily="34" charset="0"/>
                <a:ea typeface="Manrope" pitchFamily="34" charset="-122"/>
                <a:cs typeface="Manrope" pitchFamily="34" charset="-120"/>
              </a:rPr>
              <a:t>02</a:t>
            </a:r>
            <a:endParaRPr lang="en-US" sz="1000" dirty="0"/>
          </a:p>
        </p:txBody>
      </p:sp>
    </p:spTree>
  </p:cSld>
  <p:clrMapOvr>
    <a:masterClrMapping/>
  </p:clrMapOvr>
</p:sld>
</file>

<file path=ppt/slides/slide4b.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NUESTRA FUERZA</a:t>
            </a:r>
            <a:endParaRPr lang="en-US" sz="750" dirty="0"/>
          </a:p>
        </p:txBody>
      </p:sp>
      <p:sp>
        <p:nvSpPr>
          <p:cNvPr id="4" name="Text 1"/>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pitchFamily="2" charset="0"/>
                <a:ea typeface="Raleway Medium" pitchFamily="34" charset="-122"/>
                <a:cs typeface="Raleway Medium" pitchFamily="34" charset="-120"/>
              </a:rPr>
              <a:t>2026</a:t>
            </a:r>
            <a:endParaRPr lang="en-US" sz="750" dirty="0">
              <a:latin typeface="Manrope" pitchFamily="2" charset="0"/>
            </a:endParaRPr>
          </a:p>
        </p:txBody>
      </p:sp>
      <p:sp>
        <p:nvSpPr>
          <p:cNvPr id="5" name="Text 2"/>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Dónde estamos</a:t>
            </a:r>
            <a:endParaRPr lang="en-US" sz="3400" dirty="0"/>
          </a:p>
        </p:txBody>
      </p:sp>
      <p:pic>
        <p:nvPicPr>
          <p:cNvPr id="6" name="Image 1" descr="/tmp/claude-0/-home-claude/6ecba087-9563-50f1-9ffc-6a20c07eac08/scratchpad/decks/kit/c_madrid.jpg"/>
          <p:cNvPicPr>
            <a:picLocks noChangeAspect="1"/>
          </p:cNvPicPr>
          <p:nvPr/>
        </p:nvPicPr>
        <p:blipFill>
          <a:blip r:embed="rId4"/>
          <a:srcRect/>
          <a:stretch/>
        </p:blipFill>
        <p:spPr>
          <a:xfrm>
            <a:off x="548640" y="1783080"/>
            <a:ext cx="3515258" cy="2788920"/>
          </a:xfrm>
          <a:prstGeom prst="rect">
            <a:avLst/>
          </a:prstGeom>
        </p:spPr>
      </p:pic>
      <p:sp>
        <p:nvSpPr>
          <p:cNvPr id="7" name="Text 3"/>
          <p:cNvSpPr txBox="1"/>
          <p:nvPr/>
        </p:nvSpPr>
        <p:spPr>
          <a:xfrm>
            <a:off x="548640" y="4709160"/>
            <a:ext cx="3515258" cy="274320"/>
          </a:xfrm>
          <a:prstGeom prst="rect">
            <a:avLst/>
          </a:prstGeom>
          <a:noFill/>
          <a:ln/>
        </p:spPr>
        <p:txBody>
          <a:bodyPr wrap="square" lIns="0" tIns="0" rIns="0" bIns="0" rtlCol="0" anchor="t"/>
          <a:lstStyle/>
          <a:p>
            <a:pPr marL="0" indent="0">
              <a:buNone/>
            </a:pPr>
            <a:r>
              <a:rPr lang="en-US" sz="1300" kern="0" spc="250" dirty="0">
                <a:solidFill>
                  <a:srgbClr val="202031"/>
                </a:solidFill>
                <a:latin typeface="Raleway SemiBold" pitchFamily="34" charset="0"/>
                <a:ea typeface="Raleway SemiBold" pitchFamily="34" charset="-122"/>
                <a:cs typeface="Raleway SemiBold" pitchFamily="34" charset="-120"/>
              </a:rPr>
              <a:t>MADRID</a:t>
            </a:r>
            <a:endParaRPr lang="en-US" sz="1300" dirty="0"/>
          </a:p>
        </p:txBody>
      </p:sp>
      <p:sp>
        <p:nvSpPr>
          <p:cNvPr id="8" name="Text 4"/>
          <p:cNvSpPr txBox="1"/>
          <p:nvPr/>
        </p:nvSpPr>
        <p:spPr>
          <a:xfrm>
            <a:off x="548640" y="4983480"/>
            <a:ext cx="3515258" cy="228600"/>
          </a:xfrm>
          <a:prstGeom prst="rect">
            <a:avLst/>
          </a:prstGeom>
          <a:noFill/>
          <a:ln/>
        </p:spPr>
        <p:txBody>
          <a:bodyPr wrap="square" lIns="0" tIns="0" rIns="0" bIns="0" rtlCol="0" anchor="t"/>
          <a:lstStyle/>
          <a:p>
            <a:pPr marL="0" indent="0">
              <a:buNone/>
            </a:pPr>
            <a:r>
              <a:rPr lang="en-US" sz="1000" dirty="0">
                <a:solidFill>
                  <a:srgbClr val="5C5C6E"/>
                </a:solidFill>
                <a:latin typeface="Raleway" pitchFamily="34" charset="0"/>
                <a:ea typeface="Raleway" pitchFamily="34" charset="-122"/>
                <a:cs typeface="Raleway" pitchFamily="34" charset="-120"/>
              </a:rPr>
              <a:t>Sede central</a:t>
            </a:r>
            <a:endParaRPr lang="en-US" sz="1000" dirty="0"/>
          </a:p>
        </p:txBody>
      </p:sp>
      <p:sp>
        <p:nvSpPr>
          <p:cNvPr id="21" name="Text 15"/>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E6ECEC"/>
                </a:solidFill>
                <a:latin typeface="Manrope" pitchFamily="34" charset="0"/>
                <a:ea typeface="Manrope" pitchFamily="34" charset="-122"/>
                <a:cs typeface="Manrope" pitchFamily="34" charset="-120"/>
              </a:rPr>
              <a:t>02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NUESTRA FUERZA</a:t>
            </a:r>
            <a:endParaRPr lang="en-US" sz="750" dirty="0"/>
          </a:p>
        </p:txBody>
      </p:sp>
      <p:sp>
        <p:nvSpPr>
          <p:cNvPr id="4" name="Text 1"/>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5" name="Text 2"/>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Así vamos a trabajar juntos</a:t>
            </a:r>
            <a:endParaRPr lang="en-US" sz="3400" dirty="0"/>
          </a:p>
        </p:txBody>
      </p:sp>
      <p:sp>
        <p:nvSpPr>
          <p:cNvPr id="6" name="Text 3"/>
          <p:cNvSpPr txBox="1"/>
          <p:nvPr/>
        </p:nvSpPr>
        <p:spPr>
          <a:xfrm>
            <a:off x="548640" y="1572768"/>
            <a:ext cx="8686800" cy="320040"/>
          </a:xfrm>
          <a:prstGeom prst="rect">
            <a:avLst/>
          </a:prstGeom>
          <a:noFill/>
          <a:ln/>
        </p:spPr>
        <p:txBody>
          <a:bodyPr wrap="square" lIns="0" tIns="0" rIns="0" bIns="0" rtlCol="0" anchor="t"/>
          <a:lstStyle/>
          <a:p>
            <a:pPr marL="0" indent="0">
              <a:buNone/>
            </a:pPr>
            <a:r>
              <a:rPr lang="en-US" sz="1300" dirty="0">
                <a:solidFill>
                  <a:srgbClr val="587579"/>
                </a:solidFill>
                <a:latin typeface="Raleway" pitchFamily="34" charset="0"/>
                <a:ea typeface="Raleway" pitchFamily="34" charset="-122"/>
                <a:cs typeface="Raleway" pitchFamily="34" charset="-120"/>
              </a:rPr>
              <a:t>No somos la consultora que envía CVs y desaparece: </a:t>
            </a:r>
            <a:r>
              <a:rPr lang="en-US" sz="1300" dirty="0">
                <a:solidFill>
                  <a:srgbClr val="202031"/>
                </a:solidFill>
                <a:latin typeface="Raleway SemiBold" pitchFamily="34" charset="0"/>
                <a:ea typeface="Raleway SemiBold" pitchFamily="34" charset="-122"/>
                <a:cs typeface="Raleway SemiBold" pitchFamily="34" charset="-120"/>
              </a:rPr>
              <a:t>trabajamos como parte de tu equipo.</a:t>
            </a:r>
            <a:endParaRPr lang="en-US" sz="1300" dirty="0"/>
          </a:p>
        </p:txBody>
      </p:sp>
      <p:pic>
        <p:nvPicPr>
          <p:cNvPr id="7" name="Image 1" descr="/tmp/claude-0/-home-claude/6ecba087-9563-50f1-9ffc-6a20c07eac08/scratchpad/decks/kit/bg_grad_h.png"/>
          <p:cNvPicPr>
            <a:picLocks noChangeAspect="1"/>
          </p:cNvPicPr>
          <p:nvPr/>
        </p:nvPicPr>
        <p:blipFill>
          <a:blip r:embed="rId4"/>
          <a:stretch>
            <a:fillRect/>
          </a:stretch>
        </p:blipFill>
        <p:spPr>
          <a:xfrm>
            <a:off x="548640" y="2574036"/>
            <a:ext cx="11094415" cy="54864"/>
          </a:xfrm>
          <a:prstGeom prst="rect">
            <a:avLst/>
          </a:prstGeom>
        </p:spPr>
      </p:pic>
      <p:sp>
        <p:nvSpPr>
          <p:cNvPr id="8" name="Shape 4"/>
          <p:cNvSpPr/>
          <p:nvPr/>
        </p:nvSpPr>
        <p:spPr>
          <a:xfrm>
            <a:off x="548640" y="2450592"/>
            <a:ext cx="301752" cy="301752"/>
          </a:xfrm>
          <a:prstGeom prst="ellipse">
            <a:avLst/>
          </a:prstGeom>
          <a:solidFill>
            <a:srgbClr val="8AA3A5"/>
          </a:solidFill>
          <a:ln w="31750">
            <a:solidFill>
              <a:srgbClr val="FFFFFF"/>
            </a:solidFill>
            <a:prstDash val="solid"/>
          </a:ln>
        </p:spPr>
        <p:txBody>
          <a:bodyPr/>
          <a:lstStyle/>
          <a:p>
            <a:endParaRPr lang="es-ES"/>
          </a:p>
        </p:txBody>
      </p:sp>
      <p:sp>
        <p:nvSpPr>
          <p:cNvPr id="9" name="Text 5"/>
          <p:cNvSpPr txBox="1"/>
          <p:nvPr/>
        </p:nvSpPr>
        <p:spPr>
          <a:xfrm>
            <a:off x="548640" y="2926080"/>
            <a:ext cx="914400" cy="502920"/>
          </a:xfrm>
          <a:prstGeom prst="rect">
            <a:avLst/>
          </a:prstGeom>
          <a:noFill/>
          <a:ln/>
        </p:spPr>
        <p:txBody>
          <a:bodyPr wrap="square" lIns="0" tIns="0" rIns="0" bIns="0" rtlCol="0" anchor="t"/>
          <a:lstStyle/>
          <a:p>
            <a:pPr marL="0" indent="0">
              <a:buNone/>
            </a:pPr>
            <a:r>
              <a:rPr lang="en-US" sz="3000" dirty="0">
                <a:solidFill>
                  <a:srgbClr val="587579"/>
                </a:solidFill>
                <a:latin typeface="Manrope Light" pitchFamily="34" charset="0"/>
                <a:ea typeface="Manrope Light" pitchFamily="34" charset="-122"/>
                <a:cs typeface="Manrope Light" pitchFamily="34" charset="-120"/>
              </a:rPr>
              <a:t>01</a:t>
            </a:r>
            <a:endParaRPr lang="en-US" sz="3000" dirty="0"/>
          </a:p>
        </p:txBody>
      </p:sp>
      <p:sp>
        <p:nvSpPr>
          <p:cNvPr id="10" name="Text 6"/>
          <p:cNvSpPr txBox="1"/>
          <p:nvPr/>
        </p:nvSpPr>
        <p:spPr>
          <a:xfrm>
            <a:off x="548640" y="3520440"/>
            <a:ext cx="3383280" cy="411480"/>
          </a:xfrm>
          <a:prstGeom prst="rect">
            <a:avLst/>
          </a:prstGeom>
          <a:noFill/>
          <a:ln/>
        </p:spPr>
        <p:txBody>
          <a:bodyPr wrap="square" lIns="0" tIns="0" rIns="0" bIns="0" rtlCol="0" anchor="t"/>
          <a:lstStyle/>
          <a:p>
            <a:pPr marL="0" indent="0">
              <a:buNone/>
            </a:pPr>
            <a:r>
              <a:rPr lang="en-US" sz="2000" dirty="0">
                <a:solidFill>
                  <a:srgbClr val="202031"/>
                </a:solidFill>
                <a:latin typeface="Raleway" pitchFamily="34" charset="0"/>
                <a:ea typeface="Raleway" pitchFamily="34" charset="-122"/>
                <a:cs typeface="Raleway" pitchFamily="34" charset="-120"/>
              </a:rPr>
              <a:t>Inmersión</a:t>
            </a:r>
            <a:endParaRPr lang="en-US" sz="2000" dirty="0"/>
          </a:p>
        </p:txBody>
      </p:sp>
      <p:sp>
        <p:nvSpPr>
          <p:cNvPr id="11" name="Text 7"/>
          <p:cNvSpPr txBox="1"/>
          <p:nvPr/>
        </p:nvSpPr>
        <p:spPr>
          <a:xfrm>
            <a:off x="548640" y="4005072"/>
            <a:ext cx="3291840" cy="914400"/>
          </a:xfrm>
          <a:prstGeom prst="rect">
            <a:avLst/>
          </a:prstGeom>
          <a:noFill/>
          <a:ln/>
        </p:spPr>
        <p:txBody>
          <a:bodyPr wrap="square" lIns="0" tIns="0" rIns="0" bIns="0" rtlCol="0" anchor="t"/>
          <a:lstStyle/>
          <a:p>
            <a:pPr marL="0" indent="0">
              <a:lnSpc>
                <a:spcPct val="120000"/>
              </a:lnSpc>
              <a:buNone/>
            </a:pPr>
            <a:r>
              <a:rPr lang="en-US" sz="1100" dirty="0">
                <a:solidFill>
                  <a:srgbClr val="5C5C6E"/>
                </a:solidFill>
                <a:latin typeface="Raleway" pitchFamily="34" charset="0"/>
                <a:ea typeface="Raleway" pitchFamily="34" charset="-122"/>
                <a:cs typeface="Raleway" pitchFamily="34" charset="-120"/>
              </a:rPr>
              <a:t>Arrancamos conociendo tu equipo, tu cultura y tus retos. Con eso, primer shortlist filtrado en </a:t>
            </a:r>
            <a:r>
              <a:rPr lang="en-US" sz="1100" dirty="0">
                <a:solidFill>
                  <a:srgbClr val="5C5C6E"/>
                </a:solidFill>
                <a:latin typeface="Manrope" pitchFamily="34" charset="0"/>
                <a:ea typeface="Manrope" pitchFamily="34" charset="-122"/>
                <a:cs typeface="Manrope" pitchFamily="34" charset="-120"/>
              </a:rPr>
              <a:t>72</a:t>
            </a:r>
            <a:r>
              <a:rPr lang="en-US" sz="1100" dirty="0">
                <a:solidFill>
                  <a:srgbClr val="5C5C6E"/>
                </a:solidFill>
                <a:latin typeface="Raleway" pitchFamily="34" charset="0"/>
                <a:ea typeface="Raleway" pitchFamily="34" charset="-122"/>
                <a:cs typeface="Raleway" pitchFamily="34" charset="-120"/>
              </a:rPr>
              <a:t> horas.</a:t>
            </a:r>
            <a:endParaRPr lang="en-US" sz="1100" dirty="0"/>
          </a:p>
        </p:txBody>
      </p:sp>
      <p:sp>
        <p:nvSpPr>
          <p:cNvPr id="12" name="Shape 8"/>
          <p:cNvSpPr/>
          <p:nvPr/>
        </p:nvSpPr>
        <p:spPr>
          <a:xfrm>
            <a:off x="4383938" y="2450592"/>
            <a:ext cx="301752" cy="301752"/>
          </a:xfrm>
          <a:prstGeom prst="ellipse">
            <a:avLst/>
          </a:prstGeom>
          <a:solidFill>
            <a:srgbClr val="587579"/>
          </a:solidFill>
          <a:ln w="31750">
            <a:solidFill>
              <a:srgbClr val="FFFFFF"/>
            </a:solidFill>
            <a:prstDash val="solid"/>
          </a:ln>
        </p:spPr>
        <p:txBody>
          <a:bodyPr/>
          <a:lstStyle/>
          <a:p>
            <a:endParaRPr lang="es-ES"/>
          </a:p>
        </p:txBody>
      </p:sp>
      <p:sp>
        <p:nvSpPr>
          <p:cNvPr id="13" name="Text 9"/>
          <p:cNvSpPr txBox="1"/>
          <p:nvPr/>
        </p:nvSpPr>
        <p:spPr>
          <a:xfrm>
            <a:off x="4383938" y="2926080"/>
            <a:ext cx="914400" cy="502920"/>
          </a:xfrm>
          <a:prstGeom prst="rect">
            <a:avLst/>
          </a:prstGeom>
          <a:noFill/>
          <a:ln/>
        </p:spPr>
        <p:txBody>
          <a:bodyPr wrap="square" lIns="0" tIns="0" rIns="0" bIns="0" rtlCol="0" anchor="t"/>
          <a:lstStyle/>
          <a:p>
            <a:pPr marL="0" indent="0">
              <a:buNone/>
            </a:pPr>
            <a:r>
              <a:rPr lang="en-US" sz="3000" dirty="0">
                <a:solidFill>
                  <a:srgbClr val="587579"/>
                </a:solidFill>
                <a:latin typeface="Manrope Light" pitchFamily="34" charset="0"/>
                <a:ea typeface="Manrope Light" pitchFamily="34" charset="-122"/>
                <a:cs typeface="Manrope Light" pitchFamily="34" charset="-120"/>
              </a:rPr>
              <a:t>02</a:t>
            </a:r>
            <a:endParaRPr lang="en-US" sz="3000" dirty="0"/>
          </a:p>
        </p:txBody>
      </p:sp>
      <p:sp>
        <p:nvSpPr>
          <p:cNvPr id="14" name="Text 10"/>
          <p:cNvSpPr txBox="1"/>
          <p:nvPr/>
        </p:nvSpPr>
        <p:spPr>
          <a:xfrm>
            <a:off x="4383938" y="3520440"/>
            <a:ext cx="3383280" cy="411480"/>
          </a:xfrm>
          <a:prstGeom prst="rect">
            <a:avLst/>
          </a:prstGeom>
          <a:noFill/>
          <a:ln/>
        </p:spPr>
        <p:txBody>
          <a:bodyPr wrap="square" lIns="0" tIns="0" rIns="0" bIns="0" rtlCol="0" anchor="t"/>
          <a:lstStyle/>
          <a:p>
            <a:pPr marL="0" indent="0">
              <a:buNone/>
            </a:pPr>
            <a:r>
              <a:rPr lang="en-US" sz="2000" dirty="0">
                <a:solidFill>
                  <a:srgbClr val="202031"/>
                </a:solidFill>
                <a:latin typeface="Raleway" pitchFamily="34" charset="0"/>
                <a:ea typeface="Raleway" pitchFamily="34" charset="-122"/>
                <a:cs typeface="Raleway" pitchFamily="34" charset="-120"/>
              </a:rPr>
              <a:t>En cada paso</a:t>
            </a:r>
            <a:endParaRPr lang="en-US" sz="2000" dirty="0"/>
          </a:p>
        </p:txBody>
      </p:sp>
      <p:sp>
        <p:nvSpPr>
          <p:cNvPr id="15" name="Text 11"/>
          <p:cNvSpPr txBox="1"/>
          <p:nvPr/>
        </p:nvSpPr>
        <p:spPr>
          <a:xfrm>
            <a:off x="4383938" y="4005072"/>
            <a:ext cx="3291840" cy="914400"/>
          </a:xfrm>
          <a:prstGeom prst="rect">
            <a:avLst/>
          </a:prstGeom>
          <a:noFill/>
          <a:ln/>
        </p:spPr>
        <p:txBody>
          <a:bodyPr wrap="square" lIns="0" tIns="0" rIns="0" bIns="0" rtlCol="0" anchor="t"/>
          <a:lstStyle/>
          <a:p>
            <a:pPr marL="0" indent="0">
              <a:lnSpc>
                <a:spcPct val="120000"/>
              </a:lnSpc>
              <a:buNone/>
            </a:pPr>
            <a:r>
              <a:rPr lang="en-US" sz="1100" dirty="0">
                <a:solidFill>
                  <a:srgbClr val="5C5C6E"/>
                </a:solidFill>
                <a:latin typeface="Raleway" pitchFamily="34" charset="0"/>
                <a:ea typeface="Raleway" pitchFamily="34" charset="-122"/>
                <a:cs typeface="Raleway" pitchFamily="34" charset="-120"/>
              </a:rPr>
              <a:t>Seguimiento semanal contigo. Un interlocutor fijo y un equipo de respaldo: tus vacantes nunca se quedan paradas.</a:t>
            </a:r>
            <a:endParaRPr lang="en-US" sz="1100" dirty="0"/>
          </a:p>
        </p:txBody>
      </p:sp>
      <p:sp>
        <p:nvSpPr>
          <p:cNvPr id="16" name="Shape 12"/>
          <p:cNvSpPr/>
          <p:nvPr/>
        </p:nvSpPr>
        <p:spPr>
          <a:xfrm>
            <a:off x="8219237" y="2450592"/>
            <a:ext cx="301752" cy="301752"/>
          </a:xfrm>
          <a:prstGeom prst="ellipse">
            <a:avLst/>
          </a:prstGeom>
          <a:solidFill>
            <a:srgbClr val="202031"/>
          </a:solidFill>
          <a:ln w="31750">
            <a:solidFill>
              <a:srgbClr val="FFFFFF"/>
            </a:solidFill>
            <a:prstDash val="solid"/>
          </a:ln>
        </p:spPr>
        <p:txBody>
          <a:bodyPr/>
          <a:lstStyle/>
          <a:p>
            <a:endParaRPr lang="es-ES"/>
          </a:p>
        </p:txBody>
      </p:sp>
      <p:sp>
        <p:nvSpPr>
          <p:cNvPr id="17" name="Text 13"/>
          <p:cNvSpPr txBox="1"/>
          <p:nvPr/>
        </p:nvSpPr>
        <p:spPr>
          <a:xfrm>
            <a:off x="8219237" y="2926080"/>
            <a:ext cx="914400" cy="502920"/>
          </a:xfrm>
          <a:prstGeom prst="rect">
            <a:avLst/>
          </a:prstGeom>
          <a:noFill/>
          <a:ln/>
        </p:spPr>
        <p:txBody>
          <a:bodyPr wrap="square" lIns="0" tIns="0" rIns="0" bIns="0" rtlCol="0" anchor="t"/>
          <a:lstStyle/>
          <a:p>
            <a:pPr marL="0" indent="0">
              <a:buNone/>
            </a:pPr>
            <a:r>
              <a:rPr lang="en-US" sz="3000" dirty="0">
                <a:solidFill>
                  <a:srgbClr val="587579"/>
                </a:solidFill>
                <a:latin typeface="Manrope Light" pitchFamily="34" charset="0"/>
                <a:ea typeface="Manrope Light" pitchFamily="34" charset="-122"/>
                <a:cs typeface="Manrope Light" pitchFamily="34" charset="-120"/>
              </a:rPr>
              <a:t>03</a:t>
            </a:r>
            <a:endParaRPr lang="en-US" sz="3000" dirty="0"/>
          </a:p>
        </p:txBody>
      </p:sp>
      <p:sp>
        <p:nvSpPr>
          <p:cNvPr id="18" name="Text 14"/>
          <p:cNvSpPr txBox="1"/>
          <p:nvPr/>
        </p:nvSpPr>
        <p:spPr>
          <a:xfrm>
            <a:off x="8219237" y="3520440"/>
            <a:ext cx="3383280" cy="411480"/>
          </a:xfrm>
          <a:prstGeom prst="rect">
            <a:avLst/>
          </a:prstGeom>
          <a:noFill/>
          <a:ln/>
        </p:spPr>
        <p:txBody>
          <a:bodyPr wrap="square" lIns="0" tIns="0" rIns="0" bIns="0" rtlCol="0" anchor="t"/>
          <a:lstStyle/>
          <a:p>
            <a:pPr marL="0" indent="0">
              <a:buNone/>
            </a:pPr>
            <a:r>
              <a:rPr lang="en-US" sz="2000" dirty="0">
                <a:solidFill>
                  <a:srgbClr val="202031"/>
                </a:solidFill>
                <a:latin typeface="Raleway" pitchFamily="34" charset="0"/>
                <a:ea typeface="Raleway" pitchFamily="34" charset="-122"/>
                <a:cs typeface="Raleway" pitchFamily="34" charset="-120"/>
              </a:rPr>
              <a:t>Siempre presentes</a:t>
            </a:r>
            <a:endParaRPr lang="en-US" sz="2000" dirty="0"/>
          </a:p>
        </p:txBody>
      </p:sp>
      <p:sp>
        <p:nvSpPr>
          <p:cNvPr id="19" name="Text 15"/>
          <p:cNvSpPr txBox="1"/>
          <p:nvPr/>
        </p:nvSpPr>
        <p:spPr>
          <a:xfrm>
            <a:off x="8219237" y="4005072"/>
            <a:ext cx="3291840" cy="914400"/>
          </a:xfrm>
          <a:prstGeom prst="rect">
            <a:avLst/>
          </a:prstGeom>
          <a:noFill/>
          <a:ln/>
        </p:spPr>
        <p:txBody>
          <a:bodyPr wrap="square" lIns="0" tIns="0" rIns="0" bIns="0" rtlCol="0" anchor="t"/>
          <a:lstStyle/>
          <a:p>
            <a:pPr marL="0" indent="0">
              <a:lnSpc>
                <a:spcPct val="120000"/>
              </a:lnSpc>
              <a:buNone/>
            </a:pPr>
            <a:r>
              <a:rPr lang="en-US" sz="1100" dirty="0">
                <a:solidFill>
                  <a:srgbClr val="5C5C6E"/>
                </a:solidFill>
                <a:latin typeface="Raleway" pitchFamily="34" charset="0"/>
                <a:ea typeface="Raleway" pitchFamily="34" charset="-122"/>
                <a:cs typeface="Raleway" pitchFamily="34" charset="-120"/>
              </a:rPr>
              <a:t>Tras la incorporación seguimos ahí: acompañamos a la persona y a tu equipo.</a:t>
            </a:r>
            <a:endParaRPr lang="en-US" sz="1100" dirty="0"/>
          </a:p>
        </p:txBody>
      </p:sp>
      <p:pic>
        <p:nvPicPr>
          <p:cNvPr id="20" name="Image 2" descr="/tmp/claude-0/-home-claude/6ecba087-9563-50f1-9ffc-6a20c07eac08/scratchpad/decks/kit/band_grad.png"/>
          <p:cNvPicPr>
            <a:picLocks noChangeAspect="1"/>
          </p:cNvPicPr>
          <p:nvPr/>
        </p:nvPicPr>
        <p:blipFill>
          <a:blip r:embed="rId5"/>
          <a:srcRect/>
          <a:stretch/>
        </p:blipFill>
        <p:spPr>
          <a:xfrm>
            <a:off x="0" y="5074920"/>
            <a:ext cx="12191695" cy="1783080"/>
          </a:xfrm>
          <a:prstGeom prst="rect">
            <a:avLst/>
          </a:prstGeom>
        </p:spPr>
      </p:pic>
      <p:sp>
        <p:nvSpPr>
          <p:cNvPr id="21" name="Text 16"/>
          <p:cNvSpPr txBox="1"/>
          <p:nvPr/>
        </p:nvSpPr>
        <p:spPr>
          <a:xfrm>
            <a:off x="548640" y="5486400"/>
            <a:ext cx="3291840" cy="228600"/>
          </a:xfrm>
          <a:prstGeom prst="rect">
            <a:avLst/>
          </a:prstGeom>
          <a:noFill/>
          <a:ln/>
        </p:spPr>
        <p:txBody>
          <a:bodyPr wrap="square" lIns="0" tIns="0" rIns="0" bIns="0" rtlCol="0" anchor="t"/>
          <a:lstStyle/>
          <a:p>
            <a:pPr marL="0" indent="0">
              <a:buNone/>
            </a:pPr>
            <a:r>
              <a:rPr lang="en-US" sz="850" kern="0" spc="220" dirty="0">
                <a:solidFill>
                  <a:srgbClr val="D5DFE0"/>
                </a:solidFill>
                <a:latin typeface="Raleway SemiBold" pitchFamily="34" charset="0"/>
                <a:ea typeface="Raleway SemiBold" pitchFamily="34" charset="-122"/>
                <a:cs typeface="Raleway SemiBold" pitchFamily="34" charset="-120"/>
              </a:rPr>
              <a:t>UN SOLO EQUIPO</a:t>
            </a:r>
            <a:endParaRPr lang="en-US" sz="850" dirty="0"/>
          </a:p>
        </p:txBody>
      </p:sp>
      <p:sp>
        <p:nvSpPr>
          <p:cNvPr id="22" name="Text 17"/>
          <p:cNvSpPr txBox="1"/>
          <p:nvPr/>
        </p:nvSpPr>
        <p:spPr>
          <a:xfrm>
            <a:off x="548640" y="5760720"/>
            <a:ext cx="3383280" cy="457200"/>
          </a:xfrm>
          <a:prstGeom prst="rect">
            <a:avLst/>
          </a:prstGeom>
          <a:noFill/>
          <a:ln/>
        </p:spPr>
        <p:txBody>
          <a:bodyPr wrap="square" lIns="0" tIns="0" rIns="0" bIns="0" rtlCol="0" anchor="t"/>
          <a:lstStyle/>
          <a:p>
            <a:pPr marL="0" indent="0">
              <a:buNone/>
            </a:pPr>
            <a:r>
              <a:rPr lang="en-US" sz="1200" dirty="0">
                <a:solidFill>
                  <a:srgbClr val="FFFFFF"/>
                </a:solidFill>
                <a:latin typeface="Raleway" pitchFamily="34" charset="0"/>
                <a:ea typeface="Raleway" pitchFamily="34" charset="-122"/>
                <a:cs typeface="Raleway" pitchFamily="34" charset="-120"/>
              </a:rPr>
              <a:t>Trabajamos como parte del tuyo.</a:t>
            </a:r>
            <a:endParaRPr lang="en-US" sz="1200" dirty="0"/>
          </a:p>
        </p:txBody>
      </p:sp>
      <p:sp>
        <p:nvSpPr>
          <p:cNvPr id="23" name="Shape 18"/>
          <p:cNvSpPr/>
          <p:nvPr/>
        </p:nvSpPr>
        <p:spPr>
          <a:xfrm>
            <a:off x="4155338" y="5440680"/>
            <a:ext cx="0" cy="822960"/>
          </a:xfrm>
          <a:prstGeom prst="line">
            <a:avLst/>
          </a:prstGeom>
          <a:noFill/>
          <a:ln w="9525">
            <a:solidFill>
              <a:srgbClr val="7F9A9D"/>
            </a:solidFill>
            <a:prstDash val="solid"/>
          </a:ln>
        </p:spPr>
        <p:txBody>
          <a:bodyPr/>
          <a:lstStyle/>
          <a:p>
            <a:endParaRPr lang="es-ES"/>
          </a:p>
        </p:txBody>
      </p:sp>
      <p:sp>
        <p:nvSpPr>
          <p:cNvPr id="24" name="Text 19"/>
          <p:cNvSpPr txBox="1"/>
          <p:nvPr/>
        </p:nvSpPr>
        <p:spPr>
          <a:xfrm>
            <a:off x="4383938" y="5486400"/>
            <a:ext cx="3291840" cy="228600"/>
          </a:xfrm>
          <a:prstGeom prst="rect">
            <a:avLst/>
          </a:prstGeom>
          <a:noFill/>
          <a:ln/>
        </p:spPr>
        <p:txBody>
          <a:bodyPr wrap="square" lIns="0" tIns="0" rIns="0" bIns="0" rtlCol="0" anchor="t"/>
          <a:lstStyle/>
          <a:p>
            <a:pPr marL="0" indent="0">
              <a:buNone/>
            </a:pPr>
            <a:r>
              <a:rPr lang="en-US" sz="850" kern="0" spc="220" dirty="0">
                <a:solidFill>
                  <a:srgbClr val="D5DFE0"/>
                </a:solidFill>
                <a:latin typeface="Raleway SemiBold" pitchFamily="34" charset="0"/>
                <a:ea typeface="Raleway SemiBold" pitchFamily="34" charset="-122"/>
                <a:cs typeface="Raleway SemiBold" pitchFamily="34" charset="-120"/>
              </a:rPr>
              <a:t>INTERLOCUTOR FIJO</a:t>
            </a:r>
            <a:endParaRPr lang="en-US" sz="850" dirty="0"/>
          </a:p>
        </p:txBody>
      </p:sp>
      <p:sp>
        <p:nvSpPr>
          <p:cNvPr id="25" name="Text 20"/>
          <p:cNvSpPr txBox="1"/>
          <p:nvPr/>
        </p:nvSpPr>
        <p:spPr>
          <a:xfrm>
            <a:off x="4383938" y="5760720"/>
            <a:ext cx="3383280" cy="457200"/>
          </a:xfrm>
          <a:prstGeom prst="rect">
            <a:avLst/>
          </a:prstGeom>
          <a:noFill/>
          <a:ln/>
        </p:spPr>
        <p:txBody>
          <a:bodyPr wrap="square" lIns="0" tIns="0" rIns="0" bIns="0" rtlCol="0" anchor="t"/>
          <a:lstStyle/>
          <a:p>
            <a:pPr marL="0" indent="0">
              <a:buNone/>
            </a:pPr>
            <a:r>
              <a:rPr lang="en-US" sz="1200" dirty="0">
                <a:solidFill>
                  <a:srgbClr val="FFFFFF"/>
                </a:solidFill>
                <a:latin typeface="Raleway" pitchFamily="34" charset="0"/>
                <a:ea typeface="Raleway" pitchFamily="34" charset="-122"/>
                <a:cs typeface="Raleway" pitchFamily="34" charset="-120"/>
              </a:rPr>
              <a:t>Un partner senior, siempre localizable.</a:t>
            </a:r>
            <a:endParaRPr lang="en-US" sz="1200" dirty="0"/>
          </a:p>
        </p:txBody>
      </p:sp>
      <p:sp>
        <p:nvSpPr>
          <p:cNvPr id="26" name="Shape 21"/>
          <p:cNvSpPr/>
          <p:nvPr/>
        </p:nvSpPr>
        <p:spPr>
          <a:xfrm>
            <a:off x="7990637" y="5440680"/>
            <a:ext cx="0" cy="822960"/>
          </a:xfrm>
          <a:prstGeom prst="line">
            <a:avLst/>
          </a:prstGeom>
          <a:noFill/>
          <a:ln w="9525">
            <a:solidFill>
              <a:srgbClr val="7F9A9D"/>
            </a:solidFill>
            <a:prstDash val="solid"/>
          </a:ln>
        </p:spPr>
        <p:txBody>
          <a:bodyPr/>
          <a:lstStyle/>
          <a:p>
            <a:endParaRPr lang="es-ES"/>
          </a:p>
        </p:txBody>
      </p:sp>
      <p:sp>
        <p:nvSpPr>
          <p:cNvPr id="27" name="Text 22"/>
          <p:cNvSpPr txBox="1"/>
          <p:nvPr/>
        </p:nvSpPr>
        <p:spPr>
          <a:xfrm>
            <a:off x="8219237" y="5486400"/>
            <a:ext cx="3291840" cy="228600"/>
          </a:xfrm>
          <a:prstGeom prst="rect">
            <a:avLst/>
          </a:prstGeom>
          <a:noFill/>
          <a:ln/>
        </p:spPr>
        <p:txBody>
          <a:bodyPr wrap="square" lIns="0" tIns="0" rIns="0" bIns="0" rtlCol="0" anchor="t"/>
          <a:lstStyle/>
          <a:p>
            <a:pPr marL="0" indent="0">
              <a:buNone/>
            </a:pPr>
            <a:r>
              <a:rPr lang="en-US" sz="850" kern="0" spc="220" dirty="0">
                <a:solidFill>
                  <a:srgbClr val="D5DFE0"/>
                </a:solidFill>
                <a:latin typeface="Raleway SemiBold" pitchFamily="34" charset="0"/>
                <a:ea typeface="Raleway SemiBold" pitchFamily="34" charset="-122"/>
                <a:cs typeface="Raleway SemiBold" pitchFamily="34" charset="-120"/>
              </a:rPr>
              <a:t>COMPROMISO REAL</a:t>
            </a:r>
            <a:endParaRPr lang="en-US" sz="850" dirty="0"/>
          </a:p>
        </p:txBody>
      </p:sp>
      <p:sp>
        <p:nvSpPr>
          <p:cNvPr id="28" name="Text 23"/>
          <p:cNvSpPr txBox="1"/>
          <p:nvPr/>
        </p:nvSpPr>
        <p:spPr>
          <a:xfrm>
            <a:off x="8219237" y="5760720"/>
            <a:ext cx="3383280" cy="457200"/>
          </a:xfrm>
          <a:prstGeom prst="rect">
            <a:avLst/>
          </a:prstGeom>
          <a:noFill/>
          <a:ln/>
        </p:spPr>
        <p:txBody>
          <a:bodyPr wrap="square" lIns="0" tIns="0" rIns="0" bIns="0" rtlCol="0" anchor="t"/>
          <a:lstStyle/>
          <a:p>
            <a:pPr marL="0" indent="0">
              <a:buNone/>
            </a:pPr>
            <a:r>
              <a:rPr lang="en-US" sz="1200" dirty="0">
                <a:solidFill>
                  <a:srgbClr val="FFFFFF"/>
                </a:solidFill>
                <a:latin typeface="Raleway" pitchFamily="34" charset="0"/>
                <a:ea typeface="Raleway" pitchFamily="34" charset="-122"/>
                <a:cs typeface="Raleway" pitchFamily="34" charset="-120"/>
              </a:rPr>
              <a:t>Tu éxito es también el nuestro.</a:t>
            </a:r>
            <a:endParaRPr lang="en-US" sz="1200" dirty="0"/>
          </a:p>
        </p:txBody>
      </p:sp>
      <p:sp>
        <p:nvSpPr>
          <p:cNvPr id="29" name="Text 24"/>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E6ECEC"/>
                </a:solidFill>
                <a:latin typeface="Manrope" pitchFamily="34" charset="0"/>
                <a:ea typeface="Manrope" pitchFamily="34" charset="-122"/>
                <a:cs typeface="Manrope" pitchFamily="34" charset="-120"/>
              </a:rPr>
              <a:t>03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CÓMO TRABAJAMOS</a:t>
            </a:r>
            <a:endParaRPr lang="en-US" sz="750" dirty="0"/>
          </a:p>
        </p:txBody>
      </p:sp>
      <p:sp>
        <p:nvSpPr>
          <p:cNvPr id="4" name="Text 1"/>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5" name="Text 2"/>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No somos un proveedor de CVs</a:t>
            </a:r>
            <a:endParaRPr lang="en-US" sz="3400" dirty="0"/>
          </a:p>
        </p:txBody>
      </p:sp>
      <p:sp>
        <p:nvSpPr>
          <p:cNvPr id="6" name="Text 3"/>
          <p:cNvSpPr txBox="1"/>
          <p:nvPr/>
        </p:nvSpPr>
        <p:spPr>
          <a:xfrm>
            <a:off x="548640" y="1572768"/>
            <a:ext cx="8686800" cy="320040"/>
          </a:xfrm>
          <a:prstGeom prst="rect">
            <a:avLst/>
          </a:prstGeom>
          <a:noFill/>
          <a:ln/>
        </p:spPr>
        <p:txBody>
          <a:bodyPr wrap="square" lIns="0" tIns="0" rIns="0" bIns="0" rtlCol="0" anchor="t"/>
          <a:lstStyle/>
          <a:p>
            <a:pPr marL="0" indent="0">
              <a:buNone/>
            </a:pPr>
            <a:r>
              <a:rPr lang="en-US" sz="1300" dirty="0">
                <a:solidFill>
                  <a:srgbClr val="587579"/>
                </a:solidFill>
                <a:latin typeface="Raleway" pitchFamily="34" charset="0"/>
                <a:ea typeface="Raleway" pitchFamily="34" charset="-122"/>
                <a:cs typeface="Raleway" pitchFamily="34" charset="-120"/>
              </a:rPr>
              <a:t>Lo que cambia cuando Tessera trabaja con tu equipo.</a:t>
            </a:r>
            <a:endParaRPr lang="en-US" sz="1300" dirty="0"/>
          </a:p>
        </p:txBody>
      </p:sp>
      <p:sp>
        <p:nvSpPr>
          <p:cNvPr id="7" name="Shape 4"/>
          <p:cNvSpPr/>
          <p:nvPr/>
        </p:nvSpPr>
        <p:spPr>
          <a:xfrm>
            <a:off x="548640" y="2240280"/>
            <a:ext cx="5257800" cy="3886200"/>
          </a:xfrm>
          <a:prstGeom prst="rect">
            <a:avLst/>
          </a:prstGeom>
          <a:solidFill>
            <a:srgbClr val="E6ECEC"/>
          </a:solidFill>
          <a:ln w="12700">
            <a:solidFill>
              <a:srgbClr val="E6ECEC"/>
            </a:solidFill>
            <a:prstDash val="solid"/>
          </a:ln>
        </p:spPr>
        <p:txBody>
          <a:bodyPr/>
          <a:lstStyle/>
          <a:p>
            <a:endParaRPr lang="es-ES"/>
          </a:p>
        </p:txBody>
      </p:sp>
      <p:pic>
        <p:nvPicPr>
          <p:cNvPr id="8" name="Image 1" descr="/tmp/claude-0/-home-claude/6ecba087-9563-50f1-9ffc-6a20c07eac08/scratchpad/decks/kit/panel_grad.png"/>
          <p:cNvPicPr>
            <a:picLocks noChangeAspect="1"/>
          </p:cNvPicPr>
          <p:nvPr/>
        </p:nvPicPr>
        <p:blipFill>
          <a:blip r:embed="rId4"/>
          <a:srcRect/>
          <a:stretch/>
        </p:blipFill>
        <p:spPr>
          <a:xfrm>
            <a:off x="6385255" y="2240280"/>
            <a:ext cx="5257800" cy="3886200"/>
          </a:xfrm>
          <a:prstGeom prst="rect">
            <a:avLst/>
          </a:prstGeom>
        </p:spPr>
      </p:pic>
      <p:sp>
        <p:nvSpPr>
          <p:cNvPr id="9" name="Text 5"/>
          <p:cNvSpPr txBox="1"/>
          <p:nvPr/>
        </p:nvSpPr>
        <p:spPr>
          <a:xfrm>
            <a:off x="960120" y="2606040"/>
            <a:ext cx="3657600" cy="228600"/>
          </a:xfrm>
          <a:prstGeom prst="rect">
            <a:avLst/>
          </a:prstGeom>
          <a:noFill/>
          <a:ln/>
        </p:spPr>
        <p:txBody>
          <a:bodyPr wrap="square" lIns="0" tIns="0" rIns="0" bIns="0" rtlCol="0" anchor="t"/>
          <a:lstStyle/>
          <a:p>
            <a:pPr marL="0" indent="0">
              <a:buNone/>
            </a:pPr>
            <a:r>
              <a:rPr lang="en-US" sz="850" kern="0" spc="220" dirty="0">
                <a:solidFill>
                  <a:srgbClr val="5C5C6E"/>
                </a:solidFill>
                <a:latin typeface="Raleway SemiBold" pitchFamily="34" charset="0"/>
                <a:ea typeface="Raleway SemiBold" pitchFamily="34" charset="-122"/>
                <a:cs typeface="Raleway SemiBold" pitchFamily="34" charset="-120"/>
              </a:rPr>
              <a:t>LA CONSULTORA TÍPICA</a:t>
            </a:r>
            <a:endParaRPr lang="en-US" sz="850" dirty="0"/>
          </a:p>
        </p:txBody>
      </p:sp>
      <p:sp>
        <p:nvSpPr>
          <p:cNvPr id="10" name="Text 6"/>
          <p:cNvSpPr txBox="1"/>
          <p:nvPr/>
        </p:nvSpPr>
        <p:spPr>
          <a:xfrm>
            <a:off x="6796735" y="2606040"/>
            <a:ext cx="3657600" cy="228600"/>
          </a:xfrm>
          <a:prstGeom prst="rect">
            <a:avLst/>
          </a:prstGeom>
          <a:noFill/>
          <a:ln/>
        </p:spPr>
        <p:txBody>
          <a:bodyPr wrap="square" lIns="0" tIns="0" rIns="0" bIns="0" rtlCol="0" anchor="t"/>
          <a:lstStyle/>
          <a:p>
            <a:pPr marL="0" indent="0">
              <a:buNone/>
            </a:pPr>
            <a:r>
              <a:rPr lang="en-US" sz="850" kern="0" spc="220" dirty="0">
                <a:solidFill>
                  <a:srgbClr val="D5DFE0"/>
                </a:solidFill>
                <a:latin typeface="Raleway SemiBold" pitchFamily="34" charset="0"/>
                <a:ea typeface="Raleway SemiBold" pitchFamily="34" charset="-122"/>
                <a:cs typeface="Raleway SemiBold" pitchFamily="34" charset="-120"/>
              </a:rPr>
              <a:t>TESSERA, TU PARTNER</a:t>
            </a:r>
            <a:endParaRPr lang="en-US" sz="850" dirty="0"/>
          </a:p>
        </p:txBody>
      </p:sp>
      <p:sp>
        <p:nvSpPr>
          <p:cNvPr id="11" name="Shape 7"/>
          <p:cNvSpPr/>
          <p:nvPr/>
        </p:nvSpPr>
        <p:spPr>
          <a:xfrm>
            <a:off x="960120" y="2999232"/>
            <a:ext cx="4434840" cy="0"/>
          </a:xfrm>
          <a:prstGeom prst="line">
            <a:avLst/>
          </a:prstGeom>
          <a:noFill/>
          <a:ln w="12700">
            <a:solidFill>
              <a:srgbClr val="D5DCDD"/>
            </a:solidFill>
            <a:prstDash val="solid"/>
          </a:ln>
        </p:spPr>
        <p:txBody>
          <a:bodyPr/>
          <a:lstStyle/>
          <a:p>
            <a:endParaRPr lang="es-ES"/>
          </a:p>
        </p:txBody>
      </p:sp>
      <p:sp>
        <p:nvSpPr>
          <p:cNvPr id="12" name="Text 8"/>
          <p:cNvSpPr txBox="1"/>
          <p:nvPr/>
        </p:nvSpPr>
        <p:spPr>
          <a:xfrm>
            <a:off x="960120" y="3108960"/>
            <a:ext cx="4434840" cy="365760"/>
          </a:xfrm>
          <a:prstGeom prst="rect">
            <a:avLst/>
          </a:prstGeom>
          <a:noFill/>
          <a:ln/>
        </p:spPr>
        <p:txBody>
          <a:bodyPr wrap="square" lIns="0" tIns="0" rIns="0" bIns="0" rtlCol="0" anchor="t"/>
          <a:lstStyle/>
          <a:p>
            <a:pPr marL="0" indent="0">
              <a:buNone/>
            </a:pPr>
            <a:r>
              <a:rPr lang="en-US" sz="1250" dirty="0">
                <a:solidFill>
                  <a:srgbClr val="8AA3A5"/>
                </a:solidFill>
                <a:latin typeface="Raleway" pitchFamily="34" charset="0"/>
                <a:ea typeface="Raleway" pitchFamily="34" charset="-122"/>
                <a:cs typeface="Raleway" pitchFamily="34" charset="-120"/>
              </a:rPr>
              <a:t>—  </a:t>
            </a:r>
            <a:r>
              <a:rPr lang="en-US" sz="1250" dirty="0">
                <a:solidFill>
                  <a:srgbClr val="5C5C6E"/>
                </a:solidFill>
                <a:latin typeface="Raleway" pitchFamily="34" charset="0"/>
                <a:ea typeface="Raleway" pitchFamily="34" charset="-122"/>
                <a:cs typeface="Raleway" pitchFamily="34" charset="-120"/>
              </a:rPr>
              <a:t>Envía CVs en volumen y espera.</a:t>
            </a:r>
            <a:endParaRPr lang="en-US" sz="1250" dirty="0"/>
          </a:p>
        </p:txBody>
      </p:sp>
      <p:sp>
        <p:nvSpPr>
          <p:cNvPr id="13" name="Shape 9"/>
          <p:cNvSpPr/>
          <p:nvPr/>
        </p:nvSpPr>
        <p:spPr>
          <a:xfrm>
            <a:off x="960120" y="3566160"/>
            <a:ext cx="4434840" cy="0"/>
          </a:xfrm>
          <a:prstGeom prst="line">
            <a:avLst/>
          </a:prstGeom>
          <a:noFill/>
          <a:ln w="12700">
            <a:solidFill>
              <a:srgbClr val="D5DCDD"/>
            </a:solidFill>
            <a:prstDash val="solid"/>
          </a:ln>
        </p:spPr>
        <p:txBody>
          <a:bodyPr/>
          <a:lstStyle/>
          <a:p>
            <a:endParaRPr lang="es-ES"/>
          </a:p>
        </p:txBody>
      </p:sp>
      <p:sp>
        <p:nvSpPr>
          <p:cNvPr id="14" name="Text 10"/>
          <p:cNvSpPr txBox="1"/>
          <p:nvPr/>
        </p:nvSpPr>
        <p:spPr>
          <a:xfrm>
            <a:off x="960120" y="3675888"/>
            <a:ext cx="4434840" cy="365760"/>
          </a:xfrm>
          <a:prstGeom prst="rect">
            <a:avLst/>
          </a:prstGeom>
          <a:noFill/>
          <a:ln/>
        </p:spPr>
        <p:txBody>
          <a:bodyPr wrap="square" lIns="0" tIns="0" rIns="0" bIns="0" rtlCol="0" anchor="t"/>
          <a:lstStyle/>
          <a:p>
            <a:pPr marL="0" indent="0">
              <a:buNone/>
            </a:pPr>
            <a:r>
              <a:rPr lang="en-US" sz="1250" dirty="0">
                <a:solidFill>
                  <a:srgbClr val="8AA3A5"/>
                </a:solidFill>
                <a:latin typeface="Raleway" pitchFamily="34" charset="0"/>
                <a:ea typeface="Raleway" pitchFamily="34" charset="-122"/>
                <a:cs typeface="Raleway" pitchFamily="34" charset="-120"/>
              </a:rPr>
              <a:t>—  </a:t>
            </a:r>
            <a:r>
              <a:rPr lang="en-US" sz="1250" dirty="0">
                <a:solidFill>
                  <a:srgbClr val="5C5C6E"/>
                </a:solidFill>
                <a:latin typeface="Raleway" pitchFamily="34" charset="0"/>
                <a:ea typeface="Raleway" pitchFamily="34" charset="-122"/>
                <a:cs typeface="Raleway" pitchFamily="34" charset="-120"/>
              </a:rPr>
              <a:t>Aparece solo cuando hay una vacante.</a:t>
            </a:r>
            <a:endParaRPr lang="en-US" sz="1250" dirty="0"/>
          </a:p>
        </p:txBody>
      </p:sp>
      <p:sp>
        <p:nvSpPr>
          <p:cNvPr id="15" name="Shape 11"/>
          <p:cNvSpPr/>
          <p:nvPr/>
        </p:nvSpPr>
        <p:spPr>
          <a:xfrm>
            <a:off x="960120" y="4133088"/>
            <a:ext cx="4434840" cy="0"/>
          </a:xfrm>
          <a:prstGeom prst="line">
            <a:avLst/>
          </a:prstGeom>
          <a:noFill/>
          <a:ln w="12700">
            <a:solidFill>
              <a:srgbClr val="D5DCDD"/>
            </a:solidFill>
            <a:prstDash val="solid"/>
          </a:ln>
        </p:spPr>
        <p:txBody>
          <a:bodyPr/>
          <a:lstStyle/>
          <a:p>
            <a:endParaRPr lang="es-ES"/>
          </a:p>
        </p:txBody>
      </p:sp>
      <p:sp>
        <p:nvSpPr>
          <p:cNvPr id="16" name="Text 12"/>
          <p:cNvSpPr txBox="1"/>
          <p:nvPr/>
        </p:nvSpPr>
        <p:spPr>
          <a:xfrm>
            <a:off x="960120" y="4242816"/>
            <a:ext cx="4434840" cy="365760"/>
          </a:xfrm>
          <a:prstGeom prst="rect">
            <a:avLst/>
          </a:prstGeom>
          <a:noFill/>
          <a:ln/>
        </p:spPr>
        <p:txBody>
          <a:bodyPr wrap="square" lIns="0" tIns="0" rIns="0" bIns="0" rtlCol="0" anchor="t"/>
          <a:lstStyle/>
          <a:p>
            <a:pPr marL="0" indent="0">
              <a:buNone/>
            </a:pPr>
            <a:r>
              <a:rPr lang="en-US" sz="1250" dirty="0">
                <a:solidFill>
                  <a:srgbClr val="8AA3A5"/>
                </a:solidFill>
                <a:latin typeface="Raleway" pitchFamily="34" charset="0"/>
                <a:ea typeface="Raleway" pitchFamily="34" charset="-122"/>
                <a:cs typeface="Raleway" pitchFamily="34" charset="-120"/>
              </a:rPr>
              <a:t>—  </a:t>
            </a:r>
            <a:r>
              <a:rPr lang="en-US" sz="1250" dirty="0">
                <a:solidFill>
                  <a:srgbClr val="5C5C6E"/>
                </a:solidFill>
                <a:latin typeface="Raleway" pitchFamily="34" charset="0"/>
                <a:ea typeface="Raleway" pitchFamily="34" charset="-122"/>
                <a:cs typeface="Raleway" pitchFamily="34" charset="-120"/>
              </a:rPr>
              <a:t>Cambia de interlocutor en cada proceso.</a:t>
            </a:r>
            <a:endParaRPr lang="en-US" sz="1250" dirty="0"/>
          </a:p>
        </p:txBody>
      </p:sp>
      <p:sp>
        <p:nvSpPr>
          <p:cNvPr id="17" name="Shape 13"/>
          <p:cNvSpPr/>
          <p:nvPr/>
        </p:nvSpPr>
        <p:spPr>
          <a:xfrm>
            <a:off x="960120" y="4700016"/>
            <a:ext cx="4434840" cy="0"/>
          </a:xfrm>
          <a:prstGeom prst="line">
            <a:avLst/>
          </a:prstGeom>
          <a:noFill/>
          <a:ln w="12700">
            <a:solidFill>
              <a:srgbClr val="D5DCDD"/>
            </a:solidFill>
            <a:prstDash val="solid"/>
          </a:ln>
        </p:spPr>
        <p:txBody>
          <a:bodyPr/>
          <a:lstStyle/>
          <a:p>
            <a:endParaRPr lang="es-ES"/>
          </a:p>
        </p:txBody>
      </p:sp>
      <p:sp>
        <p:nvSpPr>
          <p:cNvPr id="18" name="Text 14"/>
          <p:cNvSpPr txBox="1"/>
          <p:nvPr/>
        </p:nvSpPr>
        <p:spPr>
          <a:xfrm>
            <a:off x="960120" y="4809744"/>
            <a:ext cx="4434840" cy="365760"/>
          </a:xfrm>
          <a:prstGeom prst="rect">
            <a:avLst/>
          </a:prstGeom>
          <a:noFill/>
          <a:ln/>
        </p:spPr>
        <p:txBody>
          <a:bodyPr wrap="square" lIns="0" tIns="0" rIns="0" bIns="0" rtlCol="0" anchor="t"/>
          <a:lstStyle/>
          <a:p>
            <a:pPr marL="0" indent="0">
              <a:buNone/>
            </a:pPr>
            <a:r>
              <a:rPr lang="en-US" sz="1250" dirty="0">
                <a:solidFill>
                  <a:srgbClr val="8AA3A5"/>
                </a:solidFill>
                <a:latin typeface="Raleway" pitchFamily="34" charset="0"/>
                <a:ea typeface="Raleway" pitchFamily="34" charset="-122"/>
                <a:cs typeface="Raleway" pitchFamily="34" charset="-120"/>
              </a:rPr>
              <a:t>—  </a:t>
            </a:r>
            <a:r>
              <a:rPr lang="en-US" sz="1250" dirty="0">
                <a:solidFill>
                  <a:srgbClr val="5C5C6E"/>
                </a:solidFill>
                <a:latin typeface="Raleway" pitchFamily="34" charset="0"/>
                <a:ea typeface="Raleway" pitchFamily="34" charset="-122"/>
                <a:cs typeface="Raleway" pitchFamily="34" charset="-120"/>
              </a:rPr>
              <a:t>Conoce el puesto, no tu negocio.</a:t>
            </a:r>
            <a:endParaRPr lang="en-US" sz="1250" dirty="0"/>
          </a:p>
        </p:txBody>
      </p:sp>
      <p:sp>
        <p:nvSpPr>
          <p:cNvPr id="19" name="Shape 15"/>
          <p:cNvSpPr/>
          <p:nvPr/>
        </p:nvSpPr>
        <p:spPr>
          <a:xfrm>
            <a:off x="960120" y="5266944"/>
            <a:ext cx="4434840" cy="0"/>
          </a:xfrm>
          <a:prstGeom prst="line">
            <a:avLst/>
          </a:prstGeom>
          <a:noFill/>
          <a:ln w="12700">
            <a:solidFill>
              <a:srgbClr val="D5DCDD"/>
            </a:solidFill>
            <a:prstDash val="solid"/>
          </a:ln>
        </p:spPr>
        <p:txBody>
          <a:bodyPr/>
          <a:lstStyle/>
          <a:p>
            <a:endParaRPr lang="es-ES"/>
          </a:p>
        </p:txBody>
      </p:sp>
      <p:sp>
        <p:nvSpPr>
          <p:cNvPr id="20" name="Text 16"/>
          <p:cNvSpPr txBox="1"/>
          <p:nvPr/>
        </p:nvSpPr>
        <p:spPr>
          <a:xfrm>
            <a:off x="960120" y="5376672"/>
            <a:ext cx="4434840" cy="365760"/>
          </a:xfrm>
          <a:prstGeom prst="rect">
            <a:avLst/>
          </a:prstGeom>
          <a:noFill/>
          <a:ln/>
        </p:spPr>
        <p:txBody>
          <a:bodyPr wrap="square" lIns="0" tIns="0" rIns="0" bIns="0" rtlCol="0" anchor="t"/>
          <a:lstStyle/>
          <a:p>
            <a:pPr marL="0" indent="0">
              <a:buNone/>
            </a:pPr>
            <a:r>
              <a:rPr lang="en-US" sz="1250" dirty="0">
                <a:solidFill>
                  <a:srgbClr val="8AA3A5"/>
                </a:solidFill>
                <a:latin typeface="Raleway" pitchFamily="34" charset="0"/>
                <a:ea typeface="Raleway" pitchFamily="34" charset="-122"/>
                <a:cs typeface="Raleway" pitchFamily="34" charset="-120"/>
              </a:rPr>
              <a:t>—  </a:t>
            </a:r>
            <a:r>
              <a:rPr lang="en-US" sz="1250" dirty="0">
                <a:solidFill>
                  <a:srgbClr val="5C5C6E"/>
                </a:solidFill>
                <a:latin typeface="Raleway" pitchFamily="34" charset="0"/>
                <a:ea typeface="Raleway" pitchFamily="34" charset="-122"/>
                <a:cs typeface="Raleway" pitchFamily="34" charset="-120"/>
              </a:rPr>
              <a:t>Desaparece tras la incorporación.</a:t>
            </a:r>
            <a:endParaRPr lang="en-US" sz="1250" dirty="0"/>
          </a:p>
        </p:txBody>
      </p:sp>
      <p:sp>
        <p:nvSpPr>
          <p:cNvPr id="21" name="Shape 17"/>
          <p:cNvSpPr/>
          <p:nvPr/>
        </p:nvSpPr>
        <p:spPr>
          <a:xfrm>
            <a:off x="6796735" y="2999232"/>
            <a:ext cx="4434840" cy="0"/>
          </a:xfrm>
          <a:prstGeom prst="line">
            <a:avLst/>
          </a:prstGeom>
          <a:noFill/>
          <a:ln w="12700">
            <a:solidFill>
              <a:srgbClr val="6F8B8E"/>
            </a:solidFill>
            <a:prstDash val="solid"/>
          </a:ln>
        </p:spPr>
        <p:txBody>
          <a:bodyPr/>
          <a:lstStyle/>
          <a:p>
            <a:endParaRPr lang="es-ES"/>
          </a:p>
        </p:txBody>
      </p:sp>
      <p:sp>
        <p:nvSpPr>
          <p:cNvPr id="22" name="Text 18"/>
          <p:cNvSpPr txBox="1"/>
          <p:nvPr/>
        </p:nvSpPr>
        <p:spPr>
          <a:xfrm>
            <a:off x="6796735" y="3108960"/>
            <a:ext cx="4434840" cy="365760"/>
          </a:xfrm>
          <a:prstGeom prst="rect">
            <a:avLst/>
          </a:prstGeom>
          <a:noFill/>
          <a:ln/>
        </p:spPr>
        <p:txBody>
          <a:bodyPr wrap="square" lIns="0" tIns="0" rIns="0" bIns="0" rtlCol="0" anchor="t"/>
          <a:lstStyle/>
          <a:p>
            <a:pPr marL="0" indent="0">
              <a:buNone/>
            </a:pPr>
            <a:r>
              <a:rPr lang="en-US" sz="1250" dirty="0">
                <a:solidFill>
                  <a:srgbClr val="D5DFE0"/>
                </a:solidFill>
                <a:latin typeface="Segoe UI Symbol" pitchFamily="34" charset="0"/>
                <a:ea typeface="Segoe UI Symbol" pitchFamily="34" charset="-122"/>
                <a:cs typeface="Segoe UI Symbol" pitchFamily="34" charset="-120"/>
              </a:rPr>
              <a:t>✓  </a:t>
            </a:r>
            <a:r>
              <a:rPr lang="en-US" sz="1250" dirty="0">
                <a:solidFill>
                  <a:srgbClr val="FFFFFF"/>
                </a:solidFill>
                <a:latin typeface="Raleway" pitchFamily="34" charset="0"/>
                <a:ea typeface="Raleway" pitchFamily="34" charset="-122"/>
                <a:cs typeface="Raleway" pitchFamily="34" charset="-120"/>
              </a:rPr>
              <a:t>Presenta solo a quien encaja, en </a:t>
            </a:r>
            <a:r>
              <a:rPr lang="en-US" sz="1250" dirty="0">
                <a:solidFill>
                  <a:srgbClr val="FFFFFF"/>
                </a:solidFill>
                <a:latin typeface="Manrope" pitchFamily="34" charset="0"/>
                <a:ea typeface="Manrope" pitchFamily="34" charset="-122"/>
                <a:cs typeface="Manrope" pitchFamily="34" charset="-120"/>
              </a:rPr>
              <a:t>72</a:t>
            </a:r>
            <a:r>
              <a:rPr lang="en-US" sz="1250" dirty="0">
                <a:solidFill>
                  <a:srgbClr val="FFFFFF"/>
                </a:solidFill>
                <a:latin typeface="Raleway" pitchFamily="34" charset="0"/>
                <a:ea typeface="Raleway" pitchFamily="34" charset="-122"/>
                <a:cs typeface="Raleway" pitchFamily="34" charset="-120"/>
              </a:rPr>
              <a:t> horas.</a:t>
            </a:r>
            <a:endParaRPr lang="en-US" sz="1250" dirty="0"/>
          </a:p>
        </p:txBody>
      </p:sp>
      <p:sp>
        <p:nvSpPr>
          <p:cNvPr id="23" name="Shape 19"/>
          <p:cNvSpPr/>
          <p:nvPr/>
        </p:nvSpPr>
        <p:spPr>
          <a:xfrm>
            <a:off x="6796735" y="3566160"/>
            <a:ext cx="4434840" cy="0"/>
          </a:xfrm>
          <a:prstGeom prst="line">
            <a:avLst/>
          </a:prstGeom>
          <a:noFill/>
          <a:ln w="12700">
            <a:solidFill>
              <a:srgbClr val="6F8B8E"/>
            </a:solidFill>
            <a:prstDash val="solid"/>
          </a:ln>
        </p:spPr>
        <p:txBody>
          <a:bodyPr/>
          <a:lstStyle/>
          <a:p>
            <a:endParaRPr lang="es-ES"/>
          </a:p>
        </p:txBody>
      </p:sp>
      <p:sp>
        <p:nvSpPr>
          <p:cNvPr id="24" name="Text 20"/>
          <p:cNvSpPr txBox="1"/>
          <p:nvPr/>
        </p:nvSpPr>
        <p:spPr>
          <a:xfrm>
            <a:off x="6796735" y="3675888"/>
            <a:ext cx="4434840" cy="365760"/>
          </a:xfrm>
          <a:prstGeom prst="rect">
            <a:avLst/>
          </a:prstGeom>
          <a:noFill/>
          <a:ln/>
        </p:spPr>
        <p:txBody>
          <a:bodyPr wrap="square" lIns="0" tIns="0" rIns="0" bIns="0" rtlCol="0" anchor="t"/>
          <a:lstStyle/>
          <a:p>
            <a:pPr marL="0" indent="0">
              <a:buNone/>
            </a:pPr>
            <a:r>
              <a:rPr lang="en-US" sz="1250" dirty="0">
                <a:solidFill>
                  <a:srgbClr val="D5DFE0"/>
                </a:solidFill>
                <a:latin typeface="Segoe UI Symbol" pitchFamily="34" charset="0"/>
                <a:ea typeface="Segoe UI Symbol" pitchFamily="34" charset="-122"/>
                <a:cs typeface="Segoe UI Symbol" pitchFamily="34" charset="-120"/>
              </a:rPr>
              <a:t>✓  </a:t>
            </a:r>
            <a:r>
              <a:rPr lang="en-US" sz="1250" dirty="0">
                <a:solidFill>
                  <a:srgbClr val="FFFFFF"/>
                </a:solidFill>
                <a:latin typeface="Raleway" pitchFamily="34" charset="0"/>
                <a:ea typeface="Raleway" pitchFamily="34" charset="-122"/>
                <a:cs typeface="Raleway" pitchFamily="34" charset="-120"/>
              </a:rPr>
              <a:t>Seguimiento semanal, con o sin vacantes.</a:t>
            </a:r>
            <a:endParaRPr lang="en-US" sz="1250" dirty="0"/>
          </a:p>
        </p:txBody>
      </p:sp>
      <p:sp>
        <p:nvSpPr>
          <p:cNvPr id="25" name="Shape 21"/>
          <p:cNvSpPr/>
          <p:nvPr/>
        </p:nvSpPr>
        <p:spPr>
          <a:xfrm>
            <a:off x="6796735" y="4133088"/>
            <a:ext cx="4434840" cy="0"/>
          </a:xfrm>
          <a:prstGeom prst="line">
            <a:avLst/>
          </a:prstGeom>
          <a:noFill/>
          <a:ln w="12700">
            <a:solidFill>
              <a:srgbClr val="6F8B8E"/>
            </a:solidFill>
            <a:prstDash val="solid"/>
          </a:ln>
        </p:spPr>
        <p:txBody>
          <a:bodyPr/>
          <a:lstStyle/>
          <a:p>
            <a:endParaRPr lang="es-ES"/>
          </a:p>
        </p:txBody>
      </p:sp>
      <p:sp>
        <p:nvSpPr>
          <p:cNvPr id="26" name="Text 22"/>
          <p:cNvSpPr txBox="1"/>
          <p:nvPr/>
        </p:nvSpPr>
        <p:spPr>
          <a:xfrm>
            <a:off x="6796735" y="4242816"/>
            <a:ext cx="4434840" cy="365760"/>
          </a:xfrm>
          <a:prstGeom prst="rect">
            <a:avLst/>
          </a:prstGeom>
          <a:noFill/>
          <a:ln/>
        </p:spPr>
        <p:txBody>
          <a:bodyPr wrap="square" lIns="0" tIns="0" rIns="0" bIns="0" rtlCol="0" anchor="t"/>
          <a:lstStyle/>
          <a:p>
            <a:pPr marL="0" indent="0">
              <a:buNone/>
            </a:pPr>
            <a:r>
              <a:rPr lang="en-US" sz="1250" dirty="0">
                <a:solidFill>
                  <a:srgbClr val="D5DFE0"/>
                </a:solidFill>
                <a:latin typeface="Segoe UI Symbol" pitchFamily="34" charset="0"/>
                <a:ea typeface="Segoe UI Symbol" pitchFamily="34" charset="-122"/>
                <a:cs typeface="Segoe UI Symbol" pitchFamily="34" charset="-120"/>
              </a:rPr>
              <a:t>✓  </a:t>
            </a:r>
            <a:r>
              <a:rPr lang="en-US" sz="1250" dirty="0">
                <a:solidFill>
                  <a:srgbClr val="FFFFFF"/>
                </a:solidFill>
                <a:latin typeface="Raleway" pitchFamily="34" charset="0"/>
                <a:ea typeface="Raleway" pitchFamily="34" charset="-122"/>
                <a:cs typeface="Raleway" pitchFamily="34" charset="-120"/>
              </a:rPr>
              <a:t>Un partner senior fijo, siempre localizable.</a:t>
            </a:r>
            <a:endParaRPr lang="en-US" sz="1250" dirty="0"/>
          </a:p>
        </p:txBody>
      </p:sp>
      <p:sp>
        <p:nvSpPr>
          <p:cNvPr id="27" name="Shape 23"/>
          <p:cNvSpPr/>
          <p:nvPr/>
        </p:nvSpPr>
        <p:spPr>
          <a:xfrm>
            <a:off x="6796735" y="4700016"/>
            <a:ext cx="4434840" cy="0"/>
          </a:xfrm>
          <a:prstGeom prst="line">
            <a:avLst/>
          </a:prstGeom>
          <a:noFill/>
          <a:ln w="12700">
            <a:solidFill>
              <a:srgbClr val="6F8B8E"/>
            </a:solidFill>
            <a:prstDash val="solid"/>
          </a:ln>
        </p:spPr>
        <p:txBody>
          <a:bodyPr/>
          <a:lstStyle/>
          <a:p>
            <a:endParaRPr lang="es-ES"/>
          </a:p>
        </p:txBody>
      </p:sp>
      <p:sp>
        <p:nvSpPr>
          <p:cNvPr id="28" name="Text 24"/>
          <p:cNvSpPr txBox="1"/>
          <p:nvPr/>
        </p:nvSpPr>
        <p:spPr>
          <a:xfrm>
            <a:off x="6796735" y="4809744"/>
            <a:ext cx="4434840" cy="365760"/>
          </a:xfrm>
          <a:prstGeom prst="rect">
            <a:avLst/>
          </a:prstGeom>
          <a:noFill/>
          <a:ln/>
        </p:spPr>
        <p:txBody>
          <a:bodyPr wrap="square" lIns="0" tIns="0" rIns="0" bIns="0" rtlCol="0" anchor="t"/>
          <a:lstStyle/>
          <a:p>
            <a:pPr marL="0" indent="0">
              <a:buNone/>
            </a:pPr>
            <a:r>
              <a:rPr lang="en-US" sz="1250" dirty="0">
                <a:solidFill>
                  <a:srgbClr val="D5DFE0"/>
                </a:solidFill>
                <a:latin typeface="Segoe UI Symbol" pitchFamily="34" charset="0"/>
                <a:ea typeface="Segoe UI Symbol" pitchFamily="34" charset="-122"/>
                <a:cs typeface="Segoe UI Symbol" pitchFamily="34" charset="-120"/>
              </a:rPr>
              <a:t>✓  </a:t>
            </a:r>
            <a:r>
              <a:rPr lang="en-US" sz="1250" dirty="0">
                <a:solidFill>
                  <a:srgbClr val="FFFFFF"/>
                </a:solidFill>
                <a:latin typeface="Raleway" pitchFamily="34" charset="0"/>
                <a:ea typeface="Raleway" pitchFamily="34" charset="-122"/>
                <a:cs typeface="Raleway" pitchFamily="34" charset="-120"/>
              </a:rPr>
              <a:t>Conoce tu negocio, tu cultura y tus retos.</a:t>
            </a:r>
            <a:endParaRPr lang="en-US" sz="1250" dirty="0"/>
          </a:p>
        </p:txBody>
      </p:sp>
      <p:sp>
        <p:nvSpPr>
          <p:cNvPr id="29" name="Shape 25"/>
          <p:cNvSpPr/>
          <p:nvPr/>
        </p:nvSpPr>
        <p:spPr>
          <a:xfrm>
            <a:off x="6796735" y="5266944"/>
            <a:ext cx="4434840" cy="0"/>
          </a:xfrm>
          <a:prstGeom prst="line">
            <a:avLst/>
          </a:prstGeom>
          <a:noFill/>
          <a:ln w="12700">
            <a:solidFill>
              <a:srgbClr val="6F8B8E"/>
            </a:solidFill>
            <a:prstDash val="solid"/>
          </a:ln>
        </p:spPr>
        <p:txBody>
          <a:bodyPr/>
          <a:lstStyle/>
          <a:p>
            <a:endParaRPr lang="es-ES"/>
          </a:p>
        </p:txBody>
      </p:sp>
      <p:sp>
        <p:nvSpPr>
          <p:cNvPr id="30" name="Text 26"/>
          <p:cNvSpPr txBox="1"/>
          <p:nvPr/>
        </p:nvSpPr>
        <p:spPr>
          <a:xfrm>
            <a:off x="6796735" y="5376672"/>
            <a:ext cx="4434840" cy="365760"/>
          </a:xfrm>
          <a:prstGeom prst="rect">
            <a:avLst/>
          </a:prstGeom>
          <a:noFill/>
          <a:ln/>
        </p:spPr>
        <p:txBody>
          <a:bodyPr wrap="square" lIns="0" tIns="0" rIns="0" bIns="0" rtlCol="0" anchor="t"/>
          <a:lstStyle/>
          <a:p>
            <a:pPr marL="0" indent="0">
              <a:buNone/>
            </a:pPr>
            <a:r>
              <a:rPr lang="en-US" sz="1250" dirty="0">
                <a:solidFill>
                  <a:srgbClr val="D5DFE0"/>
                </a:solidFill>
                <a:latin typeface="Segoe UI Symbol" pitchFamily="34" charset="0"/>
                <a:ea typeface="Segoe UI Symbol" pitchFamily="34" charset="-122"/>
                <a:cs typeface="Segoe UI Symbol" pitchFamily="34" charset="-120"/>
              </a:rPr>
              <a:t>✓  </a:t>
            </a:r>
            <a:r>
              <a:rPr lang="en-US" sz="1250" dirty="0">
                <a:solidFill>
                  <a:srgbClr val="FFFFFF"/>
                </a:solidFill>
                <a:latin typeface="Raleway" pitchFamily="34" charset="0"/>
                <a:ea typeface="Raleway" pitchFamily="34" charset="-122"/>
                <a:cs typeface="Raleway" pitchFamily="34" charset="-120"/>
              </a:rPr>
              <a:t>Sigue contigo tras la incorporación.</a:t>
            </a:r>
            <a:endParaRPr lang="en-US" sz="1250" dirty="0"/>
          </a:p>
        </p:txBody>
      </p:sp>
      <p:sp>
        <p:nvSpPr>
          <p:cNvPr id="31" name="Shape 27"/>
          <p:cNvSpPr/>
          <p:nvPr/>
        </p:nvSpPr>
        <p:spPr>
          <a:xfrm>
            <a:off x="5766664" y="3854196"/>
            <a:ext cx="658368" cy="658368"/>
          </a:xfrm>
          <a:prstGeom prst="ellipse">
            <a:avLst/>
          </a:prstGeom>
          <a:solidFill>
            <a:srgbClr val="202031"/>
          </a:solidFill>
          <a:ln w="31750">
            <a:solidFill>
              <a:srgbClr val="FFFFFF"/>
            </a:solidFill>
            <a:prstDash val="solid"/>
          </a:ln>
        </p:spPr>
        <p:txBody>
          <a:bodyPr/>
          <a:lstStyle/>
          <a:p>
            <a:endParaRPr lang="es-ES"/>
          </a:p>
        </p:txBody>
      </p:sp>
      <p:sp>
        <p:nvSpPr>
          <p:cNvPr id="32" name="Text 28"/>
          <p:cNvSpPr txBox="1"/>
          <p:nvPr/>
        </p:nvSpPr>
        <p:spPr>
          <a:xfrm>
            <a:off x="5766664" y="3854196"/>
            <a:ext cx="658368" cy="658368"/>
          </a:xfrm>
          <a:prstGeom prst="rect">
            <a:avLst/>
          </a:prstGeom>
          <a:noFill/>
          <a:ln/>
        </p:spPr>
        <p:txBody>
          <a:bodyPr wrap="square" lIns="0" tIns="0" rIns="0" bIns="0" rtlCol="0" anchor="ctr"/>
          <a:lstStyle/>
          <a:p>
            <a:pPr marL="0" indent="0" algn="ctr">
              <a:buNone/>
            </a:pPr>
            <a:r>
              <a:rPr lang="en-US" sz="1200" kern="0" spc="100" dirty="0">
                <a:solidFill>
                  <a:srgbClr val="FFFFFF"/>
                </a:solidFill>
                <a:latin typeface="Raleway SemiBold" pitchFamily="34" charset="0"/>
                <a:ea typeface="Raleway SemiBold" pitchFamily="34" charset="-122"/>
                <a:cs typeface="Raleway SemiBold" pitchFamily="34" charset="-120"/>
              </a:rPr>
              <a:t>VS</a:t>
            </a:r>
            <a:endParaRPr lang="en-US" sz="1200" dirty="0"/>
          </a:p>
        </p:txBody>
      </p:sp>
      <p:sp>
        <p:nvSpPr>
          <p:cNvPr id="33" name="Text 29"/>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04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NUESTROS SERVICIOS</a:t>
            </a:r>
            <a:endParaRPr lang="en-US" sz="750" dirty="0"/>
          </a:p>
        </p:txBody>
      </p:sp>
      <p:sp>
        <p:nvSpPr>
          <p:cNvPr id="4"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RESULTADOS EXTRAORDINARIOS</a:t>
            </a:r>
            <a:endParaRPr lang="en-US" sz="750" dirty="0"/>
          </a:p>
        </p:txBody>
      </p:sp>
      <p:sp>
        <p:nvSpPr>
          <p:cNvPr id="5"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6"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Headhunting</a:t>
            </a:r>
            <a:endParaRPr lang="en-US" sz="3400" dirty="0"/>
          </a:p>
        </p:txBody>
      </p:sp>
      <p:sp>
        <p:nvSpPr>
          <p:cNvPr id="7" name="Shape 4"/>
          <p:cNvSpPr/>
          <p:nvPr/>
        </p:nvSpPr>
        <p:spPr>
          <a:xfrm>
            <a:off x="548640" y="1572768"/>
            <a:ext cx="3423818" cy="3063240"/>
          </a:xfrm>
          <a:prstGeom prst="rect">
            <a:avLst/>
          </a:prstGeom>
          <a:solidFill>
            <a:srgbClr val="6F8B8C"/>
          </a:solidFill>
          <a:ln w="12700">
            <a:solidFill>
              <a:srgbClr val="6F8B8C"/>
            </a:solidFill>
            <a:prstDash val="solid"/>
          </a:ln>
        </p:spPr>
        <p:txBody>
          <a:bodyPr/>
          <a:lstStyle/>
          <a:p>
            <a:endParaRPr lang="es-ES"/>
          </a:p>
        </p:txBody>
      </p:sp>
      <p:sp>
        <p:nvSpPr>
          <p:cNvPr id="8" name="Text 5"/>
          <p:cNvSpPr txBox="1"/>
          <p:nvPr/>
        </p:nvSpPr>
        <p:spPr>
          <a:xfrm>
            <a:off x="822960" y="1783080"/>
            <a:ext cx="2875178" cy="228600"/>
          </a:xfrm>
          <a:prstGeom prst="rect">
            <a:avLst/>
          </a:prstGeom>
          <a:noFill/>
          <a:ln/>
        </p:spPr>
        <p:txBody>
          <a:bodyPr wrap="square" lIns="0" tIns="0" rIns="0" bIns="0" rtlCol="0" anchor="t"/>
          <a:lstStyle/>
          <a:p>
            <a:pPr marL="0" indent="0">
              <a:buNone/>
            </a:pPr>
            <a:r>
              <a:rPr lang="en-US" sz="850" kern="0" spc="220" dirty="0">
                <a:solidFill>
                  <a:srgbClr val="FFFFFF"/>
                </a:solidFill>
                <a:latin typeface="Raleway SemiBold" pitchFamily="34" charset="0"/>
                <a:ea typeface="Raleway SemiBold" pitchFamily="34" charset="-122"/>
                <a:cs typeface="Raleway SemiBold" pitchFamily="34" charset="-120"/>
              </a:rPr>
              <a:t>NUESTRO COMPROMISO</a:t>
            </a:r>
            <a:endParaRPr lang="en-US" sz="850" dirty="0"/>
          </a:p>
        </p:txBody>
      </p:sp>
      <p:sp>
        <p:nvSpPr>
          <p:cNvPr id="9" name="Shape 6"/>
          <p:cNvSpPr/>
          <p:nvPr/>
        </p:nvSpPr>
        <p:spPr>
          <a:xfrm>
            <a:off x="822960" y="2057400"/>
            <a:ext cx="2875178" cy="0"/>
          </a:xfrm>
          <a:prstGeom prst="line">
            <a:avLst/>
          </a:prstGeom>
          <a:noFill/>
          <a:ln w="12700">
            <a:solidFill>
              <a:srgbClr val="C9D6D7"/>
            </a:solidFill>
            <a:prstDash val="solid"/>
          </a:ln>
        </p:spPr>
        <p:txBody>
          <a:bodyPr/>
          <a:lstStyle/>
          <a:p>
            <a:endParaRPr lang="es-ES"/>
          </a:p>
        </p:txBody>
      </p:sp>
      <p:sp>
        <p:nvSpPr>
          <p:cNvPr id="10" name="Text 7"/>
          <p:cNvSpPr txBox="1"/>
          <p:nvPr/>
        </p:nvSpPr>
        <p:spPr>
          <a:xfrm>
            <a:off x="822960" y="2212848"/>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VELOCIDAD</a:t>
            </a:r>
            <a:endParaRPr lang="en-US" sz="1050" dirty="0"/>
          </a:p>
        </p:txBody>
      </p:sp>
      <p:sp>
        <p:nvSpPr>
          <p:cNvPr id="11" name="Text 8"/>
          <p:cNvSpPr txBox="1"/>
          <p:nvPr/>
        </p:nvSpPr>
        <p:spPr>
          <a:xfrm>
            <a:off x="822960" y="2459736"/>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Disponemos de nuestra propia metodología, la cual nos permite presentar candidatos a tiempo.</a:t>
            </a:r>
            <a:endParaRPr lang="en-US" sz="1000" dirty="0"/>
          </a:p>
        </p:txBody>
      </p:sp>
      <p:sp>
        <p:nvSpPr>
          <p:cNvPr id="12" name="Text 9"/>
          <p:cNvSpPr txBox="1"/>
          <p:nvPr/>
        </p:nvSpPr>
        <p:spPr>
          <a:xfrm>
            <a:off x="822960" y="2999232"/>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ESPECIALIZACIÓN</a:t>
            </a:r>
            <a:endParaRPr lang="en-US" sz="1050" dirty="0"/>
          </a:p>
        </p:txBody>
      </p:sp>
      <p:sp>
        <p:nvSpPr>
          <p:cNvPr id="13" name="Text 10"/>
          <p:cNvSpPr txBox="1"/>
          <p:nvPr/>
        </p:nvSpPr>
        <p:spPr>
          <a:xfrm>
            <a:off x="822960" y="3246120"/>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Conocemos tu sector y cómo se construyen sus equipos.</a:t>
            </a:r>
            <a:endParaRPr lang="en-US" sz="1000" dirty="0"/>
          </a:p>
        </p:txBody>
      </p:sp>
      <p:sp>
        <p:nvSpPr>
          <p:cNvPr id="14" name="Text 11"/>
          <p:cNvSpPr txBox="1"/>
          <p:nvPr/>
        </p:nvSpPr>
        <p:spPr>
          <a:xfrm>
            <a:off x="822960" y="3785616"/>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ÉXITO COMPARTIDO</a:t>
            </a:r>
            <a:endParaRPr lang="en-US" sz="1050" dirty="0"/>
          </a:p>
        </p:txBody>
      </p:sp>
      <p:sp>
        <p:nvSpPr>
          <p:cNvPr id="15" name="Text 12"/>
          <p:cNvSpPr txBox="1"/>
          <p:nvPr/>
        </p:nvSpPr>
        <p:spPr>
          <a:xfrm>
            <a:off x="822960" y="4032504"/>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El equipo que lleva tu negocio al siguiente nivel.</a:t>
            </a:r>
            <a:endParaRPr lang="en-US" sz="1000" dirty="0"/>
          </a:p>
        </p:txBody>
      </p:sp>
      <p:sp>
        <p:nvSpPr>
          <p:cNvPr id="16" name="Shape 13"/>
          <p:cNvSpPr/>
          <p:nvPr/>
        </p:nvSpPr>
        <p:spPr>
          <a:xfrm>
            <a:off x="4383938" y="1572768"/>
            <a:ext cx="3423818" cy="3063240"/>
          </a:xfrm>
          <a:prstGeom prst="rect">
            <a:avLst/>
          </a:prstGeom>
          <a:solidFill>
            <a:srgbClr val="587579"/>
          </a:solidFill>
          <a:ln w="12700">
            <a:solidFill>
              <a:srgbClr val="587579"/>
            </a:solidFill>
            <a:prstDash val="solid"/>
          </a:ln>
        </p:spPr>
        <p:txBody>
          <a:bodyPr/>
          <a:lstStyle/>
          <a:p>
            <a:endParaRPr lang="es-ES"/>
          </a:p>
        </p:txBody>
      </p:sp>
      <p:sp>
        <p:nvSpPr>
          <p:cNvPr id="17" name="Text 14"/>
          <p:cNvSpPr txBox="1"/>
          <p:nvPr/>
        </p:nvSpPr>
        <p:spPr>
          <a:xfrm>
            <a:off x="4658258" y="1783080"/>
            <a:ext cx="2875178" cy="228600"/>
          </a:xfrm>
          <a:prstGeom prst="rect">
            <a:avLst/>
          </a:prstGeom>
          <a:noFill/>
          <a:ln/>
        </p:spPr>
        <p:txBody>
          <a:bodyPr wrap="square" lIns="0" tIns="0" rIns="0" bIns="0" rtlCol="0" anchor="t"/>
          <a:lstStyle/>
          <a:p>
            <a:pPr marL="0" indent="0">
              <a:buNone/>
            </a:pPr>
            <a:r>
              <a:rPr lang="en-US" sz="850" kern="0" spc="220" dirty="0">
                <a:solidFill>
                  <a:srgbClr val="FFFFFF"/>
                </a:solidFill>
                <a:latin typeface="Raleway SemiBold" pitchFamily="34" charset="0"/>
                <a:ea typeface="Raleway SemiBold" pitchFamily="34" charset="-122"/>
                <a:cs typeface="Raleway SemiBold" pitchFamily="34" charset="-120"/>
              </a:rPr>
              <a:t>LO QUE GANA TU EQUIPO</a:t>
            </a:r>
            <a:endParaRPr lang="en-US" sz="850" dirty="0"/>
          </a:p>
        </p:txBody>
      </p:sp>
      <p:sp>
        <p:nvSpPr>
          <p:cNvPr id="18" name="Shape 15"/>
          <p:cNvSpPr/>
          <p:nvPr/>
        </p:nvSpPr>
        <p:spPr>
          <a:xfrm>
            <a:off x="4658258" y="2057400"/>
            <a:ext cx="2875178" cy="0"/>
          </a:xfrm>
          <a:prstGeom prst="line">
            <a:avLst/>
          </a:prstGeom>
          <a:noFill/>
          <a:ln w="12700">
            <a:solidFill>
              <a:srgbClr val="C9D6D7"/>
            </a:solidFill>
            <a:prstDash val="solid"/>
          </a:ln>
        </p:spPr>
        <p:txBody>
          <a:bodyPr/>
          <a:lstStyle/>
          <a:p>
            <a:endParaRPr lang="es-ES"/>
          </a:p>
        </p:txBody>
      </p:sp>
      <p:sp>
        <p:nvSpPr>
          <p:cNvPr id="19" name="Text 16"/>
          <p:cNvSpPr txBox="1"/>
          <p:nvPr/>
        </p:nvSpPr>
        <p:spPr>
          <a:xfrm>
            <a:off x="4658258" y="2212848"/>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CERO ESTRÉS</a:t>
            </a:r>
            <a:endParaRPr lang="en-US" sz="1050" dirty="0"/>
          </a:p>
        </p:txBody>
      </p:sp>
      <p:sp>
        <p:nvSpPr>
          <p:cNvPr id="20" name="Text 17"/>
          <p:cNvSpPr txBox="1"/>
          <p:nvPr/>
        </p:nvSpPr>
        <p:spPr>
          <a:xfrm>
            <a:off x="4658258" y="2459736"/>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Nos ocupamos de todo. Tú solo conoces a los mejores.</a:t>
            </a:r>
            <a:endParaRPr lang="en-US" sz="1000" dirty="0"/>
          </a:p>
        </p:txBody>
      </p:sp>
      <p:sp>
        <p:nvSpPr>
          <p:cNvPr id="21" name="Text 18"/>
          <p:cNvSpPr txBox="1"/>
          <p:nvPr/>
        </p:nvSpPr>
        <p:spPr>
          <a:xfrm>
            <a:off x="4658258" y="2999232"/>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TALENTO A MEDIDA</a:t>
            </a:r>
            <a:endParaRPr lang="en-US" sz="1050" dirty="0"/>
          </a:p>
        </p:txBody>
      </p:sp>
      <p:sp>
        <p:nvSpPr>
          <p:cNvPr id="22" name="Text 19"/>
          <p:cNvSpPr txBox="1"/>
          <p:nvPr/>
        </p:nvSpPr>
        <p:spPr>
          <a:xfrm>
            <a:off x="4658258" y="3246120"/>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Candidatos que no solo encajan: impulsan tu crecimiento.</a:t>
            </a:r>
            <a:endParaRPr lang="en-US" sz="1000" dirty="0"/>
          </a:p>
        </p:txBody>
      </p:sp>
      <p:sp>
        <p:nvSpPr>
          <p:cNvPr id="23" name="Text 20"/>
          <p:cNvSpPr txBox="1"/>
          <p:nvPr/>
        </p:nvSpPr>
        <p:spPr>
          <a:xfrm>
            <a:off x="4658258" y="3785616"/>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RELACIÓN A LARGO PLAZO</a:t>
            </a:r>
            <a:endParaRPr lang="en-US" sz="1050" dirty="0"/>
          </a:p>
        </p:txBody>
      </p:sp>
      <p:sp>
        <p:nvSpPr>
          <p:cNvPr id="24" name="Text 21"/>
          <p:cNvSpPr txBox="1"/>
          <p:nvPr/>
        </p:nvSpPr>
        <p:spPr>
          <a:xfrm>
            <a:off x="4658258" y="4032504"/>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Tu éxito es también el nuestro.</a:t>
            </a:r>
            <a:endParaRPr lang="en-US" sz="1000" dirty="0"/>
          </a:p>
        </p:txBody>
      </p:sp>
      <p:sp>
        <p:nvSpPr>
          <p:cNvPr id="25" name="Shape 22"/>
          <p:cNvSpPr/>
          <p:nvPr/>
        </p:nvSpPr>
        <p:spPr>
          <a:xfrm>
            <a:off x="8219237" y="1572768"/>
            <a:ext cx="3423818" cy="3063240"/>
          </a:xfrm>
          <a:prstGeom prst="rect">
            <a:avLst/>
          </a:prstGeom>
          <a:solidFill>
            <a:srgbClr val="3F5A5E"/>
          </a:solidFill>
          <a:ln w="12700">
            <a:solidFill>
              <a:srgbClr val="3F5A5E"/>
            </a:solidFill>
            <a:prstDash val="solid"/>
          </a:ln>
        </p:spPr>
        <p:txBody>
          <a:bodyPr/>
          <a:lstStyle/>
          <a:p>
            <a:endParaRPr lang="es-ES"/>
          </a:p>
        </p:txBody>
      </p:sp>
      <p:sp>
        <p:nvSpPr>
          <p:cNvPr id="26" name="Text 23"/>
          <p:cNvSpPr txBox="1"/>
          <p:nvPr/>
        </p:nvSpPr>
        <p:spPr>
          <a:xfrm>
            <a:off x="8493557" y="1783080"/>
            <a:ext cx="2875178" cy="228600"/>
          </a:xfrm>
          <a:prstGeom prst="rect">
            <a:avLst/>
          </a:prstGeom>
          <a:noFill/>
          <a:ln/>
        </p:spPr>
        <p:txBody>
          <a:bodyPr wrap="square" lIns="0" tIns="0" rIns="0" bIns="0" rtlCol="0" anchor="t"/>
          <a:lstStyle/>
          <a:p>
            <a:pPr marL="0" indent="0">
              <a:buNone/>
            </a:pPr>
            <a:r>
              <a:rPr lang="en-US" sz="850" kern="0" spc="220" dirty="0">
                <a:solidFill>
                  <a:srgbClr val="FFFFFF"/>
                </a:solidFill>
                <a:latin typeface="Raleway SemiBold" pitchFamily="34" charset="0"/>
                <a:ea typeface="Raleway SemiBold" pitchFamily="34" charset="-122"/>
                <a:cs typeface="Raleway SemiBold" pitchFamily="34" charset="-120"/>
              </a:rPr>
              <a:t>CÓMO TRABAJAMOS</a:t>
            </a:r>
            <a:endParaRPr lang="en-US" sz="850" dirty="0"/>
          </a:p>
        </p:txBody>
      </p:sp>
      <p:sp>
        <p:nvSpPr>
          <p:cNvPr id="27" name="Shape 24"/>
          <p:cNvSpPr/>
          <p:nvPr/>
        </p:nvSpPr>
        <p:spPr>
          <a:xfrm>
            <a:off x="8493557" y="2057400"/>
            <a:ext cx="2875178" cy="0"/>
          </a:xfrm>
          <a:prstGeom prst="line">
            <a:avLst/>
          </a:prstGeom>
          <a:noFill/>
          <a:ln w="12700">
            <a:solidFill>
              <a:srgbClr val="C9D6D7"/>
            </a:solidFill>
            <a:prstDash val="solid"/>
          </a:ln>
        </p:spPr>
        <p:txBody>
          <a:bodyPr/>
          <a:lstStyle/>
          <a:p>
            <a:endParaRPr lang="es-ES"/>
          </a:p>
        </p:txBody>
      </p:sp>
      <p:sp>
        <p:nvSpPr>
          <p:cNvPr id="28" name="Text 25"/>
          <p:cNvSpPr txBox="1"/>
          <p:nvPr/>
        </p:nvSpPr>
        <p:spPr>
          <a:xfrm>
            <a:off x="8493557" y="2212848"/>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ELEGIMOS CON PRECISIÓN</a:t>
            </a:r>
            <a:endParaRPr lang="en-US" sz="1050" dirty="0"/>
          </a:p>
        </p:txBody>
      </p:sp>
      <p:sp>
        <p:nvSpPr>
          <p:cNvPr id="29" name="Text 26"/>
          <p:cNvSpPr txBox="1"/>
          <p:nvPr/>
        </p:nvSpPr>
        <p:spPr>
          <a:xfrm>
            <a:off x="8493557" y="2459736"/>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Habilidades, actitud y encaje cultural.</a:t>
            </a:r>
            <a:endParaRPr lang="en-US" sz="1000" dirty="0"/>
          </a:p>
        </p:txBody>
      </p:sp>
      <p:sp>
        <p:nvSpPr>
          <p:cNvPr id="30" name="Text 27"/>
          <p:cNvSpPr txBox="1"/>
          <p:nvPr/>
        </p:nvSpPr>
        <p:spPr>
          <a:xfrm>
            <a:off x="8493557" y="2999232"/>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SOLO LO MEJOR</a:t>
            </a:r>
            <a:endParaRPr lang="en-US" sz="1050" dirty="0"/>
          </a:p>
        </p:txBody>
      </p:sp>
      <p:sp>
        <p:nvSpPr>
          <p:cNvPr id="31" name="Text 28"/>
          <p:cNvSpPr txBox="1"/>
          <p:nvPr/>
        </p:nvSpPr>
        <p:spPr>
          <a:xfrm>
            <a:off x="8493557" y="3246120"/>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Únicamente candidatos que realmente suman.</a:t>
            </a:r>
            <a:endParaRPr lang="en-US" sz="1000" dirty="0"/>
          </a:p>
        </p:txBody>
      </p:sp>
      <p:sp>
        <p:nvSpPr>
          <p:cNvPr id="32" name="Text 29"/>
          <p:cNvSpPr txBox="1"/>
          <p:nvPr/>
        </p:nvSpPr>
        <p:spPr>
          <a:xfrm>
            <a:off x="8493557" y="3785616"/>
            <a:ext cx="2875178" cy="228600"/>
          </a:xfrm>
          <a:prstGeom prst="rect">
            <a:avLst/>
          </a:prstGeom>
          <a:noFill/>
          <a:ln/>
        </p:spPr>
        <p:txBody>
          <a:bodyPr wrap="square" lIns="0" tIns="0" rIns="0" bIns="0" rtlCol="0" anchor="t"/>
          <a:lstStyle/>
          <a:p>
            <a:pPr marL="0" indent="0">
              <a:buNone/>
            </a:pPr>
            <a:r>
              <a:rPr lang="en-US" sz="1050" kern="0" spc="50" dirty="0">
                <a:solidFill>
                  <a:srgbClr val="FFFFFF"/>
                </a:solidFill>
                <a:latin typeface="Raleway SemiBold" pitchFamily="34" charset="0"/>
                <a:ea typeface="Raleway SemiBold" pitchFamily="34" charset="-122"/>
                <a:cs typeface="Raleway SemiBold" pitchFamily="34" charset="-120"/>
              </a:rPr>
              <a:t>ACOMPAÑAMOS EL PROCESO</a:t>
            </a:r>
            <a:endParaRPr lang="en-US" sz="1050" dirty="0"/>
          </a:p>
        </p:txBody>
      </p:sp>
      <p:sp>
        <p:nvSpPr>
          <p:cNvPr id="33" name="Text 30"/>
          <p:cNvSpPr txBox="1"/>
          <p:nvPr/>
        </p:nvSpPr>
        <p:spPr>
          <a:xfrm>
            <a:off x="8493557" y="4032504"/>
            <a:ext cx="2875178" cy="502920"/>
          </a:xfrm>
          <a:prstGeom prst="rect">
            <a:avLst/>
          </a:prstGeom>
          <a:noFill/>
          <a:ln/>
        </p:spPr>
        <p:txBody>
          <a:bodyPr wrap="square" lIns="0" tIns="0" rIns="0" bIns="0" rtlCol="0" anchor="t"/>
          <a:lstStyle/>
          <a:p>
            <a:pPr marL="0" indent="0">
              <a:lnSpc>
                <a:spcPct val="112000"/>
              </a:lnSpc>
              <a:buNone/>
            </a:pPr>
            <a:r>
              <a:rPr lang="en-US" sz="1000" dirty="0">
                <a:solidFill>
                  <a:srgbClr val="EEF2F2"/>
                </a:solidFill>
                <a:latin typeface="Raleway" pitchFamily="34" charset="0"/>
                <a:ea typeface="Raleway" pitchFamily="34" charset="-122"/>
                <a:cs typeface="Raleway" pitchFamily="34" charset="-120"/>
              </a:rPr>
              <a:t>Contigo también después de la incorporación.</a:t>
            </a:r>
            <a:endParaRPr lang="en-US" sz="1000" dirty="0"/>
          </a:p>
        </p:txBody>
      </p:sp>
      <p:sp>
        <p:nvSpPr>
          <p:cNvPr id="34" name="Shape 31"/>
          <p:cNvSpPr/>
          <p:nvPr/>
        </p:nvSpPr>
        <p:spPr>
          <a:xfrm>
            <a:off x="0" y="4846320"/>
            <a:ext cx="12191695" cy="2011680"/>
          </a:xfrm>
          <a:prstGeom prst="rect">
            <a:avLst/>
          </a:prstGeom>
          <a:solidFill>
            <a:srgbClr val="202031"/>
          </a:solidFill>
          <a:ln w="12700">
            <a:solidFill>
              <a:srgbClr val="202031"/>
            </a:solidFill>
            <a:prstDash val="solid"/>
          </a:ln>
        </p:spPr>
        <p:txBody>
          <a:bodyPr/>
          <a:lstStyle/>
          <a:p>
            <a:endParaRPr lang="es-ES"/>
          </a:p>
        </p:txBody>
      </p:sp>
      <p:sp>
        <p:nvSpPr>
          <p:cNvPr id="35" name="Text 32"/>
          <p:cNvSpPr txBox="1"/>
          <p:nvPr/>
        </p:nvSpPr>
        <p:spPr>
          <a:xfrm>
            <a:off x="548640" y="5193792"/>
            <a:ext cx="2377440" cy="457200"/>
          </a:xfrm>
          <a:prstGeom prst="rect">
            <a:avLst/>
          </a:prstGeom>
          <a:noFill/>
          <a:ln/>
        </p:spPr>
        <p:txBody>
          <a:bodyPr wrap="square" lIns="0" tIns="0" rIns="0" bIns="0" rtlCol="0" anchor="t"/>
          <a:lstStyle/>
          <a:p>
            <a:pPr marL="0" indent="0">
              <a:buNone/>
            </a:pPr>
            <a:r>
              <a:rPr lang="en-US" sz="3000" kern="0" spc="800" dirty="0">
                <a:solidFill>
                  <a:srgbClr val="FFFFFF"/>
                </a:solidFill>
                <a:latin typeface="Raleway Light" pitchFamily="34" charset="0"/>
                <a:ea typeface="Raleway Light" pitchFamily="34" charset="-122"/>
                <a:cs typeface="Raleway Light" pitchFamily="34" charset="-120"/>
              </a:rPr>
              <a:t>TESSA</a:t>
            </a:r>
            <a:endParaRPr lang="en-US" sz="3000" dirty="0"/>
          </a:p>
        </p:txBody>
      </p:sp>
      <p:sp>
        <p:nvSpPr>
          <p:cNvPr id="36" name="Text 33"/>
          <p:cNvSpPr txBox="1"/>
          <p:nvPr/>
        </p:nvSpPr>
        <p:spPr>
          <a:xfrm>
            <a:off x="548640" y="5715000"/>
            <a:ext cx="2560320" cy="228600"/>
          </a:xfrm>
          <a:prstGeom prst="rect">
            <a:avLst/>
          </a:prstGeom>
          <a:noFill/>
          <a:ln/>
        </p:spPr>
        <p:txBody>
          <a:bodyPr wrap="square" lIns="0" tIns="0" rIns="0" bIns="0" rtlCol="0" anchor="t"/>
          <a:lstStyle/>
          <a:p>
            <a:pPr marL="0" indent="0">
              <a:buNone/>
            </a:pPr>
            <a:r>
              <a:rPr lang="en-US" sz="850" kern="0" spc="220" dirty="0">
                <a:solidFill>
                  <a:srgbClr val="8AA3A5"/>
                </a:solidFill>
                <a:latin typeface="Raleway SemiBold" pitchFamily="34" charset="0"/>
                <a:ea typeface="Raleway SemiBold" pitchFamily="34" charset="-122"/>
                <a:cs typeface="Raleway SemiBold" pitchFamily="34" charset="-120"/>
              </a:rPr>
              <a:t>IA PROPIA DE SELECCIÓN</a:t>
            </a:r>
            <a:endParaRPr lang="en-US" sz="850" dirty="0"/>
          </a:p>
        </p:txBody>
      </p:sp>
      <p:sp>
        <p:nvSpPr>
          <p:cNvPr id="37" name="Text 34"/>
          <p:cNvSpPr txBox="1"/>
          <p:nvPr/>
        </p:nvSpPr>
        <p:spPr>
          <a:xfrm>
            <a:off x="3429000" y="5193792"/>
            <a:ext cx="4754880" cy="914400"/>
          </a:xfrm>
          <a:prstGeom prst="rect">
            <a:avLst/>
          </a:prstGeom>
          <a:noFill/>
          <a:ln/>
        </p:spPr>
        <p:txBody>
          <a:bodyPr wrap="square" lIns="0" tIns="0" rIns="0" bIns="0" rtlCol="0" anchor="t"/>
          <a:lstStyle/>
          <a:p>
            <a:pPr marL="0" indent="0">
              <a:lnSpc>
                <a:spcPct val="125000"/>
              </a:lnSpc>
              <a:buNone/>
            </a:pPr>
            <a:r>
              <a:rPr lang="en-US" sz="1150" dirty="0">
                <a:solidFill>
                  <a:srgbClr val="FFFFFF"/>
                </a:solidFill>
                <a:latin typeface="Raleway" pitchFamily="34" charset="0"/>
                <a:ea typeface="Raleway" pitchFamily="34" charset="-122"/>
                <a:cs typeface="Raleway" pitchFamily="34" charset="-120"/>
              </a:rPr>
              <a:t>Nuestra inteligencia artificial, junto a nuestra metodología propia, identifica y prioriza al mejor talento del mercado en cada búsqueda. Tu shortlist no depende del azar: </a:t>
            </a:r>
            <a:r>
              <a:rPr lang="en-US" sz="1150" dirty="0">
                <a:solidFill>
                  <a:srgbClr val="8AA3A5"/>
                </a:solidFill>
                <a:latin typeface="Raleway SemiBold" pitchFamily="34" charset="0"/>
                <a:ea typeface="Raleway SemiBold" pitchFamily="34" charset="-122"/>
                <a:cs typeface="Raleway SemiBold" pitchFamily="34" charset="-120"/>
              </a:rPr>
              <a:t>depende de datos.</a:t>
            </a:r>
            <a:endParaRPr lang="en-US" sz="1150" dirty="0"/>
          </a:p>
        </p:txBody>
      </p:sp>
      <p:sp>
        <p:nvSpPr>
          <p:cNvPr id="38" name="Shape 35"/>
          <p:cNvSpPr/>
          <p:nvPr/>
        </p:nvSpPr>
        <p:spPr>
          <a:xfrm>
            <a:off x="8641080" y="5212080"/>
            <a:ext cx="0" cy="960120"/>
          </a:xfrm>
          <a:prstGeom prst="line">
            <a:avLst/>
          </a:prstGeom>
          <a:noFill/>
          <a:ln w="9525">
            <a:solidFill>
              <a:srgbClr val="3A3A4E"/>
            </a:solidFill>
            <a:prstDash val="solid"/>
          </a:ln>
        </p:spPr>
        <p:txBody>
          <a:bodyPr/>
          <a:lstStyle/>
          <a:p>
            <a:endParaRPr lang="es-ES"/>
          </a:p>
        </p:txBody>
      </p:sp>
      <p:sp>
        <p:nvSpPr>
          <p:cNvPr id="39" name="Text 36"/>
          <p:cNvSpPr txBox="1"/>
          <p:nvPr/>
        </p:nvSpPr>
        <p:spPr>
          <a:xfrm>
            <a:off x="8961120" y="5029200"/>
            <a:ext cx="1645920" cy="777240"/>
          </a:xfrm>
          <a:prstGeom prst="rect">
            <a:avLst/>
          </a:prstGeom>
          <a:noFill/>
          <a:ln/>
        </p:spPr>
        <p:txBody>
          <a:bodyPr wrap="square" lIns="0" tIns="0" rIns="0" bIns="0" rtlCol="0" anchor="t"/>
          <a:lstStyle/>
          <a:p>
            <a:pPr marL="0" indent="0">
              <a:buNone/>
            </a:pPr>
            <a:r>
              <a:rPr lang="en-US" sz="4600" dirty="0">
                <a:solidFill>
                  <a:srgbClr val="8AA3A5"/>
                </a:solidFill>
                <a:latin typeface="Manrope Light" pitchFamily="34" charset="0"/>
                <a:ea typeface="Manrope Light" pitchFamily="34" charset="-122"/>
                <a:cs typeface="Manrope Light" pitchFamily="34" charset="-120"/>
              </a:rPr>
              <a:t>72</a:t>
            </a:r>
            <a:r>
              <a:rPr lang="en-US" sz="4600" dirty="0">
                <a:solidFill>
                  <a:srgbClr val="8AA3A5"/>
                </a:solidFill>
                <a:latin typeface="Raleway Light" pitchFamily="34" charset="0"/>
                <a:ea typeface="Raleway Light" pitchFamily="34" charset="-122"/>
                <a:cs typeface="Raleway Light" pitchFamily="34" charset="-120"/>
              </a:rPr>
              <a:t> </a:t>
            </a:r>
            <a:r>
              <a:rPr lang="en-US" sz="2400" dirty="0">
                <a:solidFill>
                  <a:srgbClr val="8AA3A5"/>
                </a:solidFill>
                <a:latin typeface="Raleway Light" pitchFamily="34" charset="0"/>
                <a:ea typeface="Raleway Light" pitchFamily="34" charset="-122"/>
                <a:cs typeface="Raleway Light" pitchFamily="34" charset="-120"/>
              </a:rPr>
              <a:t>h</a:t>
            </a:r>
            <a:endParaRPr lang="en-US" sz="1100" dirty="0"/>
          </a:p>
        </p:txBody>
      </p:sp>
      <p:sp>
        <p:nvSpPr>
          <p:cNvPr id="40" name="Text 37"/>
          <p:cNvSpPr txBox="1"/>
          <p:nvPr/>
        </p:nvSpPr>
        <p:spPr>
          <a:xfrm>
            <a:off x="10332720" y="5257800"/>
            <a:ext cx="1463040" cy="548640"/>
          </a:xfrm>
          <a:prstGeom prst="rect">
            <a:avLst/>
          </a:prstGeom>
          <a:noFill/>
          <a:ln/>
        </p:spPr>
        <p:txBody>
          <a:bodyPr wrap="square" lIns="0" tIns="0" rIns="0" bIns="0" rtlCol="0" anchor="t"/>
          <a:lstStyle/>
          <a:p>
            <a:pPr marL="0" indent="0">
              <a:buNone/>
            </a:pPr>
            <a:r>
              <a:rPr lang="en-US" sz="1000" dirty="0">
                <a:solidFill>
                  <a:srgbClr val="E6ECEC"/>
                </a:solidFill>
                <a:latin typeface="Raleway" pitchFamily="34" charset="0"/>
                <a:ea typeface="Raleway" pitchFamily="34" charset="-122"/>
                <a:cs typeface="Raleway" pitchFamily="34" charset="-120"/>
              </a:rPr>
              <a:t>Primer shortlist</a:t>
            </a:r>
            <a:endParaRPr lang="en-US" sz="1000" dirty="0"/>
          </a:p>
          <a:p>
            <a:pPr marL="0" indent="0">
              <a:buNone/>
            </a:pPr>
            <a:r>
              <a:rPr lang="en-US" sz="1000" dirty="0">
                <a:solidFill>
                  <a:srgbClr val="E6ECEC"/>
                </a:solidFill>
                <a:latin typeface="Raleway" pitchFamily="34" charset="0"/>
                <a:ea typeface="Raleway" pitchFamily="34" charset="-122"/>
                <a:cs typeface="Raleway" pitchFamily="34" charset="-120"/>
              </a:rPr>
              <a:t>sobre tu mesa</a:t>
            </a:r>
            <a:endParaRPr lang="en-US" sz="1000" dirty="0"/>
          </a:p>
        </p:txBody>
      </p:sp>
      <p:sp>
        <p:nvSpPr>
          <p:cNvPr id="41" name="Text 38"/>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E6ECEC"/>
                </a:solidFill>
                <a:latin typeface="Manrope" pitchFamily="34" charset="0"/>
                <a:ea typeface="Manrope" pitchFamily="34" charset="-122"/>
                <a:cs typeface="Manrope" pitchFamily="34" charset="-120"/>
              </a:rPr>
              <a:t>05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CEC"/>
        </a:solidFill>
        <a:effectLst/>
      </p:bgPr>
    </p:bg>
    <p:spTree>
      <p:nvGrpSpPr>
        <p:cNvPr id="1" name=""/>
        <p:cNvGrpSpPr/>
        <p:nvPr/>
      </p:nvGrpSpPr>
      <p:grpSpPr>
        <a:xfrm>
          <a:off x="0" y="0"/>
          <a:ext cx="0" cy="0"/>
          <a:chOff x="0" y="0"/>
          <a:chExt cx="0" cy="0"/>
        </a:xfrm>
      </p:grpSpPr>
      <p:pic>
        <p:nvPicPr>
          <p:cNvPr id="3" name="Image 1"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4"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NUESTROS SERVICIOS</a:t>
            </a:r>
            <a:endParaRPr lang="en-US" sz="750" dirty="0"/>
          </a:p>
        </p:txBody>
      </p:sp>
      <p:sp>
        <p:nvSpPr>
          <p:cNvPr id="5"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OUTSOURCING TIME &amp; MATERIAL</a:t>
            </a:r>
            <a:endParaRPr lang="en-US" sz="750" dirty="0"/>
          </a:p>
        </p:txBody>
      </p:sp>
      <p:sp>
        <p:nvSpPr>
          <p:cNvPr id="6"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7"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Outsourcing Time &amp; Material</a:t>
            </a:r>
            <a:endParaRPr lang="en-US" sz="3400" dirty="0"/>
          </a:p>
        </p:txBody>
      </p:sp>
      <p:sp>
        <p:nvSpPr>
          <p:cNvPr id="8" name="Text 4"/>
          <p:cNvSpPr txBox="1"/>
          <p:nvPr/>
        </p:nvSpPr>
        <p:spPr>
          <a:xfrm>
            <a:off x="548640" y="1572768"/>
            <a:ext cx="8686800" cy="320040"/>
          </a:xfrm>
          <a:prstGeom prst="rect">
            <a:avLst/>
          </a:prstGeom>
          <a:noFill/>
          <a:ln/>
        </p:spPr>
        <p:txBody>
          <a:bodyPr wrap="square" lIns="0" tIns="0" rIns="0" bIns="0" rtlCol="0" anchor="t"/>
          <a:lstStyle/>
          <a:p>
            <a:pPr marL="0" indent="0">
              <a:buNone/>
            </a:pPr>
            <a:r>
              <a:rPr lang="en-US" sz="1300" dirty="0">
                <a:solidFill>
                  <a:srgbClr val="587579"/>
                </a:solidFill>
                <a:latin typeface="Raleway" pitchFamily="34" charset="0"/>
                <a:ea typeface="Raleway" pitchFamily="34" charset="-122"/>
                <a:cs typeface="Raleway" pitchFamily="34" charset="-120"/>
              </a:rPr>
              <a:t>Externalización que sí funciona: </a:t>
            </a:r>
            <a:r>
              <a:rPr lang="en-US" sz="1300" dirty="0">
                <a:solidFill>
                  <a:srgbClr val="202031"/>
                </a:solidFill>
                <a:latin typeface="Raleway SemiBold" pitchFamily="34" charset="0"/>
                <a:ea typeface="Raleway SemiBold" pitchFamily="34" charset="-122"/>
                <a:cs typeface="Raleway SemiBold" pitchFamily="34" charset="-120"/>
              </a:rPr>
              <a:t>pagas por trabajo real, sin papeleos.</a:t>
            </a:r>
            <a:endParaRPr lang="en-US" sz="1300" dirty="0"/>
          </a:p>
        </p:txBody>
      </p:sp>
      <p:sp>
        <p:nvSpPr>
          <p:cNvPr id="9" name="Text 5"/>
          <p:cNvSpPr txBox="1"/>
          <p:nvPr/>
        </p:nvSpPr>
        <p:spPr>
          <a:xfrm>
            <a:off x="548640" y="1965960"/>
            <a:ext cx="6949440" cy="548640"/>
          </a:xfrm>
          <a:prstGeom prst="rect">
            <a:avLst/>
          </a:prstGeom>
          <a:noFill/>
          <a:ln/>
        </p:spPr>
        <p:txBody>
          <a:bodyPr wrap="square" lIns="0" tIns="0" rIns="0" bIns="0" rtlCol="0" anchor="t"/>
          <a:lstStyle/>
          <a:p>
            <a:pPr marL="0" indent="0">
              <a:lnSpc>
                <a:spcPct val="120000"/>
              </a:lnSpc>
              <a:buNone/>
            </a:pPr>
            <a:r>
              <a:rPr lang="en-US" sz="1100" dirty="0">
                <a:solidFill>
                  <a:srgbClr val="5C5C6E"/>
                </a:solidFill>
                <a:latin typeface="Raleway" pitchFamily="34" charset="0"/>
                <a:ea typeface="Raleway" pitchFamily="34" charset="-122"/>
                <a:cs typeface="Raleway" pitchFamily="34" charset="-120"/>
              </a:rPr>
              <a:t>Contratar cuesta más de lo que parece. Con el modelo Time &amp; Material ajustas el equipo a tu actividad real y nosotros nos encargamos de toda la gestión.</a:t>
            </a:r>
            <a:endParaRPr lang="en-US" sz="1100" dirty="0"/>
          </a:p>
        </p:txBody>
      </p:sp>
      <p:sp>
        <p:nvSpPr>
          <p:cNvPr id="10" name="Text 6"/>
          <p:cNvSpPr txBox="1"/>
          <p:nvPr/>
        </p:nvSpPr>
        <p:spPr>
          <a:xfrm>
            <a:off x="548640" y="2880360"/>
            <a:ext cx="5486400"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LOS BENEFICIOS DEL OUTSOURCING</a:t>
            </a:r>
            <a:endParaRPr lang="en-US" sz="850" dirty="0"/>
          </a:p>
        </p:txBody>
      </p:sp>
      <p:sp>
        <p:nvSpPr>
          <p:cNvPr id="11" name="Shape 7"/>
          <p:cNvSpPr/>
          <p:nvPr/>
        </p:nvSpPr>
        <p:spPr>
          <a:xfrm>
            <a:off x="548640" y="3154680"/>
            <a:ext cx="2533574" cy="1691640"/>
          </a:xfrm>
          <a:prstGeom prst="rect">
            <a:avLst/>
          </a:prstGeom>
          <a:solidFill>
            <a:srgbClr val="FFFFFF"/>
          </a:solidFill>
          <a:ln w="12700">
            <a:solidFill>
              <a:srgbClr val="FFFFFF"/>
            </a:solidFill>
            <a:prstDash val="solid"/>
          </a:ln>
        </p:spPr>
        <p:txBody>
          <a:bodyPr/>
          <a:lstStyle/>
          <a:p>
            <a:endParaRPr lang="es-ES"/>
          </a:p>
        </p:txBody>
      </p:sp>
      <p:sp>
        <p:nvSpPr>
          <p:cNvPr id="12" name="Shape 8"/>
          <p:cNvSpPr/>
          <p:nvPr/>
        </p:nvSpPr>
        <p:spPr>
          <a:xfrm>
            <a:off x="548640" y="3154680"/>
            <a:ext cx="2533574" cy="64008"/>
          </a:xfrm>
          <a:prstGeom prst="rect">
            <a:avLst/>
          </a:prstGeom>
          <a:solidFill>
            <a:srgbClr val="8AA3A5"/>
          </a:solidFill>
          <a:ln w="12700">
            <a:solidFill>
              <a:srgbClr val="8AA3A5"/>
            </a:solidFill>
            <a:prstDash val="solid"/>
          </a:ln>
        </p:spPr>
        <p:txBody>
          <a:bodyPr/>
          <a:lstStyle/>
          <a:p>
            <a:endParaRPr lang="es-ES"/>
          </a:p>
        </p:txBody>
      </p:sp>
      <p:sp>
        <p:nvSpPr>
          <p:cNvPr id="13" name="Text 9"/>
          <p:cNvSpPr txBox="1"/>
          <p:nvPr/>
        </p:nvSpPr>
        <p:spPr>
          <a:xfrm>
            <a:off x="777240" y="3364992"/>
            <a:ext cx="914400" cy="274320"/>
          </a:xfrm>
          <a:prstGeom prst="rect">
            <a:avLst/>
          </a:prstGeom>
          <a:noFill/>
          <a:ln/>
        </p:spPr>
        <p:txBody>
          <a:bodyPr wrap="square" lIns="0" tIns="0" rIns="0" bIns="0" rtlCol="0" anchor="t"/>
          <a:lstStyle/>
          <a:p>
            <a:pPr marL="0" indent="0">
              <a:buNone/>
            </a:pPr>
            <a:r>
              <a:rPr lang="en-US" sz="1100" dirty="0">
                <a:solidFill>
                  <a:srgbClr val="587579"/>
                </a:solidFill>
                <a:latin typeface="Manrope" pitchFamily="34" charset="0"/>
                <a:ea typeface="Manrope" pitchFamily="34" charset="-122"/>
                <a:cs typeface="Manrope" pitchFamily="34" charset="-120"/>
              </a:rPr>
              <a:t>01</a:t>
            </a:r>
            <a:endParaRPr lang="en-US" sz="1100" dirty="0"/>
          </a:p>
        </p:txBody>
      </p:sp>
      <p:sp>
        <p:nvSpPr>
          <p:cNvPr id="14" name="Text 10"/>
          <p:cNvSpPr txBox="1"/>
          <p:nvPr/>
        </p:nvSpPr>
        <p:spPr>
          <a:xfrm>
            <a:off x="777240" y="3639312"/>
            <a:ext cx="2167814" cy="548640"/>
          </a:xfrm>
          <a:prstGeom prst="rect">
            <a:avLst/>
          </a:prstGeom>
          <a:noFill/>
          <a:ln/>
        </p:spPr>
        <p:txBody>
          <a:bodyPr wrap="square" lIns="0" tIns="0" rIns="0" bIns="0" rtlCol="0" anchor="t"/>
          <a:lstStyle/>
          <a:p>
            <a:pPr marL="0" indent="0">
              <a:buNone/>
            </a:pPr>
            <a:r>
              <a:rPr lang="en-US" sz="1600" dirty="0">
                <a:solidFill>
                  <a:srgbClr val="202031"/>
                </a:solidFill>
                <a:latin typeface="Raleway" pitchFamily="34" charset="0"/>
                <a:ea typeface="Raleway" pitchFamily="34" charset="-122"/>
                <a:cs typeface="Raleway" pitchFamily="34" charset="-120"/>
              </a:rPr>
              <a:t>Ahorro en costes de personal</a:t>
            </a:r>
            <a:endParaRPr lang="en-US" sz="1600" dirty="0"/>
          </a:p>
        </p:txBody>
      </p:sp>
      <p:sp>
        <p:nvSpPr>
          <p:cNvPr id="15" name="Text 11"/>
          <p:cNvSpPr txBox="1"/>
          <p:nvPr/>
        </p:nvSpPr>
        <p:spPr>
          <a:xfrm>
            <a:off x="777240" y="4279392"/>
            <a:ext cx="2167814" cy="457200"/>
          </a:xfrm>
          <a:prstGeom prst="rect">
            <a:avLst/>
          </a:prstGeom>
          <a:noFill/>
          <a:ln/>
        </p:spPr>
        <p:txBody>
          <a:bodyPr wrap="square" lIns="0" tIns="0" rIns="0" bIns="0" rtlCol="0" anchor="t"/>
          <a:lstStyle/>
          <a:p>
            <a:pPr marL="0" indent="0">
              <a:buNone/>
            </a:pPr>
            <a:r>
              <a:rPr lang="en-US" sz="1050" dirty="0">
                <a:solidFill>
                  <a:srgbClr val="5C5C6E"/>
                </a:solidFill>
                <a:latin typeface="Raleway" pitchFamily="34" charset="0"/>
                <a:ea typeface="Raleway" pitchFamily="34" charset="-122"/>
                <a:cs typeface="Raleway" pitchFamily="34" charset="-120"/>
              </a:rPr>
              <a:t>Pagas solo por horas reales de trabajo.</a:t>
            </a:r>
            <a:endParaRPr lang="en-US" sz="1050" dirty="0"/>
          </a:p>
        </p:txBody>
      </p:sp>
      <p:sp>
        <p:nvSpPr>
          <p:cNvPr id="16" name="Shape 12"/>
          <p:cNvSpPr/>
          <p:nvPr/>
        </p:nvSpPr>
        <p:spPr>
          <a:xfrm>
            <a:off x="3402254" y="3154680"/>
            <a:ext cx="2533574" cy="1691640"/>
          </a:xfrm>
          <a:prstGeom prst="rect">
            <a:avLst/>
          </a:prstGeom>
          <a:solidFill>
            <a:srgbClr val="FFFFFF"/>
          </a:solidFill>
          <a:ln w="12700">
            <a:solidFill>
              <a:srgbClr val="FFFFFF"/>
            </a:solidFill>
            <a:prstDash val="solid"/>
          </a:ln>
        </p:spPr>
        <p:txBody>
          <a:bodyPr/>
          <a:lstStyle/>
          <a:p>
            <a:endParaRPr lang="es-ES"/>
          </a:p>
        </p:txBody>
      </p:sp>
      <p:sp>
        <p:nvSpPr>
          <p:cNvPr id="17" name="Shape 13"/>
          <p:cNvSpPr/>
          <p:nvPr/>
        </p:nvSpPr>
        <p:spPr>
          <a:xfrm>
            <a:off x="3402254" y="3154680"/>
            <a:ext cx="2533574" cy="64008"/>
          </a:xfrm>
          <a:prstGeom prst="rect">
            <a:avLst/>
          </a:prstGeom>
          <a:solidFill>
            <a:srgbClr val="587579"/>
          </a:solidFill>
          <a:ln w="12700">
            <a:solidFill>
              <a:srgbClr val="587579"/>
            </a:solidFill>
            <a:prstDash val="solid"/>
          </a:ln>
        </p:spPr>
        <p:txBody>
          <a:bodyPr/>
          <a:lstStyle/>
          <a:p>
            <a:endParaRPr lang="es-ES"/>
          </a:p>
        </p:txBody>
      </p:sp>
      <p:sp>
        <p:nvSpPr>
          <p:cNvPr id="18" name="Text 14"/>
          <p:cNvSpPr txBox="1"/>
          <p:nvPr/>
        </p:nvSpPr>
        <p:spPr>
          <a:xfrm>
            <a:off x="3630854" y="3364992"/>
            <a:ext cx="914400" cy="274320"/>
          </a:xfrm>
          <a:prstGeom prst="rect">
            <a:avLst/>
          </a:prstGeom>
          <a:noFill/>
          <a:ln/>
        </p:spPr>
        <p:txBody>
          <a:bodyPr wrap="square" lIns="0" tIns="0" rIns="0" bIns="0" rtlCol="0" anchor="t"/>
          <a:lstStyle/>
          <a:p>
            <a:pPr marL="0" indent="0">
              <a:buNone/>
            </a:pPr>
            <a:r>
              <a:rPr lang="en-US" sz="1100" dirty="0">
                <a:solidFill>
                  <a:srgbClr val="587579"/>
                </a:solidFill>
                <a:latin typeface="Manrope" pitchFamily="34" charset="0"/>
                <a:ea typeface="Manrope" pitchFamily="34" charset="-122"/>
                <a:cs typeface="Manrope" pitchFamily="34" charset="-120"/>
              </a:rPr>
              <a:t>02</a:t>
            </a:r>
            <a:endParaRPr lang="en-US" sz="1100" dirty="0"/>
          </a:p>
        </p:txBody>
      </p:sp>
      <p:sp>
        <p:nvSpPr>
          <p:cNvPr id="19" name="Text 15"/>
          <p:cNvSpPr txBox="1"/>
          <p:nvPr/>
        </p:nvSpPr>
        <p:spPr>
          <a:xfrm>
            <a:off x="3630854" y="3639312"/>
            <a:ext cx="2167814" cy="548640"/>
          </a:xfrm>
          <a:prstGeom prst="rect">
            <a:avLst/>
          </a:prstGeom>
          <a:noFill/>
          <a:ln/>
        </p:spPr>
        <p:txBody>
          <a:bodyPr wrap="square" lIns="0" tIns="0" rIns="0" bIns="0" rtlCol="0" anchor="t"/>
          <a:lstStyle/>
          <a:p>
            <a:pPr marL="0" indent="0">
              <a:buNone/>
            </a:pPr>
            <a:r>
              <a:rPr lang="en-US" sz="1600" dirty="0">
                <a:solidFill>
                  <a:srgbClr val="202031"/>
                </a:solidFill>
                <a:latin typeface="Raleway" pitchFamily="34" charset="0"/>
                <a:ea typeface="Raleway" pitchFamily="34" charset="-122"/>
                <a:cs typeface="Raleway" pitchFamily="34" charset="-120"/>
              </a:rPr>
              <a:t>Cobertura total</a:t>
            </a:r>
            <a:endParaRPr lang="en-US" sz="1600" dirty="0"/>
          </a:p>
        </p:txBody>
      </p:sp>
      <p:sp>
        <p:nvSpPr>
          <p:cNvPr id="20" name="Text 16"/>
          <p:cNvSpPr txBox="1"/>
          <p:nvPr/>
        </p:nvSpPr>
        <p:spPr>
          <a:xfrm>
            <a:off x="3630854" y="4279392"/>
            <a:ext cx="2167814" cy="457200"/>
          </a:xfrm>
          <a:prstGeom prst="rect">
            <a:avLst/>
          </a:prstGeom>
          <a:noFill/>
          <a:ln/>
        </p:spPr>
        <p:txBody>
          <a:bodyPr wrap="square" lIns="0" tIns="0" rIns="0" bIns="0" rtlCol="0" anchor="t"/>
          <a:lstStyle/>
          <a:p>
            <a:pPr marL="0" indent="0">
              <a:buNone/>
            </a:pPr>
            <a:r>
              <a:rPr lang="en-US" sz="1050" dirty="0">
                <a:solidFill>
                  <a:srgbClr val="5C5C6E"/>
                </a:solidFill>
                <a:latin typeface="Raleway" pitchFamily="34" charset="0"/>
                <a:ea typeface="Raleway" pitchFamily="34" charset="-122"/>
                <a:cs typeface="Raleway" pitchFamily="34" charset="-120"/>
              </a:rPr>
              <a:t>Cubrimos bajas y vacaciones.</a:t>
            </a:r>
            <a:endParaRPr lang="en-US" sz="1050" dirty="0"/>
          </a:p>
        </p:txBody>
      </p:sp>
      <p:sp>
        <p:nvSpPr>
          <p:cNvPr id="21" name="Shape 17"/>
          <p:cNvSpPr/>
          <p:nvPr/>
        </p:nvSpPr>
        <p:spPr>
          <a:xfrm>
            <a:off x="6255868" y="3154680"/>
            <a:ext cx="2533574" cy="1691640"/>
          </a:xfrm>
          <a:prstGeom prst="rect">
            <a:avLst/>
          </a:prstGeom>
          <a:solidFill>
            <a:srgbClr val="FFFFFF"/>
          </a:solidFill>
          <a:ln w="12700">
            <a:solidFill>
              <a:srgbClr val="FFFFFF"/>
            </a:solidFill>
            <a:prstDash val="solid"/>
          </a:ln>
        </p:spPr>
        <p:txBody>
          <a:bodyPr/>
          <a:lstStyle/>
          <a:p>
            <a:endParaRPr lang="es-ES"/>
          </a:p>
        </p:txBody>
      </p:sp>
      <p:sp>
        <p:nvSpPr>
          <p:cNvPr id="22" name="Shape 18"/>
          <p:cNvSpPr/>
          <p:nvPr/>
        </p:nvSpPr>
        <p:spPr>
          <a:xfrm>
            <a:off x="6255868" y="3154680"/>
            <a:ext cx="2533574" cy="64008"/>
          </a:xfrm>
          <a:prstGeom prst="rect">
            <a:avLst/>
          </a:prstGeom>
          <a:solidFill>
            <a:srgbClr val="3F5A5E"/>
          </a:solidFill>
          <a:ln w="12700">
            <a:solidFill>
              <a:srgbClr val="3F5A5E"/>
            </a:solidFill>
            <a:prstDash val="solid"/>
          </a:ln>
        </p:spPr>
        <p:txBody>
          <a:bodyPr/>
          <a:lstStyle/>
          <a:p>
            <a:endParaRPr lang="es-ES"/>
          </a:p>
        </p:txBody>
      </p:sp>
      <p:sp>
        <p:nvSpPr>
          <p:cNvPr id="23" name="Text 19"/>
          <p:cNvSpPr txBox="1"/>
          <p:nvPr/>
        </p:nvSpPr>
        <p:spPr>
          <a:xfrm>
            <a:off x="6484468" y="3364992"/>
            <a:ext cx="914400" cy="274320"/>
          </a:xfrm>
          <a:prstGeom prst="rect">
            <a:avLst/>
          </a:prstGeom>
          <a:noFill/>
          <a:ln/>
        </p:spPr>
        <p:txBody>
          <a:bodyPr wrap="square" lIns="0" tIns="0" rIns="0" bIns="0" rtlCol="0" anchor="t"/>
          <a:lstStyle/>
          <a:p>
            <a:pPr marL="0" indent="0">
              <a:buNone/>
            </a:pPr>
            <a:r>
              <a:rPr lang="en-US" sz="1100" dirty="0">
                <a:solidFill>
                  <a:srgbClr val="587579"/>
                </a:solidFill>
                <a:latin typeface="Manrope" pitchFamily="34" charset="0"/>
                <a:ea typeface="Manrope" pitchFamily="34" charset="-122"/>
                <a:cs typeface="Manrope" pitchFamily="34" charset="-120"/>
              </a:rPr>
              <a:t>03</a:t>
            </a:r>
            <a:endParaRPr lang="en-US" sz="1100" dirty="0"/>
          </a:p>
        </p:txBody>
      </p:sp>
      <p:sp>
        <p:nvSpPr>
          <p:cNvPr id="24" name="Text 20"/>
          <p:cNvSpPr txBox="1"/>
          <p:nvPr/>
        </p:nvSpPr>
        <p:spPr>
          <a:xfrm>
            <a:off x="6484468" y="3639312"/>
            <a:ext cx="2167814" cy="548640"/>
          </a:xfrm>
          <a:prstGeom prst="rect">
            <a:avLst/>
          </a:prstGeom>
          <a:noFill/>
          <a:ln/>
        </p:spPr>
        <p:txBody>
          <a:bodyPr wrap="square" lIns="0" tIns="0" rIns="0" bIns="0" rtlCol="0" anchor="t"/>
          <a:lstStyle/>
          <a:p>
            <a:pPr marL="0" indent="0">
              <a:buNone/>
            </a:pPr>
            <a:r>
              <a:rPr lang="en-US" sz="1600" dirty="0">
                <a:solidFill>
                  <a:srgbClr val="202031"/>
                </a:solidFill>
                <a:latin typeface="Raleway" pitchFamily="34" charset="0"/>
                <a:ea typeface="Raleway" pitchFamily="34" charset="-122"/>
                <a:cs typeface="Raleway" pitchFamily="34" charset="-120"/>
              </a:rPr>
              <a:t>Sin gestión</a:t>
            </a:r>
            <a:endParaRPr lang="en-US" sz="1600" dirty="0"/>
          </a:p>
        </p:txBody>
      </p:sp>
      <p:sp>
        <p:nvSpPr>
          <p:cNvPr id="25" name="Text 21"/>
          <p:cNvSpPr txBox="1"/>
          <p:nvPr/>
        </p:nvSpPr>
        <p:spPr>
          <a:xfrm>
            <a:off x="6484468" y="4279392"/>
            <a:ext cx="2167814" cy="457200"/>
          </a:xfrm>
          <a:prstGeom prst="rect">
            <a:avLst/>
          </a:prstGeom>
          <a:noFill/>
          <a:ln/>
        </p:spPr>
        <p:txBody>
          <a:bodyPr wrap="square" lIns="0" tIns="0" rIns="0" bIns="0" rtlCol="0" anchor="t"/>
          <a:lstStyle/>
          <a:p>
            <a:pPr marL="0" indent="0">
              <a:buNone/>
            </a:pPr>
            <a:r>
              <a:rPr lang="en-US" sz="1050" dirty="0">
                <a:solidFill>
                  <a:srgbClr val="5C5C6E"/>
                </a:solidFill>
                <a:latin typeface="Raleway" pitchFamily="34" charset="0"/>
                <a:ea typeface="Raleway" pitchFamily="34" charset="-122"/>
                <a:cs typeface="Raleway" pitchFamily="34" charset="-120"/>
              </a:rPr>
              <a:t>Nóminas y trámites, a cargo nuestro.</a:t>
            </a:r>
            <a:endParaRPr lang="en-US" sz="1050" dirty="0"/>
          </a:p>
        </p:txBody>
      </p:sp>
      <p:sp>
        <p:nvSpPr>
          <p:cNvPr id="26" name="Shape 22"/>
          <p:cNvSpPr/>
          <p:nvPr/>
        </p:nvSpPr>
        <p:spPr>
          <a:xfrm>
            <a:off x="9109481" y="3154680"/>
            <a:ext cx="2533574" cy="1691640"/>
          </a:xfrm>
          <a:prstGeom prst="rect">
            <a:avLst/>
          </a:prstGeom>
          <a:solidFill>
            <a:srgbClr val="FFFFFF"/>
          </a:solidFill>
          <a:ln w="12700">
            <a:solidFill>
              <a:srgbClr val="FFFFFF"/>
            </a:solidFill>
            <a:prstDash val="solid"/>
          </a:ln>
        </p:spPr>
        <p:txBody>
          <a:bodyPr/>
          <a:lstStyle/>
          <a:p>
            <a:endParaRPr lang="es-ES"/>
          </a:p>
        </p:txBody>
      </p:sp>
      <p:sp>
        <p:nvSpPr>
          <p:cNvPr id="27" name="Shape 23"/>
          <p:cNvSpPr/>
          <p:nvPr/>
        </p:nvSpPr>
        <p:spPr>
          <a:xfrm>
            <a:off x="9109481" y="3154680"/>
            <a:ext cx="2533574" cy="64008"/>
          </a:xfrm>
          <a:prstGeom prst="rect">
            <a:avLst/>
          </a:prstGeom>
          <a:solidFill>
            <a:srgbClr val="202031"/>
          </a:solidFill>
          <a:ln w="12700">
            <a:solidFill>
              <a:srgbClr val="202031"/>
            </a:solidFill>
            <a:prstDash val="solid"/>
          </a:ln>
        </p:spPr>
        <p:txBody>
          <a:bodyPr/>
          <a:lstStyle/>
          <a:p>
            <a:endParaRPr lang="es-ES"/>
          </a:p>
        </p:txBody>
      </p:sp>
      <p:sp>
        <p:nvSpPr>
          <p:cNvPr id="28" name="Text 24"/>
          <p:cNvSpPr txBox="1"/>
          <p:nvPr/>
        </p:nvSpPr>
        <p:spPr>
          <a:xfrm>
            <a:off x="9338081" y="3364992"/>
            <a:ext cx="914400" cy="274320"/>
          </a:xfrm>
          <a:prstGeom prst="rect">
            <a:avLst/>
          </a:prstGeom>
          <a:noFill/>
          <a:ln/>
        </p:spPr>
        <p:txBody>
          <a:bodyPr wrap="square" lIns="0" tIns="0" rIns="0" bIns="0" rtlCol="0" anchor="t"/>
          <a:lstStyle/>
          <a:p>
            <a:pPr marL="0" indent="0">
              <a:buNone/>
            </a:pPr>
            <a:r>
              <a:rPr lang="en-US" sz="1100" dirty="0">
                <a:solidFill>
                  <a:srgbClr val="587579"/>
                </a:solidFill>
                <a:latin typeface="Manrope" pitchFamily="34" charset="0"/>
                <a:ea typeface="Manrope" pitchFamily="34" charset="-122"/>
                <a:cs typeface="Manrope" pitchFamily="34" charset="-120"/>
              </a:rPr>
              <a:t>04</a:t>
            </a:r>
            <a:endParaRPr lang="en-US" sz="1100" dirty="0"/>
          </a:p>
        </p:txBody>
      </p:sp>
      <p:sp>
        <p:nvSpPr>
          <p:cNvPr id="29" name="Text 25"/>
          <p:cNvSpPr txBox="1"/>
          <p:nvPr/>
        </p:nvSpPr>
        <p:spPr>
          <a:xfrm>
            <a:off x="9338081" y="3639312"/>
            <a:ext cx="2167814" cy="548640"/>
          </a:xfrm>
          <a:prstGeom prst="rect">
            <a:avLst/>
          </a:prstGeom>
          <a:noFill/>
          <a:ln/>
        </p:spPr>
        <p:txBody>
          <a:bodyPr wrap="square" lIns="0" tIns="0" rIns="0" bIns="0" rtlCol="0" anchor="t"/>
          <a:lstStyle/>
          <a:p>
            <a:pPr marL="0" indent="0">
              <a:buNone/>
            </a:pPr>
            <a:r>
              <a:rPr lang="en-US" sz="1600" dirty="0">
                <a:solidFill>
                  <a:srgbClr val="202031"/>
                </a:solidFill>
                <a:latin typeface="Raleway" pitchFamily="34" charset="0"/>
                <a:ea typeface="Raleway" pitchFamily="34" charset="-122"/>
                <a:cs typeface="Raleway" pitchFamily="34" charset="-120"/>
              </a:rPr>
              <a:t>Flexibilidad</a:t>
            </a:r>
            <a:endParaRPr lang="en-US" sz="1600" dirty="0"/>
          </a:p>
        </p:txBody>
      </p:sp>
      <p:sp>
        <p:nvSpPr>
          <p:cNvPr id="30" name="Text 26"/>
          <p:cNvSpPr txBox="1"/>
          <p:nvPr/>
        </p:nvSpPr>
        <p:spPr>
          <a:xfrm>
            <a:off x="9338081" y="4279392"/>
            <a:ext cx="2167814" cy="457200"/>
          </a:xfrm>
          <a:prstGeom prst="rect">
            <a:avLst/>
          </a:prstGeom>
          <a:noFill/>
          <a:ln/>
        </p:spPr>
        <p:txBody>
          <a:bodyPr wrap="square" lIns="0" tIns="0" rIns="0" bIns="0" rtlCol="0" anchor="t"/>
          <a:lstStyle/>
          <a:p>
            <a:pPr marL="0" indent="0">
              <a:buNone/>
            </a:pPr>
            <a:r>
              <a:rPr lang="en-US" sz="1050" dirty="0">
                <a:solidFill>
                  <a:srgbClr val="5C5C6E"/>
                </a:solidFill>
                <a:latin typeface="Raleway" pitchFamily="34" charset="0"/>
                <a:ea typeface="Raleway" pitchFamily="34" charset="-122"/>
                <a:cs typeface="Raleway" pitchFamily="34" charset="-120"/>
              </a:rPr>
              <a:t>Escalas el equipo cuando quieras.</a:t>
            </a:r>
            <a:endParaRPr lang="en-US" sz="1050" dirty="0"/>
          </a:p>
        </p:txBody>
      </p:sp>
      <p:sp>
        <p:nvSpPr>
          <p:cNvPr id="31" name="Shape 27"/>
          <p:cNvSpPr/>
          <p:nvPr/>
        </p:nvSpPr>
        <p:spPr>
          <a:xfrm>
            <a:off x="548640" y="5120640"/>
            <a:ext cx="11094415" cy="777240"/>
          </a:xfrm>
          <a:prstGeom prst="rect">
            <a:avLst/>
          </a:prstGeom>
          <a:solidFill>
            <a:srgbClr val="202031"/>
          </a:solidFill>
          <a:ln w="12700">
            <a:solidFill>
              <a:srgbClr val="202031"/>
            </a:solidFill>
            <a:prstDash val="solid"/>
          </a:ln>
        </p:spPr>
        <p:txBody>
          <a:bodyPr/>
          <a:lstStyle/>
          <a:p>
            <a:endParaRPr lang="es-ES"/>
          </a:p>
        </p:txBody>
      </p:sp>
      <p:sp>
        <p:nvSpPr>
          <p:cNvPr id="32" name="Text 28"/>
          <p:cNvSpPr txBox="1"/>
          <p:nvPr/>
        </p:nvSpPr>
        <p:spPr>
          <a:xfrm>
            <a:off x="822960" y="5120640"/>
            <a:ext cx="3149498" cy="777240"/>
          </a:xfrm>
          <a:prstGeom prst="rect">
            <a:avLst/>
          </a:prstGeom>
          <a:noFill/>
          <a:ln/>
        </p:spPr>
        <p:txBody>
          <a:bodyPr wrap="square" lIns="0" tIns="0" rIns="0" bIns="0" rtlCol="0" anchor="ctr"/>
          <a:lstStyle/>
          <a:p>
            <a:pPr marL="0" indent="0" algn="ctr">
              <a:buNone/>
            </a:pPr>
            <a:r>
              <a:rPr lang="en-US" sz="1200" dirty="0">
                <a:solidFill>
                  <a:srgbClr val="FFFFFF"/>
                </a:solidFill>
                <a:latin typeface="Raleway Medium" pitchFamily="34" charset="0"/>
                <a:ea typeface="Raleway Medium" pitchFamily="34" charset="-122"/>
                <a:cs typeface="Raleway Medium" pitchFamily="34" charset="-120"/>
              </a:rPr>
              <a:t>Recruiters especializados</a:t>
            </a:r>
            <a:endParaRPr lang="en-US" sz="1200" dirty="0"/>
          </a:p>
        </p:txBody>
      </p:sp>
      <p:sp>
        <p:nvSpPr>
          <p:cNvPr id="33" name="Shape 29"/>
          <p:cNvSpPr/>
          <p:nvPr/>
        </p:nvSpPr>
        <p:spPr>
          <a:xfrm>
            <a:off x="4246778" y="5303520"/>
            <a:ext cx="0" cy="411480"/>
          </a:xfrm>
          <a:prstGeom prst="line">
            <a:avLst/>
          </a:prstGeom>
          <a:noFill/>
          <a:ln w="9525">
            <a:solidFill>
              <a:srgbClr val="3A3A4E"/>
            </a:solidFill>
            <a:prstDash val="solid"/>
          </a:ln>
        </p:spPr>
        <p:txBody>
          <a:bodyPr/>
          <a:lstStyle/>
          <a:p>
            <a:endParaRPr lang="es-ES"/>
          </a:p>
        </p:txBody>
      </p:sp>
      <p:sp>
        <p:nvSpPr>
          <p:cNvPr id="34" name="Text 30"/>
          <p:cNvSpPr txBox="1"/>
          <p:nvPr/>
        </p:nvSpPr>
        <p:spPr>
          <a:xfrm>
            <a:off x="4521098" y="5120640"/>
            <a:ext cx="3149498" cy="777240"/>
          </a:xfrm>
          <a:prstGeom prst="rect">
            <a:avLst/>
          </a:prstGeom>
          <a:noFill/>
          <a:ln/>
        </p:spPr>
        <p:txBody>
          <a:bodyPr wrap="square" lIns="0" tIns="0" rIns="0" bIns="0" rtlCol="0" anchor="ctr"/>
          <a:lstStyle/>
          <a:p>
            <a:pPr marL="0" indent="0" algn="ctr">
              <a:buNone/>
            </a:pPr>
            <a:r>
              <a:rPr lang="en-US" sz="1200" dirty="0">
                <a:solidFill>
                  <a:srgbClr val="FFFFFF"/>
                </a:solidFill>
                <a:latin typeface="Raleway Medium" pitchFamily="34" charset="0"/>
                <a:ea typeface="Raleway Medium" pitchFamily="34" charset="-122"/>
                <a:cs typeface="Raleway Medium" pitchFamily="34" charset="-120"/>
              </a:rPr>
              <a:t>Cuidamos a las personas</a:t>
            </a:r>
            <a:endParaRPr lang="en-US" sz="1200" dirty="0"/>
          </a:p>
        </p:txBody>
      </p:sp>
      <p:sp>
        <p:nvSpPr>
          <p:cNvPr id="35" name="Shape 31"/>
          <p:cNvSpPr/>
          <p:nvPr/>
        </p:nvSpPr>
        <p:spPr>
          <a:xfrm>
            <a:off x="7944917" y="5303520"/>
            <a:ext cx="0" cy="411480"/>
          </a:xfrm>
          <a:prstGeom prst="line">
            <a:avLst/>
          </a:prstGeom>
          <a:noFill/>
          <a:ln w="9525">
            <a:solidFill>
              <a:srgbClr val="3A3A4E"/>
            </a:solidFill>
            <a:prstDash val="solid"/>
          </a:ln>
        </p:spPr>
        <p:txBody>
          <a:bodyPr/>
          <a:lstStyle/>
          <a:p>
            <a:endParaRPr lang="es-ES"/>
          </a:p>
        </p:txBody>
      </p:sp>
      <p:sp>
        <p:nvSpPr>
          <p:cNvPr id="36" name="Text 32"/>
          <p:cNvSpPr txBox="1"/>
          <p:nvPr/>
        </p:nvSpPr>
        <p:spPr>
          <a:xfrm>
            <a:off x="8219237" y="5120640"/>
            <a:ext cx="3149498" cy="777240"/>
          </a:xfrm>
          <a:prstGeom prst="rect">
            <a:avLst/>
          </a:prstGeom>
          <a:noFill/>
          <a:ln/>
        </p:spPr>
        <p:txBody>
          <a:bodyPr wrap="square" lIns="0" tIns="0" rIns="0" bIns="0" rtlCol="0" anchor="ctr"/>
          <a:lstStyle/>
          <a:p>
            <a:pPr marL="0" indent="0" algn="ctr">
              <a:buNone/>
            </a:pPr>
            <a:r>
              <a:rPr lang="en-US" sz="1200" dirty="0">
                <a:solidFill>
                  <a:srgbClr val="FFFFFF"/>
                </a:solidFill>
                <a:latin typeface="Raleway Medium" pitchFamily="34" charset="0"/>
                <a:ea typeface="Raleway Medium" pitchFamily="34" charset="-122"/>
                <a:cs typeface="Raleway Medium" pitchFamily="34" charset="-120"/>
              </a:rPr>
              <a:t>Partner de principio a fin</a:t>
            </a:r>
            <a:endParaRPr lang="en-US" sz="1200" dirty="0"/>
          </a:p>
        </p:txBody>
      </p:sp>
      <p:sp>
        <p:nvSpPr>
          <p:cNvPr id="37" name="Text 33"/>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06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1"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4"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NUESTROS SERVICIOS</a:t>
            </a:r>
            <a:endParaRPr lang="en-US" sz="750" dirty="0"/>
          </a:p>
        </p:txBody>
      </p:sp>
      <p:sp>
        <p:nvSpPr>
          <p:cNvPr id="5"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ESTRATEGIA SALARIAL</a:t>
            </a:r>
            <a:endParaRPr lang="en-US" sz="750" dirty="0"/>
          </a:p>
        </p:txBody>
      </p:sp>
      <p:sp>
        <p:nvSpPr>
          <p:cNvPr id="6"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7"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Consultoría Salarial</a:t>
            </a:r>
            <a:endParaRPr lang="en-US" sz="3400" dirty="0"/>
          </a:p>
        </p:txBody>
      </p:sp>
      <p:sp>
        <p:nvSpPr>
          <p:cNvPr id="8" name="Text 4"/>
          <p:cNvSpPr txBox="1"/>
          <p:nvPr/>
        </p:nvSpPr>
        <p:spPr>
          <a:xfrm>
            <a:off x="548640" y="1572768"/>
            <a:ext cx="8686800" cy="320040"/>
          </a:xfrm>
          <a:prstGeom prst="rect">
            <a:avLst/>
          </a:prstGeom>
          <a:noFill/>
          <a:ln/>
        </p:spPr>
        <p:txBody>
          <a:bodyPr wrap="square" lIns="0" tIns="0" rIns="0" bIns="0" rtlCol="0" anchor="t"/>
          <a:lstStyle/>
          <a:p>
            <a:pPr marL="0" indent="0">
              <a:buNone/>
            </a:pPr>
            <a:r>
              <a:rPr lang="en-US" sz="1300" dirty="0">
                <a:solidFill>
                  <a:srgbClr val="587579"/>
                </a:solidFill>
                <a:latin typeface="Raleway" pitchFamily="34" charset="0"/>
                <a:ea typeface="Raleway" pitchFamily="34" charset="-122"/>
                <a:cs typeface="Raleway" pitchFamily="34" charset="-120"/>
              </a:rPr>
              <a:t>Inteligencia retributiva para decisiones que </a:t>
            </a:r>
            <a:r>
              <a:rPr lang="en-US" sz="1300" dirty="0">
                <a:solidFill>
                  <a:srgbClr val="202031"/>
                </a:solidFill>
                <a:latin typeface="Raleway SemiBold" pitchFamily="34" charset="0"/>
                <a:ea typeface="Raleway SemiBold" pitchFamily="34" charset="-122"/>
                <a:cs typeface="Raleway SemiBold" pitchFamily="34" charset="-120"/>
              </a:rPr>
              <a:t>importan</a:t>
            </a:r>
            <a:r>
              <a:rPr lang="en-US" sz="1300" dirty="0">
                <a:solidFill>
                  <a:srgbClr val="587579"/>
                </a:solidFill>
                <a:latin typeface="Raleway" pitchFamily="34" charset="0"/>
                <a:ea typeface="Raleway" pitchFamily="34" charset="-122"/>
                <a:cs typeface="Raleway" pitchFamily="34" charset="-120"/>
              </a:rPr>
              <a:t>.</a:t>
            </a:r>
            <a:endParaRPr lang="en-US" sz="1300" dirty="0"/>
          </a:p>
        </p:txBody>
      </p:sp>
      <p:sp>
        <p:nvSpPr>
          <p:cNvPr id="9" name="Text 5"/>
          <p:cNvSpPr txBox="1"/>
          <p:nvPr/>
        </p:nvSpPr>
        <p:spPr>
          <a:xfrm>
            <a:off x="548640" y="1965960"/>
            <a:ext cx="7132320" cy="548640"/>
          </a:xfrm>
          <a:prstGeom prst="rect">
            <a:avLst/>
          </a:prstGeom>
          <a:noFill/>
          <a:ln/>
        </p:spPr>
        <p:txBody>
          <a:bodyPr wrap="square" lIns="0" tIns="0" rIns="0" bIns="0" rtlCol="0" anchor="t"/>
          <a:lstStyle/>
          <a:p>
            <a:pPr marL="0" indent="0">
              <a:lnSpc>
                <a:spcPct val="120000"/>
              </a:lnSpc>
              <a:buNone/>
            </a:pPr>
            <a:r>
              <a:rPr lang="en-US" sz="1100" dirty="0">
                <a:solidFill>
                  <a:srgbClr val="5C5C6E"/>
                </a:solidFill>
                <a:latin typeface="Raleway" pitchFamily="34" charset="0"/>
                <a:ea typeface="Raleway" pitchFamily="34" charset="-122"/>
                <a:cs typeface="Raleway" pitchFamily="34" charset="-120"/>
              </a:rPr>
              <a:t>Acompañamos a organizaciones en el diseño de estructuras salariales coherentes, alineadas con el mercado y preparadas para el nuevo marco regulatorio europeo.</a:t>
            </a:r>
            <a:endParaRPr lang="en-US" sz="1100" dirty="0"/>
          </a:p>
        </p:txBody>
      </p:sp>
      <p:sp>
        <p:nvSpPr>
          <p:cNvPr id="10" name="Text 6"/>
          <p:cNvSpPr txBox="1"/>
          <p:nvPr/>
        </p:nvSpPr>
        <p:spPr>
          <a:xfrm>
            <a:off x="548640" y="2743200"/>
            <a:ext cx="3657600"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QUÉ OFRECEMOS</a:t>
            </a:r>
            <a:endParaRPr lang="en-US" sz="850" dirty="0"/>
          </a:p>
        </p:txBody>
      </p:sp>
      <p:sp>
        <p:nvSpPr>
          <p:cNvPr id="11" name="Shape 7"/>
          <p:cNvSpPr/>
          <p:nvPr/>
        </p:nvSpPr>
        <p:spPr>
          <a:xfrm>
            <a:off x="548640" y="3063240"/>
            <a:ext cx="3423818" cy="1417320"/>
          </a:xfrm>
          <a:prstGeom prst="rect">
            <a:avLst/>
          </a:prstGeom>
          <a:solidFill>
            <a:srgbClr val="E6ECEC"/>
          </a:solidFill>
          <a:ln w="12700">
            <a:solidFill>
              <a:srgbClr val="E6ECEC"/>
            </a:solidFill>
            <a:prstDash val="solid"/>
          </a:ln>
        </p:spPr>
        <p:txBody>
          <a:bodyPr/>
          <a:lstStyle/>
          <a:p>
            <a:endParaRPr lang="es-ES"/>
          </a:p>
        </p:txBody>
      </p:sp>
      <p:sp>
        <p:nvSpPr>
          <p:cNvPr id="12" name="Shape 8"/>
          <p:cNvSpPr/>
          <p:nvPr/>
        </p:nvSpPr>
        <p:spPr>
          <a:xfrm>
            <a:off x="548640" y="3063240"/>
            <a:ext cx="3423818" cy="54864"/>
          </a:xfrm>
          <a:prstGeom prst="rect">
            <a:avLst/>
          </a:prstGeom>
          <a:solidFill>
            <a:srgbClr val="587579"/>
          </a:solidFill>
          <a:ln w="12700">
            <a:solidFill>
              <a:srgbClr val="587579"/>
            </a:solidFill>
            <a:prstDash val="solid"/>
          </a:ln>
        </p:spPr>
        <p:txBody>
          <a:bodyPr/>
          <a:lstStyle/>
          <a:p>
            <a:endParaRPr lang="es-ES"/>
          </a:p>
        </p:txBody>
      </p:sp>
      <p:sp>
        <p:nvSpPr>
          <p:cNvPr id="13" name="Shape 9"/>
          <p:cNvSpPr/>
          <p:nvPr/>
        </p:nvSpPr>
        <p:spPr>
          <a:xfrm>
            <a:off x="731520" y="3282696"/>
            <a:ext cx="347472" cy="347472"/>
          </a:xfrm>
          <a:prstGeom prst="ellipse">
            <a:avLst/>
          </a:prstGeom>
          <a:solidFill>
            <a:srgbClr val="587579"/>
          </a:solidFill>
          <a:ln w="12700">
            <a:solidFill>
              <a:srgbClr val="587579"/>
            </a:solidFill>
            <a:prstDash val="solid"/>
          </a:ln>
        </p:spPr>
        <p:txBody>
          <a:bodyPr/>
          <a:lstStyle/>
          <a:p>
            <a:endParaRPr lang="es-ES"/>
          </a:p>
        </p:txBody>
      </p:sp>
      <p:sp>
        <p:nvSpPr>
          <p:cNvPr id="14" name="Text 10"/>
          <p:cNvSpPr txBox="1"/>
          <p:nvPr/>
        </p:nvSpPr>
        <p:spPr>
          <a:xfrm>
            <a:off x="731520" y="3282696"/>
            <a:ext cx="347472" cy="347472"/>
          </a:xfrm>
          <a:prstGeom prst="rect">
            <a:avLst/>
          </a:prstGeom>
          <a:noFill/>
          <a:ln/>
        </p:spPr>
        <p:txBody>
          <a:bodyPr wrap="square" lIns="0" tIns="0" rIns="0" bIns="0" rtlCol="0" anchor="ctr"/>
          <a:lstStyle/>
          <a:p>
            <a:pPr marL="0" indent="0" algn="ctr">
              <a:buNone/>
            </a:pPr>
            <a:r>
              <a:rPr lang="en-US" sz="1100" dirty="0">
                <a:solidFill>
                  <a:srgbClr val="FFFFFF"/>
                </a:solidFill>
                <a:latin typeface="Manrope" pitchFamily="34" charset="0"/>
                <a:ea typeface="Manrope" pitchFamily="34" charset="-122"/>
                <a:cs typeface="Manrope" pitchFamily="34" charset="-120"/>
              </a:rPr>
              <a:t>1</a:t>
            </a:r>
            <a:endParaRPr lang="en-US" sz="1100" dirty="0"/>
          </a:p>
        </p:txBody>
      </p:sp>
      <p:sp>
        <p:nvSpPr>
          <p:cNvPr id="15" name="Text 11"/>
          <p:cNvSpPr txBox="1"/>
          <p:nvPr/>
        </p:nvSpPr>
        <p:spPr>
          <a:xfrm>
            <a:off x="1234440" y="3291840"/>
            <a:ext cx="2555138" cy="320040"/>
          </a:xfrm>
          <a:prstGeom prst="rect">
            <a:avLst/>
          </a:prstGeom>
          <a:noFill/>
          <a:ln/>
        </p:spPr>
        <p:txBody>
          <a:bodyPr wrap="square" lIns="0" tIns="0" rIns="0" bIns="0" rtlCol="0" anchor="t"/>
          <a:lstStyle/>
          <a:p>
            <a:pPr marL="0" indent="0">
              <a:buNone/>
            </a:pPr>
            <a:r>
              <a:rPr lang="en-US" sz="1300" dirty="0">
                <a:solidFill>
                  <a:srgbClr val="202031"/>
                </a:solidFill>
                <a:latin typeface="Raleway SemiBold" pitchFamily="34" charset="0"/>
                <a:ea typeface="Raleway SemiBold" pitchFamily="34" charset="-122"/>
                <a:cs typeface="Raleway SemiBold" pitchFamily="34" charset="-120"/>
              </a:rPr>
              <a:t>Benchmarking salarial</a:t>
            </a:r>
            <a:endParaRPr lang="en-US" sz="1300" dirty="0"/>
          </a:p>
        </p:txBody>
      </p:sp>
      <p:sp>
        <p:nvSpPr>
          <p:cNvPr id="16" name="Text 12"/>
          <p:cNvSpPr txBox="1"/>
          <p:nvPr/>
        </p:nvSpPr>
        <p:spPr>
          <a:xfrm>
            <a:off x="1234440" y="3657600"/>
            <a:ext cx="2555138" cy="77724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Análisis de bandas por perfil, sector y geografía con datos contrastados de múltiples fuentes.</a:t>
            </a:r>
            <a:endParaRPr lang="en-US" sz="1050" dirty="0"/>
          </a:p>
        </p:txBody>
      </p:sp>
      <p:sp>
        <p:nvSpPr>
          <p:cNvPr id="17" name="Shape 13"/>
          <p:cNvSpPr/>
          <p:nvPr/>
        </p:nvSpPr>
        <p:spPr>
          <a:xfrm>
            <a:off x="4383938" y="3063240"/>
            <a:ext cx="3423818" cy="1417320"/>
          </a:xfrm>
          <a:prstGeom prst="rect">
            <a:avLst/>
          </a:prstGeom>
          <a:solidFill>
            <a:srgbClr val="E6ECEC"/>
          </a:solidFill>
          <a:ln w="12700">
            <a:solidFill>
              <a:srgbClr val="E6ECEC"/>
            </a:solidFill>
            <a:prstDash val="solid"/>
          </a:ln>
        </p:spPr>
        <p:txBody>
          <a:bodyPr/>
          <a:lstStyle/>
          <a:p>
            <a:endParaRPr lang="es-ES"/>
          </a:p>
        </p:txBody>
      </p:sp>
      <p:sp>
        <p:nvSpPr>
          <p:cNvPr id="18" name="Shape 14"/>
          <p:cNvSpPr/>
          <p:nvPr/>
        </p:nvSpPr>
        <p:spPr>
          <a:xfrm>
            <a:off x="4383938" y="3063240"/>
            <a:ext cx="3423818" cy="54864"/>
          </a:xfrm>
          <a:prstGeom prst="rect">
            <a:avLst/>
          </a:prstGeom>
          <a:solidFill>
            <a:srgbClr val="587579"/>
          </a:solidFill>
          <a:ln w="12700">
            <a:solidFill>
              <a:srgbClr val="587579"/>
            </a:solidFill>
            <a:prstDash val="solid"/>
          </a:ln>
        </p:spPr>
        <p:txBody>
          <a:bodyPr/>
          <a:lstStyle/>
          <a:p>
            <a:endParaRPr lang="es-ES"/>
          </a:p>
        </p:txBody>
      </p:sp>
      <p:sp>
        <p:nvSpPr>
          <p:cNvPr id="19" name="Shape 15"/>
          <p:cNvSpPr/>
          <p:nvPr/>
        </p:nvSpPr>
        <p:spPr>
          <a:xfrm>
            <a:off x="4566818" y="3282696"/>
            <a:ext cx="347472" cy="347472"/>
          </a:xfrm>
          <a:prstGeom prst="ellipse">
            <a:avLst/>
          </a:prstGeom>
          <a:solidFill>
            <a:srgbClr val="587579"/>
          </a:solidFill>
          <a:ln w="12700">
            <a:solidFill>
              <a:srgbClr val="587579"/>
            </a:solidFill>
            <a:prstDash val="solid"/>
          </a:ln>
        </p:spPr>
        <p:txBody>
          <a:bodyPr/>
          <a:lstStyle/>
          <a:p>
            <a:endParaRPr lang="es-ES"/>
          </a:p>
        </p:txBody>
      </p:sp>
      <p:sp>
        <p:nvSpPr>
          <p:cNvPr id="20" name="Text 16"/>
          <p:cNvSpPr txBox="1"/>
          <p:nvPr/>
        </p:nvSpPr>
        <p:spPr>
          <a:xfrm>
            <a:off x="4566818" y="3282696"/>
            <a:ext cx="347472" cy="347472"/>
          </a:xfrm>
          <a:prstGeom prst="rect">
            <a:avLst/>
          </a:prstGeom>
          <a:noFill/>
          <a:ln/>
        </p:spPr>
        <p:txBody>
          <a:bodyPr wrap="square" lIns="0" tIns="0" rIns="0" bIns="0" rtlCol="0" anchor="ctr"/>
          <a:lstStyle/>
          <a:p>
            <a:pPr marL="0" indent="0" algn="ctr">
              <a:buNone/>
            </a:pPr>
            <a:r>
              <a:rPr lang="en-US" sz="1100" dirty="0">
                <a:solidFill>
                  <a:srgbClr val="FFFFFF"/>
                </a:solidFill>
                <a:latin typeface="Manrope" pitchFamily="34" charset="0"/>
                <a:ea typeface="Manrope" pitchFamily="34" charset="-122"/>
                <a:cs typeface="Manrope" pitchFamily="34" charset="-120"/>
              </a:rPr>
              <a:t>2</a:t>
            </a:r>
            <a:endParaRPr lang="en-US" sz="1100" dirty="0"/>
          </a:p>
        </p:txBody>
      </p:sp>
      <p:sp>
        <p:nvSpPr>
          <p:cNvPr id="21" name="Text 17"/>
          <p:cNvSpPr txBox="1"/>
          <p:nvPr/>
        </p:nvSpPr>
        <p:spPr>
          <a:xfrm>
            <a:off x="5069738" y="3291840"/>
            <a:ext cx="2555138" cy="320040"/>
          </a:xfrm>
          <a:prstGeom prst="rect">
            <a:avLst/>
          </a:prstGeom>
          <a:noFill/>
          <a:ln/>
        </p:spPr>
        <p:txBody>
          <a:bodyPr wrap="square" lIns="0" tIns="0" rIns="0" bIns="0" rtlCol="0" anchor="t"/>
          <a:lstStyle/>
          <a:p>
            <a:pPr marL="0" indent="0">
              <a:buNone/>
            </a:pPr>
            <a:r>
              <a:rPr lang="en-US" sz="1300" dirty="0">
                <a:solidFill>
                  <a:srgbClr val="202031"/>
                </a:solidFill>
                <a:latin typeface="Raleway SemiBold" pitchFamily="34" charset="0"/>
                <a:ea typeface="Raleway SemiBold" pitchFamily="34" charset="-122"/>
                <a:cs typeface="Raleway SemiBold" pitchFamily="34" charset="-120"/>
              </a:rPr>
              <a:t>Transparencia retributiva</a:t>
            </a:r>
            <a:endParaRPr lang="en-US" sz="1300" dirty="0"/>
          </a:p>
        </p:txBody>
      </p:sp>
      <p:sp>
        <p:nvSpPr>
          <p:cNvPr id="22" name="Text 18"/>
          <p:cNvSpPr txBox="1"/>
          <p:nvPr/>
        </p:nvSpPr>
        <p:spPr>
          <a:xfrm>
            <a:off x="5069738" y="3657600"/>
            <a:ext cx="2555138" cy="77724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Arquitectura salarial alineada con la Directiva EU </a:t>
            </a:r>
            <a:r>
              <a:rPr lang="en-US" sz="1050" dirty="0">
                <a:solidFill>
                  <a:srgbClr val="5C5C6E"/>
                </a:solidFill>
                <a:latin typeface="Manrope" pitchFamily="34" charset="0"/>
                <a:ea typeface="Manrope" pitchFamily="34" charset="-122"/>
                <a:cs typeface="Manrope" pitchFamily="34" charset="-120"/>
              </a:rPr>
              <a:t>2023/970</a:t>
            </a:r>
            <a:r>
              <a:rPr lang="en-US" sz="1050" dirty="0">
                <a:solidFill>
                  <a:srgbClr val="5C5C6E"/>
                </a:solidFill>
                <a:latin typeface="Raleway" pitchFamily="34" charset="0"/>
                <a:ea typeface="Raleway" pitchFamily="34" charset="-122"/>
                <a:cs typeface="Raleway" pitchFamily="34" charset="-120"/>
              </a:rPr>
              <a:t>: equidad, coherencia y trazabilidad.</a:t>
            </a:r>
            <a:endParaRPr lang="en-US" sz="1050" dirty="0"/>
          </a:p>
        </p:txBody>
      </p:sp>
      <p:sp>
        <p:nvSpPr>
          <p:cNvPr id="23" name="Shape 19"/>
          <p:cNvSpPr/>
          <p:nvPr/>
        </p:nvSpPr>
        <p:spPr>
          <a:xfrm>
            <a:off x="8219237" y="3063240"/>
            <a:ext cx="3423818" cy="1417320"/>
          </a:xfrm>
          <a:prstGeom prst="rect">
            <a:avLst/>
          </a:prstGeom>
          <a:solidFill>
            <a:srgbClr val="E6ECEC"/>
          </a:solidFill>
          <a:ln w="12700">
            <a:solidFill>
              <a:srgbClr val="E6ECEC"/>
            </a:solidFill>
            <a:prstDash val="solid"/>
          </a:ln>
        </p:spPr>
        <p:txBody>
          <a:bodyPr/>
          <a:lstStyle/>
          <a:p>
            <a:endParaRPr lang="es-ES"/>
          </a:p>
        </p:txBody>
      </p:sp>
      <p:sp>
        <p:nvSpPr>
          <p:cNvPr id="24" name="Shape 20"/>
          <p:cNvSpPr/>
          <p:nvPr/>
        </p:nvSpPr>
        <p:spPr>
          <a:xfrm>
            <a:off x="8219237" y="3063240"/>
            <a:ext cx="3423818" cy="54864"/>
          </a:xfrm>
          <a:prstGeom prst="rect">
            <a:avLst/>
          </a:prstGeom>
          <a:solidFill>
            <a:srgbClr val="587579"/>
          </a:solidFill>
          <a:ln w="12700">
            <a:solidFill>
              <a:srgbClr val="587579"/>
            </a:solidFill>
            <a:prstDash val="solid"/>
          </a:ln>
        </p:spPr>
        <p:txBody>
          <a:bodyPr/>
          <a:lstStyle/>
          <a:p>
            <a:endParaRPr lang="es-ES"/>
          </a:p>
        </p:txBody>
      </p:sp>
      <p:sp>
        <p:nvSpPr>
          <p:cNvPr id="25" name="Shape 21"/>
          <p:cNvSpPr/>
          <p:nvPr/>
        </p:nvSpPr>
        <p:spPr>
          <a:xfrm>
            <a:off x="8402117" y="3282696"/>
            <a:ext cx="347472" cy="347472"/>
          </a:xfrm>
          <a:prstGeom prst="ellipse">
            <a:avLst/>
          </a:prstGeom>
          <a:solidFill>
            <a:srgbClr val="587579"/>
          </a:solidFill>
          <a:ln w="12700">
            <a:solidFill>
              <a:srgbClr val="587579"/>
            </a:solidFill>
            <a:prstDash val="solid"/>
          </a:ln>
        </p:spPr>
        <p:txBody>
          <a:bodyPr/>
          <a:lstStyle/>
          <a:p>
            <a:endParaRPr lang="es-ES"/>
          </a:p>
        </p:txBody>
      </p:sp>
      <p:sp>
        <p:nvSpPr>
          <p:cNvPr id="26" name="Text 22"/>
          <p:cNvSpPr txBox="1"/>
          <p:nvPr/>
        </p:nvSpPr>
        <p:spPr>
          <a:xfrm>
            <a:off x="8402117" y="3282696"/>
            <a:ext cx="347472" cy="347472"/>
          </a:xfrm>
          <a:prstGeom prst="rect">
            <a:avLst/>
          </a:prstGeom>
          <a:noFill/>
          <a:ln/>
        </p:spPr>
        <p:txBody>
          <a:bodyPr wrap="square" lIns="0" tIns="0" rIns="0" bIns="0" rtlCol="0" anchor="ctr"/>
          <a:lstStyle/>
          <a:p>
            <a:pPr marL="0" indent="0" algn="ctr">
              <a:buNone/>
            </a:pPr>
            <a:r>
              <a:rPr lang="en-US" sz="1100" dirty="0">
                <a:solidFill>
                  <a:srgbClr val="FFFFFF"/>
                </a:solidFill>
                <a:latin typeface="Manrope" pitchFamily="34" charset="0"/>
                <a:ea typeface="Manrope" pitchFamily="34" charset="-122"/>
                <a:cs typeface="Manrope" pitchFamily="34" charset="-120"/>
              </a:rPr>
              <a:t>3</a:t>
            </a:r>
            <a:endParaRPr lang="en-US" sz="1100" dirty="0"/>
          </a:p>
        </p:txBody>
      </p:sp>
      <p:sp>
        <p:nvSpPr>
          <p:cNvPr id="27" name="Text 23"/>
          <p:cNvSpPr txBox="1"/>
          <p:nvPr/>
        </p:nvSpPr>
        <p:spPr>
          <a:xfrm>
            <a:off x="8905037" y="3291840"/>
            <a:ext cx="2555138" cy="320040"/>
          </a:xfrm>
          <a:prstGeom prst="rect">
            <a:avLst/>
          </a:prstGeom>
          <a:noFill/>
          <a:ln/>
        </p:spPr>
        <p:txBody>
          <a:bodyPr wrap="square" lIns="0" tIns="0" rIns="0" bIns="0" rtlCol="0" anchor="t"/>
          <a:lstStyle/>
          <a:p>
            <a:pPr marL="0" indent="0">
              <a:buNone/>
            </a:pPr>
            <a:r>
              <a:rPr lang="en-US" sz="1300" dirty="0">
                <a:solidFill>
                  <a:srgbClr val="202031"/>
                </a:solidFill>
                <a:latin typeface="Raleway SemiBold" pitchFamily="34" charset="0"/>
                <a:ea typeface="Raleway SemiBold" pitchFamily="34" charset="-122"/>
                <a:cs typeface="Raleway SemiBold" pitchFamily="34" charset="-120"/>
              </a:rPr>
              <a:t>Estudio de mercado</a:t>
            </a:r>
            <a:endParaRPr lang="en-US" sz="1300" dirty="0"/>
          </a:p>
        </p:txBody>
      </p:sp>
      <p:sp>
        <p:nvSpPr>
          <p:cNvPr id="28" name="Text 24"/>
          <p:cNvSpPr txBox="1"/>
          <p:nvPr/>
        </p:nvSpPr>
        <p:spPr>
          <a:xfrm>
            <a:off x="8905037" y="3657600"/>
            <a:ext cx="2555138" cy="77724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Informe de posicionamiento competitivo: percepción de candidatos, gaps y tendencias por rol.</a:t>
            </a:r>
            <a:endParaRPr lang="en-US" sz="1050" dirty="0"/>
          </a:p>
        </p:txBody>
      </p:sp>
      <p:sp>
        <p:nvSpPr>
          <p:cNvPr id="29" name="Shape 25"/>
          <p:cNvSpPr/>
          <p:nvPr/>
        </p:nvSpPr>
        <p:spPr>
          <a:xfrm>
            <a:off x="548640" y="4636008"/>
            <a:ext cx="3423818" cy="1417320"/>
          </a:xfrm>
          <a:prstGeom prst="rect">
            <a:avLst/>
          </a:prstGeom>
          <a:solidFill>
            <a:srgbClr val="E6ECEC"/>
          </a:solidFill>
          <a:ln w="12700">
            <a:solidFill>
              <a:srgbClr val="E6ECEC"/>
            </a:solidFill>
            <a:prstDash val="solid"/>
          </a:ln>
        </p:spPr>
        <p:txBody>
          <a:bodyPr/>
          <a:lstStyle/>
          <a:p>
            <a:endParaRPr lang="es-ES"/>
          </a:p>
        </p:txBody>
      </p:sp>
      <p:sp>
        <p:nvSpPr>
          <p:cNvPr id="30" name="Shape 26"/>
          <p:cNvSpPr/>
          <p:nvPr/>
        </p:nvSpPr>
        <p:spPr>
          <a:xfrm>
            <a:off x="548640" y="4636008"/>
            <a:ext cx="3423818" cy="54864"/>
          </a:xfrm>
          <a:prstGeom prst="rect">
            <a:avLst/>
          </a:prstGeom>
          <a:solidFill>
            <a:srgbClr val="202031"/>
          </a:solidFill>
          <a:ln w="12700">
            <a:solidFill>
              <a:srgbClr val="202031"/>
            </a:solidFill>
            <a:prstDash val="solid"/>
          </a:ln>
        </p:spPr>
        <p:txBody>
          <a:bodyPr/>
          <a:lstStyle/>
          <a:p>
            <a:endParaRPr lang="es-ES"/>
          </a:p>
        </p:txBody>
      </p:sp>
      <p:sp>
        <p:nvSpPr>
          <p:cNvPr id="31" name="Shape 27"/>
          <p:cNvSpPr/>
          <p:nvPr/>
        </p:nvSpPr>
        <p:spPr>
          <a:xfrm>
            <a:off x="731520" y="4855464"/>
            <a:ext cx="347472" cy="347472"/>
          </a:xfrm>
          <a:prstGeom prst="ellipse">
            <a:avLst/>
          </a:prstGeom>
          <a:solidFill>
            <a:srgbClr val="202031"/>
          </a:solidFill>
          <a:ln w="12700">
            <a:solidFill>
              <a:srgbClr val="202031"/>
            </a:solidFill>
            <a:prstDash val="solid"/>
          </a:ln>
        </p:spPr>
        <p:txBody>
          <a:bodyPr/>
          <a:lstStyle/>
          <a:p>
            <a:endParaRPr lang="es-ES"/>
          </a:p>
        </p:txBody>
      </p:sp>
      <p:sp>
        <p:nvSpPr>
          <p:cNvPr id="32" name="Text 28"/>
          <p:cNvSpPr txBox="1"/>
          <p:nvPr/>
        </p:nvSpPr>
        <p:spPr>
          <a:xfrm>
            <a:off x="731520" y="4855464"/>
            <a:ext cx="347472" cy="347472"/>
          </a:xfrm>
          <a:prstGeom prst="rect">
            <a:avLst/>
          </a:prstGeom>
          <a:noFill/>
          <a:ln/>
        </p:spPr>
        <p:txBody>
          <a:bodyPr wrap="square" lIns="0" tIns="0" rIns="0" bIns="0" rtlCol="0" anchor="ctr"/>
          <a:lstStyle/>
          <a:p>
            <a:pPr marL="0" indent="0" algn="ctr">
              <a:buNone/>
            </a:pPr>
            <a:r>
              <a:rPr lang="en-US" sz="1100" dirty="0">
                <a:solidFill>
                  <a:srgbClr val="FFFFFF"/>
                </a:solidFill>
                <a:latin typeface="Manrope" pitchFamily="34" charset="0"/>
                <a:ea typeface="Manrope" pitchFamily="34" charset="-122"/>
                <a:cs typeface="Manrope" pitchFamily="34" charset="-120"/>
              </a:rPr>
              <a:t>4</a:t>
            </a:r>
            <a:endParaRPr lang="en-US" sz="1100" dirty="0"/>
          </a:p>
        </p:txBody>
      </p:sp>
      <p:sp>
        <p:nvSpPr>
          <p:cNvPr id="33" name="Text 29"/>
          <p:cNvSpPr txBox="1"/>
          <p:nvPr/>
        </p:nvSpPr>
        <p:spPr>
          <a:xfrm>
            <a:off x="1234440" y="4864608"/>
            <a:ext cx="2555138" cy="320040"/>
          </a:xfrm>
          <a:prstGeom prst="rect">
            <a:avLst/>
          </a:prstGeom>
          <a:noFill/>
          <a:ln/>
        </p:spPr>
        <p:txBody>
          <a:bodyPr wrap="square" lIns="0" tIns="0" rIns="0" bIns="0" rtlCol="0" anchor="t"/>
          <a:lstStyle/>
          <a:p>
            <a:pPr marL="0" indent="0">
              <a:buNone/>
            </a:pPr>
            <a:r>
              <a:rPr lang="en-US" sz="1300" dirty="0">
                <a:solidFill>
                  <a:srgbClr val="202031"/>
                </a:solidFill>
                <a:latin typeface="Raleway SemiBold" pitchFamily="34" charset="0"/>
                <a:ea typeface="Raleway SemiBold" pitchFamily="34" charset="-122"/>
                <a:cs typeface="Raleway SemiBold" pitchFamily="34" charset="-120"/>
              </a:rPr>
              <a:t>Informes de proceso</a:t>
            </a:r>
            <a:endParaRPr lang="en-US" sz="1300" dirty="0"/>
          </a:p>
        </p:txBody>
      </p:sp>
      <p:sp>
        <p:nvSpPr>
          <p:cNvPr id="34" name="Text 30"/>
          <p:cNvSpPr txBox="1"/>
          <p:nvPr/>
        </p:nvSpPr>
        <p:spPr>
          <a:xfrm>
            <a:off x="1234440" y="5230368"/>
            <a:ext cx="2555138" cy="77724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Expectativas salariales declaradas durante búsquedas activas, documentadas y estructuradas.</a:t>
            </a:r>
            <a:endParaRPr lang="en-US" sz="1050" dirty="0"/>
          </a:p>
        </p:txBody>
      </p:sp>
      <p:sp>
        <p:nvSpPr>
          <p:cNvPr id="35" name="Shape 31"/>
          <p:cNvSpPr/>
          <p:nvPr/>
        </p:nvSpPr>
        <p:spPr>
          <a:xfrm>
            <a:off x="4383938" y="4636008"/>
            <a:ext cx="3423818" cy="1417320"/>
          </a:xfrm>
          <a:prstGeom prst="rect">
            <a:avLst/>
          </a:prstGeom>
          <a:solidFill>
            <a:srgbClr val="E6ECEC"/>
          </a:solidFill>
          <a:ln w="12700">
            <a:solidFill>
              <a:srgbClr val="E6ECEC"/>
            </a:solidFill>
            <a:prstDash val="solid"/>
          </a:ln>
        </p:spPr>
        <p:txBody>
          <a:bodyPr/>
          <a:lstStyle/>
          <a:p>
            <a:endParaRPr lang="es-ES"/>
          </a:p>
        </p:txBody>
      </p:sp>
      <p:sp>
        <p:nvSpPr>
          <p:cNvPr id="36" name="Shape 32"/>
          <p:cNvSpPr/>
          <p:nvPr/>
        </p:nvSpPr>
        <p:spPr>
          <a:xfrm>
            <a:off x="4383938" y="4636008"/>
            <a:ext cx="3423818" cy="54864"/>
          </a:xfrm>
          <a:prstGeom prst="rect">
            <a:avLst/>
          </a:prstGeom>
          <a:solidFill>
            <a:srgbClr val="202031"/>
          </a:solidFill>
          <a:ln w="12700">
            <a:solidFill>
              <a:srgbClr val="202031"/>
            </a:solidFill>
            <a:prstDash val="solid"/>
          </a:ln>
        </p:spPr>
        <p:txBody>
          <a:bodyPr/>
          <a:lstStyle/>
          <a:p>
            <a:endParaRPr lang="es-ES"/>
          </a:p>
        </p:txBody>
      </p:sp>
      <p:sp>
        <p:nvSpPr>
          <p:cNvPr id="37" name="Shape 33"/>
          <p:cNvSpPr/>
          <p:nvPr/>
        </p:nvSpPr>
        <p:spPr>
          <a:xfrm>
            <a:off x="4566818" y="4855464"/>
            <a:ext cx="347472" cy="347472"/>
          </a:xfrm>
          <a:prstGeom prst="ellipse">
            <a:avLst/>
          </a:prstGeom>
          <a:solidFill>
            <a:srgbClr val="202031"/>
          </a:solidFill>
          <a:ln w="12700">
            <a:solidFill>
              <a:srgbClr val="202031"/>
            </a:solidFill>
            <a:prstDash val="solid"/>
          </a:ln>
        </p:spPr>
        <p:txBody>
          <a:bodyPr/>
          <a:lstStyle/>
          <a:p>
            <a:endParaRPr lang="es-ES"/>
          </a:p>
        </p:txBody>
      </p:sp>
      <p:sp>
        <p:nvSpPr>
          <p:cNvPr id="38" name="Text 34"/>
          <p:cNvSpPr txBox="1"/>
          <p:nvPr/>
        </p:nvSpPr>
        <p:spPr>
          <a:xfrm>
            <a:off x="4566818" y="4855464"/>
            <a:ext cx="347472" cy="347472"/>
          </a:xfrm>
          <a:prstGeom prst="rect">
            <a:avLst/>
          </a:prstGeom>
          <a:noFill/>
          <a:ln/>
        </p:spPr>
        <p:txBody>
          <a:bodyPr wrap="square" lIns="0" tIns="0" rIns="0" bIns="0" rtlCol="0" anchor="ctr"/>
          <a:lstStyle/>
          <a:p>
            <a:pPr marL="0" indent="0" algn="ctr">
              <a:buNone/>
            </a:pPr>
            <a:r>
              <a:rPr lang="en-US" sz="1100" dirty="0">
                <a:solidFill>
                  <a:srgbClr val="FFFFFF"/>
                </a:solidFill>
                <a:latin typeface="Manrope" pitchFamily="34" charset="0"/>
                <a:ea typeface="Manrope" pitchFamily="34" charset="-122"/>
                <a:cs typeface="Manrope" pitchFamily="34" charset="-120"/>
              </a:rPr>
              <a:t>5</a:t>
            </a:r>
            <a:endParaRPr lang="en-US" sz="1100" dirty="0"/>
          </a:p>
        </p:txBody>
      </p:sp>
      <p:sp>
        <p:nvSpPr>
          <p:cNvPr id="39" name="Text 35"/>
          <p:cNvSpPr txBox="1"/>
          <p:nvPr/>
        </p:nvSpPr>
        <p:spPr>
          <a:xfrm>
            <a:off x="5069738" y="4864608"/>
            <a:ext cx="2555138" cy="320040"/>
          </a:xfrm>
          <a:prstGeom prst="rect">
            <a:avLst/>
          </a:prstGeom>
          <a:noFill/>
          <a:ln/>
        </p:spPr>
        <p:txBody>
          <a:bodyPr wrap="square" lIns="0" tIns="0" rIns="0" bIns="0" rtlCol="0" anchor="t"/>
          <a:lstStyle/>
          <a:p>
            <a:pPr marL="0" indent="0">
              <a:buNone/>
            </a:pPr>
            <a:r>
              <a:rPr lang="en-US" sz="1300" dirty="0">
                <a:solidFill>
                  <a:srgbClr val="202031"/>
                </a:solidFill>
                <a:latin typeface="Raleway SemiBold" pitchFamily="34" charset="0"/>
                <a:ea typeface="Raleway SemiBold" pitchFamily="34" charset="-122"/>
                <a:cs typeface="Raleway SemiBold" pitchFamily="34" charset="-120"/>
              </a:rPr>
              <a:t>Diseño de bandas</a:t>
            </a:r>
            <a:endParaRPr lang="en-US" sz="1300" dirty="0"/>
          </a:p>
        </p:txBody>
      </p:sp>
      <p:sp>
        <p:nvSpPr>
          <p:cNvPr id="40" name="Text 36"/>
          <p:cNvSpPr txBox="1"/>
          <p:nvPr/>
        </p:nvSpPr>
        <p:spPr>
          <a:xfrm>
            <a:off x="5069738" y="5230368"/>
            <a:ext cx="2555138" cy="77724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Estructuras P</a:t>
            </a:r>
            <a:r>
              <a:rPr lang="en-US" sz="1050" dirty="0">
                <a:solidFill>
                  <a:srgbClr val="5C5C6E"/>
                </a:solidFill>
                <a:latin typeface="Manrope" pitchFamily="34" charset="0"/>
                <a:ea typeface="Manrope" pitchFamily="34" charset="-122"/>
                <a:cs typeface="Manrope" pitchFamily="34" charset="-120"/>
              </a:rPr>
              <a:t>25</a:t>
            </a:r>
            <a:r>
              <a:rPr lang="en-US" sz="1050" dirty="0">
                <a:solidFill>
                  <a:srgbClr val="5C5C6E"/>
                </a:solidFill>
                <a:latin typeface="Raleway" pitchFamily="34" charset="0"/>
                <a:ea typeface="Raleway" pitchFamily="34" charset="-122"/>
                <a:cs typeface="Raleway" pitchFamily="34" charset="-120"/>
              </a:rPr>
              <a:t>/Mediana/P</a:t>
            </a:r>
            <a:r>
              <a:rPr lang="en-US" sz="1050" dirty="0">
                <a:solidFill>
                  <a:srgbClr val="5C5C6E"/>
                </a:solidFill>
                <a:latin typeface="Manrope" pitchFamily="34" charset="0"/>
                <a:ea typeface="Manrope" pitchFamily="34" charset="-122"/>
                <a:cs typeface="Manrope" pitchFamily="34" charset="-120"/>
              </a:rPr>
              <a:t>75</a:t>
            </a:r>
            <a:r>
              <a:rPr lang="en-US" sz="1050" dirty="0">
                <a:solidFill>
                  <a:srgbClr val="5C5C6E"/>
                </a:solidFill>
                <a:latin typeface="Raleway" pitchFamily="34" charset="0"/>
                <a:ea typeface="Raleway" pitchFamily="34" charset="-122"/>
                <a:cs typeface="Raleway" pitchFamily="34" charset="-120"/>
              </a:rPr>
              <a:t> vinculadas a niveles de responsabilidad y ciclo de performance.</a:t>
            </a:r>
            <a:endParaRPr lang="en-US" sz="1050" dirty="0"/>
          </a:p>
        </p:txBody>
      </p:sp>
      <p:sp>
        <p:nvSpPr>
          <p:cNvPr id="41" name="Shape 37"/>
          <p:cNvSpPr/>
          <p:nvPr/>
        </p:nvSpPr>
        <p:spPr>
          <a:xfrm>
            <a:off x="8219237" y="4636008"/>
            <a:ext cx="3423818" cy="1417320"/>
          </a:xfrm>
          <a:prstGeom prst="rect">
            <a:avLst/>
          </a:prstGeom>
          <a:solidFill>
            <a:srgbClr val="E6ECEC"/>
          </a:solidFill>
          <a:ln w="12700">
            <a:solidFill>
              <a:srgbClr val="E6ECEC"/>
            </a:solidFill>
            <a:prstDash val="solid"/>
          </a:ln>
        </p:spPr>
        <p:txBody>
          <a:bodyPr/>
          <a:lstStyle/>
          <a:p>
            <a:endParaRPr lang="es-ES"/>
          </a:p>
        </p:txBody>
      </p:sp>
      <p:sp>
        <p:nvSpPr>
          <p:cNvPr id="42" name="Shape 38"/>
          <p:cNvSpPr/>
          <p:nvPr/>
        </p:nvSpPr>
        <p:spPr>
          <a:xfrm>
            <a:off x="8219237" y="4636008"/>
            <a:ext cx="3423818" cy="54864"/>
          </a:xfrm>
          <a:prstGeom prst="rect">
            <a:avLst/>
          </a:prstGeom>
          <a:solidFill>
            <a:srgbClr val="202031"/>
          </a:solidFill>
          <a:ln w="12700">
            <a:solidFill>
              <a:srgbClr val="202031"/>
            </a:solidFill>
            <a:prstDash val="solid"/>
          </a:ln>
        </p:spPr>
        <p:txBody>
          <a:bodyPr/>
          <a:lstStyle/>
          <a:p>
            <a:endParaRPr lang="es-ES"/>
          </a:p>
        </p:txBody>
      </p:sp>
      <p:sp>
        <p:nvSpPr>
          <p:cNvPr id="43" name="Shape 39"/>
          <p:cNvSpPr/>
          <p:nvPr/>
        </p:nvSpPr>
        <p:spPr>
          <a:xfrm>
            <a:off x="8402117" y="4855464"/>
            <a:ext cx="347472" cy="347472"/>
          </a:xfrm>
          <a:prstGeom prst="ellipse">
            <a:avLst/>
          </a:prstGeom>
          <a:solidFill>
            <a:srgbClr val="202031"/>
          </a:solidFill>
          <a:ln w="12700">
            <a:solidFill>
              <a:srgbClr val="202031"/>
            </a:solidFill>
            <a:prstDash val="solid"/>
          </a:ln>
        </p:spPr>
        <p:txBody>
          <a:bodyPr/>
          <a:lstStyle/>
          <a:p>
            <a:endParaRPr lang="es-ES"/>
          </a:p>
        </p:txBody>
      </p:sp>
      <p:sp>
        <p:nvSpPr>
          <p:cNvPr id="44" name="Text 40"/>
          <p:cNvSpPr txBox="1"/>
          <p:nvPr/>
        </p:nvSpPr>
        <p:spPr>
          <a:xfrm>
            <a:off x="8402117" y="4855464"/>
            <a:ext cx="347472" cy="347472"/>
          </a:xfrm>
          <a:prstGeom prst="rect">
            <a:avLst/>
          </a:prstGeom>
          <a:noFill/>
          <a:ln/>
        </p:spPr>
        <p:txBody>
          <a:bodyPr wrap="square" lIns="0" tIns="0" rIns="0" bIns="0" rtlCol="0" anchor="ctr"/>
          <a:lstStyle/>
          <a:p>
            <a:pPr marL="0" indent="0" algn="ctr">
              <a:buNone/>
            </a:pPr>
            <a:r>
              <a:rPr lang="en-US" sz="1100" dirty="0">
                <a:solidFill>
                  <a:srgbClr val="FFFFFF"/>
                </a:solidFill>
                <a:latin typeface="Manrope" pitchFamily="34" charset="0"/>
                <a:ea typeface="Manrope" pitchFamily="34" charset="-122"/>
                <a:cs typeface="Manrope" pitchFamily="34" charset="-120"/>
              </a:rPr>
              <a:t>6</a:t>
            </a:r>
            <a:endParaRPr lang="en-US" sz="1100" dirty="0"/>
          </a:p>
        </p:txBody>
      </p:sp>
      <p:sp>
        <p:nvSpPr>
          <p:cNvPr id="45" name="Text 41"/>
          <p:cNvSpPr txBox="1"/>
          <p:nvPr/>
        </p:nvSpPr>
        <p:spPr>
          <a:xfrm>
            <a:off x="8905037" y="4864608"/>
            <a:ext cx="2555138" cy="320040"/>
          </a:xfrm>
          <a:prstGeom prst="rect">
            <a:avLst/>
          </a:prstGeom>
          <a:noFill/>
          <a:ln/>
        </p:spPr>
        <p:txBody>
          <a:bodyPr wrap="square" lIns="0" tIns="0" rIns="0" bIns="0" rtlCol="0" anchor="t"/>
          <a:lstStyle/>
          <a:p>
            <a:pPr marL="0" indent="0">
              <a:buNone/>
            </a:pPr>
            <a:r>
              <a:rPr lang="en-US" sz="1300" dirty="0">
                <a:solidFill>
                  <a:srgbClr val="202031"/>
                </a:solidFill>
                <a:latin typeface="Raleway SemiBold" pitchFamily="34" charset="0"/>
                <a:ea typeface="Raleway SemiBold" pitchFamily="34" charset="-122"/>
                <a:cs typeface="Raleway SemiBold" pitchFamily="34" charset="-120"/>
              </a:rPr>
              <a:t>Asesoría People</a:t>
            </a:r>
            <a:endParaRPr lang="en-US" sz="1300" dirty="0"/>
          </a:p>
        </p:txBody>
      </p:sp>
      <p:sp>
        <p:nvSpPr>
          <p:cNvPr id="46" name="Text 42"/>
          <p:cNvSpPr txBox="1"/>
          <p:nvPr/>
        </p:nvSpPr>
        <p:spPr>
          <a:xfrm>
            <a:off x="8905037" y="5230368"/>
            <a:ext cx="2555138" cy="77724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Apoyo en decisiones retributivas: ofertas, revisiones, retención y análisis de pay gap.</a:t>
            </a:r>
            <a:endParaRPr lang="en-US" sz="1050" dirty="0"/>
          </a:p>
        </p:txBody>
      </p:sp>
      <p:sp>
        <p:nvSpPr>
          <p:cNvPr id="47" name="Text 43"/>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07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claude-0/-home-claude/6ecba087-9563-50f1-9ffc-6a20c07eac08/scratchpad/decks/kit/panel_grad.png"/>
          <p:cNvPicPr>
            <a:picLocks noChangeAspect="1"/>
          </p:cNvPicPr>
          <p:nvPr/>
        </p:nvPicPr>
        <p:blipFill>
          <a:blip r:embed="rId3"/>
          <a:srcRect/>
          <a:stretch/>
        </p:blipFill>
        <p:spPr>
          <a:xfrm>
            <a:off x="8732520" y="0"/>
            <a:ext cx="3459175" cy="6858000"/>
          </a:xfrm>
          <a:prstGeom prst="rect">
            <a:avLst/>
          </a:prstGeom>
        </p:spPr>
      </p:pic>
      <p:pic>
        <p:nvPicPr>
          <p:cNvPr id="3" name="Image 1" descr="/tmp/claude-0/-home-claude/6ecba087-9563-50f1-9ffc-6a20c07eac08/scratchpad/decks/kit/rings_white.png"/>
          <p:cNvPicPr>
            <a:picLocks noChangeAspect="1"/>
          </p:cNvPicPr>
          <p:nvPr/>
        </p:nvPicPr>
        <p:blipFill>
          <a:blip r:embed="rId4"/>
          <a:stretch>
            <a:fillRect/>
          </a:stretch>
        </p:blipFill>
        <p:spPr>
          <a:xfrm>
            <a:off x="10195560" y="5074920"/>
            <a:ext cx="2743200" cy="2743200"/>
          </a:xfrm>
          <a:prstGeom prst="rect">
            <a:avLst/>
          </a:prstGeom>
        </p:spPr>
      </p:pic>
      <p:pic>
        <p:nvPicPr>
          <p:cNvPr id="4" name="Image 2" descr="/tmp/claude-0/-home-claude/6ecba087-9563-50f1-9ffc-6a20c07eac08/scratchpad/decks/kit/logo_navy.png"/>
          <p:cNvPicPr>
            <a:picLocks noChangeAspect="1"/>
          </p:cNvPicPr>
          <p:nvPr/>
        </p:nvPicPr>
        <p:blipFill>
          <a:blip r:embed="rId5"/>
          <a:stretch>
            <a:fillRect/>
          </a:stretch>
        </p:blipFill>
        <p:spPr>
          <a:xfrm>
            <a:off x="548640" y="384048"/>
            <a:ext cx="960120" cy="190070"/>
          </a:xfrm>
          <a:prstGeom prst="rect">
            <a:avLst/>
          </a:prstGeom>
        </p:spPr>
      </p:pic>
      <p:sp>
        <p:nvSpPr>
          <p:cNvPr id="5"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NUESTROS SERVICIOS</a:t>
            </a:r>
            <a:endParaRPr lang="en-US" sz="750" dirty="0"/>
          </a:p>
        </p:txBody>
      </p:sp>
      <p:sp>
        <p:nvSpPr>
          <p:cNvPr id="6"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FORMACIÓN EN RECURSOS HUMANOS</a:t>
            </a:r>
            <a:endParaRPr lang="en-US" sz="750" dirty="0"/>
          </a:p>
        </p:txBody>
      </p:sp>
      <p:sp>
        <p:nvSpPr>
          <p:cNvPr id="7"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E6ECEC"/>
                </a:solidFill>
                <a:latin typeface="Manrope Medium" pitchFamily="34" charset="0"/>
                <a:ea typeface="Manrope Medium" pitchFamily="34" charset="-122"/>
                <a:cs typeface="Manrope Medium" pitchFamily="34" charset="-120"/>
              </a:rPr>
              <a:t>2026</a:t>
            </a:r>
            <a:endParaRPr lang="en-US" sz="750" dirty="0"/>
          </a:p>
        </p:txBody>
      </p:sp>
      <p:sp>
        <p:nvSpPr>
          <p:cNvPr id="8" name="Text 3"/>
          <p:cNvSpPr txBox="1"/>
          <p:nvPr/>
        </p:nvSpPr>
        <p:spPr>
          <a:xfrm>
            <a:off x="548640" y="868680"/>
            <a:ext cx="77724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Formación</a:t>
            </a:r>
            <a:endParaRPr lang="en-US" sz="3400" dirty="0"/>
          </a:p>
        </p:txBody>
      </p:sp>
      <p:sp>
        <p:nvSpPr>
          <p:cNvPr id="9" name="Text 4"/>
          <p:cNvSpPr txBox="1"/>
          <p:nvPr/>
        </p:nvSpPr>
        <p:spPr>
          <a:xfrm>
            <a:off x="548640" y="1572768"/>
            <a:ext cx="7680960" cy="548640"/>
          </a:xfrm>
          <a:prstGeom prst="rect">
            <a:avLst/>
          </a:prstGeom>
          <a:noFill/>
          <a:ln/>
        </p:spPr>
        <p:txBody>
          <a:bodyPr wrap="square" lIns="0" tIns="0" rIns="0" bIns="0" rtlCol="0" anchor="t"/>
          <a:lstStyle/>
          <a:p>
            <a:pPr marL="0" indent="0">
              <a:buNone/>
            </a:pPr>
            <a:r>
              <a:rPr lang="en-US" sz="1250" dirty="0">
                <a:solidFill>
                  <a:srgbClr val="587579"/>
                </a:solidFill>
                <a:latin typeface="Raleway" pitchFamily="34" charset="0"/>
                <a:ea typeface="Raleway" pitchFamily="34" charset="-122"/>
                <a:cs typeface="Raleway" pitchFamily="34" charset="-120"/>
              </a:rPr>
              <a:t>Potenciamos el talento interno: consultoría en formación orientada a procesos y resultados ágiles.</a:t>
            </a:r>
            <a:endParaRPr lang="en-US" sz="1250" dirty="0"/>
          </a:p>
        </p:txBody>
      </p:sp>
      <p:sp>
        <p:nvSpPr>
          <p:cNvPr id="10" name="Shape 5"/>
          <p:cNvSpPr/>
          <p:nvPr/>
        </p:nvSpPr>
        <p:spPr>
          <a:xfrm>
            <a:off x="548640" y="2514600"/>
            <a:ext cx="2468880" cy="2788920"/>
          </a:xfrm>
          <a:prstGeom prst="rect">
            <a:avLst/>
          </a:prstGeom>
          <a:solidFill>
            <a:srgbClr val="E6ECEC"/>
          </a:solidFill>
          <a:ln w="12700">
            <a:solidFill>
              <a:srgbClr val="E6ECEC"/>
            </a:solidFill>
            <a:prstDash val="solid"/>
          </a:ln>
        </p:spPr>
        <p:txBody>
          <a:bodyPr/>
          <a:lstStyle/>
          <a:p>
            <a:endParaRPr lang="es-ES"/>
          </a:p>
        </p:txBody>
      </p:sp>
      <p:sp>
        <p:nvSpPr>
          <p:cNvPr id="11" name="Shape 6"/>
          <p:cNvSpPr/>
          <p:nvPr/>
        </p:nvSpPr>
        <p:spPr>
          <a:xfrm>
            <a:off x="548640" y="2514600"/>
            <a:ext cx="2468880" cy="64008"/>
          </a:xfrm>
          <a:prstGeom prst="rect">
            <a:avLst/>
          </a:prstGeom>
          <a:solidFill>
            <a:srgbClr val="8AA3A5"/>
          </a:solidFill>
          <a:ln w="12700">
            <a:solidFill>
              <a:srgbClr val="8AA3A5"/>
            </a:solidFill>
            <a:prstDash val="solid"/>
          </a:ln>
        </p:spPr>
        <p:txBody>
          <a:bodyPr/>
          <a:lstStyle/>
          <a:p>
            <a:endParaRPr lang="es-ES"/>
          </a:p>
        </p:txBody>
      </p:sp>
      <p:sp>
        <p:nvSpPr>
          <p:cNvPr id="12" name="Text 7"/>
          <p:cNvSpPr txBox="1"/>
          <p:nvPr/>
        </p:nvSpPr>
        <p:spPr>
          <a:xfrm>
            <a:off x="749808" y="2788920"/>
            <a:ext cx="2103120"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ESPECIALIZACIÓN</a:t>
            </a:r>
            <a:endParaRPr lang="en-US" sz="850" dirty="0"/>
          </a:p>
        </p:txBody>
      </p:sp>
      <p:sp>
        <p:nvSpPr>
          <p:cNvPr id="13" name="Shape 8"/>
          <p:cNvSpPr/>
          <p:nvPr/>
        </p:nvSpPr>
        <p:spPr>
          <a:xfrm>
            <a:off x="749808" y="3081528"/>
            <a:ext cx="2066544" cy="0"/>
          </a:xfrm>
          <a:prstGeom prst="line">
            <a:avLst/>
          </a:prstGeom>
          <a:noFill/>
          <a:ln w="12700">
            <a:solidFill>
              <a:srgbClr val="587579"/>
            </a:solidFill>
            <a:prstDash val="solid"/>
          </a:ln>
        </p:spPr>
        <p:txBody>
          <a:bodyPr/>
          <a:lstStyle/>
          <a:p>
            <a:endParaRPr lang="es-ES"/>
          </a:p>
        </p:txBody>
      </p:sp>
      <p:sp>
        <p:nvSpPr>
          <p:cNvPr id="14" name="Text 9"/>
          <p:cNvSpPr txBox="1"/>
          <p:nvPr/>
        </p:nvSpPr>
        <p:spPr>
          <a:xfrm>
            <a:off x="749808" y="3246120"/>
            <a:ext cx="2103120" cy="2011680"/>
          </a:xfrm>
          <a:prstGeom prst="rect">
            <a:avLst/>
          </a:prstGeom>
          <a:noFill/>
          <a:ln/>
        </p:spPr>
        <p:txBody>
          <a:bodyPr wrap="square" lIns="0" tIns="0" rIns="0" bIns="0" rtlCol="0" anchor="t"/>
          <a:lstStyle/>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Gestión del talento y selección avanzada</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Employee Experience y retención</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Estrategia y procesos de RRHH</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Procesos automatizados</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IA aplicada a procesos de HR</a:t>
            </a:r>
            <a:endParaRPr lang="en-US" sz="1100" dirty="0"/>
          </a:p>
        </p:txBody>
      </p:sp>
      <p:sp>
        <p:nvSpPr>
          <p:cNvPr id="15" name="Shape 10"/>
          <p:cNvSpPr/>
          <p:nvPr/>
        </p:nvSpPr>
        <p:spPr>
          <a:xfrm>
            <a:off x="3246120" y="2514600"/>
            <a:ext cx="2468880" cy="2788920"/>
          </a:xfrm>
          <a:prstGeom prst="rect">
            <a:avLst/>
          </a:prstGeom>
          <a:solidFill>
            <a:srgbClr val="E6ECEC"/>
          </a:solidFill>
          <a:ln w="12700">
            <a:solidFill>
              <a:srgbClr val="E6ECEC"/>
            </a:solidFill>
            <a:prstDash val="solid"/>
          </a:ln>
        </p:spPr>
        <p:txBody>
          <a:bodyPr/>
          <a:lstStyle/>
          <a:p>
            <a:endParaRPr lang="es-ES"/>
          </a:p>
        </p:txBody>
      </p:sp>
      <p:sp>
        <p:nvSpPr>
          <p:cNvPr id="16" name="Shape 11"/>
          <p:cNvSpPr/>
          <p:nvPr/>
        </p:nvSpPr>
        <p:spPr>
          <a:xfrm>
            <a:off x="3246120" y="2514600"/>
            <a:ext cx="2468880" cy="64008"/>
          </a:xfrm>
          <a:prstGeom prst="rect">
            <a:avLst/>
          </a:prstGeom>
          <a:solidFill>
            <a:srgbClr val="587579"/>
          </a:solidFill>
          <a:ln w="12700">
            <a:solidFill>
              <a:srgbClr val="587579"/>
            </a:solidFill>
            <a:prstDash val="solid"/>
          </a:ln>
        </p:spPr>
        <p:txBody>
          <a:bodyPr/>
          <a:lstStyle/>
          <a:p>
            <a:endParaRPr lang="es-ES"/>
          </a:p>
        </p:txBody>
      </p:sp>
      <p:sp>
        <p:nvSpPr>
          <p:cNvPr id="17" name="Text 12"/>
          <p:cNvSpPr txBox="1"/>
          <p:nvPr/>
        </p:nvSpPr>
        <p:spPr>
          <a:xfrm>
            <a:off x="3447288" y="2788920"/>
            <a:ext cx="2103120"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METODOLOGÍA PRÁCTICA</a:t>
            </a:r>
            <a:endParaRPr lang="en-US" sz="850" dirty="0"/>
          </a:p>
        </p:txBody>
      </p:sp>
      <p:sp>
        <p:nvSpPr>
          <p:cNvPr id="18" name="Shape 13"/>
          <p:cNvSpPr/>
          <p:nvPr/>
        </p:nvSpPr>
        <p:spPr>
          <a:xfrm>
            <a:off x="3447288" y="3081528"/>
            <a:ext cx="2066544" cy="0"/>
          </a:xfrm>
          <a:prstGeom prst="line">
            <a:avLst/>
          </a:prstGeom>
          <a:noFill/>
          <a:ln w="12700">
            <a:solidFill>
              <a:srgbClr val="587579"/>
            </a:solidFill>
            <a:prstDash val="solid"/>
          </a:ln>
        </p:spPr>
        <p:txBody>
          <a:bodyPr/>
          <a:lstStyle/>
          <a:p>
            <a:endParaRPr lang="es-ES"/>
          </a:p>
        </p:txBody>
      </p:sp>
      <p:sp>
        <p:nvSpPr>
          <p:cNvPr id="19" name="Text 14"/>
          <p:cNvSpPr txBox="1"/>
          <p:nvPr/>
        </p:nvSpPr>
        <p:spPr>
          <a:xfrm>
            <a:off x="3447288" y="3246120"/>
            <a:ext cx="2103120" cy="2011680"/>
          </a:xfrm>
          <a:prstGeom prst="rect">
            <a:avLst/>
          </a:prstGeom>
          <a:noFill/>
          <a:ln/>
        </p:spPr>
        <p:txBody>
          <a:bodyPr wrap="square" lIns="0" tIns="0" rIns="0" bIns="0" rtlCol="0" anchor="t"/>
          <a:lstStyle/>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Workshops dinámicos</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Casos reales aplicados a tu empresa</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Sprints formativos con entregables</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Evaluación y seguimiento continuo</a:t>
            </a:r>
            <a:endParaRPr lang="en-US" sz="1100" dirty="0"/>
          </a:p>
        </p:txBody>
      </p:sp>
      <p:sp>
        <p:nvSpPr>
          <p:cNvPr id="20" name="Shape 15"/>
          <p:cNvSpPr/>
          <p:nvPr/>
        </p:nvSpPr>
        <p:spPr>
          <a:xfrm>
            <a:off x="5943600" y="2514600"/>
            <a:ext cx="2468880" cy="2788920"/>
          </a:xfrm>
          <a:prstGeom prst="rect">
            <a:avLst/>
          </a:prstGeom>
          <a:solidFill>
            <a:srgbClr val="E6ECEC"/>
          </a:solidFill>
          <a:ln w="12700">
            <a:solidFill>
              <a:srgbClr val="E6ECEC"/>
            </a:solidFill>
            <a:prstDash val="solid"/>
          </a:ln>
        </p:spPr>
        <p:txBody>
          <a:bodyPr/>
          <a:lstStyle/>
          <a:p>
            <a:endParaRPr lang="es-ES"/>
          </a:p>
        </p:txBody>
      </p:sp>
      <p:sp>
        <p:nvSpPr>
          <p:cNvPr id="21" name="Shape 16"/>
          <p:cNvSpPr/>
          <p:nvPr/>
        </p:nvSpPr>
        <p:spPr>
          <a:xfrm>
            <a:off x="5943600" y="2514600"/>
            <a:ext cx="2468880" cy="64008"/>
          </a:xfrm>
          <a:prstGeom prst="rect">
            <a:avLst/>
          </a:prstGeom>
          <a:solidFill>
            <a:srgbClr val="3F5A5E"/>
          </a:solidFill>
          <a:ln w="12700">
            <a:solidFill>
              <a:srgbClr val="3F5A5E"/>
            </a:solidFill>
            <a:prstDash val="solid"/>
          </a:ln>
        </p:spPr>
        <p:txBody>
          <a:bodyPr/>
          <a:lstStyle/>
          <a:p>
            <a:endParaRPr lang="es-ES"/>
          </a:p>
        </p:txBody>
      </p:sp>
      <p:sp>
        <p:nvSpPr>
          <p:cNvPr id="22" name="Text 17"/>
          <p:cNvSpPr txBox="1"/>
          <p:nvPr/>
        </p:nvSpPr>
        <p:spPr>
          <a:xfrm>
            <a:off x="6144768" y="2788920"/>
            <a:ext cx="2103120"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RESULTADOS ÁGILES</a:t>
            </a:r>
            <a:endParaRPr lang="en-US" sz="850" dirty="0"/>
          </a:p>
        </p:txBody>
      </p:sp>
      <p:sp>
        <p:nvSpPr>
          <p:cNvPr id="23" name="Shape 18"/>
          <p:cNvSpPr/>
          <p:nvPr/>
        </p:nvSpPr>
        <p:spPr>
          <a:xfrm>
            <a:off x="6144768" y="3081528"/>
            <a:ext cx="2066544" cy="0"/>
          </a:xfrm>
          <a:prstGeom prst="line">
            <a:avLst/>
          </a:prstGeom>
          <a:noFill/>
          <a:ln w="12700">
            <a:solidFill>
              <a:srgbClr val="587579"/>
            </a:solidFill>
            <a:prstDash val="solid"/>
          </a:ln>
        </p:spPr>
        <p:txBody>
          <a:bodyPr/>
          <a:lstStyle/>
          <a:p>
            <a:endParaRPr lang="es-ES"/>
          </a:p>
        </p:txBody>
      </p:sp>
      <p:sp>
        <p:nvSpPr>
          <p:cNvPr id="24" name="Text 19"/>
          <p:cNvSpPr txBox="1"/>
          <p:nvPr/>
        </p:nvSpPr>
        <p:spPr>
          <a:xfrm>
            <a:off x="6144768" y="3246120"/>
            <a:ext cx="2103120" cy="2011680"/>
          </a:xfrm>
          <a:prstGeom prst="rect">
            <a:avLst/>
          </a:prstGeom>
          <a:noFill/>
          <a:ln/>
        </p:spPr>
        <p:txBody>
          <a:bodyPr wrap="square" lIns="0" tIns="0" rIns="0" bIns="0" rtlCol="0" anchor="t"/>
          <a:lstStyle/>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Diagnóstico de procesos y skills</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Iteraciones cortas, feedback continuo</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KPIs de aprendizaje medibles</a:t>
            </a:r>
            <a:endParaRPr lang="en-US" sz="1100" dirty="0"/>
          </a:p>
          <a:p>
            <a:pPr marL="0" indent="0">
              <a:lnSpc>
                <a:spcPct val="110000"/>
              </a:lnSpc>
              <a:spcAft>
                <a:spcPts val="700"/>
              </a:spcAft>
              <a:buNone/>
            </a:pPr>
            <a:r>
              <a:rPr lang="en-US" sz="1100" dirty="0">
                <a:solidFill>
                  <a:srgbClr val="202031"/>
                </a:solidFill>
                <a:latin typeface="Raleway" pitchFamily="34" charset="0"/>
                <a:ea typeface="Raleway" pitchFamily="34" charset="-122"/>
                <a:cs typeface="Raleway" pitchFamily="34" charset="-120"/>
              </a:rPr>
              <a:t>Mejora continua post-formación</a:t>
            </a:r>
            <a:endParaRPr lang="en-US" sz="1100" dirty="0"/>
          </a:p>
        </p:txBody>
      </p:sp>
      <p:sp>
        <p:nvSpPr>
          <p:cNvPr id="25" name="Text 20"/>
          <p:cNvSpPr txBox="1"/>
          <p:nvPr/>
        </p:nvSpPr>
        <p:spPr>
          <a:xfrm>
            <a:off x="9189720" y="2194560"/>
            <a:ext cx="2560320" cy="868680"/>
          </a:xfrm>
          <a:prstGeom prst="rect">
            <a:avLst/>
          </a:prstGeom>
          <a:noFill/>
          <a:ln/>
        </p:spPr>
        <p:txBody>
          <a:bodyPr wrap="square" lIns="0" tIns="0" rIns="0" bIns="0" rtlCol="0" anchor="t"/>
          <a:lstStyle/>
          <a:p>
            <a:pPr marL="0" indent="0">
              <a:buNone/>
            </a:pPr>
            <a:r>
              <a:rPr lang="en-US" sz="6000" dirty="0">
                <a:solidFill>
                  <a:srgbClr val="FFFFFF"/>
                </a:solidFill>
                <a:latin typeface="Manrope Light" pitchFamily="34" charset="0"/>
                <a:ea typeface="Manrope Light" pitchFamily="34" charset="-122"/>
                <a:cs typeface="Manrope Light" pitchFamily="34" charset="-120"/>
              </a:rPr>
              <a:t>100%</a:t>
            </a:r>
            <a:endParaRPr lang="en-US" sz="6000" dirty="0"/>
          </a:p>
        </p:txBody>
      </p:sp>
      <p:sp>
        <p:nvSpPr>
          <p:cNvPr id="26" name="Text 21"/>
          <p:cNvSpPr txBox="1"/>
          <p:nvPr/>
        </p:nvSpPr>
        <p:spPr>
          <a:xfrm>
            <a:off x="9189720" y="3108960"/>
            <a:ext cx="2377440" cy="457200"/>
          </a:xfrm>
          <a:prstGeom prst="rect">
            <a:avLst/>
          </a:prstGeom>
          <a:noFill/>
          <a:ln/>
        </p:spPr>
        <p:txBody>
          <a:bodyPr wrap="square" lIns="0" tIns="0" rIns="0" bIns="0" rtlCol="0" anchor="t"/>
          <a:lstStyle/>
          <a:p>
            <a:pPr marL="0" indent="0">
              <a:buNone/>
            </a:pPr>
            <a:r>
              <a:rPr lang="en-US" sz="1100" dirty="0">
                <a:solidFill>
                  <a:srgbClr val="E6ECEC"/>
                </a:solidFill>
                <a:latin typeface="Raleway" pitchFamily="34" charset="0"/>
                <a:ea typeface="Raleway" pitchFamily="34" charset="-122"/>
                <a:cs typeface="Raleway" pitchFamily="34" charset="-120"/>
              </a:rPr>
              <a:t>Programas diseñados a medida</a:t>
            </a:r>
            <a:endParaRPr lang="en-US" sz="1100" dirty="0"/>
          </a:p>
        </p:txBody>
      </p:sp>
      <p:sp>
        <p:nvSpPr>
          <p:cNvPr id="27" name="Shape 22"/>
          <p:cNvSpPr/>
          <p:nvPr/>
        </p:nvSpPr>
        <p:spPr>
          <a:xfrm>
            <a:off x="9189720" y="3794760"/>
            <a:ext cx="2377440" cy="0"/>
          </a:xfrm>
          <a:prstGeom prst="line">
            <a:avLst/>
          </a:prstGeom>
          <a:noFill/>
          <a:ln w="12700">
            <a:solidFill>
              <a:srgbClr val="8AA3A5"/>
            </a:solidFill>
            <a:prstDash val="solid"/>
          </a:ln>
        </p:spPr>
        <p:txBody>
          <a:bodyPr/>
          <a:lstStyle/>
          <a:p>
            <a:endParaRPr lang="es-ES"/>
          </a:p>
        </p:txBody>
      </p:sp>
      <p:sp>
        <p:nvSpPr>
          <p:cNvPr id="28" name="Text 23"/>
          <p:cNvSpPr txBox="1"/>
          <p:nvPr/>
        </p:nvSpPr>
        <p:spPr>
          <a:xfrm>
            <a:off x="9189720" y="3977640"/>
            <a:ext cx="2423160" cy="1828800"/>
          </a:xfrm>
          <a:prstGeom prst="rect">
            <a:avLst/>
          </a:prstGeom>
          <a:noFill/>
          <a:ln/>
        </p:spPr>
        <p:txBody>
          <a:bodyPr wrap="square" lIns="0" tIns="0" rIns="0" bIns="0" rtlCol="0" anchor="t"/>
          <a:lstStyle/>
          <a:p>
            <a:pPr marL="0" indent="0">
              <a:lnSpc>
                <a:spcPct val="125000"/>
              </a:lnSpc>
              <a:buNone/>
            </a:pPr>
            <a:r>
              <a:rPr lang="en-US" sz="1100" dirty="0">
                <a:solidFill>
                  <a:srgbClr val="E6ECEC"/>
                </a:solidFill>
                <a:latin typeface="Raleway" pitchFamily="34" charset="0"/>
                <a:ea typeface="Raleway" pitchFamily="34" charset="-122"/>
                <a:cs typeface="Raleway" pitchFamily="34" charset="-120"/>
              </a:rPr>
              <a:t>Diagnosticamos, diseñamos e implantamos programas formativos con metodología ágil. La formación no se queda en teoría: </a:t>
            </a:r>
            <a:r>
              <a:rPr lang="en-US" sz="1100" dirty="0">
                <a:solidFill>
                  <a:srgbClr val="FFFFFF"/>
                </a:solidFill>
                <a:latin typeface="Raleway SemiBold" pitchFamily="34" charset="0"/>
                <a:ea typeface="Raleway SemiBold" pitchFamily="34" charset="-122"/>
                <a:cs typeface="Raleway SemiBold" pitchFamily="34" charset="-120"/>
              </a:rPr>
              <a:t>se mide en resultados.</a:t>
            </a:r>
            <a:endParaRPr lang="en-US" sz="1100" dirty="0"/>
          </a:p>
        </p:txBody>
      </p:sp>
      <p:sp>
        <p:nvSpPr>
          <p:cNvPr id="29" name="Text 24"/>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E6ECEC"/>
                </a:solidFill>
                <a:latin typeface="Manrope" pitchFamily="34" charset="0"/>
                <a:ea typeface="Manrope" pitchFamily="34" charset="-122"/>
                <a:cs typeface="Manrope" pitchFamily="34" charset="-120"/>
              </a:rPr>
              <a:t>08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TESSERA GROUP</a:t>
            </a:r>
            <a:endParaRPr lang="en-US" sz="750" dirty="0"/>
          </a:p>
        </p:txBody>
      </p:sp>
      <p:sp>
        <p:nvSpPr>
          <p:cNvPr id="4"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TESSERA SERVICES</a:t>
            </a:r>
            <a:endParaRPr lang="en-US" sz="750" dirty="0"/>
          </a:p>
        </p:txBody>
      </p:sp>
      <p:sp>
        <p:nvSpPr>
          <p:cNvPr id="5"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6"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Tessera Services</a:t>
            </a:r>
            <a:endParaRPr lang="en-US" sz="3400" dirty="0"/>
          </a:p>
        </p:txBody>
      </p:sp>
      <p:sp>
        <p:nvSpPr>
          <p:cNvPr id="7" name="Shape 4"/>
          <p:cNvSpPr/>
          <p:nvPr/>
        </p:nvSpPr>
        <p:spPr>
          <a:xfrm>
            <a:off x="548640" y="1691640"/>
            <a:ext cx="3423818" cy="4480560"/>
          </a:xfrm>
          <a:prstGeom prst="rect">
            <a:avLst/>
          </a:prstGeom>
          <a:solidFill>
            <a:srgbClr val="E6ECEC"/>
          </a:solidFill>
          <a:ln w="12700">
            <a:solidFill>
              <a:srgbClr val="E6ECEC"/>
            </a:solidFill>
            <a:prstDash val="solid"/>
          </a:ln>
        </p:spPr>
        <p:txBody>
          <a:bodyPr/>
          <a:lstStyle/>
          <a:p>
            <a:endParaRPr lang="es-ES"/>
          </a:p>
        </p:txBody>
      </p:sp>
      <p:sp>
        <p:nvSpPr>
          <p:cNvPr id="8" name="Shape 5"/>
          <p:cNvSpPr/>
          <p:nvPr/>
        </p:nvSpPr>
        <p:spPr>
          <a:xfrm>
            <a:off x="548640" y="1691640"/>
            <a:ext cx="3423818" cy="64008"/>
          </a:xfrm>
          <a:prstGeom prst="rect">
            <a:avLst/>
          </a:prstGeom>
          <a:solidFill>
            <a:srgbClr val="8AA3A5"/>
          </a:solidFill>
          <a:ln w="12700">
            <a:solidFill>
              <a:srgbClr val="8AA3A5"/>
            </a:solidFill>
            <a:prstDash val="solid"/>
          </a:ln>
        </p:spPr>
        <p:txBody>
          <a:bodyPr/>
          <a:lstStyle/>
          <a:p>
            <a:endParaRPr lang="es-ES"/>
          </a:p>
        </p:txBody>
      </p:sp>
      <p:pic>
        <p:nvPicPr>
          <p:cNvPr id="9" name="Image 1" descr="/tmp/claude-0/-home-claude/6ecba087-9563-50f1-9ffc-6a20c07eac08/scratchpad/decks/kit/costdown.png"/>
          <p:cNvPicPr>
            <a:picLocks noChangeAspect="1"/>
          </p:cNvPicPr>
          <p:nvPr/>
        </p:nvPicPr>
        <p:blipFill>
          <a:blip r:embed="rId4"/>
          <a:stretch>
            <a:fillRect/>
          </a:stretch>
        </p:blipFill>
        <p:spPr>
          <a:xfrm>
            <a:off x="822960" y="2011680"/>
            <a:ext cx="2216075" cy="457200"/>
          </a:xfrm>
          <a:prstGeom prst="rect">
            <a:avLst/>
          </a:prstGeom>
        </p:spPr>
      </p:pic>
      <p:sp>
        <p:nvSpPr>
          <p:cNvPr id="10" name="Shape 6"/>
          <p:cNvSpPr/>
          <p:nvPr/>
        </p:nvSpPr>
        <p:spPr>
          <a:xfrm>
            <a:off x="822960" y="2743200"/>
            <a:ext cx="2875178" cy="0"/>
          </a:xfrm>
          <a:prstGeom prst="line">
            <a:avLst/>
          </a:prstGeom>
          <a:noFill/>
          <a:ln w="12700">
            <a:solidFill>
              <a:srgbClr val="587579"/>
            </a:solidFill>
            <a:prstDash val="solid"/>
          </a:ln>
        </p:spPr>
        <p:txBody>
          <a:bodyPr/>
          <a:lstStyle/>
          <a:p>
            <a:endParaRPr lang="es-ES"/>
          </a:p>
        </p:txBody>
      </p:sp>
      <p:sp>
        <p:nvSpPr>
          <p:cNvPr id="11" name="Text 7"/>
          <p:cNvSpPr txBox="1"/>
          <p:nvPr/>
        </p:nvSpPr>
        <p:spPr>
          <a:xfrm>
            <a:off x="822960" y="2926080"/>
            <a:ext cx="287517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AHORRO DE COSTES</a:t>
            </a:r>
            <a:endParaRPr lang="en-US" sz="850" dirty="0"/>
          </a:p>
        </p:txBody>
      </p:sp>
      <p:sp>
        <p:nvSpPr>
          <p:cNvPr id="12" name="Text 8"/>
          <p:cNvSpPr txBox="1"/>
          <p:nvPr/>
        </p:nvSpPr>
        <p:spPr>
          <a:xfrm>
            <a:off x="822960" y="3383280"/>
            <a:ext cx="2875178" cy="2286000"/>
          </a:xfrm>
          <a:prstGeom prst="rect">
            <a:avLst/>
          </a:prstGeom>
          <a:noFill/>
          <a:ln/>
        </p:spPr>
        <p:txBody>
          <a:bodyPr wrap="square" lIns="0" tIns="0" rIns="0" bIns="0" rtlCol="0" anchor="t"/>
          <a:lstStyle/>
          <a:p>
            <a:pPr marL="0" indent="0">
              <a:lnSpc>
                <a:spcPct val="122000"/>
              </a:lnSpc>
              <a:buNone/>
            </a:pPr>
            <a:r>
              <a:rPr lang="en-US" sz="1000" dirty="0">
                <a:solidFill>
                  <a:srgbClr val="5C5C6E"/>
                </a:solidFill>
                <a:latin typeface="Raleway" pitchFamily="34" charset="0"/>
                <a:ea typeface="Raleway" pitchFamily="34" charset="-122"/>
                <a:cs typeface="Raleway" pitchFamily="34" charset="-120"/>
              </a:rPr>
              <a:t>Ofrecemos nuestro servicio de análisis totalmente gratuito para tu empresa. Si no os ahorramos dinero, no os cobramos nada. Hasta la actualidad hemos realizado más de </a:t>
            </a:r>
            <a:r>
              <a:rPr lang="en-US" sz="1000" dirty="0">
                <a:solidFill>
                  <a:srgbClr val="5C5C6E"/>
                </a:solidFill>
                <a:latin typeface="Manrope" pitchFamily="34" charset="0"/>
                <a:ea typeface="Manrope" pitchFamily="34" charset="-122"/>
                <a:cs typeface="Manrope" pitchFamily="34" charset="-120"/>
              </a:rPr>
              <a:t>100</a:t>
            </a:r>
            <a:r>
              <a:rPr lang="en-US" sz="1000" dirty="0">
                <a:solidFill>
                  <a:srgbClr val="5C5C6E"/>
                </a:solidFill>
                <a:latin typeface="Raleway" pitchFamily="34" charset="0"/>
                <a:ea typeface="Raleway" pitchFamily="34" charset="-122"/>
                <a:cs typeface="Raleway" pitchFamily="34" charset="-120"/>
              </a:rPr>
              <a:t> análisis de costes en compañías de todos los sectores y conseguimos una media de ahorro del </a:t>
            </a:r>
            <a:r>
              <a:rPr lang="en-US" sz="1000" dirty="0">
                <a:solidFill>
                  <a:srgbClr val="5C5C6E"/>
                </a:solidFill>
                <a:latin typeface="Manrope" pitchFamily="34" charset="0"/>
                <a:ea typeface="Manrope" pitchFamily="34" charset="-122"/>
                <a:cs typeface="Manrope" pitchFamily="34" charset="-120"/>
              </a:rPr>
              <a:t>37%</a:t>
            </a:r>
            <a:r>
              <a:rPr lang="en-US" sz="1000" dirty="0">
                <a:solidFill>
                  <a:srgbClr val="5C5C6E"/>
                </a:solidFill>
                <a:latin typeface="Raleway" pitchFamily="34" charset="0"/>
                <a:ea typeface="Raleway" pitchFamily="34" charset="-122"/>
                <a:cs typeface="Raleway" pitchFamily="34" charset="-120"/>
              </a:rPr>
              <a:t> en los costes analizados.</a:t>
            </a:r>
            <a:endParaRPr lang="en-US" sz="1000" dirty="0"/>
          </a:p>
        </p:txBody>
      </p:sp>
      <p:sp>
        <p:nvSpPr>
          <p:cNvPr id="13" name="Shape 9"/>
          <p:cNvSpPr/>
          <p:nvPr/>
        </p:nvSpPr>
        <p:spPr>
          <a:xfrm>
            <a:off x="4383938" y="1691640"/>
            <a:ext cx="3423818" cy="4480560"/>
          </a:xfrm>
          <a:prstGeom prst="rect">
            <a:avLst/>
          </a:prstGeom>
          <a:solidFill>
            <a:srgbClr val="E6ECEC"/>
          </a:solidFill>
          <a:ln w="12700">
            <a:solidFill>
              <a:srgbClr val="E6ECEC"/>
            </a:solidFill>
            <a:prstDash val="solid"/>
          </a:ln>
        </p:spPr>
        <p:txBody>
          <a:bodyPr/>
          <a:lstStyle/>
          <a:p>
            <a:endParaRPr lang="es-ES"/>
          </a:p>
        </p:txBody>
      </p:sp>
      <p:sp>
        <p:nvSpPr>
          <p:cNvPr id="14" name="Shape 10"/>
          <p:cNvSpPr/>
          <p:nvPr/>
        </p:nvSpPr>
        <p:spPr>
          <a:xfrm>
            <a:off x="4383938" y="1691640"/>
            <a:ext cx="3423818" cy="64008"/>
          </a:xfrm>
          <a:prstGeom prst="rect">
            <a:avLst/>
          </a:prstGeom>
          <a:solidFill>
            <a:srgbClr val="587579"/>
          </a:solidFill>
          <a:ln w="12700">
            <a:solidFill>
              <a:srgbClr val="587579"/>
            </a:solidFill>
            <a:prstDash val="solid"/>
          </a:ln>
        </p:spPr>
        <p:txBody>
          <a:bodyPr/>
          <a:lstStyle/>
          <a:p>
            <a:endParaRPr lang="es-ES"/>
          </a:p>
        </p:txBody>
      </p:sp>
      <p:pic>
        <p:nvPicPr>
          <p:cNvPr id="15" name="Image 2" descr="/tmp/claude-0/-home-claude/6ecba087-9563-50f1-9ffc-6a20c07eac08/scratchpad/decks/kit/lt.png"/>
          <p:cNvPicPr>
            <a:picLocks noChangeAspect="1"/>
          </p:cNvPicPr>
          <p:nvPr/>
        </p:nvPicPr>
        <p:blipFill>
          <a:blip r:embed="rId5"/>
          <a:stretch>
            <a:fillRect/>
          </a:stretch>
        </p:blipFill>
        <p:spPr>
          <a:xfrm>
            <a:off x="4658258" y="2011680"/>
            <a:ext cx="1373886" cy="457200"/>
          </a:xfrm>
          <a:prstGeom prst="rect">
            <a:avLst/>
          </a:prstGeom>
        </p:spPr>
      </p:pic>
      <p:sp>
        <p:nvSpPr>
          <p:cNvPr id="16" name="Shape 11"/>
          <p:cNvSpPr/>
          <p:nvPr/>
        </p:nvSpPr>
        <p:spPr>
          <a:xfrm>
            <a:off x="4658258" y="2743200"/>
            <a:ext cx="2875178" cy="0"/>
          </a:xfrm>
          <a:prstGeom prst="line">
            <a:avLst/>
          </a:prstGeom>
          <a:noFill/>
          <a:ln w="12700">
            <a:solidFill>
              <a:srgbClr val="587579"/>
            </a:solidFill>
            <a:prstDash val="solid"/>
          </a:ln>
        </p:spPr>
        <p:txBody>
          <a:bodyPr/>
          <a:lstStyle/>
          <a:p>
            <a:endParaRPr lang="es-ES"/>
          </a:p>
        </p:txBody>
      </p:sp>
      <p:sp>
        <p:nvSpPr>
          <p:cNvPr id="17" name="Text 12"/>
          <p:cNvSpPr txBox="1"/>
          <p:nvPr/>
        </p:nvSpPr>
        <p:spPr>
          <a:xfrm>
            <a:off x="4658258" y="2926080"/>
            <a:ext cx="287517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ASESORÍA LABORAL, FISCAL &amp; CONTABLE</a:t>
            </a:r>
            <a:endParaRPr lang="en-US" sz="850" dirty="0"/>
          </a:p>
        </p:txBody>
      </p:sp>
      <p:sp>
        <p:nvSpPr>
          <p:cNvPr id="18" name="Text 13"/>
          <p:cNvSpPr txBox="1"/>
          <p:nvPr/>
        </p:nvSpPr>
        <p:spPr>
          <a:xfrm>
            <a:off x="4658258" y="3383280"/>
            <a:ext cx="2875178" cy="2286000"/>
          </a:xfrm>
          <a:prstGeom prst="rect">
            <a:avLst/>
          </a:prstGeom>
          <a:noFill/>
          <a:ln/>
        </p:spPr>
        <p:txBody>
          <a:bodyPr wrap="square" lIns="0" tIns="0" rIns="0" bIns="0" rtlCol="0" anchor="t"/>
          <a:lstStyle/>
          <a:p>
            <a:pPr marL="0" indent="0">
              <a:lnSpc>
                <a:spcPct val="122000"/>
              </a:lnSpc>
              <a:buNone/>
            </a:pPr>
            <a:r>
              <a:rPr lang="en-US" sz="1000" dirty="0">
                <a:solidFill>
                  <a:srgbClr val="5C5C6E"/>
                </a:solidFill>
                <a:latin typeface="Raleway" pitchFamily="34" charset="0"/>
                <a:ea typeface="Raleway" pitchFamily="34" charset="-122"/>
                <a:cs typeface="Raleway" pitchFamily="34" charset="-120"/>
              </a:rPr>
              <a:t>Impulsamos a tu empresa, permitiendo que te centres en lo importante: tu negocio. Nos encargamos de que, a nivel fiscal, laboral y contable, no haya ningún problema, se optimice la gestión fiscal, se aprovechen las subvenciones laborales y se disponga de una información contable veraz, al día y precisa para una correcta toma de decisiones.</a:t>
            </a:r>
            <a:endParaRPr lang="en-US" sz="1000" dirty="0"/>
          </a:p>
        </p:txBody>
      </p:sp>
      <p:sp>
        <p:nvSpPr>
          <p:cNvPr id="19" name="Shape 14"/>
          <p:cNvSpPr/>
          <p:nvPr/>
        </p:nvSpPr>
        <p:spPr>
          <a:xfrm>
            <a:off x="8219237" y="1691640"/>
            <a:ext cx="3423818" cy="4480560"/>
          </a:xfrm>
          <a:prstGeom prst="rect">
            <a:avLst/>
          </a:prstGeom>
          <a:solidFill>
            <a:srgbClr val="E6ECEC"/>
          </a:solidFill>
          <a:ln w="12700">
            <a:solidFill>
              <a:srgbClr val="E6ECEC"/>
            </a:solidFill>
            <a:prstDash val="solid"/>
          </a:ln>
        </p:spPr>
        <p:txBody>
          <a:bodyPr/>
          <a:lstStyle/>
          <a:p>
            <a:endParaRPr lang="es-ES"/>
          </a:p>
        </p:txBody>
      </p:sp>
      <p:sp>
        <p:nvSpPr>
          <p:cNvPr id="20" name="Shape 15"/>
          <p:cNvSpPr/>
          <p:nvPr/>
        </p:nvSpPr>
        <p:spPr>
          <a:xfrm>
            <a:off x="8219237" y="1691640"/>
            <a:ext cx="3423818" cy="64008"/>
          </a:xfrm>
          <a:prstGeom prst="rect">
            <a:avLst/>
          </a:prstGeom>
          <a:solidFill>
            <a:srgbClr val="202031"/>
          </a:solidFill>
          <a:ln w="12700">
            <a:solidFill>
              <a:srgbClr val="202031"/>
            </a:solidFill>
            <a:prstDash val="solid"/>
          </a:ln>
        </p:spPr>
        <p:txBody>
          <a:bodyPr/>
          <a:lstStyle/>
          <a:p>
            <a:endParaRPr lang="es-ES"/>
          </a:p>
        </p:txBody>
      </p:sp>
      <p:pic>
        <p:nvPicPr>
          <p:cNvPr id="21" name="Image 3" descr="/tmp/claude-0/-home-claude/6ecba087-9563-50f1-9ffc-6a20c07eac08/scratchpad/decks/kit/tfs_navy.png"/>
          <p:cNvPicPr>
            <a:picLocks noChangeAspect="1"/>
          </p:cNvPicPr>
          <p:nvPr/>
        </p:nvPicPr>
        <p:blipFill>
          <a:blip r:embed="rId6"/>
          <a:stretch>
            <a:fillRect/>
          </a:stretch>
        </p:blipFill>
        <p:spPr>
          <a:xfrm>
            <a:off x="8493557" y="1956816"/>
            <a:ext cx="1945553" cy="566928"/>
          </a:xfrm>
          <a:prstGeom prst="rect">
            <a:avLst/>
          </a:prstGeom>
        </p:spPr>
      </p:pic>
      <p:sp>
        <p:nvSpPr>
          <p:cNvPr id="22" name="Shape 16"/>
          <p:cNvSpPr/>
          <p:nvPr/>
        </p:nvSpPr>
        <p:spPr>
          <a:xfrm>
            <a:off x="8493557" y="2743200"/>
            <a:ext cx="2875178" cy="0"/>
          </a:xfrm>
          <a:prstGeom prst="line">
            <a:avLst/>
          </a:prstGeom>
          <a:noFill/>
          <a:ln w="12700">
            <a:solidFill>
              <a:srgbClr val="587579"/>
            </a:solidFill>
            <a:prstDash val="solid"/>
          </a:ln>
        </p:spPr>
        <p:txBody>
          <a:bodyPr/>
          <a:lstStyle/>
          <a:p>
            <a:endParaRPr lang="es-ES"/>
          </a:p>
        </p:txBody>
      </p:sp>
      <p:sp>
        <p:nvSpPr>
          <p:cNvPr id="23" name="Text 17"/>
          <p:cNvSpPr txBox="1"/>
          <p:nvPr/>
        </p:nvSpPr>
        <p:spPr>
          <a:xfrm>
            <a:off x="8493557" y="2926080"/>
            <a:ext cx="2875178"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EXPERTOS EN LAS EMPRESAS</a:t>
            </a:r>
            <a:endParaRPr lang="en-US" sz="850" dirty="0"/>
          </a:p>
        </p:txBody>
      </p:sp>
      <p:sp>
        <p:nvSpPr>
          <p:cNvPr id="24" name="Text 18"/>
          <p:cNvSpPr txBox="1"/>
          <p:nvPr/>
        </p:nvSpPr>
        <p:spPr>
          <a:xfrm>
            <a:off x="8493557" y="3383280"/>
            <a:ext cx="2875178" cy="2286000"/>
          </a:xfrm>
          <a:prstGeom prst="rect">
            <a:avLst/>
          </a:prstGeom>
          <a:noFill/>
          <a:ln/>
        </p:spPr>
        <p:txBody>
          <a:bodyPr wrap="square" lIns="0" tIns="0" rIns="0" bIns="0" rtlCol="0" anchor="t"/>
          <a:lstStyle/>
          <a:p>
            <a:pPr marL="0" indent="0">
              <a:lnSpc>
                <a:spcPct val="122000"/>
              </a:lnSpc>
              <a:buNone/>
            </a:pPr>
            <a:r>
              <a:rPr lang="en-US" sz="1000" dirty="0">
                <a:solidFill>
                  <a:srgbClr val="5C5C6E"/>
                </a:solidFill>
                <a:latin typeface="Raleway" pitchFamily="34" charset="0"/>
                <a:ea typeface="Raleway" pitchFamily="34" charset="-122"/>
                <a:cs typeface="Raleway" pitchFamily="34" charset="-120"/>
              </a:rPr>
              <a:t>En Tessera, potenciamos el talento humano con la tecnología para transformar empresas. Somos una firma de consultoría estratégica especializada en Finanzas, donde ofrecemos, entre otros, los siguientes servicios:</a:t>
            </a:r>
            <a:endParaRPr lang="en-US" sz="1000" dirty="0"/>
          </a:p>
        </p:txBody>
      </p:sp>
      <p:sp>
        <p:nvSpPr>
          <p:cNvPr id="25" name="Text 19"/>
          <p:cNvSpPr txBox="1"/>
          <p:nvPr/>
        </p:nvSpPr>
        <p:spPr>
          <a:xfrm>
            <a:off x="8493557" y="4434840"/>
            <a:ext cx="2834640" cy="274320"/>
          </a:xfrm>
          <a:prstGeom prst="rect">
            <a:avLst/>
          </a:prstGeom>
          <a:noFill/>
          <a:ln/>
        </p:spPr>
        <p:txBody>
          <a:bodyPr wrap="square" lIns="0" tIns="0" rIns="0" bIns="0" rtlCol="0" anchor="t"/>
          <a:lstStyle/>
          <a:p>
            <a:pPr marL="0" indent="0">
              <a:buNone/>
            </a:pPr>
            <a:r>
              <a:rPr lang="en-US" sz="1050" dirty="0">
                <a:solidFill>
                  <a:srgbClr val="587579"/>
                </a:solidFill>
                <a:latin typeface="Raleway" pitchFamily="34" charset="0"/>
                <a:ea typeface="Raleway" pitchFamily="34" charset="-122"/>
                <a:cs typeface="Raleway" pitchFamily="34" charset="-120"/>
              </a:rPr>
              <a:t>— </a:t>
            </a:r>
            <a:r>
              <a:rPr lang="en-US" sz="1050" dirty="0">
                <a:solidFill>
                  <a:srgbClr val="202031"/>
                </a:solidFill>
                <a:latin typeface="Raleway" pitchFamily="34" charset="0"/>
                <a:ea typeface="Raleway" pitchFamily="34" charset="-122"/>
                <a:cs typeface="Raleway" pitchFamily="34" charset="-120"/>
              </a:rPr>
              <a:t>Búsqueda de Financiación</a:t>
            </a:r>
            <a:endParaRPr lang="en-US" sz="1050" dirty="0"/>
          </a:p>
        </p:txBody>
      </p:sp>
      <p:sp>
        <p:nvSpPr>
          <p:cNvPr id="26" name="Text 20"/>
          <p:cNvSpPr txBox="1"/>
          <p:nvPr/>
        </p:nvSpPr>
        <p:spPr>
          <a:xfrm>
            <a:off x="8493557" y="4690872"/>
            <a:ext cx="2834640" cy="274320"/>
          </a:xfrm>
          <a:prstGeom prst="rect">
            <a:avLst/>
          </a:prstGeom>
          <a:noFill/>
          <a:ln/>
        </p:spPr>
        <p:txBody>
          <a:bodyPr wrap="square" lIns="0" tIns="0" rIns="0" bIns="0" rtlCol="0" anchor="t"/>
          <a:lstStyle/>
          <a:p>
            <a:pPr marL="0" indent="0">
              <a:buNone/>
            </a:pPr>
            <a:r>
              <a:rPr lang="en-US" sz="1050" dirty="0">
                <a:solidFill>
                  <a:srgbClr val="587579"/>
                </a:solidFill>
                <a:latin typeface="Raleway" pitchFamily="34" charset="0"/>
                <a:ea typeface="Raleway" pitchFamily="34" charset="-122"/>
                <a:cs typeface="Raleway" pitchFamily="34" charset="-120"/>
              </a:rPr>
              <a:t>— </a:t>
            </a:r>
            <a:r>
              <a:rPr lang="en-US" sz="1050" dirty="0">
                <a:solidFill>
                  <a:srgbClr val="202031"/>
                </a:solidFill>
                <a:latin typeface="Raleway" pitchFamily="34" charset="0"/>
                <a:ea typeface="Raleway" pitchFamily="34" charset="-122"/>
                <a:cs typeface="Raleway" pitchFamily="34" charset="-120"/>
              </a:rPr>
              <a:t>M&amp;A</a:t>
            </a:r>
            <a:endParaRPr lang="en-US" sz="1050" dirty="0"/>
          </a:p>
        </p:txBody>
      </p:sp>
      <p:sp>
        <p:nvSpPr>
          <p:cNvPr id="27" name="Text 21"/>
          <p:cNvSpPr txBox="1"/>
          <p:nvPr/>
        </p:nvSpPr>
        <p:spPr>
          <a:xfrm>
            <a:off x="8493557" y="4946904"/>
            <a:ext cx="2834640" cy="274320"/>
          </a:xfrm>
          <a:prstGeom prst="rect">
            <a:avLst/>
          </a:prstGeom>
          <a:noFill/>
          <a:ln/>
        </p:spPr>
        <p:txBody>
          <a:bodyPr wrap="square" lIns="0" tIns="0" rIns="0" bIns="0" rtlCol="0" anchor="t"/>
          <a:lstStyle/>
          <a:p>
            <a:pPr marL="0" indent="0">
              <a:buNone/>
            </a:pPr>
            <a:r>
              <a:rPr lang="en-US" sz="1050" dirty="0">
                <a:solidFill>
                  <a:srgbClr val="587579"/>
                </a:solidFill>
                <a:latin typeface="Raleway" pitchFamily="34" charset="0"/>
                <a:ea typeface="Raleway" pitchFamily="34" charset="-122"/>
                <a:cs typeface="Raleway" pitchFamily="34" charset="-120"/>
              </a:rPr>
              <a:t>— </a:t>
            </a:r>
            <a:r>
              <a:rPr lang="en-US" sz="1050" dirty="0">
                <a:solidFill>
                  <a:srgbClr val="202031"/>
                </a:solidFill>
                <a:latin typeface="Raleway" pitchFamily="34" charset="0"/>
                <a:ea typeface="Raleway" pitchFamily="34" charset="-122"/>
                <a:cs typeface="Raleway" pitchFamily="34" charset="-120"/>
              </a:rPr>
              <a:t>Business Plan</a:t>
            </a:r>
            <a:endParaRPr lang="en-US" sz="1050" dirty="0"/>
          </a:p>
        </p:txBody>
      </p:sp>
      <p:sp>
        <p:nvSpPr>
          <p:cNvPr id="28" name="Text 22"/>
          <p:cNvSpPr txBox="1"/>
          <p:nvPr/>
        </p:nvSpPr>
        <p:spPr>
          <a:xfrm>
            <a:off x="8493557" y="5202936"/>
            <a:ext cx="2834640" cy="274320"/>
          </a:xfrm>
          <a:prstGeom prst="rect">
            <a:avLst/>
          </a:prstGeom>
          <a:noFill/>
          <a:ln/>
        </p:spPr>
        <p:txBody>
          <a:bodyPr wrap="square" lIns="0" tIns="0" rIns="0" bIns="0" rtlCol="0" anchor="t"/>
          <a:lstStyle/>
          <a:p>
            <a:pPr marL="0" indent="0">
              <a:buNone/>
            </a:pPr>
            <a:r>
              <a:rPr lang="en-US" sz="1050" dirty="0">
                <a:solidFill>
                  <a:srgbClr val="587579"/>
                </a:solidFill>
                <a:latin typeface="Raleway" pitchFamily="34" charset="0"/>
                <a:ea typeface="Raleway" pitchFamily="34" charset="-122"/>
                <a:cs typeface="Raleway" pitchFamily="34" charset="-120"/>
              </a:rPr>
              <a:t>— </a:t>
            </a:r>
            <a:r>
              <a:rPr lang="en-US" sz="1050" dirty="0">
                <a:solidFill>
                  <a:srgbClr val="202031"/>
                </a:solidFill>
                <a:latin typeface="Raleway" pitchFamily="34" charset="0"/>
                <a:ea typeface="Raleway" pitchFamily="34" charset="-122"/>
                <a:cs typeface="Raleway" pitchFamily="34" charset="-120"/>
              </a:rPr>
              <a:t>CFO Part-Time</a:t>
            </a:r>
            <a:endParaRPr lang="en-US" sz="1050" dirty="0"/>
          </a:p>
        </p:txBody>
      </p:sp>
      <p:sp>
        <p:nvSpPr>
          <p:cNvPr id="29" name="Text 23"/>
          <p:cNvSpPr txBox="1"/>
          <p:nvPr/>
        </p:nvSpPr>
        <p:spPr>
          <a:xfrm>
            <a:off x="8493557" y="5458968"/>
            <a:ext cx="2834640" cy="274320"/>
          </a:xfrm>
          <a:prstGeom prst="rect">
            <a:avLst/>
          </a:prstGeom>
          <a:noFill/>
          <a:ln/>
        </p:spPr>
        <p:txBody>
          <a:bodyPr wrap="square" lIns="0" tIns="0" rIns="0" bIns="0" rtlCol="0" anchor="t"/>
          <a:lstStyle/>
          <a:p>
            <a:pPr marL="0" indent="0">
              <a:buNone/>
            </a:pPr>
            <a:r>
              <a:rPr lang="en-US" sz="1050" dirty="0">
                <a:solidFill>
                  <a:srgbClr val="587579"/>
                </a:solidFill>
                <a:latin typeface="Raleway" pitchFamily="34" charset="0"/>
                <a:ea typeface="Raleway" pitchFamily="34" charset="-122"/>
                <a:cs typeface="Raleway" pitchFamily="34" charset="-120"/>
              </a:rPr>
              <a:t>— </a:t>
            </a:r>
            <a:r>
              <a:rPr lang="en-US" sz="1050" dirty="0">
                <a:solidFill>
                  <a:srgbClr val="202031"/>
                </a:solidFill>
                <a:latin typeface="Raleway" pitchFamily="34" charset="0"/>
                <a:ea typeface="Raleway" pitchFamily="34" charset="-122"/>
                <a:cs typeface="Raleway" pitchFamily="34" charset="-120"/>
              </a:rPr>
              <a:t>Due Diligence</a:t>
            </a:r>
            <a:endParaRPr lang="en-US" sz="1050" dirty="0"/>
          </a:p>
        </p:txBody>
      </p:sp>
      <p:sp>
        <p:nvSpPr>
          <p:cNvPr id="30" name="Text 24"/>
          <p:cNvSpPr txBox="1"/>
          <p:nvPr/>
        </p:nvSpPr>
        <p:spPr>
          <a:xfrm>
            <a:off x="8493557" y="5715000"/>
            <a:ext cx="2834640" cy="274320"/>
          </a:xfrm>
          <a:prstGeom prst="rect">
            <a:avLst/>
          </a:prstGeom>
          <a:noFill/>
          <a:ln/>
        </p:spPr>
        <p:txBody>
          <a:bodyPr wrap="square" lIns="0" tIns="0" rIns="0" bIns="0" rtlCol="0" anchor="t"/>
          <a:lstStyle/>
          <a:p>
            <a:pPr marL="0" indent="0">
              <a:buNone/>
            </a:pPr>
            <a:r>
              <a:rPr lang="en-US" sz="1050" dirty="0">
                <a:solidFill>
                  <a:srgbClr val="587579"/>
                </a:solidFill>
                <a:latin typeface="Raleway" pitchFamily="34" charset="0"/>
                <a:ea typeface="Raleway" pitchFamily="34" charset="-122"/>
                <a:cs typeface="Raleway" pitchFamily="34" charset="-120"/>
              </a:rPr>
              <a:t>— </a:t>
            </a:r>
            <a:r>
              <a:rPr lang="en-US" sz="1050" dirty="0">
                <a:solidFill>
                  <a:srgbClr val="202031"/>
                </a:solidFill>
                <a:latin typeface="Raleway" pitchFamily="34" charset="0"/>
                <a:ea typeface="Raleway" pitchFamily="34" charset="-122"/>
                <a:cs typeface="Raleway" pitchFamily="34" charset="-120"/>
              </a:rPr>
              <a:t>Restructuring</a:t>
            </a:r>
            <a:endParaRPr lang="en-US" sz="1050" dirty="0"/>
          </a:p>
        </p:txBody>
      </p:sp>
      <p:sp>
        <p:nvSpPr>
          <p:cNvPr id="31" name="Text 25"/>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09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PRÓXIMOS PASOS</a:t>
            </a:r>
            <a:endParaRPr lang="en-US" sz="750" dirty="0"/>
          </a:p>
        </p:txBody>
      </p:sp>
      <p:sp>
        <p:nvSpPr>
          <p:cNvPr id="4" name="Text 1"/>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5" name="Text 2"/>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Próximos pasos</a:t>
            </a:r>
            <a:endParaRPr lang="en-US" sz="3400" dirty="0"/>
          </a:p>
        </p:txBody>
      </p:sp>
      <p:sp>
        <p:nvSpPr>
          <p:cNvPr id="6" name="Text 3"/>
          <p:cNvSpPr txBox="1"/>
          <p:nvPr/>
        </p:nvSpPr>
        <p:spPr>
          <a:xfrm>
            <a:off x="548640" y="1572768"/>
            <a:ext cx="8686800" cy="320040"/>
          </a:xfrm>
          <a:prstGeom prst="rect">
            <a:avLst/>
          </a:prstGeom>
          <a:noFill/>
          <a:ln/>
        </p:spPr>
        <p:txBody>
          <a:bodyPr wrap="square" lIns="0" tIns="0" rIns="0" bIns="0" rtlCol="0" anchor="t"/>
          <a:lstStyle/>
          <a:p>
            <a:pPr marL="0" indent="0">
              <a:buNone/>
            </a:pPr>
            <a:r>
              <a:rPr lang="en-US" sz="1300" dirty="0">
                <a:solidFill>
                  <a:srgbClr val="587579"/>
                </a:solidFill>
                <a:latin typeface="Raleway" pitchFamily="34" charset="0"/>
                <a:ea typeface="Raleway" pitchFamily="34" charset="-122"/>
                <a:cs typeface="Raleway" pitchFamily="34" charset="-120"/>
              </a:rPr>
              <a:t>Desde la firma, así arrancamos juntos.</a:t>
            </a:r>
            <a:endParaRPr lang="en-US" sz="1300" dirty="0"/>
          </a:p>
        </p:txBody>
      </p:sp>
      <p:pic>
        <p:nvPicPr>
          <p:cNvPr id="7" name="Image 1" descr="/tmp/claude-0/-home-claude/6ecba087-9563-50f1-9ffc-6a20c07eac08/scratchpad/decks/kit/bg_grad_h.png"/>
          <p:cNvPicPr>
            <a:picLocks noChangeAspect="1"/>
          </p:cNvPicPr>
          <p:nvPr/>
        </p:nvPicPr>
        <p:blipFill>
          <a:blip r:embed="rId4"/>
          <a:stretch>
            <a:fillRect/>
          </a:stretch>
        </p:blipFill>
        <p:spPr>
          <a:xfrm>
            <a:off x="548640" y="2651760"/>
            <a:ext cx="11094415" cy="54864"/>
          </a:xfrm>
          <a:prstGeom prst="rect">
            <a:avLst/>
          </a:prstGeom>
        </p:spPr>
      </p:pic>
      <p:sp>
        <p:nvSpPr>
          <p:cNvPr id="8" name="Shape 4"/>
          <p:cNvSpPr/>
          <p:nvPr/>
        </p:nvSpPr>
        <p:spPr>
          <a:xfrm>
            <a:off x="548640" y="2528316"/>
            <a:ext cx="301752" cy="301752"/>
          </a:xfrm>
          <a:prstGeom prst="ellipse">
            <a:avLst/>
          </a:prstGeom>
          <a:solidFill>
            <a:srgbClr val="8AA3A5"/>
          </a:solidFill>
          <a:ln w="31750">
            <a:solidFill>
              <a:srgbClr val="FFFFFF"/>
            </a:solidFill>
            <a:prstDash val="solid"/>
          </a:ln>
        </p:spPr>
        <p:txBody>
          <a:bodyPr/>
          <a:lstStyle/>
          <a:p>
            <a:endParaRPr lang="es-ES"/>
          </a:p>
        </p:txBody>
      </p:sp>
      <p:sp>
        <p:nvSpPr>
          <p:cNvPr id="9" name="Text 5"/>
          <p:cNvSpPr txBox="1"/>
          <p:nvPr/>
        </p:nvSpPr>
        <p:spPr>
          <a:xfrm>
            <a:off x="548640" y="2971800"/>
            <a:ext cx="914400" cy="502920"/>
          </a:xfrm>
          <a:prstGeom prst="rect">
            <a:avLst/>
          </a:prstGeom>
          <a:noFill/>
          <a:ln/>
        </p:spPr>
        <p:txBody>
          <a:bodyPr wrap="square" lIns="0" tIns="0" rIns="0" bIns="0" rtlCol="0" anchor="t"/>
          <a:lstStyle/>
          <a:p>
            <a:pPr marL="0" indent="0">
              <a:buNone/>
            </a:pPr>
            <a:r>
              <a:rPr lang="en-US" sz="3000" dirty="0">
                <a:solidFill>
                  <a:srgbClr val="587579"/>
                </a:solidFill>
                <a:latin typeface="Manrope Light" pitchFamily="34" charset="0"/>
                <a:ea typeface="Manrope Light" pitchFamily="34" charset="-122"/>
                <a:cs typeface="Manrope Light" pitchFamily="34" charset="-120"/>
              </a:rPr>
              <a:t>01</a:t>
            </a:r>
            <a:endParaRPr lang="en-US" sz="3000" dirty="0"/>
          </a:p>
        </p:txBody>
      </p:sp>
      <p:sp>
        <p:nvSpPr>
          <p:cNvPr id="10" name="Text 6"/>
          <p:cNvSpPr txBox="1"/>
          <p:nvPr/>
        </p:nvSpPr>
        <p:spPr>
          <a:xfrm>
            <a:off x="548640" y="3584448"/>
            <a:ext cx="2533574"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EL ACUERDO</a:t>
            </a:r>
            <a:endParaRPr lang="en-US" sz="850" dirty="0"/>
          </a:p>
        </p:txBody>
      </p:sp>
      <p:sp>
        <p:nvSpPr>
          <p:cNvPr id="11" name="Text 7"/>
          <p:cNvSpPr txBox="1"/>
          <p:nvPr/>
        </p:nvSpPr>
        <p:spPr>
          <a:xfrm>
            <a:off x="548640" y="3840480"/>
            <a:ext cx="2533574" cy="384048"/>
          </a:xfrm>
          <a:prstGeom prst="rect">
            <a:avLst/>
          </a:prstGeom>
          <a:noFill/>
          <a:ln/>
        </p:spPr>
        <p:txBody>
          <a:bodyPr wrap="square" lIns="0" tIns="0" rIns="0" bIns="0" rtlCol="0" anchor="t"/>
          <a:lstStyle/>
          <a:p>
            <a:pPr marL="0" indent="0">
              <a:buNone/>
            </a:pPr>
            <a:r>
              <a:rPr lang="en-US" sz="1800" dirty="0">
                <a:solidFill>
                  <a:srgbClr val="202031"/>
                </a:solidFill>
                <a:latin typeface="Raleway" pitchFamily="34" charset="0"/>
                <a:ea typeface="Raleway" pitchFamily="34" charset="-122"/>
                <a:cs typeface="Raleway" pitchFamily="34" charset="-120"/>
              </a:rPr>
              <a:t>La firma</a:t>
            </a:r>
            <a:endParaRPr lang="en-US" sz="1800" dirty="0"/>
          </a:p>
        </p:txBody>
      </p:sp>
      <p:sp>
        <p:nvSpPr>
          <p:cNvPr id="12" name="Text 8"/>
          <p:cNvSpPr txBox="1"/>
          <p:nvPr/>
        </p:nvSpPr>
        <p:spPr>
          <a:xfrm>
            <a:off x="548640" y="4279392"/>
            <a:ext cx="2350694" cy="73152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Cerramos condiciones y te asignamos tu partner senior.</a:t>
            </a:r>
            <a:endParaRPr lang="en-US" sz="1050" dirty="0"/>
          </a:p>
        </p:txBody>
      </p:sp>
      <p:sp>
        <p:nvSpPr>
          <p:cNvPr id="13" name="Shape 9"/>
          <p:cNvSpPr/>
          <p:nvPr/>
        </p:nvSpPr>
        <p:spPr>
          <a:xfrm>
            <a:off x="3402254" y="2528316"/>
            <a:ext cx="301752" cy="301752"/>
          </a:xfrm>
          <a:prstGeom prst="ellipse">
            <a:avLst/>
          </a:prstGeom>
          <a:solidFill>
            <a:srgbClr val="587579"/>
          </a:solidFill>
          <a:ln w="31750">
            <a:solidFill>
              <a:srgbClr val="FFFFFF"/>
            </a:solidFill>
            <a:prstDash val="solid"/>
          </a:ln>
        </p:spPr>
        <p:txBody>
          <a:bodyPr/>
          <a:lstStyle/>
          <a:p>
            <a:endParaRPr lang="es-ES"/>
          </a:p>
        </p:txBody>
      </p:sp>
      <p:sp>
        <p:nvSpPr>
          <p:cNvPr id="14" name="Text 10"/>
          <p:cNvSpPr txBox="1"/>
          <p:nvPr/>
        </p:nvSpPr>
        <p:spPr>
          <a:xfrm>
            <a:off x="3402254" y="2971800"/>
            <a:ext cx="914400" cy="502920"/>
          </a:xfrm>
          <a:prstGeom prst="rect">
            <a:avLst/>
          </a:prstGeom>
          <a:noFill/>
          <a:ln/>
        </p:spPr>
        <p:txBody>
          <a:bodyPr wrap="square" lIns="0" tIns="0" rIns="0" bIns="0" rtlCol="0" anchor="t"/>
          <a:lstStyle/>
          <a:p>
            <a:pPr marL="0" indent="0">
              <a:buNone/>
            </a:pPr>
            <a:r>
              <a:rPr lang="en-US" sz="3000" dirty="0">
                <a:solidFill>
                  <a:srgbClr val="587579"/>
                </a:solidFill>
                <a:latin typeface="Manrope Light" pitchFamily="34" charset="0"/>
                <a:ea typeface="Manrope Light" pitchFamily="34" charset="-122"/>
                <a:cs typeface="Manrope Light" pitchFamily="34" charset="-120"/>
              </a:rPr>
              <a:t>02</a:t>
            </a:r>
            <a:endParaRPr lang="en-US" sz="3000" dirty="0"/>
          </a:p>
        </p:txBody>
      </p:sp>
      <p:sp>
        <p:nvSpPr>
          <p:cNvPr id="15" name="Text 11"/>
          <p:cNvSpPr txBox="1"/>
          <p:nvPr/>
        </p:nvSpPr>
        <p:spPr>
          <a:xfrm>
            <a:off x="3402254" y="3584448"/>
            <a:ext cx="2533574"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TU EQUIPO Y CULTURA</a:t>
            </a:r>
            <a:endParaRPr lang="en-US" sz="850" dirty="0"/>
          </a:p>
        </p:txBody>
      </p:sp>
      <p:sp>
        <p:nvSpPr>
          <p:cNvPr id="16" name="Text 12"/>
          <p:cNvSpPr txBox="1"/>
          <p:nvPr/>
        </p:nvSpPr>
        <p:spPr>
          <a:xfrm>
            <a:off x="3402254" y="3840480"/>
            <a:ext cx="2533574" cy="384048"/>
          </a:xfrm>
          <a:prstGeom prst="rect">
            <a:avLst/>
          </a:prstGeom>
          <a:noFill/>
          <a:ln/>
        </p:spPr>
        <p:txBody>
          <a:bodyPr wrap="square" lIns="0" tIns="0" rIns="0" bIns="0" rtlCol="0" anchor="t"/>
          <a:lstStyle/>
          <a:p>
            <a:pPr marL="0" indent="0">
              <a:buNone/>
            </a:pPr>
            <a:r>
              <a:rPr lang="en-US" sz="1800" dirty="0">
                <a:solidFill>
                  <a:srgbClr val="202031"/>
                </a:solidFill>
                <a:latin typeface="Raleway" pitchFamily="34" charset="0"/>
                <a:ea typeface="Raleway" pitchFamily="34" charset="-122"/>
                <a:cs typeface="Raleway" pitchFamily="34" charset="-120"/>
              </a:rPr>
              <a:t>Inmersión</a:t>
            </a:r>
            <a:endParaRPr lang="en-US" sz="1800" dirty="0"/>
          </a:p>
        </p:txBody>
      </p:sp>
      <p:sp>
        <p:nvSpPr>
          <p:cNvPr id="17" name="Text 13"/>
          <p:cNvSpPr txBox="1"/>
          <p:nvPr/>
        </p:nvSpPr>
        <p:spPr>
          <a:xfrm>
            <a:off x="3402254" y="4279392"/>
            <a:ext cx="2350694" cy="73152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Sesión con tus responsables: cultura, retos y perfiles.</a:t>
            </a:r>
            <a:endParaRPr lang="en-US" sz="1050" dirty="0"/>
          </a:p>
        </p:txBody>
      </p:sp>
      <p:sp>
        <p:nvSpPr>
          <p:cNvPr id="18" name="Shape 14"/>
          <p:cNvSpPr/>
          <p:nvPr/>
        </p:nvSpPr>
        <p:spPr>
          <a:xfrm>
            <a:off x="6255868" y="2528316"/>
            <a:ext cx="301752" cy="301752"/>
          </a:xfrm>
          <a:prstGeom prst="ellipse">
            <a:avLst/>
          </a:prstGeom>
          <a:solidFill>
            <a:srgbClr val="3F5A5E"/>
          </a:solidFill>
          <a:ln w="31750">
            <a:solidFill>
              <a:srgbClr val="FFFFFF"/>
            </a:solidFill>
            <a:prstDash val="solid"/>
          </a:ln>
        </p:spPr>
        <p:txBody>
          <a:bodyPr/>
          <a:lstStyle/>
          <a:p>
            <a:endParaRPr lang="es-ES"/>
          </a:p>
        </p:txBody>
      </p:sp>
      <p:sp>
        <p:nvSpPr>
          <p:cNvPr id="19" name="Text 15"/>
          <p:cNvSpPr txBox="1"/>
          <p:nvPr/>
        </p:nvSpPr>
        <p:spPr>
          <a:xfrm>
            <a:off x="6255868" y="2971800"/>
            <a:ext cx="914400" cy="502920"/>
          </a:xfrm>
          <a:prstGeom prst="rect">
            <a:avLst/>
          </a:prstGeom>
          <a:noFill/>
          <a:ln/>
        </p:spPr>
        <p:txBody>
          <a:bodyPr wrap="square" lIns="0" tIns="0" rIns="0" bIns="0" rtlCol="0" anchor="t"/>
          <a:lstStyle/>
          <a:p>
            <a:pPr marL="0" indent="0">
              <a:buNone/>
            </a:pPr>
            <a:r>
              <a:rPr lang="en-US" sz="3000" dirty="0">
                <a:solidFill>
                  <a:srgbClr val="587579"/>
                </a:solidFill>
                <a:latin typeface="Manrope Light" pitchFamily="34" charset="0"/>
                <a:ea typeface="Manrope Light" pitchFamily="34" charset="-122"/>
                <a:cs typeface="Manrope Light" pitchFamily="34" charset="-120"/>
              </a:rPr>
              <a:t>03</a:t>
            </a:r>
            <a:endParaRPr lang="en-US" sz="3000" dirty="0"/>
          </a:p>
        </p:txBody>
      </p:sp>
      <p:sp>
        <p:nvSpPr>
          <p:cNvPr id="20" name="Text 16"/>
          <p:cNvSpPr txBox="1"/>
          <p:nvPr/>
        </p:nvSpPr>
        <p:spPr>
          <a:xfrm>
            <a:off x="6255868" y="3584448"/>
            <a:ext cx="2533574"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EN </a:t>
            </a:r>
            <a:r>
              <a:rPr lang="en-US" sz="850" kern="0" spc="220" dirty="0">
                <a:solidFill>
                  <a:srgbClr val="587579"/>
                </a:solidFill>
                <a:latin typeface="Manrope SemiBold" pitchFamily="34" charset="0"/>
                <a:ea typeface="Manrope SemiBold" pitchFamily="34" charset="-122"/>
                <a:cs typeface="Manrope SemiBold" pitchFamily="34" charset="-120"/>
              </a:rPr>
              <a:t>72</a:t>
            </a:r>
            <a:r>
              <a:rPr lang="en-US" sz="850" kern="0" spc="220" dirty="0">
                <a:solidFill>
                  <a:srgbClr val="587579"/>
                </a:solidFill>
                <a:latin typeface="Raleway SemiBold" pitchFamily="34" charset="0"/>
                <a:ea typeface="Raleway SemiBold" pitchFamily="34" charset="-122"/>
                <a:cs typeface="Raleway SemiBold" pitchFamily="34" charset="-120"/>
              </a:rPr>
              <a:t> HORAS</a:t>
            </a:r>
            <a:endParaRPr lang="en-US" sz="850" dirty="0"/>
          </a:p>
        </p:txBody>
      </p:sp>
      <p:sp>
        <p:nvSpPr>
          <p:cNvPr id="21" name="Text 17"/>
          <p:cNvSpPr txBox="1"/>
          <p:nvPr/>
        </p:nvSpPr>
        <p:spPr>
          <a:xfrm>
            <a:off x="6255868" y="3840480"/>
            <a:ext cx="2533574" cy="384048"/>
          </a:xfrm>
          <a:prstGeom prst="rect">
            <a:avLst/>
          </a:prstGeom>
          <a:noFill/>
          <a:ln/>
        </p:spPr>
        <p:txBody>
          <a:bodyPr wrap="square" lIns="0" tIns="0" rIns="0" bIns="0" rtlCol="0" anchor="t"/>
          <a:lstStyle/>
          <a:p>
            <a:pPr marL="0" indent="0">
              <a:buNone/>
            </a:pPr>
            <a:r>
              <a:rPr lang="en-US" sz="1800" dirty="0">
                <a:solidFill>
                  <a:srgbClr val="202031"/>
                </a:solidFill>
                <a:latin typeface="Raleway" pitchFamily="34" charset="0"/>
                <a:ea typeface="Raleway" pitchFamily="34" charset="-122"/>
                <a:cs typeface="Raleway" pitchFamily="34" charset="-120"/>
              </a:rPr>
              <a:t>Primer shortlist</a:t>
            </a:r>
            <a:endParaRPr lang="en-US" sz="1800" dirty="0"/>
          </a:p>
        </p:txBody>
      </p:sp>
      <p:sp>
        <p:nvSpPr>
          <p:cNvPr id="22" name="Text 18"/>
          <p:cNvSpPr txBox="1"/>
          <p:nvPr/>
        </p:nvSpPr>
        <p:spPr>
          <a:xfrm>
            <a:off x="6255868" y="4279392"/>
            <a:ext cx="2350694" cy="73152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Candidatos filtrados, con nuestra valoración de cada uno.</a:t>
            </a:r>
            <a:endParaRPr lang="en-US" sz="1050" dirty="0"/>
          </a:p>
        </p:txBody>
      </p:sp>
      <p:sp>
        <p:nvSpPr>
          <p:cNvPr id="23" name="Shape 19"/>
          <p:cNvSpPr/>
          <p:nvPr/>
        </p:nvSpPr>
        <p:spPr>
          <a:xfrm>
            <a:off x="9109481" y="2528316"/>
            <a:ext cx="301752" cy="301752"/>
          </a:xfrm>
          <a:prstGeom prst="ellipse">
            <a:avLst/>
          </a:prstGeom>
          <a:solidFill>
            <a:srgbClr val="202031"/>
          </a:solidFill>
          <a:ln w="31750">
            <a:solidFill>
              <a:srgbClr val="FFFFFF"/>
            </a:solidFill>
            <a:prstDash val="solid"/>
          </a:ln>
        </p:spPr>
        <p:txBody>
          <a:bodyPr/>
          <a:lstStyle/>
          <a:p>
            <a:endParaRPr lang="es-ES"/>
          </a:p>
        </p:txBody>
      </p:sp>
      <p:sp>
        <p:nvSpPr>
          <p:cNvPr id="24" name="Text 20"/>
          <p:cNvSpPr txBox="1"/>
          <p:nvPr/>
        </p:nvSpPr>
        <p:spPr>
          <a:xfrm>
            <a:off x="9109481" y="2971800"/>
            <a:ext cx="914400" cy="502920"/>
          </a:xfrm>
          <a:prstGeom prst="rect">
            <a:avLst/>
          </a:prstGeom>
          <a:noFill/>
          <a:ln/>
        </p:spPr>
        <p:txBody>
          <a:bodyPr wrap="square" lIns="0" tIns="0" rIns="0" bIns="0" rtlCol="0" anchor="t"/>
          <a:lstStyle/>
          <a:p>
            <a:pPr marL="0" indent="0">
              <a:buNone/>
            </a:pPr>
            <a:r>
              <a:rPr lang="en-US" sz="3000" dirty="0">
                <a:solidFill>
                  <a:srgbClr val="587579"/>
                </a:solidFill>
                <a:latin typeface="Manrope Light" pitchFamily="34" charset="0"/>
                <a:ea typeface="Manrope Light" pitchFamily="34" charset="-122"/>
                <a:cs typeface="Manrope Light" pitchFamily="34" charset="-120"/>
              </a:rPr>
              <a:t>04</a:t>
            </a:r>
            <a:endParaRPr lang="en-US" sz="3000" dirty="0"/>
          </a:p>
        </p:txBody>
      </p:sp>
      <p:sp>
        <p:nvSpPr>
          <p:cNvPr id="25" name="Text 21"/>
          <p:cNvSpPr txBox="1"/>
          <p:nvPr/>
        </p:nvSpPr>
        <p:spPr>
          <a:xfrm>
            <a:off x="9109481" y="3584448"/>
            <a:ext cx="2533574"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CADA SEMANA</a:t>
            </a:r>
            <a:endParaRPr lang="en-US" sz="850" dirty="0"/>
          </a:p>
        </p:txBody>
      </p:sp>
      <p:sp>
        <p:nvSpPr>
          <p:cNvPr id="26" name="Text 22"/>
          <p:cNvSpPr txBox="1"/>
          <p:nvPr/>
        </p:nvSpPr>
        <p:spPr>
          <a:xfrm>
            <a:off x="9109481" y="3840480"/>
            <a:ext cx="2533574" cy="384048"/>
          </a:xfrm>
          <a:prstGeom prst="rect">
            <a:avLst/>
          </a:prstGeom>
          <a:noFill/>
          <a:ln/>
        </p:spPr>
        <p:txBody>
          <a:bodyPr wrap="square" lIns="0" tIns="0" rIns="0" bIns="0" rtlCol="0" anchor="t"/>
          <a:lstStyle/>
          <a:p>
            <a:pPr marL="0" indent="0">
              <a:buNone/>
            </a:pPr>
            <a:r>
              <a:rPr lang="en-US" sz="1800" dirty="0">
                <a:solidFill>
                  <a:srgbClr val="202031"/>
                </a:solidFill>
                <a:latin typeface="Raleway" pitchFamily="34" charset="0"/>
                <a:ea typeface="Raleway" pitchFamily="34" charset="-122"/>
                <a:cs typeface="Raleway" pitchFamily="34" charset="-120"/>
              </a:rPr>
              <a:t>Seguimiento</a:t>
            </a:r>
            <a:endParaRPr lang="en-US" sz="1800" dirty="0"/>
          </a:p>
        </p:txBody>
      </p:sp>
      <p:sp>
        <p:nvSpPr>
          <p:cNvPr id="27" name="Text 23"/>
          <p:cNvSpPr txBox="1"/>
          <p:nvPr/>
        </p:nvSpPr>
        <p:spPr>
          <a:xfrm>
            <a:off x="9109481" y="4279392"/>
            <a:ext cx="2350694" cy="731520"/>
          </a:xfrm>
          <a:prstGeom prst="rect">
            <a:avLst/>
          </a:prstGeom>
          <a:noFill/>
          <a:ln/>
        </p:spPr>
        <p:txBody>
          <a:bodyPr wrap="square" lIns="0" tIns="0" rIns="0" bIns="0" rtlCol="0" anchor="t"/>
          <a:lstStyle/>
          <a:p>
            <a:pPr marL="0" indent="0">
              <a:lnSpc>
                <a:spcPct val="120000"/>
              </a:lnSpc>
              <a:buNone/>
            </a:pPr>
            <a:r>
              <a:rPr lang="en-US" sz="1050" dirty="0">
                <a:solidFill>
                  <a:srgbClr val="5C5C6E"/>
                </a:solidFill>
                <a:latin typeface="Raleway" pitchFamily="34" charset="0"/>
                <a:ea typeface="Raleway" pitchFamily="34" charset="-122"/>
                <a:cs typeface="Raleway" pitchFamily="34" charset="-120"/>
              </a:rPr>
              <a:t>Reunión semanal y acompañamiento tras cada incorporación.</a:t>
            </a:r>
            <a:endParaRPr lang="en-US" sz="1050" dirty="0"/>
          </a:p>
        </p:txBody>
      </p:sp>
      <p:pic>
        <p:nvPicPr>
          <p:cNvPr id="28" name="Image 2" descr="/tmp/claude-0/-home-claude/6ecba087-9563-50f1-9ffc-6a20c07eac08/scratchpad/decks/kit/band_grad.png"/>
          <p:cNvPicPr>
            <a:picLocks noChangeAspect="1"/>
          </p:cNvPicPr>
          <p:nvPr/>
        </p:nvPicPr>
        <p:blipFill>
          <a:blip r:embed="rId5"/>
          <a:srcRect/>
          <a:stretch/>
        </p:blipFill>
        <p:spPr>
          <a:xfrm>
            <a:off x="0" y="5257800"/>
            <a:ext cx="12191695" cy="1600200"/>
          </a:xfrm>
          <a:prstGeom prst="rect">
            <a:avLst/>
          </a:prstGeom>
        </p:spPr>
      </p:pic>
      <p:sp>
        <p:nvSpPr>
          <p:cNvPr id="29" name="Text 24"/>
          <p:cNvSpPr txBox="1"/>
          <p:nvPr/>
        </p:nvSpPr>
        <p:spPr>
          <a:xfrm>
            <a:off x="548640" y="5440680"/>
            <a:ext cx="1645920" cy="777240"/>
          </a:xfrm>
          <a:prstGeom prst="rect">
            <a:avLst/>
          </a:prstGeom>
          <a:noFill/>
          <a:ln/>
        </p:spPr>
        <p:txBody>
          <a:bodyPr wrap="square" lIns="0" tIns="0" rIns="0" bIns="0" rtlCol="0" anchor="t"/>
          <a:lstStyle/>
          <a:p>
            <a:pPr marL="0" indent="0">
              <a:buNone/>
            </a:pPr>
            <a:r>
              <a:rPr lang="en-US" sz="4400" dirty="0">
                <a:solidFill>
                  <a:srgbClr val="FFFFFF"/>
                </a:solidFill>
                <a:latin typeface="Manrope Light" pitchFamily="34" charset="0"/>
                <a:ea typeface="Manrope Light" pitchFamily="34" charset="-122"/>
                <a:cs typeface="Manrope Light" pitchFamily="34" charset="-120"/>
              </a:rPr>
              <a:t>72</a:t>
            </a:r>
            <a:r>
              <a:rPr lang="en-US" sz="4400" dirty="0">
                <a:solidFill>
                  <a:srgbClr val="FFFFFF"/>
                </a:solidFill>
                <a:latin typeface="Raleway Light" pitchFamily="34" charset="0"/>
                <a:ea typeface="Raleway Light" pitchFamily="34" charset="-122"/>
                <a:cs typeface="Raleway Light" pitchFamily="34" charset="-120"/>
              </a:rPr>
              <a:t> </a:t>
            </a:r>
            <a:r>
              <a:rPr lang="en-US" sz="2200" dirty="0">
                <a:solidFill>
                  <a:srgbClr val="FFFFFF"/>
                </a:solidFill>
                <a:latin typeface="Raleway Light" pitchFamily="34" charset="0"/>
                <a:ea typeface="Raleway Light" pitchFamily="34" charset="-122"/>
                <a:cs typeface="Raleway Light" pitchFamily="34" charset="-120"/>
              </a:rPr>
              <a:t>h</a:t>
            </a:r>
            <a:endParaRPr lang="en-US" sz="1100" dirty="0"/>
          </a:p>
        </p:txBody>
      </p:sp>
      <p:sp>
        <p:nvSpPr>
          <p:cNvPr id="30" name="Shape 25"/>
          <p:cNvSpPr/>
          <p:nvPr/>
        </p:nvSpPr>
        <p:spPr>
          <a:xfrm>
            <a:off x="2240280" y="5532120"/>
            <a:ext cx="0" cy="685800"/>
          </a:xfrm>
          <a:prstGeom prst="line">
            <a:avLst/>
          </a:prstGeom>
          <a:noFill/>
          <a:ln w="9525">
            <a:solidFill>
              <a:srgbClr val="9FB4B6"/>
            </a:solidFill>
            <a:prstDash val="solid"/>
          </a:ln>
        </p:spPr>
        <p:txBody>
          <a:bodyPr/>
          <a:lstStyle/>
          <a:p>
            <a:endParaRPr lang="es-ES"/>
          </a:p>
        </p:txBody>
      </p:sp>
      <p:sp>
        <p:nvSpPr>
          <p:cNvPr id="31" name="Text 26"/>
          <p:cNvSpPr txBox="1"/>
          <p:nvPr/>
        </p:nvSpPr>
        <p:spPr>
          <a:xfrm>
            <a:off x="2560320" y="5532120"/>
            <a:ext cx="8229600" cy="320040"/>
          </a:xfrm>
          <a:prstGeom prst="rect">
            <a:avLst/>
          </a:prstGeom>
          <a:noFill/>
          <a:ln/>
        </p:spPr>
        <p:txBody>
          <a:bodyPr wrap="square" lIns="0" tIns="0" rIns="0" bIns="0" rtlCol="0" anchor="t"/>
          <a:lstStyle/>
          <a:p>
            <a:pPr marL="0" indent="0">
              <a:buNone/>
            </a:pPr>
            <a:r>
              <a:rPr lang="en-US" sz="1400" dirty="0">
                <a:solidFill>
                  <a:srgbClr val="FFFFFF"/>
                </a:solidFill>
                <a:latin typeface="Raleway SemiBold" pitchFamily="34" charset="0"/>
                <a:ea typeface="Raleway SemiBold" pitchFamily="34" charset="-122"/>
                <a:cs typeface="Raleway SemiBold" pitchFamily="34" charset="-120"/>
              </a:rPr>
              <a:t>Firmamos hoy y en </a:t>
            </a:r>
            <a:r>
              <a:rPr lang="en-US" sz="1400" dirty="0">
                <a:solidFill>
                  <a:srgbClr val="FFFFFF"/>
                </a:solidFill>
                <a:latin typeface="Manrope SemiBold" pitchFamily="34" charset="0"/>
                <a:ea typeface="Manrope SemiBold" pitchFamily="34" charset="-122"/>
                <a:cs typeface="Manrope SemiBold" pitchFamily="34" charset="-120"/>
              </a:rPr>
              <a:t>72</a:t>
            </a:r>
            <a:r>
              <a:rPr lang="en-US" sz="1400" dirty="0">
                <a:solidFill>
                  <a:srgbClr val="FFFFFF"/>
                </a:solidFill>
                <a:latin typeface="Raleway SemiBold" pitchFamily="34" charset="0"/>
                <a:ea typeface="Raleway SemiBold" pitchFamily="34" charset="-122"/>
                <a:cs typeface="Raleway SemiBold" pitchFamily="34" charset="-120"/>
              </a:rPr>
              <a:t> horas tienes los primeros candidatos sobre tu mesa.</a:t>
            </a:r>
            <a:endParaRPr lang="en-US" sz="1400" dirty="0"/>
          </a:p>
        </p:txBody>
      </p:sp>
      <p:sp>
        <p:nvSpPr>
          <p:cNvPr id="32" name="Text 27"/>
          <p:cNvSpPr txBox="1"/>
          <p:nvPr/>
        </p:nvSpPr>
        <p:spPr>
          <a:xfrm>
            <a:off x="2560320" y="5897880"/>
            <a:ext cx="8229600" cy="274320"/>
          </a:xfrm>
          <a:prstGeom prst="rect">
            <a:avLst/>
          </a:prstGeom>
          <a:noFill/>
          <a:ln/>
        </p:spPr>
        <p:txBody>
          <a:bodyPr wrap="square" lIns="0" tIns="0" rIns="0" bIns="0" rtlCol="0" anchor="t"/>
          <a:lstStyle/>
          <a:p>
            <a:pPr marL="0" indent="0">
              <a:buNone/>
            </a:pPr>
            <a:r>
              <a:rPr lang="en-US" sz="1150" dirty="0">
                <a:solidFill>
                  <a:srgbClr val="E6ECEC"/>
                </a:solidFill>
                <a:latin typeface="Raleway" pitchFamily="34" charset="0"/>
                <a:ea typeface="Raleway" pitchFamily="34" charset="-122"/>
                <a:cs typeface="Raleway" pitchFamily="34" charset="-120"/>
              </a:rPr>
              <a:t>A partir de ahí, no te soltamos la mano.</a:t>
            </a:r>
            <a:endParaRPr lang="en-US" sz="1150" dirty="0"/>
          </a:p>
        </p:txBody>
      </p:sp>
      <p:sp>
        <p:nvSpPr>
          <p:cNvPr id="33" name="Text 28"/>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E6ECEC"/>
                </a:solidFill>
                <a:latin typeface="Manrope" pitchFamily="34" charset="0"/>
                <a:ea typeface="Manrope" pitchFamily="34" charset="-122"/>
                <a:cs typeface="Manrope" pitchFamily="34" charset="-120"/>
              </a:rPr>
              <a:t>10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TÉRMINOS Y CONDICIONES</a:t>
            </a:r>
            <a:endParaRPr lang="en-US" sz="750" dirty="0"/>
          </a:p>
        </p:txBody>
      </p:sp>
      <p:sp>
        <p:nvSpPr>
          <p:cNvPr id="4"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ACUERDO DE PARTNERSHIP</a:t>
            </a:r>
            <a:endParaRPr lang="en-US" sz="750" dirty="0"/>
          </a:p>
        </p:txBody>
      </p:sp>
      <p:sp>
        <p:nvSpPr>
          <p:cNvPr id="5"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Medium" pitchFamily="34" charset="0"/>
                <a:ea typeface="Manrope Medium" pitchFamily="34" charset="-122"/>
                <a:cs typeface="Manrope Medium" pitchFamily="34" charset="-120"/>
              </a:rPr>
              <a:t>2026</a:t>
            </a:r>
            <a:endParaRPr lang="en-US" sz="750" dirty="0"/>
          </a:p>
        </p:txBody>
      </p:sp>
      <p:sp>
        <p:nvSpPr>
          <p:cNvPr id="6"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Términos y condiciones</a:t>
            </a:r>
            <a:endParaRPr lang="en-US" sz="3400" dirty="0"/>
          </a:p>
        </p:txBody>
      </p:sp>
      <p:sp>
        <p:nvSpPr>
          <p:cNvPr id="7" name="Text 4"/>
          <p:cNvSpPr txBox="1"/>
          <p:nvPr/>
        </p:nvSpPr>
        <p:spPr>
          <a:xfrm>
            <a:off x="548640" y="1737360"/>
            <a:ext cx="3484778" cy="4526280"/>
          </a:xfrm>
          <a:prstGeom prst="rect">
            <a:avLst/>
          </a:prstGeom>
          <a:noFill/>
          <a:ln/>
        </p:spPr>
        <p:txBody>
          <a:bodyPr wrap="square" lIns="0" tIns="0" rIns="0" bIns="0" rtlCol="0" anchor="t"/>
          <a:lstStyle/>
          <a:p>
            <a:pPr marL="0" indent="0" algn="l">
              <a:lnSpc>
                <a:spcPct val="112000"/>
              </a:lnSpc>
              <a:spcAft>
                <a:spcPts val="200"/>
              </a:spcAft>
              <a:buNone/>
            </a:pPr>
            <a:r>
              <a:rPr lang="en-US" sz="850" kern="0" spc="60" dirty="0">
                <a:solidFill>
                  <a:srgbClr val="202031"/>
                </a:solidFill>
                <a:latin typeface="Raleway SemiBold" pitchFamily="34" charset="0"/>
                <a:ea typeface="Raleway SemiBold" pitchFamily="34" charset="-122"/>
                <a:cs typeface="Raleway SemiBold" pitchFamily="34" charset="-120"/>
              </a:rPr>
              <a:t>CONDICIONES SUBYACENTES DE LA PROPUESTA</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Las presentes condiciones generales se aplican a cualquier servicio profesional prestado entre las partes y son adicionales a cualquier acuerdo específico suscrito, el cual prevalecerá sobre estas en caso de discrepancia. En este documento: (i) «Tessera» significa Tessera Human Capital, S.L.; (ii) «Cliente» es el destinatario de la Propuesta y (iii) «Servicios» son los servicios profesionales cubiertos por la Propuesta.</a:t>
            </a:r>
            <a:endParaRPr lang="en-US" sz="830" dirty="0"/>
          </a:p>
          <a:p>
            <a:pPr marL="0" indent="0" algn="l">
              <a:lnSpc>
                <a:spcPct val="112000"/>
              </a:lnSpc>
              <a:spcBef>
                <a:spcPts val="700"/>
              </a:spcBef>
              <a:spcAft>
                <a:spcPts val="200"/>
              </a:spcAft>
              <a:buNone/>
            </a:pPr>
            <a:r>
              <a:rPr lang="en-US" sz="850" kern="0" spc="60" dirty="0">
                <a:solidFill>
                  <a:srgbClr val="202031"/>
                </a:solidFill>
                <a:latin typeface="Manrope SemiBold" pitchFamily="34" charset="0"/>
                <a:ea typeface="Manrope SemiBold" pitchFamily="34" charset="-122"/>
                <a:cs typeface="Manrope SemiBold" pitchFamily="34" charset="-120"/>
              </a:rPr>
              <a:t>1</a:t>
            </a:r>
            <a:r>
              <a:rPr lang="en-US" sz="850" kern="0" spc="60" dirty="0">
                <a:solidFill>
                  <a:srgbClr val="202031"/>
                </a:solidFill>
                <a:latin typeface="Raleway SemiBold" pitchFamily="34" charset="0"/>
                <a:ea typeface="Raleway SemiBold" pitchFamily="34" charset="-122"/>
                <a:cs typeface="Raleway SemiBold" pitchFamily="34" charset="-120"/>
              </a:rPr>
              <a:t>. CONFIDENCIALIDAD</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Toda la información relativa a la empresa cliente, sus miembros y los candidatos presentados o contactados será tratada por ambas partes con la máxima confidencialidad, manteniendo la obligación de secreto profesional sobre toda dicha información y, en particular, sobre los datos personales de los candidatos, incluso una vez finalizado este acuerdo, todo ello de conformidad con la legislación española.</a:t>
            </a:r>
            <a:endParaRPr lang="en-US" sz="830" dirty="0"/>
          </a:p>
        </p:txBody>
      </p:sp>
      <p:sp>
        <p:nvSpPr>
          <p:cNvPr id="8" name="Text 5"/>
          <p:cNvSpPr txBox="1"/>
          <p:nvPr/>
        </p:nvSpPr>
        <p:spPr>
          <a:xfrm>
            <a:off x="4353458" y="1737360"/>
            <a:ext cx="3484778" cy="4526280"/>
          </a:xfrm>
          <a:prstGeom prst="rect">
            <a:avLst/>
          </a:prstGeom>
          <a:noFill/>
          <a:ln/>
        </p:spPr>
        <p:txBody>
          <a:bodyPr wrap="square" lIns="0" tIns="0" rIns="0" bIns="0" rtlCol="0" anchor="t"/>
          <a:lstStyle/>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Ambas partes se comprometen mutuamente a mantener la confidencialidad y a no revelar a terceros ninguna información confidencial facilitada por la otra parte, durante la vigencia de este acuerdo y con posterioridad al mismo, conforme a los términos acordados. Este compromiso de confidencialidad no impedirá a Tessera Human Capital hacer referencia a (i) los servicios prestados al Cliente y (ii) al propio Cliente como parte de la cartera de clientes de Tessera Human Capital. Dicha referencia podrá difundirse a través del sitio web corporativo, mediante cualquier instrumento documental o medio de comunicación audiovisual, así como a través de presentaciones personales, siempre que se realicen en el marco de la actividad de Tessera Human Capital, con fines publicitarios y de marketing.</a:t>
            </a:r>
            <a:endParaRPr lang="en-US" sz="830" dirty="0"/>
          </a:p>
          <a:p>
            <a:pPr marL="0" indent="0" algn="l">
              <a:lnSpc>
                <a:spcPct val="112000"/>
              </a:lnSpc>
              <a:spcBef>
                <a:spcPts val="700"/>
              </a:spcBef>
              <a:spcAft>
                <a:spcPts val="200"/>
              </a:spcAft>
              <a:buNone/>
            </a:pPr>
            <a:r>
              <a:rPr lang="en-US" sz="850" kern="0" spc="60" dirty="0">
                <a:solidFill>
                  <a:srgbClr val="202031"/>
                </a:solidFill>
                <a:latin typeface="Manrope SemiBold" pitchFamily="34" charset="0"/>
                <a:ea typeface="Manrope SemiBold" pitchFamily="34" charset="-122"/>
                <a:cs typeface="Manrope SemiBold" pitchFamily="34" charset="-120"/>
              </a:rPr>
              <a:t>2</a:t>
            </a:r>
            <a:r>
              <a:rPr lang="en-US" sz="850" kern="0" spc="60" dirty="0">
                <a:solidFill>
                  <a:srgbClr val="202031"/>
                </a:solidFill>
                <a:latin typeface="Raleway SemiBold" pitchFamily="34" charset="0"/>
                <a:ea typeface="Raleway SemiBold" pitchFamily="34" charset="-122"/>
                <a:cs typeface="Raleway SemiBold" pitchFamily="34" charset="-120"/>
              </a:rPr>
              <a:t>. CANDIDATURAS</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2.1</a:t>
            </a:r>
            <a:r>
              <a:rPr lang="en-US" sz="830" dirty="0">
                <a:solidFill>
                  <a:srgbClr val="5C5C6E"/>
                </a:solidFill>
                <a:latin typeface="Raleway" pitchFamily="34" charset="0"/>
                <a:ea typeface="Raleway" pitchFamily="34" charset="-122"/>
                <a:cs typeface="Raleway" pitchFamily="34" charset="-120"/>
              </a:rPr>
              <a:t> Todos los candidatos identificados y presentados por Tessera Human Capital al cliente quedarán reservados exclusivamente para la presente selección. Si alguno de dichos candidatos fuera contratado por el cliente en un puesto correspondiente al encargo, o en otro puesto, o en otra empresa del grupo, dentro de un plazo de </a:t>
            </a:r>
            <a:r>
              <a:rPr lang="en-US" sz="830" dirty="0">
                <a:solidFill>
                  <a:srgbClr val="5C5C6E"/>
                </a:solidFill>
                <a:latin typeface="Manrope" pitchFamily="34" charset="0"/>
                <a:ea typeface="Manrope" pitchFamily="34" charset="-122"/>
                <a:cs typeface="Manrope" pitchFamily="34" charset="-120"/>
              </a:rPr>
              <a:t>12</a:t>
            </a:r>
            <a:r>
              <a:rPr lang="en-US" sz="830" dirty="0">
                <a:solidFill>
                  <a:srgbClr val="5C5C6E"/>
                </a:solidFill>
                <a:latin typeface="Raleway" pitchFamily="34" charset="0"/>
                <a:ea typeface="Raleway" pitchFamily="34" charset="-122"/>
                <a:cs typeface="Raleway" pitchFamily="34" charset="-120"/>
              </a:rPr>
              <a:t> meses tras la presentación del candidato, el cliente deberá abonar a Tessera Human Capital el importe previsto para la contratación inicial, o la totalidad de los honorarios calculados sobre la retribución bruta anual, incluidas las retribuciones en especie.</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2.2</a:t>
            </a:r>
            <a:r>
              <a:rPr lang="en-US" sz="830" dirty="0">
                <a:solidFill>
                  <a:srgbClr val="5C5C6E"/>
                </a:solidFill>
                <a:latin typeface="Raleway" pitchFamily="34" charset="0"/>
                <a:ea typeface="Raleway" pitchFamily="34" charset="-122"/>
                <a:cs typeface="Raleway" pitchFamily="34" charset="-120"/>
              </a:rPr>
              <a:t>. Esta cláusula se aplica en los mismos términos si el cliente presenta a alguno de estos candidatos a otra persona física o jurídica y si el candidato se compromete con dicha persona.</a:t>
            </a:r>
            <a:endParaRPr lang="en-US" sz="830" dirty="0"/>
          </a:p>
        </p:txBody>
      </p:sp>
      <p:sp>
        <p:nvSpPr>
          <p:cNvPr id="9" name="Text 6"/>
          <p:cNvSpPr txBox="1"/>
          <p:nvPr/>
        </p:nvSpPr>
        <p:spPr>
          <a:xfrm>
            <a:off x="8158277" y="1737360"/>
            <a:ext cx="3484778" cy="4526280"/>
          </a:xfrm>
          <a:prstGeom prst="rect">
            <a:avLst/>
          </a:prstGeom>
          <a:noFill/>
          <a:ln/>
        </p:spPr>
        <p:txBody>
          <a:bodyPr wrap="square" lIns="0" tIns="0" rIns="0" bIns="0" rtlCol="0" anchor="t"/>
          <a:lstStyle/>
          <a:p>
            <a:pPr marL="0" indent="0" algn="l">
              <a:lnSpc>
                <a:spcPct val="112000"/>
              </a:lnSpc>
              <a:spcAft>
                <a:spcPts val="200"/>
              </a:spcAft>
              <a:buNone/>
            </a:pPr>
            <a:r>
              <a:rPr lang="en-US" sz="850" kern="0" spc="60" dirty="0">
                <a:solidFill>
                  <a:srgbClr val="202031"/>
                </a:solidFill>
                <a:latin typeface="Manrope SemiBold" pitchFamily="34" charset="0"/>
                <a:ea typeface="Manrope SemiBold" pitchFamily="34" charset="-122"/>
                <a:cs typeface="Manrope SemiBold" pitchFamily="34" charset="-120"/>
              </a:rPr>
              <a:t>3</a:t>
            </a:r>
            <a:r>
              <a:rPr lang="en-US" sz="850" kern="0" spc="60" dirty="0">
                <a:solidFill>
                  <a:srgbClr val="202031"/>
                </a:solidFill>
                <a:latin typeface="Raleway SemiBold" pitchFamily="34" charset="0"/>
                <a:ea typeface="Raleway SemiBold" pitchFamily="34" charset="-122"/>
                <a:cs typeface="Raleway SemiBold" pitchFamily="34" charset="-120"/>
              </a:rPr>
              <a:t>. GARANTÍA</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Si el candidato o el cliente rescinde el contrato de trabajo dentro de los </a:t>
            </a:r>
            <a:r>
              <a:rPr lang="en-US" sz="830" dirty="0">
                <a:solidFill>
                  <a:srgbClr val="5C5C6E"/>
                </a:solidFill>
                <a:latin typeface="Manrope" pitchFamily="34" charset="0"/>
                <a:ea typeface="Manrope" pitchFamily="34" charset="-122"/>
                <a:cs typeface="Manrope" pitchFamily="34" charset="-120"/>
              </a:rPr>
              <a:t>3</a:t>
            </a:r>
            <a:r>
              <a:rPr lang="en-US" sz="830" dirty="0">
                <a:solidFill>
                  <a:srgbClr val="5C5C6E"/>
                </a:solidFill>
                <a:latin typeface="Raleway" pitchFamily="34" charset="0"/>
                <a:ea typeface="Raleway" pitchFamily="34" charset="-122"/>
                <a:cs typeface="Raleway" pitchFamily="34" charset="-120"/>
              </a:rPr>
              <a:t> meses siguientes a la fecha de contratación, Tessera Human Capital se compromete a proporcionar otro candidato y/o a activar otro proceso de selección, a elección del cliente, con el fin de sustituir al candidato sin coste adicional.</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Esta garantía podrá aplicarse salvo en los siguientes casos:</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3.1</a:t>
            </a:r>
            <a:r>
              <a:rPr lang="en-US" sz="830" dirty="0">
                <a:solidFill>
                  <a:srgbClr val="5C5C6E"/>
                </a:solidFill>
                <a:latin typeface="Raleway" pitchFamily="34" charset="0"/>
                <a:ea typeface="Raleway" pitchFamily="34" charset="-122"/>
                <a:cs typeface="Raleway" pitchFamily="34" charset="-120"/>
              </a:rPr>
              <a:t> Si la rescisión del contrato de trabajo se debe a un exceso de plantilla o a un cambio geográfico inicialmente no previsto.</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3.2</a:t>
            </a:r>
            <a:r>
              <a:rPr lang="en-US" sz="830" dirty="0">
                <a:solidFill>
                  <a:srgbClr val="5C5C6E"/>
                </a:solidFill>
                <a:latin typeface="Raleway" pitchFamily="34" charset="0"/>
                <a:ea typeface="Raleway" pitchFamily="34" charset="-122"/>
                <a:cs typeface="Raleway" pitchFamily="34" charset="-120"/>
              </a:rPr>
              <a:t> Si las condiciones laborales del candidato contratado difieren significativamente de las inicialmente definidas en el contrato de trabajo.</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3.3</a:t>
            </a:r>
            <a:r>
              <a:rPr lang="en-US" sz="830" dirty="0">
                <a:solidFill>
                  <a:srgbClr val="5C5C6E"/>
                </a:solidFill>
                <a:latin typeface="Raleway" pitchFamily="34" charset="0"/>
                <a:ea typeface="Raleway" pitchFamily="34" charset="-122"/>
                <a:cs typeface="Raleway" pitchFamily="34" charset="-120"/>
              </a:rPr>
              <a:t> Si la rescisión del contrato de trabajo se debe a una falta grave por parte de la empresa contratante.</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3.4</a:t>
            </a:r>
            <a:r>
              <a:rPr lang="en-US" sz="830" dirty="0">
                <a:solidFill>
                  <a:srgbClr val="5C5C6E"/>
                </a:solidFill>
                <a:latin typeface="Raleway" pitchFamily="34" charset="0"/>
                <a:ea typeface="Raleway" pitchFamily="34" charset="-122"/>
                <a:cs typeface="Raleway" pitchFamily="34" charset="-120"/>
              </a:rPr>
              <a:t> Si no se han abonado todas las facturas adeudadas por el cliente dentro de los plazos establecidos y conforme a las condiciones generales.</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Si el candidato abandona la empresa transcurridos </a:t>
            </a:r>
            <a:r>
              <a:rPr lang="en-US" sz="830" dirty="0">
                <a:solidFill>
                  <a:srgbClr val="5C5C6E"/>
                </a:solidFill>
                <a:latin typeface="Manrope" pitchFamily="34" charset="0"/>
                <a:ea typeface="Manrope" pitchFamily="34" charset="-122"/>
                <a:cs typeface="Manrope" pitchFamily="34" charset="-120"/>
              </a:rPr>
              <a:t>6</a:t>
            </a:r>
            <a:r>
              <a:rPr lang="en-US" sz="830" dirty="0">
                <a:solidFill>
                  <a:srgbClr val="5C5C6E"/>
                </a:solidFill>
                <a:latin typeface="Raleway" pitchFamily="34" charset="0"/>
                <a:ea typeface="Raleway" pitchFamily="34" charset="-122"/>
                <a:cs typeface="Raleway" pitchFamily="34" charset="-120"/>
              </a:rPr>
              <a:t> meses desde la fecha de contratación (periodo de prueba), Tessera Human Capital no se hace responsable y, por tanto, no tiene obligación de cubrir el puesto.</a:t>
            </a:r>
            <a:endParaRPr lang="en-US" sz="830" dirty="0"/>
          </a:p>
        </p:txBody>
      </p:sp>
      <p:sp>
        <p:nvSpPr>
          <p:cNvPr id="10" name="Text 7"/>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11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TÉRMINOS Y CONDICIONES</a:t>
            </a:r>
            <a:endParaRPr lang="en-US" sz="750" dirty="0"/>
          </a:p>
        </p:txBody>
      </p:sp>
      <p:sp>
        <p:nvSpPr>
          <p:cNvPr id="4" name="Text 1"/>
          <p:cNvSpPr txBox="1"/>
          <p:nvPr/>
        </p:nvSpPr>
        <p:spPr>
          <a:xfrm>
            <a:off x="5029200" y="365760"/>
            <a:ext cx="411480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ACUERDO DE PARTNERSHIP</a:t>
            </a:r>
            <a:endParaRPr lang="en-US" sz="750" dirty="0"/>
          </a:p>
        </p:txBody>
      </p:sp>
      <p:sp>
        <p:nvSpPr>
          <p:cNvPr id="5" name="Text 2"/>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pitchFamily="2" charset="0"/>
                <a:ea typeface="Raleway Medium" pitchFamily="34" charset="-122"/>
                <a:cs typeface="Raleway Medium" pitchFamily="34" charset="-120"/>
              </a:rPr>
              <a:t>2026</a:t>
            </a:r>
            <a:endParaRPr lang="en-US" sz="750" dirty="0">
              <a:latin typeface="Manrope" pitchFamily="2" charset="0"/>
            </a:endParaRPr>
          </a:p>
        </p:txBody>
      </p:sp>
      <p:sp>
        <p:nvSpPr>
          <p:cNvPr id="6" name="Text 3"/>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Términos y condiciones</a:t>
            </a:r>
            <a:endParaRPr lang="en-US" sz="3400" dirty="0"/>
          </a:p>
        </p:txBody>
      </p:sp>
      <p:sp>
        <p:nvSpPr>
          <p:cNvPr id="7" name="Text 4"/>
          <p:cNvSpPr txBox="1"/>
          <p:nvPr/>
        </p:nvSpPr>
        <p:spPr>
          <a:xfrm>
            <a:off x="548640" y="1737360"/>
            <a:ext cx="3484778" cy="4526280"/>
          </a:xfrm>
          <a:prstGeom prst="rect">
            <a:avLst/>
          </a:prstGeom>
          <a:noFill/>
          <a:ln/>
        </p:spPr>
        <p:txBody>
          <a:bodyPr wrap="square" lIns="0" tIns="0" rIns="0" bIns="0" rtlCol="0" anchor="t"/>
          <a:lstStyle/>
          <a:p>
            <a:pPr marL="0" indent="0" algn="l">
              <a:lnSpc>
                <a:spcPct val="112000"/>
              </a:lnSpc>
              <a:spcAft>
                <a:spcPts val="200"/>
              </a:spcAft>
              <a:buNone/>
            </a:pPr>
            <a:r>
              <a:rPr lang="en-US" sz="850" kern="0" spc="60" dirty="0">
                <a:solidFill>
                  <a:srgbClr val="202031"/>
                </a:solidFill>
                <a:latin typeface="Manrope SemiBold" pitchFamily="34" charset="0"/>
                <a:ea typeface="Manrope SemiBold" pitchFamily="34" charset="-122"/>
                <a:cs typeface="Manrope SemiBold" pitchFamily="34" charset="-120"/>
              </a:rPr>
              <a:t>4</a:t>
            </a:r>
            <a:r>
              <a:rPr lang="en-US" sz="850" kern="0" spc="60" dirty="0">
                <a:solidFill>
                  <a:srgbClr val="202031"/>
                </a:solidFill>
                <a:latin typeface="Raleway SemiBold" pitchFamily="34" charset="0"/>
                <a:ea typeface="Raleway SemiBold" pitchFamily="34" charset="-122"/>
                <a:cs typeface="Raleway SemiBold" pitchFamily="34" charset="-120"/>
              </a:rPr>
              <a:t>. RESPONSABILIDAD</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Las siguientes aclaraciones legales no excluyen nuestras condiciones de garantía, que permanecen válidas conforme a los términos definidos en el apartado </a:t>
            </a:r>
            <a:r>
              <a:rPr lang="en-US" sz="830" dirty="0">
                <a:solidFill>
                  <a:srgbClr val="5C5C6E"/>
                </a:solidFill>
                <a:latin typeface="Manrope" pitchFamily="34" charset="0"/>
                <a:ea typeface="Manrope" pitchFamily="34" charset="-122"/>
                <a:cs typeface="Manrope" pitchFamily="34" charset="-120"/>
              </a:rPr>
              <a:t>4</a:t>
            </a:r>
            <a:r>
              <a:rPr lang="en-US" sz="830" dirty="0">
                <a:solidFill>
                  <a:srgbClr val="5C5C6E"/>
                </a:solidFill>
                <a:latin typeface="Raleway" pitchFamily="34" charset="0"/>
                <a:ea typeface="Raleway" pitchFamily="34" charset="-122"/>
                <a:cs typeface="Raleway" pitchFamily="34" charset="-120"/>
              </a:rPr>
              <a:t>:</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4.1</a:t>
            </a:r>
            <a:r>
              <a:rPr lang="en-US" sz="830" dirty="0">
                <a:solidFill>
                  <a:srgbClr val="5C5C6E"/>
                </a:solidFill>
                <a:latin typeface="Raleway" pitchFamily="34" charset="0"/>
                <a:ea typeface="Raleway" pitchFamily="34" charset="-122"/>
                <a:cs typeface="Raleway" pitchFamily="34" charset="-120"/>
              </a:rPr>
              <a:t> Tessera Human Capital se compromete a prestar un servicio de calidad y garantiza, como mínimo, la devolución de las cantidades abonadas en aquellos casos en los que hubiera advertido al cliente de un incumplimiento grave y directo de sus obligaciones.</a:t>
            </a:r>
            <a:endParaRPr lang="en-US" sz="830" dirty="0"/>
          </a:p>
          <a:p>
            <a:pPr marL="0" indent="0" algn="l">
              <a:lnSpc>
                <a:spcPct val="112000"/>
              </a:lnSpc>
              <a:spcAft>
                <a:spcPts val="350"/>
              </a:spcAft>
              <a:buNone/>
            </a:pPr>
            <a:r>
              <a:rPr lang="en-US" sz="830" dirty="0">
                <a:solidFill>
                  <a:srgbClr val="5C5C6E"/>
                </a:solidFill>
                <a:latin typeface="Manrope" pitchFamily="34" charset="0"/>
                <a:ea typeface="Manrope" pitchFamily="34" charset="-122"/>
                <a:cs typeface="Manrope" pitchFamily="34" charset="-120"/>
              </a:rPr>
              <a:t>4.2</a:t>
            </a:r>
            <a:r>
              <a:rPr lang="en-US" sz="830" dirty="0">
                <a:solidFill>
                  <a:srgbClr val="5C5C6E"/>
                </a:solidFill>
                <a:latin typeface="Raleway" pitchFamily="34" charset="0"/>
                <a:ea typeface="Raleway" pitchFamily="34" charset="-122"/>
                <a:cs typeface="Raleway" pitchFamily="34" charset="-120"/>
              </a:rPr>
              <a:t> Sin perjuicio de lo anterior, salvo en caso de dolo, Tessera Human Capital no asume responsabilidad alguna, ni tampoco su personal, por cualquier negligencia o incapacidad, mala conducta o práctica inadecuada o cualquier otra reclamación atribuida a los candidatos presentados por Tessera Human Capital.</a:t>
            </a:r>
            <a:endParaRPr lang="en-US" sz="830" dirty="0"/>
          </a:p>
          <a:p>
            <a:pPr marL="0" indent="0" algn="l">
              <a:lnSpc>
                <a:spcPct val="112000"/>
              </a:lnSpc>
              <a:spcBef>
                <a:spcPts val="700"/>
              </a:spcBef>
              <a:spcAft>
                <a:spcPts val="200"/>
              </a:spcAft>
              <a:buNone/>
            </a:pPr>
            <a:r>
              <a:rPr lang="en-US" sz="850" kern="0" spc="60" dirty="0">
                <a:solidFill>
                  <a:srgbClr val="202031"/>
                </a:solidFill>
                <a:latin typeface="Manrope SemiBold" pitchFamily="34" charset="0"/>
                <a:ea typeface="Manrope SemiBold" pitchFamily="34" charset="-122"/>
                <a:cs typeface="Manrope SemiBold" pitchFamily="34" charset="-120"/>
              </a:rPr>
              <a:t>5</a:t>
            </a:r>
            <a:r>
              <a:rPr lang="en-US" sz="850" kern="0" spc="60" dirty="0">
                <a:solidFill>
                  <a:srgbClr val="202031"/>
                </a:solidFill>
                <a:latin typeface="Raleway SemiBold" pitchFamily="34" charset="0"/>
                <a:ea typeface="Raleway SemiBold" pitchFamily="34" charset="-122"/>
                <a:cs typeface="Raleway SemiBold" pitchFamily="34" charset="-120"/>
              </a:rPr>
              <a:t>. PROTECCIÓN DE DATOS</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Ambas partes reconocen que cumplen con la normativa de protección de datos personales y han sido informadas de las finalidades del tratamiento de los datos personales facilitados en esta oferta comercial, basadas en el interés legítimo de ambas partes, por medios electrónicos, para sus propios servicios y los desarrollados por sus grupos empresariales, así como de cómo ejercer sus derechos y demás obligaciones derivadas de la normativa de protección de datos. Cualquier cuestión relativa al tratamiento de datos podrá dirigirse a Tessera Human Capital.</a:t>
            </a:r>
            <a:endParaRPr lang="en-US" sz="830" dirty="0"/>
          </a:p>
        </p:txBody>
      </p:sp>
      <p:sp>
        <p:nvSpPr>
          <p:cNvPr id="8" name="Text 5"/>
          <p:cNvSpPr txBox="1"/>
          <p:nvPr/>
        </p:nvSpPr>
        <p:spPr>
          <a:xfrm>
            <a:off x="4353458" y="1737360"/>
            <a:ext cx="3484778" cy="4526280"/>
          </a:xfrm>
          <a:prstGeom prst="rect">
            <a:avLst/>
          </a:prstGeom>
          <a:noFill/>
          <a:ln/>
        </p:spPr>
        <p:txBody>
          <a:bodyPr wrap="square" lIns="0" tIns="0" rIns="0" bIns="0" rtlCol="0" anchor="t"/>
          <a:lstStyle/>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La cesión de los CV se realiza exclusivamente en el marco de la selección contratada y, en consecuencia, una vez finalizada, el cliente se compromete a devolverlos o destruirlos, comprometiéndose asimismo a la confidencialidad de los datos personales facilitados, a su no utilización fuera de la relación contractual entre ambas empresas y al cumplimiento de las obligaciones derivadas del RGPD, siendo el único responsable de cualquier incumplimiento de dicha normativa.</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Tessera Human Capital, por su parte, garantiza que cuenta con el consentimiento de los candidatos para la cesión de sus datos a sus clientes durante los procesos de selección de personal.</a:t>
            </a:r>
            <a:endParaRPr lang="en-US" sz="830" dirty="0"/>
          </a:p>
          <a:p>
            <a:pPr marL="0" indent="0" algn="l">
              <a:lnSpc>
                <a:spcPct val="112000"/>
              </a:lnSpc>
              <a:spcBef>
                <a:spcPts val="700"/>
              </a:spcBef>
              <a:spcAft>
                <a:spcPts val="200"/>
              </a:spcAft>
              <a:buNone/>
            </a:pPr>
            <a:r>
              <a:rPr lang="en-US" sz="850" kern="0" spc="60" dirty="0">
                <a:solidFill>
                  <a:srgbClr val="202031"/>
                </a:solidFill>
                <a:latin typeface="Manrope SemiBold" pitchFamily="34" charset="0"/>
                <a:ea typeface="Manrope SemiBold" pitchFamily="34" charset="-122"/>
                <a:cs typeface="Manrope SemiBold" pitchFamily="34" charset="-120"/>
              </a:rPr>
              <a:t>6</a:t>
            </a:r>
            <a:r>
              <a:rPr lang="en-US" sz="850" kern="0" spc="60" dirty="0">
                <a:solidFill>
                  <a:srgbClr val="202031"/>
                </a:solidFill>
                <a:latin typeface="Raleway SemiBold" pitchFamily="34" charset="0"/>
                <a:ea typeface="Raleway SemiBold" pitchFamily="34" charset="-122"/>
                <a:cs typeface="Raleway SemiBold" pitchFamily="34" charset="-120"/>
              </a:rPr>
              <a:t>. HONORARIOS Y FORMA DE PAGO (MODALIDAD PARTNER)</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Los honorarios ascienden al </a:t>
            </a:r>
            <a:r>
              <a:rPr lang="en-US" sz="830" dirty="0">
                <a:solidFill>
                  <a:srgbClr val="5C5C6E"/>
                </a:solidFill>
                <a:latin typeface="Manrope" pitchFamily="2" charset="0"/>
                <a:ea typeface="Raleway" pitchFamily="34" charset="-122"/>
                <a:cs typeface="Raleway" pitchFamily="34" charset="-120"/>
              </a:rPr>
              <a:t>12</a:t>
            </a:r>
            <a:r>
              <a:rPr lang="en-US" sz="830" dirty="0">
                <a:solidFill>
                  <a:srgbClr val="5C5C6E"/>
                </a:solidFill>
                <a:latin typeface="Raleway" pitchFamily="34" charset="0"/>
                <a:ea typeface="Raleway" pitchFamily="34" charset="-122"/>
                <a:cs typeface="Raleway" pitchFamily="34" charset="-120"/>
              </a:rPr>
              <a:t>% del salario bruto anual (SBA). Se toma como referencia un SBA medio de </a:t>
            </a:r>
            <a:r>
              <a:rPr lang="en-US" sz="830" dirty="0">
                <a:solidFill>
                  <a:srgbClr val="5C5C6E"/>
                </a:solidFill>
                <a:latin typeface="Manrope" pitchFamily="2" charset="0"/>
                <a:ea typeface="Raleway" pitchFamily="34" charset="-122"/>
                <a:cs typeface="Raleway" pitchFamily="34" charset="-120"/>
              </a:rPr>
              <a:t>36.000</a:t>
            </a:r>
            <a:r>
              <a:rPr lang="en-US" sz="830" dirty="0">
                <a:solidFill>
                  <a:srgbClr val="5C5C6E"/>
                </a:solidFill>
                <a:latin typeface="Raleway" pitchFamily="34" charset="0"/>
                <a:ea typeface="Raleway" pitchFamily="34" charset="-122"/>
                <a:cs typeface="Raleway" pitchFamily="34" charset="-120"/>
              </a:rPr>
              <a:t> €, lo que supone </a:t>
            </a:r>
            <a:r>
              <a:rPr lang="en-US" sz="830" dirty="0">
                <a:solidFill>
                  <a:srgbClr val="5C5C6E"/>
                </a:solidFill>
                <a:latin typeface="Manrope" pitchFamily="34" charset="0"/>
                <a:ea typeface="Manrope" pitchFamily="34" charset="-122"/>
                <a:cs typeface="Manrope" pitchFamily="34" charset="-120"/>
              </a:rPr>
              <a:t>4.320</a:t>
            </a:r>
            <a:r>
              <a:rPr lang="en-US" sz="830" dirty="0">
                <a:solidFill>
                  <a:srgbClr val="5C5C6E"/>
                </a:solidFill>
                <a:latin typeface="Raleway" pitchFamily="34" charset="0"/>
                <a:ea typeface="Raleway" pitchFamily="34" charset="-122"/>
                <a:cs typeface="Raleway" pitchFamily="34" charset="-120"/>
              </a:rPr>
              <a:t> €. Se facturan en dos pagos: un tercio (</a:t>
            </a:r>
            <a:r>
              <a:rPr lang="en-US" sz="830" dirty="0">
                <a:solidFill>
                  <a:srgbClr val="5C5C6E"/>
                </a:solidFill>
                <a:latin typeface="Manrope" pitchFamily="2" charset="0"/>
                <a:ea typeface="Raleway" pitchFamily="34" charset="-122"/>
                <a:cs typeface="Raleway" pitchFamily="34" charset="-120"/>
              </a:rPr>
              <a:t>1.440</a:t>
            </a:r>
            <a:r>
              <a:rPr lang="en-US" sz="830" dirty="0">
                <a:solidFill>
                  <a:srgbClr val="5C5C6E"/>
                </a:solidFill>
                <a:latin typeface="Raleway" pitchFamily="34" charset="0"/>
                <a:ea typeface="Raleway" pitchFamily="34" charset="-122"/>
                <a:cs typeface="Raleway" pitchFamily="34" charset="-120"/>
              </a:rPr>
              <a:t> €) a la firma, como anticipo no reembolsable que activa la búsqueda, y los dos tercios restantes (</a:t>
            </a:r>
            <a:r>
              <a:rPr lang="en-US" sz="830" dirty="0">
                <a:solidFill>
                  <a:srgbClr val="5C5C6E"/>
                </a:solidFill>
                <a:latin typeface="Manrope" pitchFamily="2" charset="0"/>
                <a:ea typeface="Raleway" pitchFamily="34" charset="-122"/>
                <a:cs typeface="Raleway" pitchFamily="34" charset="-120"/>
              </a:rPr>
              <a:t>2.880</a:t>
            </a:r>
            <a:r>
              <a:rPr lang="en-US" sz="830" dirty="0">
                <a:solidFill>
                  <a:srgbClr val="5C5C6E"/>
                </a:solidFill>
                <a:latin typeface="Raleway" pitchFamily="34" charset="0"/>
                <a:ea typeface="Raleway" pitchFamily="34" charset="-122"/>
                <a:cs typeface="Raleway" pitchFamily="34" charset="-120"/>
              </a:rPr>
              <a:t> €) a la incorporación del candidato. Si el SBA real de la persona contratada es superior o inferior a </a:t>
            </a:r>
            <a:r>
              <a:rPr lang="en-US" sz="830" dirty="0">
                <a:solidFill>
                  <a:srgbClr val="5C5C6E"/>
                </a:solidFill>
                <a:latin typeface="Manrope" pitchFamily="2" charset="0"/>
                <a:ea typeface="Raleway" pitchFamily="34" charset="-122"/>
                <a:cs typeface="Raleway" pitchFamily="34" charset="-120"/>
              </a:rPr>
              <a:t>36.000</a:t>
            </a:r>
            <a:r>
              <a:rPr lang="en-US" sz="830" dirty="0">
                <a:solidFill>
                  <a:srgbClr val="5C5C6E"/>
                </a:solidFill>
                <a:latin typeface="Raleway" pitchFamily="34" charset="0"/>
                <a:ea typeface="Raleway" pitchFamily="34" charset="-122"/>
                <a:cs typeface="Raleway" pitchFamily="34" charset="-120"/>
              </a:rPr>
              <a:t> €, la diferencia se regulariza en este segundo pago, que será el </a:t>
            </a:r>
            <a:r>
              <a:rPr lang="en-US" sz="830" dirty="0">
                <a:solidFill>
                  <a:srgbClr val="5C5C6E"/>
                </a:solidFill>
                <a:latin typeface="Manrope" pitchFamily="2" charset="0"/>
                <a:ea typeface="Raleway" pitchFamily="34" charset="-122"/>
                <a:cs typeface="Raleway" pitchFamily="34" charset="-120"/>
              </a:rPr>
              <a:t>12</a:t>
            </a:r>
            <a:r>
              <a:rPr lang="en-US" sz="830" dirty="0">
                <a:solidFill>
                  <a:srgbClr val="5C5C6E"/>
                </a:solidFill>
                <a:latin typeface="Raleway" pitchFamily="34" charset="0"/>
                <a:ea typeface="Raleway" pitchFamily="34" charset="-122"/>
                <a:cs typeface="Raleway" pitchFamily="34" charset="-120"/>
              </a:rPr>
              <a:t>% del SBA real menos el anticipo abonado. Facturas pagaderas a </a:t>
            </a:r>
            <a:r>
              <a:rPr lang="en-US" sz="830" dirty="0">
                <a:solidFill>
                  <a:srgbClr val="5C5C6E"/>
                </a:solidFill>
                <a:latin typeface="Manrope" pitchFamily="2" charset="0"/>
                <a:ea typeface="Raleway" pitchFamily="34" charset="-122"/>
                <a:cs typeface="Raleway" pitchFamily="34" charset="-120"/>
              </a:rPr>
              <a:t>30</a:t>
            </a:r>
            <a:r>
              <a:rPr lang="en-US" sz="830" dirty="0">
                <a:solidFill>
                  <a:srgbClr val="5C5C6E"/>
                </a:solidFill>
                <a:latin typeface="Raleway" pitchFamily="34" charset="0"/>
                <a:ea typeface="Raleway" pitchFamily="34" charset="-122"/>
                <a:cs typeface="Raleway" pitchFamily="34" charset="-120"/>
              </a:rPr>
              <a:t> días. IVA no incluido.</a:t>
            </a:r>
            <a:endParaRPr lang="en-US" sz="830" dirty="0"/>
          </a:p>
        </p:txBody>
      </p:sp>
      <p:sp>
        <p:nvSpPr>
          <p:cNvPr id="9" name="Text 6"/>
          <p:cNvSpPr txBox="1"/>
          <p:nvPr/>
        </p:nvSpPr>
        <p:spPr>
          <a:xfrm>
            <a:off x="8158277" y="1737360"/>
            <a:ext cx="3484778" cy="4526280"/>
          </a:xfrm>
          <a:prstGeom prst="rect">
            <a:avLst/>
          </a:prstGeom>
          <a:noFill/>
          <a:ln/>
        </p:spPr>
        <p:txBody>
          <a:bodyPr wrap="square" lIns="0" tIns="0" rIns="0" bIns="0" rtlCol="0" anchor="t"/>
          <a:lstStyle/>
          <a:p>
            <a:pPr marL="0" indent="0" algn="l">
              <a:lnSpc>
                <a:spcPct val="112000"/>
              </a:lnSpc>
              <a:spcAft>
                <a:spcPts val="200"/>
              </a:spcAft>
              <a:buNone/>
            </a:pPr>
            <a:r>
              <a:rPr lang="en-US" sz="850" kern="0" spc="60" dirty="0">
                <a:solidFill>
                  <a:srgbClr val="202031"/>
                </a:solidFill>
                <a:latin typeface="Manrope" pitchFamily="2" charset="0"/>
                <a:ea typeface="Raleway SemiBold" pitchFamily="34" charset="-122"/>
                <a:cs typeface="Raleway SemiBold" pitchFamily="34" charset="-120"/>
              </a:rPr>
              <a:t>7</a:t>
            </a:r>
            <a:r>
              <a:rPr lang="en-US" sz="850" kern="0" spc="60" dirty="0">
                <a:solidFill>
                  <a:srgbClr val="202031"/>
                </a:solidFill>
                <a:latin typeface="Raleway SemiBold" pitchFamily="34" charset="0"/>
                <a:ea typeface="Raleway SemiBold" pitchFamily="34" charset="-122"/>
                <a:cs typeface="Raleway SemiBold" pitchFamily="34" charset="-120"/>
              </a:rPr>
              <a:t>. LEY APLICABLE Y JURISDICCIÓN</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Este acuerdo se regirá e interpretará de conformidad con la legislación española. Para la resolución de cualquier controversia derivada de la interpretación o ejecución de este acuerdo o relacionada con el mismo, las partes acuerdan someterse a la jurisdicción de los Juzgados y Tribunales de Madrid, renunciando expresamente a cualquier otro fuero que pudiera corresponderles.</a:t>
            </a:r>
            <a:endParaRPr lang="en-US" sz="830" dirty="0"/>
          </a:p>
          <a:p>
            <a:pPr marL="0" indent="0" algn="l">
              <a:lnSpc>
                <a:spcPct val="112000"/>
              </a:lnSpc>
              <a:spcBef>
                <a:spcPts val="700"/>
              </a:spcBef>
              <a:spcAft>
                <a:spcPts val="200"/>
              </a:spcAft>
              <a:buNone/>
            </a:pPr>
            <a:r>
              <a:rPr lang="en-US" sz="850" kern="0" spc="60" dirty="0">
                <a:solidFill>
                  <a:srgbClr val="202031"/>
                </a:solidFill>
                <a:latin typeface="Manrope SemiBold" pitchFamily="34" charset="0"/>
                <a:ea typeface="Manrope SemiBold" pitchFamily="34" charset="-122"/>
                <a:cs typeface="Manrope SemiBold" pitchFamily="34" charset="-120"/>
              </a:rPr>
              <a:t>8</a:t>
            </a:r>
            <a:r>
              <a:rPr lang="en-US" sz="850" kern="0" spc="60" dirty="0">
                <a:solidFill>
                  <a:srgbClr val="202031"/>
                </a:solidFill>
                <a:latin typeface="Raleway SemiBold" pitchFamily="34" charset="0"/>
                <a:ea typeface="Raleway SemiBold" pitchFamily="34" charset="-122"/>
                <a:cs typeface="Raleway SemiBold" pitchFamily="34" charset="-120"/>
              </a:rPr>
              <a:t>. VIGENCIA DE ESTE ACUERDO</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Este acuerdo entrará en vigor desde la fecha de su firma, y tendrá una vigencia de un año, hasta el </a:t>
            </a:r>
            <a:r>
              <a:rPr lang="en-US" sz="830" dirty="0">
                <a:solidFill>
                  <a:srgbClr val="5C5C6E"/>
                </a:solidFill>
                <a:latin typeface="Manrope" pitchFamily="34" charset="0"/>
                <a:ea typeface="Manrope" pitchFamily="34" charset="-122"/>
                <a:cs typeface="Manrope" pitchFamily="34" charset="-120"/>
              </a:rPr>
              <a:t>8</a:t>
            </a:r>
            <a:r>
              <a:rPr lang="en-US" sz="830" dirty="0">
                <a:solidFill>
                  <a:srgbClr val="5C5C6E"/>
                </a:solidFill>
                <a:latin typeface="Raleway" pitchFamily="34" charset="0"/>
                <a:ea typeface="Raleway" pitchFamily="34" charset="-122"/>
                <a:cs typeface="Raleway" pitchFamily="34" charset="-120"/>
              </a:rPr>
              <a:t> de octubre de </a:t>
            </a:r>
            <a:r>
              <a:rPr lang="en-US" sz="830" dirty="0">
                <a:solidFill>
                  <a:srgbClr val="5C5C6E"/>
                </a:solidFill>
                <a:latin typeface="Manrope" pitchFamily="2" charset="0"/>
                <a:ea typeface="Raleway" pitchFamily="34" charset="-122"/>
                <a:cs typeface="Raleway" pitchFamily="34" charset="-120"/>
              </a:rPr>
              <a:t>2027</a:t>
            </a:r>
            <a:r>
              <a:rPr lang="en-US" sz="830" dirty="0">
                <a:solidFill>
                  <a:srgbClr val="5C5C6E"/>
                </a:solidFill>
                <a:latin typeface="Raleway" pitchFamily="34" charset="0"/>
                <a:ea typeface="Raleway" pitchFamily="34" charset="-122"/>
                <a:cs typeface="Raleway" pitchFamily="34" charset="-120"/>
              </a:rPr>
              <a:t>.</a:t>
            </a:r>
            <a:endParaRPr lang="en-US" sz="830" dirty="0"/>
          </a:p>
          <a:p>
            <a:pPr marL="0" indent="0" algn="l">
              <a:lnSpc>
                <a:spcPct val="112000"/>
              </a:lnSpc>
              <a:spcBef>
                <a:spcPts val="700"/>
              </a:spcBef>
              <a:spcAft>
                <a:spcPts val="200"/>
              </a:spcAft>
              <a:buNone/>
            </a:pPr>
            <a:r>
              <a:rPr lang="en-US" sz="850" kern="0" spc="60" dirty="0">
                <a:solidFill>
                  <a:srgbClr val="202031"/>
                </a:solidFill>
                <a:latin typeface="Manrope" pitchFamily="2" charset="0"/>
                <a:ea typeface="Raleway SemiBold" pitchFamily="34" charset="-122"/>
                <a:cs typeface="Raleway SemiBold" pitchFamily="34" charset="-120"/>
              </a:rPr>
              <a:t>9</a:t>
            </a:r>
            <a:r>
              <a:rPr lang="en-US" sz="850" kern="0" spc="60" dirty="0">
                <a:solidFill>
                  <a:srgbClr val="202031"/>
                </a:solidFill>
                <a:latin typeface="Raleway SemiBold" pitchFamily="34" charset="0"/>
                <a:ea typeface="Raleway SemiBold" pitchFamily="34" charset="-122"/>
                <a:cs typeface="Raleway SemiBold" pitchFamily="34" charset="-120"/>
              </a:rPr>
              <a:t>. FIRMA DEL ACUERDO DE COLABORACIÓN</a:t>
            </a:r>
            <a:endParaRPr lang="en-US" sz="830" dirty="0"/>
          </a:p>
          <a:p>
            <a:pPr marL="0" indent="0" algn="l">
              <a:lnSpc>
                <a:spcPct val="112000"/>
              </a:lnSpc>
              <a:spcAft>
                <a:spcPts val="350"/>
              </a:spcAft>
              <a:buNone/>
            </a:pPr>
            <a:r>
              <a:rPr lang="en-US" sz="830" dirty="0">
                <a:solidFill>
                  <a:srgbClr val="5C5C6E"/>
                </a:solidFill>
                <a:latin typeface="Raleway" pitchFamily="34" charset="0"/>
                <a:ea typeface="Raleway" pitchFamily="34" charset="-122"/>
                <a:cs typeface="Raleway" pitchFamily="34" charset="-120"/>
              </a:rPr>
              <a:t>En Madrid, a </a:t>
            </a:r>
            <a:r>
              <a:rPr lang="en-US" sz="830" dirty="0">
                <a:solidFill>
                  <a:srgbClr val="5C5C6E"/>
                </a:solidFill>
                <a:latin typeface="Manrope" pitchFamily="2" charset="0"/>
                <a:ea typeface="Raleway" pitchFamily="34" charset="-122"/>
                <a:cs typeface="Raleway" pitchFamily="34" charset="-120"/>
              </a:rPr>
              <a:t>08/10/2026</a:t>
            </a:r>
            <a:endParaRPr lang="en-US" sz="830" dirty="0">
              <a:latin typeface="Manrope" pitchFamily="2" charset="0"/>
            </a:endParaRPr>
          </a:p>
        </p:txBody>
      </p:sp>
      <p:sp>
        <p:nvSpPr>
          <p:cNvPr id="10" name="Shape 7"/>
          <p:cNvSpPr/>
          <p:nvPr/>
        </p:nvSpPr>
        <p:spPr>
          <a:xfrm>
            <a:off x="8158277" y="4572000"/>
            <a:ext cx="1650949" cy="1600200"/>
          </a:xfrm>
          <a:prstGeom prst="rect">
            <a:avLst/>
          </a:prstGeom>
          <a:solidFill>
            <a:srgbClr val="FFFFFF"/>
          </a:solidFill>
          <a:ln w="9525">
            <a:solidFill>
              <a:srgbClr val="C9D2D3"/>
            </a:solidFill>
            <a:prstDash val="solid"/>
          </a:ln>
        </p:spPr>
        <p:txBody>
          <a:bodyPr/>
          <a:lstStyle/>
          <a:p>
            <a:endParaRPr lang="es-ES"/>
          </a:p>
        </p:txBody>
      </p:sp>
      <p:sp>
        <p:nvSpPr>
          <p:cNvPr id="11" name="Text 8"/>
          <p:cNvSpPr txBox="1"/>
          <p:nvPr/>
        </p:nvSpPr>
        <p:spPr>
          <a:xfrm>
            <a:off x="8295437" y="4709160"/>
            <a:ext cx="1376629" cy="228600"/>
          </a:xfrm>
          <a:prstGeom prst="rect">
            <a:avLst/>
          </a:prstGeom>
          <a:noFill/>
          <a:ln/>
        </p:spPr>
        <p:txBody>
          <a:bodyPr wrap="square" lIns="0" tIns="0" rIns="0" bIns="0" rtlCol="0" anchor="t"/>
          <a:lstStyle/>
          <a:p>
            <a:pPr marL="0" indent="0">
              <a:buNone/>
            </a:pPr>
            <a:r>
              <a:rPr lang="en-US" sz="750" kern="0" spc="100" dirty="0">
                <a:solidFill>
                  <a:srgbClr val="587579"/>
                </a:solidFill>
                <a:latin typeface="Raleway SemiBold" pitchFamily="34" charset="0"/>
                <a:ea typeface="Raleway SemiBold" pitchFamily="34" charset="-122"/>
                <a:cs typeface="Raleway SemiBold" pitchFamily="34" charset="-120"/>
              </a:rPr>
              <a:t>FIRMA DE TESSERA</a:t>
            </a:r>
            <a:endParaRPr lang="en-US" sz="750" dirty="0"/>
          </a:p>
        </p:txBody>
      </p:sp>
      <p:sp>
        <p:nvSpPr>
          <p:cNvPr id="12" name="Text 9"/>
          <p:cNvSpPr txBox="1"/>
          <p:nvPr/>
        </p:nvSpPr>
        <p:spPr>
          <a:xfrm>
            <a:off x="8295437" y="4983480"/>
            <a:ext cx="1376629" cy="548640"/>
          </a:xfrm>
          <a:prstGeom prst="rect">
            <a:avLst/>
          </a:prstGeom>
          <a:noFill/>
          <a:ln/>
        </p:spPr>
        <p:txBody>
          <a:bodyPr wrap="square" lIns="0" tIns="0" rIns="0" bIns="0" rtlCol="0" anchor="t"/>
          <a:lstStyle/>
          <a:p>
            <a:pPr marL="0" indent="0">
              <a:lnSpc>
                <a:spcPct val="120000"/>
              </a:lnSpc>
              <a:buNone/>
            </a:pPr>
            <a:r>
              <a:rPr lang="en-US" sz="750" dirty="0">
                <a:solidFill>
                  <a:srgbClr val="5C5C6E"/>
                </a:solidFill>
                <a:latin typeface="Raleway" pitchFamily="34" charset="0"/>
                <a:ea typeface="Raleway" pitchFamily="34" charset="-122"/>
                <a:cs typeface="Raleway" pitchFamily="34" charset="-120"/>
              </a:rPr>
              <a:t>Nombre: Manuel García Pina</a:t>
            </a:r>
            <a:endParaRPr lang="en-US" sz="750" dirty="0"/>
          </a:p>
          <a:p>
            <a:pPr marL="0" indent="0">
              <a:lnSpc>
                <a:spcPct val="120000"/>
              </a:lnSpc>
              <a:buNone/>
            </a:pPr>
            <a:r>
              <a:rPr lang="en-US" sz="750" dirty="0">
                <a:solidFill>
                  <a:srgbClr val="5C5C6E"/>
                </a:solidFill>
                <a:latin typeface="Raleway" pitchFamily="34" charset="0"/>
                <a:ea typeface="Raleway" pitchFamily="34" charset="-122"/>
                <a:cs typeface="Raleway" pitchFamily="34" charset="-120"/>
              </a:rPr>
              <a:t>Fecha: </a:t>
            </a:r>
            <a:r>
              <a:rPr lang="en-US" sz="750" dirty="0">
                <a:solidFill>
                  <a:srgbClr val="5C5C6E"/>
                </a:solidFill>
                <a:latin typeface="Manrope" pitchFamily="2" charset="0"/>
                <a:ea typeface="Raleway" pitchFamily="34" charset="-122"/>
                <a:cs typeface="Raleway" pitchFamily="34" charset="-120"/>
              </a:rPr>
              <a:t>08/10/2026</a:t>
            </a:r>
            <a:endParaRPr lang="en-US" sz="750" dirty="0">
              <a:latin typeface="Manrope" pitchFamily="2" charset="0"/>
            </a:endParaRPr>
          </a:p>
          <a:p>
            <a:pPr marL="0" indent="0">
              <a:lnSpc>
                <a:spcPct val="120000"/>
              </a:lnSpc>
              <a:buNone/>
            </a:pPr>
            <a:r>
              <a:rPr lang="en-US" sz="750" dirty="0">
                <a:solidFill>
                  <a:srgbClr val="5C5C6E"/>
                </a:solidFill>
                <a:latin typeface="Raleway" pitchFamily="34" charset="0"/>
                <a:ea typeface="Raleway" pitchFamily="34" charset="-122"/>
                <a:cs typeface="Raleway" pitchFamily="34" charset="-120"/>
              </a:rPr>
              <a:t>Firma:</a:t>
            </a:r>
            <a:endParaRPr lang="en-US" sz="750" dirty="0"/>
          </a:p>
        </p:txBody>
      </p:sp>
      <p:pic>
        <p:nvPicPr>
          <p:cNvPr id="13" name="Image 1" descr="/tmp/claude-0/-home-claude/6ecba087-9563-50f1-9ffc-6a20c07eac08/scratchpad/decks/kit/firma.png"/>
          <p:cNvPicPr>
            <a:picLocks noChangeAspect="1"/>
          </p:cNvPicPr>
          <p:nvPr/>
        </p:nvPicPr>
        <p:blipFill>
          <a:blip r:embed="rId4"/>
          <a:stretch>
            <a:fillRect/>
          </a:stretch>
        </p:blipFill>
        <p:spPr>
          <a:xfrm>
            <a:off x="8295437" y="5559552"/>
            <a:ext cx="1188720" cy="362698"/>
          </a:xfrm>
          <a:prstGeom prst="rect">
            <a:avLst/>
          </a:prstGeom>
        </p:spPr>
      </p:pic>
      <p:sp>
        <p:nvSpPr>
          <p:cNvPr id="14" name="Shape 10"/>
          <p:cNvSpPr/>
          <p:nvPr/>
        </p:nvSpPr>
        <p:spPr>
          <a:xfrm>
            <a:off x="9992106" y="4572000"/>
            <a:ext cx="1650949" cy="1600200"/>
          </a:xfrm>
          <a:prstGeom prst="rect">
            <a:avLst/>
          </a:prstGeom>
          <a:solidFill>
            <a:srgbClr val="FFFFFF"/>
          </a:solidFill>
          <a:ln w="9525">
            <a:solidFill>
              <a:srgbClr val="C9D2D3"/>
            </a:solidFill>
            <a:prstDash val="solid"/>
          </a:ln>
        </p:spPr>
        <p:txBody>
          <a:bodyPr/>
          <a:lstStyle/>
          <a:p>
            <a:endParaRPr lang="es-ES"/>
          </a:p>
        </p:txBody>
      </p:sp>
      <p:sp>
        <p:nvSpPr>
          <p:cNvPr id="15" name="Text 11"/>
          <p:cNvSpPr txBox="1"/>
          <p:nvPr/>
        </p:nvSpPr>
        <p:spPr>
          <a:xfrm>
            <a:off x="10129266" y="4709160"/>
            <a:ext cx="1376629" cy="228600"/>
          </a:xfrm>
          <a:prstGeom prst="rect">
            <a:avLst/>
          </a:prstGeom>
          <a:noFill/>
          <a:ln/>
        </p:spPr>
        <p:txBody>
          <a:bodyPr wrap="square" lIns="0" tIns="0" rIns="0" bIns="0" rtlCol="0" anchor="t"/>
          <a:lstStyle/>
          <a:p>
            <a:pPr marL="0" indent="0">
              <a:buNone/>
            </a:pPr>
            <a:r>
              <a:rPr lang="en-US" sz="750" kern="0" spc="100" dirty="0">
                <a:solidFill>
                  <a:srgbClr val="587579"/>
                </a:solidFill>
                <a:latin typeface="Raleway SemiBold" pitchFamily="34" charset="0"/>
                <a:ea typeface="Raleway SemiBold" pitchFamily="34" charset="-122"/>
                <a:cs typeface="Raleway SemiBold" pitchFamily="34" charset="-120"/>
              </a:rPr>
              <a:t>FIRMA DEL CLIENTE</a:t>
            </a:r>
            <a:endParaRPr lang="en-US" sz="750" dirty="0"/>
          </a:p>
        </p:txBody>
      </p:sp>
      <p:sp>
        <p:nvSpPr>
          <p:cNvPr id="16" name="Text 12"/>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12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CEC"/>
        </a:solidFill>
        <a:effectLst/>
      </p:bgPr>
    </p:bg>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HONORARIOS</a:t>
            </a:r>
            <a:endParaRPr lang="en-US" sz="750" dirty="0"/>
          </a:p>
        </p:txBody>
      </p:sp>
      <p:sp>
        <p:nvSpPr>
          <p:cNvPr id="4" name="Text 1"/>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pitchFamily="2" charset="0"/>
                <a:ea typeface="Raleway Medium" pitchFamily="34" charset="-122"/>
                <a:cs typeface="Raleway Medium" pitchFamily="34" charset="-120"/>
              </a:rPr>
              <a:t>2026</a:t>
            </a:r>
            <a:endParaRPr lang="en-US" sz="750" dirty="0">
              <a:latin typeface="Manrope" pitchFamily="2" charset="0"/>
            </a:endParaRPr>
          </a:p>
        </p:txBody>
      </p:sp>
      <p:sp>
        <p:nvSpPr>
          <p:cNvPr id="5" name="Text 2"/>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Honorarios</a:t>
            </a:r>
            <a:endParaRPr lang="en-US" sz="3400" dirty="0"/>
          </a:p>
        </p:txBody>
      </p:sp>
      <p:sp>
        <p:nvSpPr>
          <p:cNvPr id="6" name="Text 3"/>
          <p:cNvSpPr txBox="1"/>
          <p:nvPr/>
        </p:nvSpPr>
        <p:spPr>
          <a:xfrm>
            <a:off x="548640" y="1645920"/>
            <a:ext cx="5486400" cy="228600"/>
          </a:xfrm>
          <a:prstGeom prst="rect">
            <a:avLst/>
          </a:prstGeom>
          <a:noFill/>
          <a:ln/>
        </p:spPr>
        <p:txBody>
          <a:bodyPr wrap="square" lIns="0" tIns="0" rIns="0" bIns="0" rtlCol="0" anchor="t"/>
          <a:lstStyle/>
          <a:p>
            <a:pPr marL="0" indent="0">
              <a:buNone/>
            </a:pPr>
            <a:r>
              <a:rPr lang="en-US" sz="850" kern="0" spc="220" dirty="0">
                <a:solidFill>
                  <a:srgbClr val="587579"/>
                </a:solidFill>
                <a:latin typeface="Raleway SemiBold" pitchFamily="34" charset="0"/>
                <a:ea typeface="Raleway SemiBold" pitchFamily="34" charset="-122"/>
                <a:cs typeface="Raleway SemiBold" pitchFamily="34" charset="-120"/>
              </a:rPr>
              <a:t>LO QUE APORTAMOS COMO PARTNER</a:t>
            </a:r>
            <a:endParaRPr lang="en-US" sz="850" dirty="0"/>
          </a:p>
        </p:txBody>
      </p:sp>
      <p:sp>
        <p:nvSpPr>
          <p:cNvPr id="7" name="Shape 4"/>
          <p:cNvSpPr/>
          <p:nvPr/>
        </p:nvSpPr>
        <p:spPr>
          <a:xfrm>
            <a:off x="548640" y="1920240"/>
            <a:ext cx="3423818" cy="1463040"/>
          </a:xfrm>
          <a:prstGeom prst="rect">
            <a:avLst/>
          </a:prstGeom>
          <a:solidFill>
            <a:srgbClr val="FFFFFF"/>
          </a:solidFill>
          <a:ln w="12700">
            <a:solidFill>
              <a:srgbClr val="FFFFFF"/>
            </a:solidFill>
            <a:prstDash val="solid"/>
          </a:ln>
        </p:spPr>
        <p:txBody>
          <a:bodyPr/>
          <a:lstStyle/>
          <a:p>
            <a:endParaRPr lang="es-ES"/>
          </a:p>
        </p:txBody>
      </p:sp>
      <p:sp>
        <p:nvSpPr>
          <p:cNvPr id="8" name="Shape 5"/>
          <p:cNvSpPr/>
          <p:nvPr/>
        </p:nvSpPr>
        <p:spPr>
          <a:xfrm>
            <a:off x="548640" y="1920240"/>
            <a:ext cx="3423818" cy="54864"/>
          </a:xfrm>
          <a:prstGeom prst="rect">
            <a:avLst/>
          </a:prstGeom>
          <a:solidFill>
            <a:srgbClr val="8AA3A5"/>
          </a:solidFill>
          <a:ln w="12700">
            <a:solidFill>
              <a:srgbClr val="8AA3A5"/>
            </a:solidFill>
            <a:prstDash val="solid"/>
          </a:ln>
        </p:spPr>
        <p:txBody>
          <a:bodyPr/>
          <a:lstStyle/>
          <a:p>
            <a:endParaRPr lang="es-ES"/>
          </a:p>
        </p:txBody>
      </p:sp>
      <p:sp>
        <p:nvSpPr>
          <p:cNvPr id="9" name="Text 6"/>
          <p:cNvSpPr txBox="1"/>
          <p:nvPr/>
        </p:nvSpPr>
        <p:spPr>
          <a:xfrm>
            <a:off x="731520" y="2103120"/>
            <a:ext cx="548640" cy="274320"/>
          </a:xfrm>
          <a:prstGeom prst="rect">
            <a:avLst/>
          </a:prstGeom>
          <a:noFill/>
          <a:ln/>
        </p:spPr>
        <p:txBody>
          <a:bodyPr wrap="square" lIns="0" tIns="0" rIns="0" bIns="0" rtlCol="0" anchor="t"/>
          <a:lstStyle/>
          <a:p>
            <a:pPr marL="0" indent="0">
              <a:buNone/>
            </a:pPr>
            <a:r>
              <a:rPr lang="en-US" sz="1100" dirty="0">
                <a:solidFill>
                  <a:srgbClr val="587579"/>
                </a:solidFill>
                <a:latin typeface="Manrope" pitchFamily="34" charset="0"/>
                <a:ea typeface="Manrope" pitchFamily="34" charset="-122"/>
                <a:cs typeface="Manrope" pitchFamily="34" charset="-120"/>
              </a:rPr>
              <a:t>01</a:t>
            </a:r>
            <a:endParaRPr lang="en-US" sz="1100" dirty="0"/>
          </a:p>
        </p:txBody>
      </p:sp>
      <p:sp>
        <p:nvSpPr>
          <p:cNvPr id="10" name="Text 7"/>
          <p:cNvSpPr txBox="1"/>
          <p:nvPr/>
        </p:nvSpPr>
        <p:spPr>
          <a:xfrm>
            <a:off x="1097280" y="2057400"/>
            <a:ext cx="2875178" cy="365760"/>
          </a:xfrm>
          <a:prstGeom prst="rect">
            <a:avLst/>
          </a:prstGeom>
          <a:noFill/>
          <a:ln/>
        </p:spPr>
        <p:txBody>
          <a:bodyPr wrap="square" lIns="0" tIns="0" rIns="0" bIns="0" rtlCol="0" anchor="t"/>
          <a:lstStyle/>
          <a:p>
            <a:pPr marL="0" indent="0">
              <a:buNone/>
            </a:pPr>
            <a:r>
              <a:rPr lang="en-US" sz="1600" dirty="0">
                <a:solidFill>
                  <a:srgbClr val="202031"/>
                </a:solidFill>
                <a:latin typeface="Raleway" pitchFamily="34" charset="0"/>
                <a:ea typeface="Raleway" pitchFamily="34" charset="-122"/>
                <a:cs typeface="Raleway" pitchFamily="34" charset="-120"/>
              </a:rPr>
              <a:t>Experiencia Directa</a:t>
            </a:r>
            <a:endParaRPr lang="en-US" sz="1600" dirty="0"/>
          </a:p>
        </p:txBody>
      </p:sp>
      <p:sp>
        <p:nvSpPr>
          <p:cNvPr id="11" name="Text 8"/>
          <p:cNvSpPr txBox="1"/>
          <p:nvPr/>
        </p:nvSpPr>
        <p:spPr>
          <a:xfrm>
            <a:off x="1097280" y="2487168"/>
            <a:ext cx="2692298" cy="868680"/>
          </a:xfrm>
          <a:prstGeom prst="rect">
            <a:avLst/>
          </a:prstGeom>
          <a:noFill/>
          <a:ln/>
        </p:spPr>
        <p:txBody>
          <a:bodyPr wrap="square" lIns="0" tIns="0" rIns="0" bIns="0" rtlCol="0" anchor="t"/>
          <a:lstStyle/>
          <a:p>
            <a:pPr marL="0" indent="0">
              <a:lnSpc>
                <a:spcPct val="120000"/>
              </a:lnSpc>
              <a:buNone/>
            </a:pPr>
            <a:r>
              <a:rPr lang="en-US" sz="1000" dirty="0">
                <a:solidFill>
                  <a:srgbClr val="5C5C6E"/>
                </a:solidFill>
                <a:latin typeface="Raleway" pitchFamily="34" charset="0"/>
                <a:ea typeface="Raleway" pitchFamily="34" charset="-122"/>
                <a:cs typeface="Raleway" pitchFamily="34" charset="-120"/>
              </a:rPr>
              <a:t>Entendemos tu entorno, lo que nos permite analizar con precisión las dinámicas de negocio y los aspectos críticos que impactan en tu crecimiento.</a:t>
            </a:r>
            <a:endParaRPr lang="en-US" sz="1000" dirty="0"/>
          </a:p>
        </p:txBody>
      </p:sp>
      <p:sp>
        <p:nvSpPr>
          <p:cNvPr id="12" name="Shape 9"/>
          <p:cNvSpPr/>
          <p:nvPr/>
        </p:nvSpPr>
        <p:spPr>
          <a:xfrm>
            <a:off x="4383938" y="1920240"/>
            <a:ext cx="3423818" cy="1463040"/>
          </a:xfrm>
          <a:prstGeom prst="rect">
            <a:avLst/>
          </a:prstGeom>
          <a:solidFill>
            <a:srgbClr val="FFFFFF"/>
          </a:solidFill>
          <a:ln w="12700">
            <a:solidFill>
              <a:srgbClr val="FFFFFF"/>
            </a:solidFill>
            <a:prstDash val="solid"/>
          </a:ln>
        </p:spPr>
        <p:txBody>
          <a:bodyPr/>
          <a:lstStyle/>
          <a:p>
            <a:endParaRPr lang="es-ES"/>
          </a:p>
        </p:txBody>
      </p:sp>
      <p:sp>
        <p:nvSpPr>
          <p:cNvPr id="13" name="Shape 10"/>
          <p:cNvSpPr/>
          <p:nvPr/>
        </p:nvSpPr>
        <p:spPr>
          <a:xfrm>
            <a:off x="4383938" y="1920240"/>
            <a:ext cx="3423818" cy="54864"/>
          </a:xfrm>
          <a:prstGeom prst="rect">
            <a:avLst/>
          </a:prstGeom>
          <a:solidFill>
            <a:srgbClr val="587579"/>
          </a:solidFill>
          <a:ln w="12700">
            <a:solidFill>
              <a:srgbClr val="587579"/>
            </a:solidFill>
            <a:prstDash val="solid"/>
          </a:ln>
        </p:spPr>
        <p:txBody>
          <a:bodyPr/>
          <a:lstStyle/>
          <a:p>
            <a:endParaRPr lang="es-ES"/>
          </a:p>
        </p:txBody>
      </p:sp>
      <p:sp>
        <p:nvSpPr>
          <p:cNvPr id="14" name="Text 11"/>
          <p:cNvSpPr txBox="1"/>
          <p:nvPr/>
        </p:nvSpPr>
        <p:spPr>
          <a:xfrm>
            <a:off x="4566818" y="2103120"/>
            <a:ext cx="548640" cy="274320"/>
          </a:xfrm>
          <a:prstGeom prst="rect">
            <a:avLst/>
          </a:prstGeom>
          <a:noFill/>
          <a:ln/>
        </p:spPr>
        <p:txBody>
          <a:bodyPr wrap="square" lIns="0" tIns="0" rIns="0" bIns="0" rtlCol="0" anchor="t"/>
          <a:lstStyle/>
          <a:p>
            <a:pPr marL="0" indent="0">
              <a:buNone/>
            </a:pPr>
            <a:r>
              <a:rPr lang="en-US" sz="1100" dirty="0">
                <a:solidFill>
                  <a:srgbClr val="587579"/>
                </a:solidFill>
                <a:latin typeface="Manrope" pitchFamily="34" charset="0"/>
                <a:ea typeface="Manrope" pitchFamily="34" charset="-122"/>
                <a:cs typeface="Manrope" pitchFamily="34" charset="-120"/>
              </a:rPr>
              <a:t>02</a:t>
            </a:r>
            <a:endParaRPr lang="en-US" sz="1100" dirty="0"/>
          </a:p>
        </p:txBody>
      </p:sp>
      <p:sp>
        <p:nvSpPr>
          <p:cNvPr id="15" name="Text 12"/>
          <p:cNvSpPr txBox="1"/>
          <p:nvPr/>
        </p:nvSpPr>
        <p:spPr>
          <a:xfrm>
            <a:off x="4932578" y="2057400"/>
            <a:ext cx="2875178" cy="365760"/>
          </a:xfrm>
          <a:prstGeom prst="rect">
            <a:avLst/>
          </a:prstGeom>
          <a:noFill/>
          <a:ln/>
        </p:spPr>
        <p:txBody>
          <a:bodyPr wrap="square" lIns="0" tIns="0" rIns="0" bIns="0" rtlCol="0" anchor="t"/>
          <a:lstStyle/>
          <a:p>
            <a:pPr marL="0" indent="0">
              <a:buNone/>
            </a:pPr>
            <a:r>
              <a:rPr lang="en-US" sz="1600" dirty="0">
                <a:solidFill>
                  <a:srgbClr val="202031"/>
                </a:solidFill>
                <a:latin typeface="Raleway" pitchFamily="34" charset="0"/>
                <a:ea typeface="Raleway" pitchFamily="34" charset="-122"/>
                <a:cs typeface="Raleway" pitchFamily="34" charset="-120"/>
              </a:rPr>
              <a:t>Enfoque Práctico</a:t>
            </a:r>
            <a:endParaRPr lang="en-US" sz="1600" dirty="0"/>
          </a:p>
        </p:txBody>
      </p:sp>
      <p:sp>
        <p:nvSpPr>
          <p:cNvPr id="16" name="Text 13"/>
          <p:cNvSpPr txBox="1"/>
          <p:nvPr/>
        </p:nvSpPr>
        <p:spPr>
          <a:xfrm>
            <a:off x="4932578" y="2487168"/>
            <a:ext cx="2692298" cy="868680"/>
          </a:xfrm>
          <a:prstGeom prst="rect">
            <a:avLst/>
          </a:prstGeom>
          <a:noFill/>
          <a:ln/>
        </p:spPr>
        <p:txBody>
          <a:bodyPr wrap="square" lIns="0" tIns="0" rIns="0" bIns="0" rtlCol="0" anchor="t"/>
          <a:lstStyle/>
          <a:p>
            <a:pPr marL="0" indent="0">
              <a:lnSpc>
                <a:spcPct val="120000"/>
              </a:lnSpc>
              <a:buNone/>
            </a:pPr>
            <a:r>
              <a:rPr lang="en-US" sz="1000" dirty="0">
                <a:solidFill>
                  <a:srgbClr val="5C5C6E"/>
                </a:solidFill>
                <a:latin typeface="Raleway" pitchFamily="34" charset="0"/>
                <a:ea typeface="Raleway" pitchFamily="34" charset="-122"/>
                <a:cs typeface="Raleway" pitchFamily="34" charset="-120"/>
              </a:rPr>
              <a:t>Orientados a resultados, facilitando decisiones claras y ejecutables que optimizan procesos.</a:t>
            </a:r>
            <a:endParaRPr lang="en-US" sz="1000" dirty="0"/>
          </a:p>
        </p:txBody>
      </p:sp>
      <p:sp>
        <p:nvSpPr>
          <p:cNvPr id="17" name="Shape 14"/>
          <p:cNvSpPr/>
          <p:nvPr/>
        </p:nvSpPr>
        <p:spPr>
          <a:xfrm>
            <a:off x="8219237" y="1920240"/>
            <a:ext cx="3423818" cy="1463040"/>
          </a:xfrm>
          <a:prstGeom prst="rect">
            <a:avLst/>
          </a:prstGeom>
          <a:solidFill>
            <a:srgbClr val="FFFFFF"/>
          </a:solidFill>
          <a:ln w="12700">
            <a:solidFill>
              <a:srgbClr val="FFFFFF"/>
            </a:solidFill>
            <a:prstDash val="solid"/>
          </a:ln>
        </p:spPr>
        <p:txBody>
          <a:bodyPr/>
          <a:lstStyle/>
          <a:p>
            <a:endParaRPr lang="es-ES"/>
          </a:p>
        </p:txBody>
      </p:sp>
      <p:sp>
        <p:nvSpPr>
          <p:cNvPr id="18" name="Shape 15"/>
          <p:cNvSpPr/>
          <p:nvPr/>
        </p:nvSpPr>
        <p:spPr>
          <a:xfrm>
            <a:off x="8219237" y="1920240"/>
            <a:ext cx="3423818" cy="54864"/>
          </a:xfrm>
          <a:prstGeom prst="rect">
            <a:avLst/>
          </a:prstGeom>
          <a:solidFill>
            <a:srgbClr val="3F5A5E"/>
          </a:solidFill>
          <a:ln w="12700">
            <a:solidFill>
              <a:srgbClr val="3F5A5E"/>
            </a:solidFill>
            <a:prstDash val="solid"/>
          </a:ln>
        </p:spPr>
        <p:txBody>
          <a:bodyPr/>
          <a:lstStyle/>
          <a:p>
            <a:endParaRPr lang="es-ES"/>
          </a:p>
        </p:txBody>
      </p:sp>
      <p:sp>
        <p:nvSpPr>
          <p:cNvPr id="19" name="Text 16"/>
          <p:cNvSpPr txBox="1"/>
          <p:nvPr/>
        </p:nvSpPr>
        <p:spPr>
          <a:xfrm>
            <a:off x="8402117" y="2103120"/>
            <a:ext cx="548640" cy="274320"/>
          </a:xfrm>
          <a:prstGeom prst="rect">
            <a:avLst/>
          </a:prstGeom>
          <a:noFill/>
          <a:ln/>
        </p:spPr>
        <p:txBody>
          <a:bodyPr wrap="square" lIns="0" tIns="0" rIns="0" bIns="0" rtlCol="0" anchor="t"/>
          <a:lstStyle/>
          <a:p>
            <a:pPr marL="0" indent="0">
              <a:buNone/>
            </a:pPr>
            <a:r>
              <a:rPr lang="en-US" sz="1100" dirty="0">
                <a:solidFill>
                  <a:srgbClr val="587579"/>
                </a:solidFill>
                <a:latin typeface="Manrope" pitchFamily="34" charset="0"/>
                <a:ea typeface="Manrope" pitchFamily="34" charset="-122"/>
                <a:cs typeface="Manrope" pitchFamily="34" charset="-120"/>
              </a:rPr>
              <a:t>03</a:t>
            </a:r>
            <a:endParaRPr lang="en-US" sz="1100" dirty="0"/>
          </a:p>
        </p:txBody>
      </p:sp>
      <p:sp>
        <p:nvSpPr>
          <p:cNvPr id="20" name="Text 17"/>
          <p:cNvSpPr txBox="1"/>
          <p:nvPr/>
        </p:nvSpPr>
        <p:spPr>
          <a:xfrm>
            <a:off x="8767877" y="2057400"/>
            <a:ext cx="2875178" cy="365760"/>
          </a:xfrm>
          <a:prstGeom prst="rect">
            <a:avLst/>
          </a:prstGeom>
          <a:noFill/>
          <a:ln/>
        </p:spPr>
        <p:txBody>
          <a:bodyPr wrap="square" lIns="0" tIns="0" rIns="0" bIns="0" rtlCol="0" anchor="t"/>
          <a:lstStyle/>
          <a:p>
            <a:pPr marL="0" indent="0">
              <a:buNone/>
            </a:pPr>
            <a:r>
              <a:rPr lang="en-US" sz="1600" dirty="0">
                <a:solidFill>
                  <a:srgbClr val="202031"/>
                </a:solidFill>
                <a:latin typeface="Raleway" pitchFamily="34" charset="0"/>
                <a:ea typeface="Raleway" pitchFamily="34" charset="-122"/>
                <a:cs typeface="Raleway" pitchFamily="34" charset="-120"/>
              </a:rPr>
              <a:t>Impacto Real</a:t>
            </a:r>
            <a:endParaRPr lang="en-US" sz="1600" dirty="0"/>
          </a:p>
        </p:txBody>
      </p:sp>
      <p:sp>
        <p:nvSpPr>
          <p:cNvPr id="21" name="Text 18"/>
          <p:cNvSpPr txBox="1"/>
          <p:nvPr/>
        </p:nvSpPr>
        <p:spPr>
          <a:xfrm>
            <a:off x="8767877" y="2487168"/>
            <a:ext cx="2692298" cy="868680"/>
          </a:xfrm>
          <a:prstGeom prst="rect">
            <a:avLst/>
          </a:prstGeom>
          <a:noFill/>
          <a:ln/>
        </p:spPr>
        <p:txBody>
          <a:bodyPr wrap="square" lIns="0" tIns="0" rIns="0" bIns="0" rtlCol="0" anchor="t"/>
          <a:lstStyle/>
          <a:p>
            <a:pPr marL="0" indent="0">
              <a:lnSpc>
                <a:spcPct val="120000"/>
              </a:lnSpc>
              <a:buNone/>
            </a:pPr>
            <a:r>
              <a:rPr lang="en-US" sz="1000" dirty="0">
                <a:solidFill>
                  <a:srgbClr val="5C5C6E"/>
                </a:solidFill>
                <a:latin typeface="Raleway" pitchFamily="34" charset="0"/>
                <a:ea typeface="Raleway" pitchFamily="34" charset="-122"/>
                <a:cs typeface="Raleway" pitchFamily="34" charset="-120"/>
              </a:rPr>
              <a:t>Soluciones que impulsan eficiencias y mejoras sostenibles en tu negocio.</a:t>
            </a:r>
            <a:endParaRPr lang="en-US" sz="1000" dirty="0"/>
          </a:p>
        </p:txBody>
      </p:sp>
      <p:sp>
        <p:nvSpPr>
          <p:cNvPr id="22" name="Shape 19"/>
          <p:cNvSpPr/>
          <p:nvPr/>
        </p:nvSpPr>
        <p:spPr>
          <a:xfrm>
            <a:off x="0" y="3611880"/>
            <a:ext cx="12191695" cy="3246120"/>
          </a:xfrm>
          <a:prstGeom prst="rect">
            <a:avLst/>
          </a:prstGeom>
          <a:solidFill>
            <a:srgbClr val="202031"/>
          </a:solidFill>
          <a:ln w="12700">
            <a:solidFill>
              <a:srgbClr val="202031"/>
            </a:solidFill>
            <a:prstDash val="solid"/>
          </a:ln>
        </p:spPr>
        <p:txBody>
          <a:bodyPr/>
          <a:lstStyle/>
          <a:p>
            <a:endParaRPr lang="es-ES"/>
          </a:p>
        </p:txBody>
      </p:sp>
      <p:pic>
        <p:nvPicPr>
          <p:cNvPr id="23" name="Image 1" descr="/tmp/claude-0/-home-claude/6ecba087-9563-50f1-9ffc-6a20c07eac08/scratchpad/decks/kit/panel_grad.png"/>
          <p:cNvPicPr>
            <a:picLocks noChangeAspect="1"/>
          </p:cNvPicPr>
          <p:nvPr/>
        </p:nvPicPr>
        <p:blipFill>
          <a:blip r:embed="rId4"/>
          <a:srcRect/>
          <a:stretch/>
        </p:blipFill>
        <p:spPr>
          <a:xfrm>
            <a:off x="0" y="3611880"/>
            <a:ext cx="3703320" cy="3246120"/>
          </a:xfrm>
          <a:prstGeom prst="rect">
            <a:avLst/>
          </a:prstGeom>
        </p:spPr>
      </p:pic>
      <p:sp>
        <p:nvSpPr>
          <p:cNvPr id="24" name="Text 20"/>
          <p:cNvSpPr txBox="1"/>
          <p:nvPr/>
        </p:nvSpPr>
        <p:spPr>
          <a:xfrm>
            <a:off x="548640" y="3977640"/>
            <a:ext cx="2743200" cy="228600"/>
          </a:xfrm>
          <a:prstGeom prst="rect">
            <a:avLst/>
          </a:prstGeom>
          <a:noFill/>
          <a:ln/>
        </p:spPr>
        <p:txBody>
          <a:bodyPr wrap="square" lIns="0" tIns="0" rIns="0" bIns="0" rtlCol="0" anchor="t"/>
          <a:lstStyle/>
          <a:p>
            <a:pPr marL="0" indent="0">
              <a:buNone/>
            </a:pPr>
            <a:r>
              <a:rPr lang="en-US" sz="850" kern="0" spc="220" dirty="0">
                <a:solidFill>
                  <a:srgbClr val="D5DFE0"/>
                </a:solidFill>
                <a:latin typeface="Raleway SemiBold" pitchFamily="34" charset="0"/>
                <a:ea typeface="Raleway SemiBold" pitchFamily="34" charset="-122"/>
                <a:cs typeface="Raleway SemiBold" pitchFamily="34" charset="-120"/>
              </a:rPr>
              <a:t>MODALIDAD PARTNER</a:t>
            </a:r>
            <a:endParaRPr lang="en-US" sz="850" dirty="0"/>
          </a:p>
        </p:txBody>
      </p:sp>
      <p:sp>
        <p:nvSpPr>
          <p:cNvPr id="25" name="Text 21"/>
          <p:cNvSpPr txBox="1"/>
          <p:nvPr/>
        </p:nvSpPr>
        <p:spPr>
          <a:xfrm>
            <a:off x="548640" y="4251960"/>
            <a:ext cx="2560320" cy="1005840"/>
          </a:xfrm>
          <a:prstGeom prst="rect">
            <a:avLst/>
          </a:prstGeom>
          <a:noFill/>
          <a:ln/>
        </p:spPr>
        <p:txBody>
          <a:bodyPr wrap="square" lIns="0" tIns="0" rIns="0" bIns="0" rtlCol="0" anchor="t"/>
          <a:lstStyle/>
          <a:p>
            <a:pPr marL="0" indent="0">
              <a:buNone/>
            </a:pPr>
            <a:r>
              <a:rPr lang="en-US" sz="6600" dirty="0">
                <a:solidFill>
                  <a:srgbClr val="FFFFFF"/>
                </a:solidFill>
                <a:latin typeface="Manrope Light" pitchFamily="34" charset="0"/>
                <a:ea typeface="Manrope Light" pitchFamily="34" charset="-122"/>
                <a:cs typeface="Manrope Light" pitchFamily="34" charset="-120"/>
              </a:rPr>
              <a:t>12%</a:t>
            </a:r>
            <a:endParaRPr lang="en-US" sz="6600" dirty="0"/>
          </a:p>
        </p:txBody>
      </p:sp>
      <p:sp>
        <p:nvSpPr>
          <p:cNvPr id="26" name="Text 22"/>
          <p:cNvSpPr txBox="1"/>
          <p:nvPr/>
        </p:nvSpPr>
        <p:spPr>
          <a:xfrm>
            <a:off x="548640" y="5349240"/>
            <a:ext cx="2926080" cy="502920"/>
          </a:xfrm>
          <a:prstGeom prst="rect">
            <a:avLst/>
          </a:prstGeom>
          <a:noFill/>
          <a:ln/>
        </p:spPr>
        <p:txBody>
          <a:bodyPr wrap="square" lIns="0" tIns="0" rIns="0" bIns="0" rtlCol="0" anchor="t"/>
          <a:lstStyle/>
          <a:p>
            <a:pPr marL="0" indent="0">
              <a:lnSpc>
                <a:spcPct val="120000"/>
              </a:lnSpc>
              <a:buNone/>
            </a:pPr>
            <a:r>
              <a:rPr lang="en-US" sz="1050" dirty="0">
                <a:solidFill>
                  <a:srgbClr val="E6ECEC"/>
                </a:solidFill>
                <a:latin typeface="Raleway" pitchFamily="34" charset="0"/>
                <a:ea typeface="Raleway" pitchFamily="34" charset="-122"/>
                <a:cs typeface="Raleway" pitchFamily="34" charset="-120"/>
              </a:rPr>
              <a:t>sobre un SBA medio de referencia</a:t>
            </a:r>
            <a:endParaRPr lang="en-US" sz="1050" dirty="0"/>
          </a:p>
          <a:p>
            <a:pPr marL="0" indent="0">
              <a:lnSpc>
                <a:spcPct val="120000"/>
              </a:lnSpc>
              <a:buNone/>
            </a:pPr>
            <a:r>
              <a:rPr lang="en-US" sz="1050" dirty="0">
                <a:solidFill>
                  <a:srgbClr val="E6ECEC"/>
                </a:solidFill>
                <a:latin typeface="Raleway" pitchFamily="34" charset="0"/>
                <a:ea typeface="Raleway" pitchFamily="34" charset="-122"/>
                <a:cs typeface="Raleway" pitchFamily="34" charset="-120"/>
              </a:rPr>
              <a:t>de </a:t>
            </a:r>
            <a:r>
              <a:rPr lang="en-US" sz="1050" dirty="0">
                <a:solidFill>
                  <a:srgbClr val="E6ECEC"/>
                </a:solidFill>
                <a:latin typeface="Manrope" pitchFamily="2" charset="0"/>
                <a:ea typeface="Raleway" pitchFamily="34" charset="-122"/>
                <a:cs typeface="Raleway" pitchFamily="34" charset="-120"/>
              </a:rPr>
              <a:t>36.000</a:t>
            </a:r>
            <a:r>
              <a:rPr lang="en-US" sz="1050" dirty="0">
                <a:solidFill>
                  <a:srgbClr val="E6ECEC"/>
                </a:solidFill>
                <a:latin typeface="Raleway" pitchFamily="34" charset="0"/>
                <a:ea typeface="Raleway" pitchFamily="34" charset="-122"/>
                <a:cs typeface="Raleway" pitchFamily="34" charset="-120"/>
              </a:rPr>
              <a:t> € (</a:t>
            </a:r>
            <a:r>
              <a:rPr lang="en-US" sz="1050" dirty="0">
                <a:solidFill>
                  <a:srgbClr val="E6ECEC"/>
                </a:solidFill>
                <a:latin typeface="Manrope" pitchFamily="2" charset="0"/>
                <a:ea typeface="Raleway" pitchFamily="34" charset="-122"/>
                <a:cs typeface="Raleway" pitchFamily="34" charset="-120"/>
              </a:rPr>
              <a:t>4.320</a:t>
            </a:r>
            <a:r>
              <a:rPr lang="en-US" sz="1050" dirty="0">
                <a:solidFill>
                  <a:srgbClr val="E6ECEC"/>
                </a:solidFill>
                <a:latin typeface="Raleway" pitchFamily="34" charset="0"/>
                <a:ea typeface="Raleway" pitchFamily="34" charset="-122"/>
                <a:cs typeface="Raleway" pitchFamily="34" charset="-120"/>
              </a:rPr>
              <a:t> €)</a:t>
            </a:r>
            <a:endParaRPr lang="en-US" sz="1050" dirty="0"/>
          </a:p>
        </p:txBody>
      </p:sp>
      <p:sp>
        <p:nvSpPr>
          <p:cNvPr id="27" name="Text 23"/>
          <p:cNvSpPr txBox="1"/>
          <p:nvPr/>
        </p:nvSpPr>
        <p:spPr>
          <a:xfrm>
            <a:off x="4023360" y="3977640"/>
            <a:ext cx="2743200" cy="228600"/>
          </a:xfrm>
          <a:prstGeom prst="rect">
            <a:avLst/>
          </a:prstGeom>
          <a:noFill/>
          <a:ln/>
        </p:spPr>
        <p:txBody>
          <a:bodyPr wrap="square" lIns="0" tIns="0" rIns="0" bIns="0" rtlCol="0" anchor="t"/>
          <a:lstStyle/>
          <a:p>
            <a:pPr marL="0" indent="0">
              <a:buNone/>
            </a:pPr>
            <a:r>
              <a:rPr lang="en-US" sz="850" kern="0" spc="220" dirty="0">
                <a:solidFill>
                  <a:srgbClr val="8AA3A5"/>
                </a:solidFill>
                <a:latin typeface="Raleway SemiBold" pitchFamily="34" charset="0"/>
                <a:ea typeface="Raleway SemiBold" pitchFamily="34" charset="-122"/>
                <a:cs typeface="Raleway SemiBold" pitchFamily="34" charset="-120"/>
              </a:rPr>
              <a:t>FORMA DE PAGO</a:t>
            </a:r>
            <a:endParaRPr lang="en-US" sz="850" dirty="0"/>
          </a:p>
        </p:txBody>
      </p:sp>
      <p:sp>
        <p:nvSpPr>
          <p:cNvPr id="28" name="Text 24"/>
          <p:cNvSpPr txBox="1"/>
          <p:nvPr/>
        </p:nvSpPr>
        <p:spPr>
          <a:xfrm>
            <a:off x="4023360" y="4297680"/>
            <a:ext cx="2377440" cy="365760"/>
          </a:xfrm>
          <a:prstGeom prst="rect">
            <a:avLst/>
          </a:prstGeom>
          <a:noFill/>
          <a:ln/>
        </p:spPr>
        <p:txBody>
          <a:bodyPr wrap="square" lIns="0" tIns="0" rIns="0" bIns="0" rtlCol="0" anchor="t"/>
          <a:lstStyle/>
          <a:p>
            <a:pPr marL="0" indent="0">
              <a:buNone/>
            </a:pPr>
            <a:r>
              <a:rPr lang="en-US" sz="1500" dirty="0">
                <a:solidFill>
                  <a:srgbClr val="FFFFFF"/>
                </a:solidFill>
                <a:latin typeface="Manrope" pitchFamily="34" charset="0"/>
                <a:ea typeface="Manrope" pitchFamily="34" charset="-122"/>
                <a:cs typeface="Manrope" pitchFamily="34" charset="-120"/>
              </a:rPr>
              <a:t>1/3</a:t>
            </a:r>
            <a:r>
              <a:rPr lang="en-US" sz="1500" dirty="0">
                <a:solidFill>
                  <a:srgbClr val="FFFFFF"/>
                </a:solidFill>
                <a:latin typeface="Raleway" pitchFamily="34" charset="0"/>
                <a:ea typeface="Raleway" pitchFamily="34" charset="-122"/>
                <a:cs typeface="Raleway" pitchFamily="34" charset="-120"/>
              </a:rPr>
              <a:t>     </a:t>
            </a:r>
            <a:r>
              <a:rPr lang="en-US" sz="1500" dirty="0">
                <a:solidFill>
                  <a:srgbClr val="FFFFFF"/>
                </a:solidFill>
                <a:latin typeface="Manrope" pitchFamily="34" charset="0"/>
                <a:ea typeface="Manrope" pitchFamily="34" charset="-122"/>
                <a:cs typeface="Manrope" pitchFamily="34" charset="-120"/>
              </a:rPr>
              <a:t>1.440</a:t>
            </a:r>
            <a:r>
              <a:rPr lang="en-US" sz="1500" dirty="0">
                <a:solidFill>
                  <a:srgbClr val="FFFFFF"/>
                </a:solidFill>
                <a:latin typeface="Raleway" pitchFamily="34" charset="0"/>
                <a:ea typeface="Raleway" pitchFamily="34" charset="-122"/>
                <a:cs typeface="Raleway" pitchFamily="34" charset="-120"/>
              </a:rPr>
              <a:t> €</a:t>
            </a:r>
            <a:endParaRPr lang="en-US" sz="1500" dirty="0"/>
          </a:p>
        </p:txBody>
      </p:sp>
      <p:sp>
        <p:nvSpPr>
          <p:cNvPr id="29" name="Shape 25"/>
          <p:cNvSpPr/>
          <p:nvPr/>
        </p:nvSpPr>
        <p:spPr>
          <a:xfrm>
            <a:off x="4023360" y="4754880"/>
            <a:ext cx="2194560" cy="0"/>
          </a:xfrm>
          <a:prstGeom prst="line">
            <a:avLst/>
          </a:prstGeom>
          <a:noFill/>
          <a:ln w="12700">
            <a:solidFill>
              <a:srgbClr val="3A3A4E"/>
            </a:solidFill>
            <a:prstDash val="solid"/>
          </a:ln>
        </p:spPr>
        <p:txBody>
          <a:bodyPr/>
          <a:lstStyle/>
          <a:p>
            <a:endParaRPr lang="es-ES"/>
          </a:p>
        </p:txBody>
      </p:sp>
      <p:sp>
        <p:nvSpPr>
          <p:cNvPr id="30" name="Text 26"/>
          <p:cNvSpPr txBox="1"/>
          <p:nvPr/>
        </p:nvSpPr>
        <p:spPr>
          <a:xfrm>
            <a:off x="4023360" y="4892040"/>
            <a:ext cx="2286000" cy="274320"/>
          </a:xfrm>
          <a:prstGeom prst="rect">
            <a:avLst/>
          </a:prstGeom>
          <a:noFill/>
          <a:ln/>
        </p:spPr>
        <p:txBody>
          <a:bodyPr wrap="square" lIns="0" tIns="0" rIns="0" bIns="0" rtlCol="0" anchor="t"/>
          <a:lstStyle/>
          <a:p>
            <a:pPr marL="0" indent="0">
              <a:buNone/>
            </a:pPr>
            <a:r>
              <a:rPr lang="en-US" sz="1100" dirty="0">
                <a:solidFill>
                  <a:srgbClr val="FFFFFF"/>
                </a:solidFill>
                <a:latin typeface="Raleway SemiBold" pitchFamily="34" charset="0"/>
                <a:ea typeface="Raleway SemiBold" pitchFamily="34" charset="-122"/>
                <a:cs typeface="Raleway SemiBold" pitchFamily="34" charset="-120"/>
              </a:rPr>
              <a:t>A la firma</a:t>
            </a:r>
            <a:endParaRPr lang="en-US" sz="1100" dirty="0"/>
          </a:p>
        </p:txBody>
      </p:sp>
      <p:sp>
        <p:nvSpPr>
          <p:cNvPr id="31" name="Text 27"/>
          <p:cNvSpPr txBox="1"/>
          <p:nvPr/>
        </p:nvSpPr>
        <p:spPr>
          <a:xfrm>
            <a:off x="4023360" y="5166360"/>
            <a:ext cx="2194560" cy="548640"/>
          </a:xfrm>
          <a:prstGeom prst="rect">
            <a:avLst/>
          </a:prstGeom>
          <a:noFill/>
          <a:ln/>
        </p:spPr>
        <p:txBody>
          <a:bodyPr wrap="square" lIns="0" tIns="0" rIns="0" bIns="0" rtlCol="0" anchor="t"/>
          <a:lstStyle/>
          <a:p>
            <a:pPr marL="0" indent="0">
              <a:lnSpc>
                <a:spcPct val="120000"/>
              </a:lnSpc>
              <a:buNone/>
            </a:pPr>
            <a:r>
              <a:rPr lang="en-US" sz="1000" dirty="0">
                <a:solidFill>
                  <a:srgbClr val="E6ECEC"/>
                </a:solidFill>
                <a:latin typeface="Raleway" pitchFamily="34" charset="0"/>
                <a:ea typeface="Raleway" pitchFamily="34" charset="-122"/>
                <a:cs typeface="Raleway" pitchFamily="34" charset="-120"/>
              </a:rPr>
              <a:t>Anticipo fijo que activa la búsqueda</a:t>
            </a:r>
            <a:endParaRPr lang="en-US" sz="1000" dirty="0"/>
          </a:p>
        </p:txBody>
      </p:sp>
      <p:sp>
        <p:nvSpPr>
          <p:cNvPr id="32" name="Text 28"/>
          <p:cNvSpPr txBox="1"/>
          <p:nvPr/>
        </p:nvSpPr>
        <p:spPr>
          <a:xfrm>
            <a:off x="6537960" y="4297680"/>
            <a:ext cx="2377440" cy="365760"/>
          </a:xfrm>
          <a:prstGeom prst="rect">
            <a:avLst/>
          </a:prstGeom>
          <a:noFill/>
          <a:ln/>
        </p:spPr>
        <p:txBody>
          <a:bodyPr wrap="square" lIns="0" tIns="0" rIns="0" bIns="0" rtlCol="0" anchor="t"/>
          <a:lstStyle/>
          <a:p>
            <a:pPr marL="0" indent="0">
              <a:buNone/>
            </a:pPr>
            <a:r>
              <a:rPr lang="en-US" sz="1500" dirty="0">
                <a:solidFill>
                  <a:srgbClr val="FFFFFF"/>
                </a:solidFill>
                <a:latin typeface="Manrope" pitchFamily="34" charset="0"/>
                <a:ea typeface="Manrope" pitchFamily="34" charset="-122"/>
                <a:cs typeface="Manrope" pitchFamily="34" charset="-120"/>
              </a:rPr>
              <a:t>2/3</a:t>
            </a:r>
            <a:r>
              <a:rPr lang="en-US" sz="1500" dirty="0">
                <a:solidFill>
                  <a:srgbClr val="FFFFFF"/>
                </a:solidFill>
                <a:latin typeface="Raleway" pitchFamily="34" charset="0"/>
                <a:ea typeface="Raleway" pitchFamily="34" charset="-122"/>
                <a:cs typeface="Raleway" pitchFamily="34" charset="-120"/>
              </a:rPr>
              <a:t>     </a:t>
            </a:r>
            <a:r>
              <a:rPr lang="en-US" sz="1500" dirty="0">
                <a:solidFill>
                  <a:srgbClr val="FFFFFF"/>
                </a:solidFill>
                <a:latin typeface="Manrope" pitchFamily="34" charset="0"/>
                <a:ea typeface="Manrope" pitchFamily="34" charset="-122"/>
                <a:cs typeface="Manrope" pitchFamily="34" charset="-120"/>
              </a:rPr>
              <a:t>2.880</a:t>
            </a:r>
            <a:r>
              <a:rPr lang="en-US" sz="1500" dirty="0">
                <a:solidFill>
                  <a:srgbClr val="FFFFFF"/>
                </a:solidFill>
                <a:latin typeface="Raleway" pitchFamily="34" charset="0"/>
                <a:ea typeface="Raleway" pitchFamily="34" charset="-122"/>
                <a:cs typeface="Raleway" pitchFamily="34" charset="-120"/>
              </a:rPr>
              <a:t> € ajustable</a:t>
            </a:r>
            <a:endParaRPr lang="en-US" sz="1500" dirty="0"/>
          </a:p>
        </p:txBody>
      </p:sp>
      <p:sp>
        <p:nvSpPr>
          <p:cNvPr id="33" name="Shape 29"/>
          <p:cNvSpPr/>
          <p:nvPr/>
        </p:nvSpPr>
        <p:spPr>
          <a:xfrm>
            <a:off x="6537960" y="4754880"/>
            <a:ext cx="2194560" cy="0"/>
          </a:xfrm>
          <a:prstGeom prst="line">
            <a:avLst/>
          </a:prstGeom>
          <a:noFill/>
          <a:ln w="12700">
            <a:solidFill>
              <a:srgbClr val="3A3A4E"/>
            </a:solidFill>
            <a:prstDash val="solid"/>
          </a:ln>
        </p:spPr>
        <p:txBody>
          <a:bodyPr/>
          <a:lstStyle/>
          <a:p>
            <a:endParaRPr lang="es-ES"/>
          </a:p>
        </p:txBody>
      </p:sp>
      <p:sp>
        <p:nvSpPr>
          <p:cNvPr id="34" name="Text 30"/>
          <p:cNvSpPr txBox="1"/>
          <p:nvPr/>
        </p:nvSpPr>
        <p:spPr>
          <a:xfrm>
            <a:off x="6537960" y="4892040"/>
            <a:ext cx="2286000" cy="274320"/>
          </a:xfrm>
          <a:prstGeom prst="rect">
            <a:avLst/>
          </a:prstGeom>
          <a:noFill/>
          <a:ln/>
        </p:spPr>
        <p:txBody>
          <a:bodyPr wrap="square" lIns="0" tIns="0" rIns="0" bIns="0" rtlCol="0" anchor="t"/>
          <a:lstStyle/>
          <a:p>
            <a:pPr marL="0" indent="0">
              <a:buNone/>
            </a:pPr>
            <a:r>
              <a:rPr lang="en-US" sz="1100" dirty="0">
                <a:solidFill>
                  <a:srgbClr val="FFFFFF"/>
                </a:solidFill>
                <a:latin typeface="Raleway SemiBold" pitchFamily="34" charset="0"/>
                <a:ea typeface="Raleway SemiBold" pitchFamily="34" charset="-122"/>
                <a:cs typeface="Raleway SemiBold" pitchFamily="34" charset="-120"/>
              </a:rPr>
              <a:t>A la incorporación</a:t>
            </a:r>
            <a:endParaRPr lang="en-US" sz="1100" dirty="0"/>
          </a:p>
        </p:txBody>
      </p:sp>
      <p:sp>
        <p:nvSpPr>
          <p:cNvPr id="35" name="Text 31"/>
          <p:cNvSpPr txBox="1"/>
          <p:nvPr/>
        </p:nvSpPr>
        <p:spPr>
          <a:xfrm>
            <a:off x="6537960" y="5166360"/>
            <a:ext cx="2194560" cy="548640"/>
          </a:xfrm>
          <a:prstGeom prst="rect">
            <a:avLst/>
          </a:prstGeom>
          <a:noFill/>
          <a:ln/>
        </p:spPr>
        <p:txBody>
          <a:bodyPr wrap="square" lIns="0" tIns="0" rIns="0" bIns="0" rtlCol="0" anchor="t"/>
          <a:lstStyle/>
          <a:p>
            <a:pPr marL="0" indent="0">
              <a:lnSpc>
                <a:spcPct val="120000"/>
              </a:lnSpc>
              <a:buNone/>
            </a:pPr>
            <a:r>
              <a:rPr lang="en-US" sz="1000" dirty="0">
                <a:solidFill>
                  <a:srgbClr val="E6ECEC"/>
                </a:solidFill>
                <a:latin typeface="Manrope" pitchFamily="2" charset="0"/>
                <a:ea typeface="Raleway" pitchFamily="34" charset="-122"/>
                <a:cs typeface="Raleway" pitchFamily="34" charset="-120"/>
              </a:rPr>
              <a:t>12</a:t>
            </a:r>
            <a:r>
              <a:rPr lang="en-US" sz="1000" dirty="0">
                <a:solidFill>
                  <a:srgbClr val="E6ECEC"/>
                </a:solidFill>
                <a:latin typeface="Raleway" pitchFamily="34" charset="0"/>
                <a:ea typeface="Raleway" pitchFamily="34" charset="-122"/>
                <a:cs typeface="Raleway" pitchFamily="34" charset="-120"/>
              </a:rPr>
              <a:t>% del SBA real menos el anticipo ya abonado</a:t>
            </a:r>
            <a:endParaRPr lang="en-US" sz="1000" dirty="0"/>
          </a:p>
        </p:txBody>
      </p:sp>
      <p:sp>
        <p:nvSpPr>
          <p:cNvPr id="36" name="Shape 32"/>
          <p:cNvSpPr/>
          <p:nvPr/>
        </p:nvSpPr>
        <p:spPr>
          <a:xfrm>
            <a:off x="9189720" y="4023360"/>
            <a:ext cx="0" cy="2103120"/>
          </a:xfrm>
          <a:prstGeom prst="line">
            <a:avLst/>
          </a:prstGeom>
          <a:noFill/>
          <a:ln w="9525">
            <a:solidFill>
              <a:srgbClr val="3A3A4E"/>
            </a:solidFill>
            <a:prstDash val="solid"/>
          </a:ln>
        </p:spPr>
        <p:txBody>
          <a:bodyPr/>
          <a:lstStyle/>
          <a:p>
            <a:endParaRPr lang="es-ES"/>
          </a:p>
        </p:txBody>
      </p:sp>
      <p:sp>
        <p:nvSpPr>
          <p:cNvPr id="37" name="Text 33"/>
          <p:cNvSpPr txBox="1"/>
          <p:nvPr/>
        </p:nvSpPr>
        <p:spPr>
          <a:xfrm>
            <a:off x="9509760" y="3977640"/>
            <a:ext cx="2103120" cy="228600"/>
          </a:xfrm>
          <a:prstGeom prst="rect">
            <a:avLst/>
          </a:prstGeom>
          <a:noFill/>
          <a:ln/>
        </p:spPr>
        <p:txBody>
          <a:bodyPr wrap="square" lIns="0" tIns="0" rIns="0" bIns="0" rtlCol="0" anchor="t"/>
          <a:lstStyle/>
          <a:p>
            <a:pPr marL="0" indent="0">
              <a:buNone/>
            </a:pPr>
            <a:r>
              <a:rPr lang="en-US" sz="850" kern="0" spc="220" dirty="0">
                <a:solidFill>
                  <a:srgbClr val="8AA3A5"/>
                </a:solidFill>
                <a:latin typeface="Raleway SemiBold" pitchFamily="34" charset="0"/>
                <a:ea typeface="Raleway SemiBold" pitchFamily="34" charset="-122"/>
                <a:cs typeface="Raleway SemiBold" pitchFamily="34" charset="-120"/>
              </a:rPr>
              <a:t>CONDICIONES</a:t>
            </a:r>
            <a:endParaRPr lang="en-US" sz="850" dirty="0"/>
          </a:p>
        </p:txBody>
      </p:sp>
      <p:sp>
        <p:nvSpPr>
          <p:cNvPr id="38" name="Text 34"/>
          <p:cNvSpPr txBox="1"/>
          <p:nvPr/>
        </p:nvSpPr>
        <p:spPr>
          <a:xfrm>
            <a:off x="9509760" y="4297680"/>
            <a:ext cx="2148840" cy="914400"/>
          </a:xfrm>
          <a:prstGeom prst="rect">
            <a:avLst/>
          </a:prstGeom>
          <a:noFill/>
          <a:ln/>
        </p:spPr>
        <p:txBody>
          <a:bodyPr wrap="square" lIns="0" tIns="0" rIns="0" bIns="0" rtlCol="0" anchor="t"/>
          <a:lstStyle/>
          <a:p>
            <a:pPr marL="0" indent="0">
              <a:lnSpc>
                <a:spcPct val="125000"/>
              </a:lnSpc>
              <a:buNone/>
            </a:pPr>
            <a:r>
              <a:rPr lang="en-US" sz="1100" dirty="0">
                <a:solidFill>
                  <a:srgbClr val="FFFFFF"/>
                </a:solidFill>
                <a:latin typeface="Raleway" pitchFamily="34" charset="0"/>
                <a:ea typeface="Raleway" pitchFamily="34" charset="-122"/>
                <a:cs typeface="Raleway" pitchFamily="34" charset="-120"/>
              </a:rPr>
              <a:t>Si el SBA real es mayor o menor de </a:t>
            </a:r>
            <a:r>
              <a:rPr lang="en-US" sz="1100" dirty="0">
                <a:solidFill>
                  <a:srgbClr val="FFFFFF"/>
                </a:solidFill>
                <a:latin typeface="Manrope" pitchFamily="2" charset="0"/>
                <a:ea typeface="Raleway" pitchFamily="34" charset="-122"/>
                <a:cs typeface="Raleway" pitchFamily="34" charset="-120"/>
              </a:rPr>
              <a:t>36.000</a:t>
            </a:r>
            <a:r>
              <a:rPr lang="en-US" sz="1100" dirty="0">
                <a:solidFill>
                  <a:srgbClr val="FFFFFF"/>
                </a:solidFill>
                <a:latin typeface="Raleway" pitchFamily="34" charset="0"/>
                <a:ea typeface="Raleway" pitchFamily="34" charset="-122"/>
                <a:cs typeface="Raleway" pitchFamily="34" charset="-120"/>
              </a:rPr>
              <a:t> €, se regulariza en los </a:t>
            </a:r>
            <a:r>
              <a:rPr lang="en-US" sz="1100" dirty="0">
                <a:solidFill>
                  <a:srgbClr val="FFFFFF"/>
                </a:solidFill>
                <a:latin typeface="Manrope" pitchFamily="2" charset="0"/>
                <a:ea typeface="Raleway" pitchFamily="34" charset="-122"/>
                <a:cs typeface="Raleway" pitchFamily="34" charset="-120"/>
              </a:rPr>
              <a:t>2/3</a:t>
            </a:r>
            <a:r>
              <a:rPr lang="en-US" sz="1100" dirty="0">
                <a:solidFill>
                  <a:srgbClr val="FFFFFF"/>
                </a:solidFill>
                <a:latin typeface="Raleway" pitchFamily="34" charset="0"/>
                <a:ea typeface="Raleway" pitchFamily="34" charset="-122"/>
                <a:cs typeface="Raleway" pitchFamily="34" charset="-120"/>
              </a:rPr>
              <a:t>.</a:t>
            </a:r>
            <a:endParaRPr lang="en-US" sz="1100" dirty="0"/>
          </a:p>
        </p:txBody>
      </p:sp>
      <p:sp>
        <p:nvSpPr>
          <p:cNvPr id="39" name="Text 35"/>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E6ECEC"/>
                </a:solidFill>
                <a:latin typeface="Manrope" pitchFamily="34" charset="0"/>
                <a:ea typeface="Manrope" pitchFamily="34" charset="-122"/>
                <a:cs typeface="Manrope" pitchFamily="34" charset="-120"/>
              </a:rPr>
              <a:t>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6ECEC"/>
        </a:solidFill>
        <a:effectLst/>
      </p:bgPr>
    </p:bg>
    <p:spTree>
      <p:nvGrpSpPr>
        <p:cNvPr id="1" name=""/>
        <p:cNvGrpSpPr/>
        <p:nvPr/>
      </p:nvGrpSpPr>
      <p:grpSpPr>
        <a:xfrm>
          <a:off x="0" y="0"/>
          <a:ext cx="0" cy="0"/>
          <a:chOff x="0" y="0"/>
          <a:chExt cx="0" cy="0"/>
        </a:xfrm>
      </p:grpSpPr>
      <p:pic>
        <p:nvPicPr>
          <p:cNvPr id="2" name="Image 0" descr="/tmp/claude-0/-home-claude/6ecba087-9563-50f1-9ffc-6a20c07eac08/scratchpad/decks/kit/logo_navy.png"/>
          <p:cNvPicPr>
            <a:picLocks noChangeAspect="1"/>
          </p:cNvPicPr>
          <p:nvPr/>
        </p:nvPicPr>
        <p:blipFill>
          <a:blip r:embed="rId3"/>
          <a:stretch>
            <a:fillRect/>
          </a:stretch>
        </p:blipFill>
        <p:spPr>
          <a:xfrm>
            <a:off x="548640" y="384048"/>
            <a:ext cx="960120" cy="190070"/>
          </a:xfrm>
          <a:prstGeom prst="rect">
            <a:avLst/>
          </a:prstGeom>
        </p:spPr>
      </p:pic>
      <p:sp>
        <p:nvSpPr>
          <p:cNvPr id="3" name="Text 0"/>
          <p:cNvSpPr txBox="1"/>
          <p:nvPr/>
        </p:nvSpPr>
        <p:spPr>
          <a:xfrm>
            <a:off x="2057400" y="365760"/>
            <a:ext cx="2926080" cy="201168"/>
          </a:xfrm>
          <a:prstGeom prst="rect">
            <a:avLst/>
          </a:prstGeom>
          <a:noFill/>
          <a:ln/>
        </p:spPr>
        <p:txBody>
          <a:bodyPr wrap="square" lIns="0" tIns="0" rIns="0" bIns="0" rtlCol="0" anchor="t"/>
          <a:lstStyle/>
          <a:p>
            <a:pPr marL="0" indent="0">
              <a:buNone/>
            </a:pPr>
            <a:r>
              <a:rPr lang="en-US" sz="750" kern="0" spc="160" dirty="0">
                <a:solidFill>
                  <a:srgbClr val="5C5C6E"/>
                </a:solidFill>
                <a:latin typeface="Raleway Medium" pitchFamily="34" charset="0"/>
                <a:ea typeface="Raleway Medium" pitchFamily="34" charset="-122"/>
                <a:cs typeface="Raleway Medium" pitchFamily="34" charset="-120"/>
              </a:rPr>
              <a:t>TESSERA GROUP</a:t>
            </a:r>
            <a:endParaRPr lang="en-US" sz="750" dirty="0"/>
          </a:p>
        </p:txBody>
      </p:sp>
      <p:sp>
        <p:nvSpPr>
          <p:cNvPr id="4" name="Text 1"/>
          <p:cNvSpPr txBox="1"/>
          <p:nvPr/>
        </p:nvSpPr>
        <p:spPr>
          <a:xfrm>
            <a:off x="10728655" y="365760"/>
            <a:ext cx="914400" cy="201168"/>
          </a:xfrm>
          <a:prstGeom prst="rect">
            <a:avLst/>
          </a:prstGeom>
          <a:noFill/>
          <a:ln/>
        </p:spPr>
        <p:txBody>
          <a:bodyPr wrap="square" lIns="0" tIns="0" rIns="0" bIns="0" rtlCol="0" anchor="t"/>
          <a:lstStyle/>
          <a:p>
            <a:pPr marL="0" indent="0" algn="r">
              <a:buNone/>
            </a:pPr>
            <a:r>
              <a:rPr lang="en-US" sz="750" kern="0" spc="160" dirty="0">
                <a:solidFill>
                  <a:srgbClr val="5C5C6E"/>
                </a:solidFill>
                <a:latin typeface="Manrope" pitchFamily="2" charset="0"/>
                <a:ea typeface="Raleway Medium" pitchFamily="34" charset="-122"/>
                <a:cs typeface="Raleway Medium" pitchFamily="34" charset="-120"/>
              </a:rPr>
              <a:t>2026</a:t>
            </a:r>
            <a:endParaRPr lang="en-US" sz="750" dirty="0">
              <a:latin typeface="Manrope" pitchFamily="2" charset="0"/>
            </a:endParaRPr>
          </a:p>
        </p:txBody>
      </p:sp>
      <p:sp>
        <p:nvSpPr>
          <p:cNvPr id="5" name="Text 2"/>
          <p:cNvSpPr txBox="1"/>
          <p:nvPr/>
        </p:nvSpPr>
        <p:spPr>
          <a:xfrm>
            <a:off x="548640" y="868680"/>
            <a:ext cx="9601200" cy="685800"/>
          </a:xfrm>
          <a:prstGeom prst="rect">
            <a:avLst/>
          </a:prstGeom>
          <a:noFill/>
          <a:ln/>
        </p:spPr>
        <p:txBody>
          <a:bodyPr wrap="square" lIns="0" tIns="0" rIns="0" bIns="0" rtlCol="0" anchor="t"/>
          <a:lstStyle/>
          <a:p>
            <a:pPr marL="0" indent="0">
              <a:buNone/>
            </a:pPr>
            <a:r>
              <a:rPr lang="en-US" sz="3400" kern="0" spc="-50" dirty="0">
                <a:solidFill>
                  <a:srgbClr val="202031"/>
                </a:solidFill>
                <a:latin typeface="Raleway Light" pitchFamily="34" charset="0"/>
                <a:ea typeface="Raleway Light" pitchFamily="34" charset="-122"/>
                <a:cs typeface="Raleway Light" pitchFamily="34" charset="-120"/>
              </a:rPr>
              <a:t>Confían en nosotros</a:t>
            </a:r>
            <a:endParaRPr lang="en-US" sz="3400" dirty="0"/>
          </a:p>
        </p:txBody>
      </p:sp>
      <p:sp>
        <p:nvSpPr>
          <p:cNvPr id="6" name="Shape 3"/>
          <p:cNvSpPr/>
          <p:nvPr/>
        </p:nvSpPr>
        <p:spPr>
          <a:xfrm>
            <a:off x="548640" y="1929384"/>
            <a:ext cx="1757629" cy="914400"/>
          </a:xfrm>
          <a:prstGeom prst="rect">
            <a:avLst/>
          </a:prstGeom>
          <a:solidFill>
            <a:srgbClr val="FFFFFF"/>
          </a:solidFill>
          <a:ln w="12700">
            <a:solidFill>
              <a:srgbClr val="FFFFFF"/>
            </a:solidFill>
            <a:prstDash val="solid"/>
          </a:ln>
        </p:spPr>
        <p:txBody>
          <a:bodyPr/>
          <a:lstStyle/>
          <a:p>
            <a:endParaRPr lang="es-ES"/>
          </a:p>
        </p:txBody>
      </p:sp>
      <p:pic>
        <p:nvPicPr>
          <p:cNvPr id="7" name="Image 1" descr="/tmp/claude-0/-home-claude/6ecba087-9563-50f1-9ffc-6a20c07eac08/scratchpad/decks/assets/logos/partners_fee_01.png"/>
          <p:cNvPicPr>
            <a:picLocks noChangeAspect="1"/>
          </p:cNvPicPr>
          <p:nvPr/>
        </p:nvPicPr>
        <p:blipFill>
          <a:blip r:embed="rId4"/>
          <a:stretch>
            <a:fillRect/>
          </a:stretch>
        </p:blipFill>
        <p:spPr>
          <a:xfrm>
            <a:off x="817262" y="2286082"/>
            <a:ext cx="1220386" cy="201005"/>
          </a:xfrm>
          <a:prstGeom prst="rect">
            <a:avLst/>
          </a:prstGeom>
        </p:spPr>
      </p:pic>
      <p:sp>
        <p:nvSpPr>
          <p:cNvPr id="8" name="Shape 4"/>
          <p:cNvSpPr/>
          <p:nvPr/>
        </p:nvSpPr>
        <p:spPr>
          <a:xfrm>
            <a:off x="2415997" y="1929384"/>
            <a:ext cx="1757629" cy="914400"/>
          </a:xfrm>
          <a:prstGeom prst="rect">
            <a:avLst/>
          </a:prstGeom>
          <a:solidFill>
            <a:srgbClr val="FFFFFF"/>
          </a:solidFill>
          <a:ln w="12700">
            <a:solidFill>
              <a:srgbClr val="FFFFFF"/>
            </a:solidFill>
            <a:prstDash val="solid"/>
          </a:ln>
        </p:spPr>
        <p:txBody>
          <a:bodyPr/>
          <a:lstStyle/>
          <a:p>
            <a:endParaRPr lang="es-ES"/>
          </a:p>
        </p:txBody>
      </p:sp>
      <p:pic>
        <p:nvPicPr>
          <p:cNvPr id="9" name="Image 2" descr="/tmp/claude-0/-home-claude/6ecba087-9563-50f1-9ffc-6a20c07eac08/scratchpad/decks/assets/logos/partners_fee_02.png"/>
          <p:cNvPicPr>
            <a:picLocks noChangeAspect="1"/>
          </p:cNvPicPr>
          <p:nvPr/>
        </p:nvPicPr>
        <p:blipFill>
          <a:blip r:embed="rId5"/>
          <a:stretch>
            <a:fillRect/>
          </a:stretch>
        </p:blipFill>
        <p:spPr>
          <a:xfrm>
            <a:off x="2684619" y="2197083"/>
            <a:ext cx="1220386" cy="379002"/>
          </a:xfrm>
          <a:prstGeom prst="rect">
            <a:avLst/>
          </a:prstGeom>
        </p:spPr>
      </p:pic>
      <p:sp>
        <p:nvSpPr>
          <p:cNvPr id="10" name="Shape 5"/>
          <p:cNvSpPr/>
          <p:nvPr/>
        </p:nvSpPr>
        <p:spPr>
          <a:xfrm>
            <a:off x="4283354" y="1929384"/>
            <a:ext cx="1757629" cy="914400"/>
          </a:xfrm>
          <a:prstGeom prst="rect">
            <a:avLst/>
          </a:prstGeom>
          <a:solidFill>
            <a:srgbClr val="FFFFFF"/>
          </a:solidFill>
          <a:ln w="12700">
            <a:solidFill>
              <a:srgbClr val="FFFFFF"/>
            </a:solidFill>
            <a:prstDash val="solid"/>
          </a:ln>
        </p:spPr>
        <p:txBody>
          <a:bodyPr/>
          <a:lstStyle/>
          <a:p>
            <a:endParaRPr lang="es-ES"/>
          </a:p>
        </p:txBody>
      </p:sp>
      <p:pic>
        <p:nvPicPr>
          <p:cNvPr id="11" name="Image 3" descr="/tmp/claude-0/-home-claude/6ecba087-9563-50f1-9ffc-6a20c07eac08/scratchpad/decks/assets/logos/partners_fee_03.png"/>
          <p:cNvPicPr>
            <a:picLocks noChangeAspect="1"/>
          </p:cNvPicPr>
          <p:nvPr/>
        </p:nvPicPr>
        <p:blipFill>
          <a:blip r:embed="rId6"/>
          <a:stretch>
            <a:fillRect/>
          </a:stretch>
        </p:blipFill>
        <p:spPr>
          <a:xfrm>
            <a:off x="4582972" y="2130552"/>
            <a:ext cx="1158395" cy="512064"/>
          </a:xfrm>
          <a:prstGeom prst="rect">
            <a:avLst/>
          </a:prstGeom>
        </p:spPr>
      </p:pic>
      <p:sp>
        <p:nvSpPr>
          <p:cNvPr id="12" name="Shape 6"/>
          <p:cNvSpPr/>
          <p:nvPr/>
        </p:nvSpPr>
        <p:spPr>
          <a:xfrm>
            <a:off x="6150712" y="1929384"/>
            <a:ext cx="1757629" cy="914400"/>
          </a:xfrm>
          <a:prstGeom prst="rect">
            <a:avLst/>
          </a:prstGeom>
          <a:solidFill>
            <a:srgbClr val="FFFFFF"/>
          </a:solidFill>
          <a:ln w="12700">
            <a:solidFill>
              <a:srgbClr val="FFFFFF"/>
            </a:solidFill>
            <a:prstDash val="solid"/>
          </a:ln>
        </p:spPr>
        <p:txBody>
          <a:bodyPr/>
          <a:lstStyle/>
          <a:p>
            <a:endParaRPr lang="es-ES"/>
          </a:p>
        </p:txBody>
      </p:sp>
      <p:pic>
        <p:nvPicPr>
          <p:cNvPr id="13" name="Image 4" descr="/tmp/claude-0/-home-claude/6ecba087-9563-50f1-9ffc-6a20c07eac08/scratchpad/decks/assets/logos/partners_fee_04.png"/>
          <p:cNvPicPr>
            <a:picLocks noChangeAspect="1"/>
          </p:cNvPicPr>
          <p:nvPr/>
        </p:nvPicPr>
        <p:blipFill>
          <a:blip r:embed="rId7"/>
          <a:stretch>
            <a:fillRect/>
          </a:stretch>
        </p:blipFill>
        <p:spPr>
          <a:xfrm>
            <a:off x="6419333" y="2231341"/>
            <a:ext cx="1220386" cy="310487"/>
          </a:xfrm>
          <a:prstGeom prst="rect">
            <a:avLst/>
          </a:prstGeom>
        </p:spPr>
      </p:pic>
      <p:sp>
        <p:nvSpPr>
          <p:cNvPr id="14" name="Shape 7"/>
          <p:cNvSpPr/>
          <p:nvPr/>
        </p:nvSpPr>
        <p:spPr>
          <a:xfrm>
            <a:off x="8018069" y="1929384"/>
            <a:ext cx="1757629" cy="914400"/>
          </a:xfrm>
          <a:prstGeom prst="rect">
            <a:avLst/>
          </a:prstGeom>
          <a:solidFill>
            <a:srgbClr val="FFFFFF"/>
          </a:solidFill>
          <a:ln w="12700">
            <a:solidFill>
              <a:srgbClr val="FFFFFF"/>
            </a:solidFill>
            <a:prstDash val="solid"/>
          </a:ln>
        </p:spPr>
        <p:txBody>
          <a:bodyPr/>
          <a:lstStyle/>
          <a:p>
            <a:endParaRPr lang="es-ES"/>
          </a:p>
        </p:txBody>
      </p:sp>
      <p:pic>
        <p:nvPicPr>
          <p:cNvPr id="15" name="Image 5" descr="/tmp/claude-0/-home-claude/6ecba087-9563-50f1-9ffc-6a20c07eac08/scratchpad/decks/assets/logos/partners_fee_05.png"/>
          <p:cNvPicPr>
            <a:picLocks noChangeAspect="1"/>
          </p:cNvPicPr>
          <p:nvPr/>
        </p:nvPicPr>
        <p:blipFill>
          <a:blip r:embed="rId8"/>
          <a:stretch>
            <a:fillRect/>
          </a:stretch>
        </p:blipFill>
        <p:spPr>
          <a:xfrm>
            <a:off x="8286691" y="2255106"/>
            <a:ext cx="1220386" cy="262956"/>
          </a:xfrm>
          <a:prstGeom prst="rect">
            <a:avLst/>
          </a:prstGeom>
        </p:spPr>
      </p:pic>
      <p:sp>
        <p:nvSpPr>
          <p:cNvPr id="16" name="Shape 8"/>
          <p:cNvSpPr/>
          <p:nvPr/>
        </p:nvSpPr>
        <p:spPr>
          <a:xfrm>
            <a:off x="9885426" y="1929384"/>
            <a:ext cx="1757629" cy="914400"/>
          </a:xfrm>
          <a:prstGeom prst="rect">
            <a:avLst/>
          </a:prstGeom>
          <a:solidFill>
            <a:srgbClr val="FFFFFF"/>
          </a:solidFill>
          <a:ln w="12700">
            <a:solidFill>
              <a:srgbClr val="FFFFFF"/>
            </a:solidFill>
            <a:prstDash val="solid"/>
          </a:ln>
        </p:spPr>
        <p:txBody>
          <a:bodyPr/>
          <a:lstStyle/>
          <a:p>
            <a:endParaRPr lang="es-ES"/>
          </a:p>
        </p:txBody>
      </p:sp>
      <p:pic>
        <p:nvPicPr>
          <p:cNvPr id="17" name="Image 6" descr="/tmp/claude-0/-home-claude/6ecba087-9563-50f1-9ffc-6a20c07eac08/scratchpad/decks/assets/logos/partners_fee_06.png"/>
          <p:cNvPicPr>
            <a:picLocks noChangeAspect="1"/>
          </p:cNvPicPr>
          <p:nvPr/>
        </p:nvPicPr>
        <p:blipFill>
          <a:blip r:embed="rId9"/>
          <a:stretch>
            <a:fillRect/>
          </a:stretch>
        </p:blipFill>
        <p:spPr>
          <a:xfrm>
            <a:off x="10154048" y="2212826"/>
            <a:ext cx="1220386" cy="347516"/>
          </a:xfrm>
          <a:prstGeom prst="rect">
            <a:avLst/>
          </a:prstGeom>
        </p:spPr>
      </p:pic>
      <p:sp>
        <p:nvSpPr>
          <p:cNvPr id="18" name="Shape 9"/>
          <p:cNvSpPr/>
          <p:nvPr/>
        </p:nvSpPr>
        <p:spPr>
          <a:xfrm>
            <a:off x="548640" y="2953512"/>
            <a:ext cx="1757629" cy="914400"/>
          </a:xfrm>
          <a:prstGeom prst="rect">
            <a:avLst/>
          </a:prstGeom>
          <a:solidFill>
            <a:srgbClr val="FFFFFF"/>
          </a:solidFill>
          <a:ln w="12700">
            <a:solidFill>
              <a:srgbClr val="FFFFFF"/>
            </a:solidFill>
            <a:prstDash val="solid"/>
          </a:ln>
        </p:spPr>
        <p:txBody>
          <a:bodyPr/>
          <a:lstStyle/>
          <a:p>
            <a:endParaRPr lang="es-ES"/>
          </a:p>
        </p:txBody>
      </p:sp>
      <p:pic>
        <p:nvPicPr>
          <p:cNvPr id="19" name="Image 7" descr="/tmp/claude-0/-home-claude/6ecba087-9563-50f1-9ffc-6a20c07eac08/scratchpad/decks/assets/logos/partners_fee_07.png"/>
          <p:cNvPicPr>
            <a:picLocks noChangeAspect="1"/>
          </p:cNvPicPr>
          <p:nvPr/>
        </p:nvPicPr>
        <p:blipFill>
          <a:blip r:embed="rId10"/>
          <a:stretch>
            <a:fillRect/>
          </a:stretch>
        </p:blipFill>
        <p:spPr>
          <a:xfrm>
            <a:off x="1082866" y="3011302"/>
            <a:ext cx="689178" cy="798820"/>
          </a:xfrm>
          <a:prstGeom prst="rect">
            <a:avLst/>
          </a:prstGeom>
        </p:spPr>
      </p:pic>
      <p:sp>
        <p:nvSpPr>
          <p:cNvPr id="20" name="Shape 10"/>
          <p:cNvSpPr/>
          <p:nvPr/>
        </p:nvSpPr>
        <p:spPr>
          <a:xfrm>
            <a:off x="2415997" y="2953512"/>
            <a:ext cx="1757629" cy="914400"/>
          </a:xfrm>
          <a:prstGeom prst="rect">
            <a:avLst/>
          </a:prstGeom>
          <a:solidFill>
            <a:srgbClr val="FFFFFF"/>
          </a:solidFill>
          <a:ln w="12700">
            <a:solidFill>
              <a:srgbClr val="FFFFFF"/>
            </a:solidFill>
            <a:prstDash val="solid"/>
          </a:ln>
        </p:spPr>
        <p:txBody>
          <a:bodyPr/>
          <a:lstStyle/>
          <a:p>
            <a:endParaRPr lang="es-ES"/>
          </a:p>
        </p:txBody>
      </p:sp>
      <p:pic>
        <p:nvPicPr>
          <p:cNvPr id="21" name="Image 8" descr="/tmp/claude-0/-home-claude/6ecba087-9563-50f1-9ffc-6a20c07eac08/scratchpad/decks/assets/logos/partners_fee_08.png"/>
          <p:cNvPicPr>
            <a:picLocks noChangeAspect="1"/>
          </p:cNvPicPr>
          <p:nvPr/>
        </p:nvPicPr>
        <p:blipFill>
          <a:blip r:embed="rId11"/>
          <a:stretch>
            <a:fillRect/>
          </a:stretch>
        </p:blipFill>
        <p:spPr>
          <a:xfrm>
            <a:off x="2684619" y="3286099"/>
            <a:ext cx="1220386" cy="249226"/>
          </a:xfrm>
          <a:prstGeom prst="rect">
            <a:avLst/>
          </a:prstGeom>
        </p:spPr>
      </p:pic>
      <p:sp>
        <p:nvSpPr>
          <p:cNvPr id="22" name="Shape 11"/>
          <p:cNvSpPr/>
          <p:nvPr/>
        </p:nvSpPr>
        <p:spPr>
          <a:xfrm>
            <a:off x="4283354" y="2953512"/>
            <a:ext cx="1757629" cy="914400"/>
          </a:xfrm>
          <a:prstGeom prst="rect">
            <a:avLst/>
          </a:prstGeom>
          <a:solidFill>
            <a:srgbClr val="FFFFFF"/>
          </a:solidFill>
          <a:ln w="12700">
            <a:solidFill>
              <a:srgbClr val="FFFFFF"/>
            </a:solidFill>
            <a:prstDash val="solid"/>
          </a:ln>
        </p:spPr>
        <p:txBody>
          <a:bodyPr/>
          <a:lstStyle/>
          <a:p>
            <a:endParaRPr lang="es-ES"/>
          </a:p>
        </p:txBody>
      </p:sp>
      <p:pic>
        <p:nvPicPr>
          <p:cNvPr id="23" name="Image 9" descr="/tmp/claude-0/-home-claude/6ecba087-9563-50f1-9ffc-6a20c07eac08/scratchpad/decks/assets/logos/partners_fee_09.png"/>
          <p:cNvPicPr>
            <a:picLocks noChangeAspect="1"/>
          </p:cNvPicPr>
          <p:nvPr/>
        </p:nvPicPr>
        <p:blipFill>
          <a:blip r:embed="rId12"/>
          <a:stretch>
            <a:fillRect/>
          </a:stretch>
        </p:blipFill>
        <p:spPr>
          <a:xfrm>
            <a:off x="4551976" y="3206501"/>
            <a:ext cx="1220386" cy="408422"/>
          </a:xfrm>
          <a:prstGeom prst="rect">
            <a:avLst/>
          </a:prstGeom>
        </p:spPr>
      </p:pic>
      <p:sp>
        <p:nvSpPr>
          <p:cNvPr id="24" name="Shape 12"/>
          <p:cNvSpPr/>
          <p:nvPr/>
        </p:nvSpPr>
        <p:spPr>
          <a:xfrm>
            <a:off x="6150712" y="2953512"/>
            <a:ext cx="1757629" cy="914400"/>
          </a:xfrm>
          <a:prstGeom prst="rect">
            <a:avLst/>
          </a:prstGeom>
          <a:solidFill>
            <a:srgbClr val="FFFFFF"/>
          </a:solidFill>
          <a:ln w="12700">
            <a:solidFill>
              <a:srgbClr val="FFFFFF"/>
            </a:solidFill>
            <a:prstDash val="solid"/>
          </a:ln>
        </p:spPr>
        <p:txBody>
          <a:bodyPr/>
          <a:lstStyle/>
          <a:p>
            <a:endParaRPr lang="es-ES"/>
          </a:p>
        </p:txBody>
      </p:sp>
      <p:pic>
        <p:nvPicPr>
          <p:cNvPr id="25" name="Image 10" descr="/tmp/claude-0/-home-claude/6ecba087-9563-50f1-9ffc-6a20c07eac08/scratchpad/decks/assets/logos/partners_fee_10.png"/>
          <p:cNvPicPr>
            <a:picLocks noChangeAspect="1"/>
          </p:cNvPicPr>
          <p:nvPr/>
        </p:nvPicPr>
        <p:blipFill>
          <a:blip r:embed="rId13"/>
          <a:stretch>
            <a:fillRect/>
          </a:stretch>
        </p:blipFill>
        <p:spPr>
          <a:xfrm>
            <a:off x="6419333" y="3329237"/>
            <a:ext cx="1220386" cy="162949"/>
          </a:xfrm>
          <a:prstGeom prst="rect">
            <a:avLst/>
          </a:prstGeom>
        </p:spPr>
      </p:pic>
      <p:sp>
        <p:nvSpPr>
          <p:cNvPr id="26" name="Shape 13"/>
          <p:cNvSpPr/>
          <p:nvPr/>
        </p:nvSpPr>
        <p:spPr>
          <a:xfrm>
            <a:off x="8018069" y="2953512"/>
            <a:ext cx="1757629" cy="914400"/>
          </a:xfrm>
          <a:prstGeom prst="rect">
            <a:avLst/>
          </a:prstGeom>
          <a:solidFill>
            <a:srgbClr val="FFFFFF"/>
          </a:solidFill>
          <a:ln w="12700">
            <a:solidFill>
              <a:srgbClr val="FFFFFF"/>
            </a:solidFill>
            <a:prstDash val="solid"/>
          </a:ln>
        </p:spPr>
        <p:txBody>
          <a:bodyPr/>
          <a:lstStyle/>
          <a:p>
            <a:endParaRPr lang="es-ES"/>
          </a:p>
        </p:txBody>
      </p:sp>
      <p:pic>
        <p:nvPicPr>
          <p:cNvPr id="27" name="Image 11" descr="/tmp/claude-0/-home-claude/6ecba087-9563-50f1-9ffc-6a20c07eac08/scratchpad/decks/assets/logos/partners_fee_11.png"/>
          <p:cNvPicPr>
            <a:picLocks noChangeAspect="1"/>
          </p:cNvPicPr>
          <p:nvPr/>
        </p:nvPicPr>
        <p:blipFill>
          <a:blip r:embed="rId14"/>
          <a:stretch>
            <a:fillRect/>
          </a:stretch>
        </p:blipFill>
        <p:spPr>
          <a:xfrm>
            <a:off x="8465267" y="3154680"/>
            <a:ext cx="863234" cy="512064"/>
          </a:xfrm>
          <a:prstGeom prst="rect">
            <a:avLst/>
          </a:prstGeom>
        </p:spPr>
      </p:pic>
      <p:sp>
        <p:nvSpPr>
          <p:cNvPr id="28" name="Shape 14"/>
          <p:cNvSpPr/>
          <p:nvPr/>
        </p:nvSpPr>
        <p:spPr>
          <a:xfrm>
            <a:off x="9885426" y="2953512"/>
            <a:ext cx="1757629" cy="914400"/>
          </a:xfrm>
          <a:prstGeom prst="rect">
            <a:avLst/>
          </a:prstGeom>
          <a:solidFill>
            <a:srgbClr val="FFFFFF"/>
          </a:solidFill>
          <a:ln w="12700">
            <a:solidFill>
              <a:srgbClr val="FFFFFF"/>
            </a:solidFill>
            <a:prstDash val="solid"/>
          </a:ln>
        </p:spPr>
        <p:txBody>
          <a:bodyPr/>
          <a:lstStyle/>
          <a:p>
            <a:endParaRPr lang="es-ES"/>
          </a:p>
        </p:txBody>
      </p:sp>
      <p:pic>
        <p:nvPicPr>
          <p:cNvPr id="29" name="Image 12" descr="/tmp/claude-0/-home-claude/6ecba087-9563-50f1-9ffc-6a20c07eac08/scratchpad/decks/assets/logos/partners_fee_12.png"/>
          <p:cNvPicPr>
            <a:picLocks noChangeAspect="1"/>
          </p:cNvPicPr>
          <p:nvPr/>
        </p:nvPicPr>
        <p:blipFill>
          <a:blip r:embed="rId15"/>
          <a:stretch>
            <a:fillRect/>
          </a:stretch>
        </p:blipFill>
        <p:spPr>
          <a:xfrm>
            <a:off x="10154048" y="3249677"/>
            <a:ext cx="1220386" cy="322070"/>
          </a:xfrm>
          <a:prstGeom prst="rect">
            <a:avLst/>
          </a:prstGeom>
        </p:spPr>
      </p:pic>
      <p:sp>
        <p:nvSpPr>
          <p:cNvPr id="30" name="Shape 15"/>
          <p:cNvSpPr/>
          <p:nvPr/>
        </p:nvSpPr>
        <p:spPr>
          <a:xfrm>
            <a:off x="548640" y="3977640"/>
            <a:ext cx="1757629" cy="914400"/>
          </a:xfrm>
          <a:prstGeom prst="rect">
            <a:avLst/>
          </a:prstGeom>
          <a:solidFill>
            <a:srgbClr val="FFFFFF"/>
          </a:solidFill>
          <a:ln w="12700">
            <a:solidFill>
              <a:srgbClr val="FFFFFF"/>
            </a:solidFill>
            <a:prstDash val="solid"/>
          </a:ln>
        </p:spPr>
        <p:txBody>
          <a:bodyPr/>
          <a:lstStyle/>
          <a:p>
            <a:endParaRPr lang="es-ES"/>
          </a:p>
        </p:txBody>
      </p:sp>
      <p:pic>
        <p:nvPicPr>
          <p:cNvPr id="31" name="Image 13" descr="/tmp/claude-0/-home-claude/6ecba087-9563-50f1-9ffc-6a20c07eac08/scratchpad/decks/assets/logos/partners_fee_13.png"/>
          <p:cNvPicPr>
            <a:picLocks noChangeAspect="1"/>
          </p:cNvPicPr>
          <p:nvPr/>
        </p:nvPicPr>
        <p:blipFill>
          <a:blip r:embed="rId16"/>
          <a:stretch>
            <a:fillRect/>
          </a:stretch>
        </p:blipFill>
        <p:spPr>
          <a:xfrm>
            <a:off x="947647" y="4178808"/>
            <a:ext cx="959616" cy="512064"/>
          </a:xfrm>
          <a:prstGeom prst="rect">
            <a:avLst/>
          </a:prstGeom>
        </p:spPr>
      </p:pic>
      <p:sp>
        <p:nvSpPr>
          <p:cNvPr id="32" name="Shape 16"/>
          <p:cNvSpPr/>
          <p:nvPr/>
        </p:nvSpPr>
        <p:spPr>
          <a:xfrm>
            <a:off x="2415997" y="3977640"/>
            <a:ext cx="1757629" cy="914400"/>
          </a:xfrm>
          <a:prstGeom prst="rect">
            <a:avLst/>
          </a:prstGeom>
          <a:solidFill>
            <a:srgbClr val="FFFFFF"/>
          </a:solidFill>
          <a:ln w="12700">
            <a:solidFill>
              <a:srgbClr val="FFFFFF"/>
            </a:solidFill>
            <a:prstDash val="solid"/>
          </a:ln>
        </p:spPr>
        <p:txBody>
          <a:bodyPr/>
          <a:lstStyle/>
          <a:p>
            <a:endParaRPr lang="es-ES"/>
          </a:p>
        </p:txBody>
      </p:sp>
      <p:pic>
        <p:nvPicPr>
          <p:cNvPr id="33" name="Image 14" descr="/tmp/claude-0/-home-claude/6ecba087-9563-50f1-9ffc-6a20c07eac08/scratchpad/decks/assets/logos/partners_fee_14.png"/>
          <p:cNvPicPr>
            <a:picLocks noChangeAspect="1"/>
          </p:cNvPicPr>
          <p:nvPr/>
        </p:nvPicPr>
        <p:blipFill>
          <a:blip r:embed="rId17"/>
          <a:stretch>
            <a:fillRect/>
          </a:stretch>
        </p:blipFill>
        <p:spPr>
          <a:xfrm>
            <a:off x="2846892" y="4178808"/>
            <a:ext cx="895840" cy="512064"/>
          </a:xfrm>
          <a:prstGeom prst="rect">
            <a:avLst/>
          </a:prstGeom>
        </p:spPr>
      </p:pic>
      <p:sp>
        <p:nvSpPr>
          <p:cNvPr id="34" name="Shape 17"/>
          <p:cNvSpPr/>
          <p:nvPr/>
        </p:nvSpPr>
        <p:spPr>
          <a:xfrm>
            <a:off x="4283354" y="3977640"/>
            <a:ext cx="1757629" cy="914400"/>
          </a:xfrm>
          <a:prstGeom prst="rect">
            <a:avLst/>
          </a:prstGeom>
          <a:solidFill>
            <a:srgbClr val="FFFFFF"/>
          </a:solidFill>
          <a:ln w="12700">
            <a:solidFill>
              <a:srgbClr val="FFFFFF"/>
            </a:solidFill>
            <a:prstDash val="solid"/>
          </a:ln>
        </p:spPr>
        <p:txBody>
          <a:bodyPr/>
          <a:lstStyle/>
          <a:p>
            <a:endParaRPr lang="es-ES"/>
          </a:p>
        </p:txBody>
      </p:sp>
      <p:pic>
        <p:nvPicPr>
          <p:cNvPr id="35" name="Image 15" descr="/tmp/claude-0/-home-claude/6ecba087-9563-50f1-9ffc-6a20c07eac08/scratchpad/decks/assets/logos/partners_fee_15.png"/>
          <p:cNvPicPr>
            <a:picLocks noChangeAspect="1"/>
          </p:cNvPicPr>
          <p:nvPr/>
        </p:nvPicPr>
        <p:blipFill>
          <a:blip r:embed="rId18"/>
          <a:stretch>
            <a:fillRect/>
          </a:stretch>
        </p:blipFill>
        <p:spPr>
          <a:xfrm>
            <a:off x="4551976" y="4258838"/>
            <a:ext cx="1220386" cy="352005"/>
          </a:xfrm>
          <a:prstGeom prst="rect">
            <a:avLst/>
          </a:prstGeom>
        </p:spPr>
      </p:pic>
      <p:sp>
        <p:nvSpPr>
          <p:cNvPr id="36" name="Shape 18"/>
          <p:cNvSpPr/>
          <p:nvPr/>
        </p:nvSpPr>
        <p:spPr>
          <a:xfrm>
            <a:off x="6150712" y="3977640"/>
            <a:ext cx="1757629" cy="914400"/>
          </a:xfrm>
          <a:prstGeom prst="rect">
            <a:avLst/>
          </a:prstGeom>
          <a:solidFill>
            <a:srgbClr val="FFFFFF"/>
          </a:solidFill>
          <a:ln w="12700">
            <a:solidFill>
              <a:srgbClr val="FFFFFF"/>
            </a:solidFill>
            <a:prstDash val="solid"/>
          </a:ln>
        </p:spPr>
        <p:txBody>
          <a:bodyPr/>
          <a:lstStyle/>
          <a:p>
            <a:endParaRPr lang="es-ES"/>
          </a:p>
        </p:txBody>
      </p:sp>
      <p:pic>
        <p:nvPicPr>
          <p:cNvPr id="37" name="Image 16" descr="/tmp/claude-0/-home-claude/6ecba087-9563-50f1-9ffc-6a20c07eac08/scratchpad/decks/assets/logos/partners_fee_16.png"/>
          <p:cNvPicPr>
            <a:picLocks noChangeAspect="1"/>
          </p:cNvPicPr>
          <p:nvPr/>
        </p:nvPicPr>
        <p:blipFill>
          <a:blip r:embed="rId19"/>
          <a:stretch>
            <a:fillRect/>
          </a:stretch>
        </p:blipFill>
        <p:spPr>
          <a:xfrm>
            <a:off x="6607560" y="4178808"/>
            <a:ext cx="843933" cy="512064"/>
          </a:xfrm>
          <a:prstGeom prst="rect">
            <a:avLst/>
          </a:prstGeom>
        </p:spPr>
      </p:pic>
      <p:sp>
        <p:nvSpPr>
          <p:cNvPr id="38" name="Shape 19"/>
          <p:cNvSpPr/>
          <p:nvPr/>
        </p:nvSpPr>
        <p:spPr>
          <a:xfrm>
            <a:off x="8018069" y="3977640"/>
            <a:ext cx="1757629" cy="914400"/>
          </a:xfrm>
          <a:prstGeom prst="rect">
            <a:avLst/>
          </a:prstGeom>
          <a:solidFill>
            <a:srgbClr val="FFFFFF"/>
          </a:solidFill>
          <a:ln w="12700">
            <a:solidFill>
              <a:srgbClr val="FFFFFF"/>
            </a:solidFill>
            <a:prstDash val="solid"/>
          </a:ln>
        </p:spPr>
        <p:txBody>
          <a:bodyPr/>
          <a:lstStyle/>
          <a:p>
            <a:endParaRPr lang="es-ES"/>
          </a:p>
        </p:txBody>
      </p:sp>
      <p:pic>
        <p:nvPicPr>
          <p:cNvPr id="39" name="Image 17" descr="/tmp/claude-0/-home-claude/6ecba087-9563-50f1-9ffc-6a20c07eac08/scratchpad/decks/assets/logos/partners_fee_17.png"/>
          <p:cNvPicPr>
            <a:picLocks noChangeAspect="1"/>
          </p:cNvPicPr>
          <p:nvPr/>
        </p:nvPicPr>
        <p:blipFill>
          <a:blip r:embed="rId20"/>
          <a:stretch>
            <a:fillRect/>
          </a:stretch>
        </p:blipFill>
        <p:spPr>
          <a:xfrm>
            <a:off x="8411770" y="4178808"/>
            <a:ext cx="970227" cy="512064"/>
          </a:xfrm>
          <a:prstGeom prst="rect">
            <a:avLst/>
          </a:prstGeom>
        </p:spPr>
      </p:pic>
      <p:sp>
        <p:nvSpPr>
          <p:cNvPr id="40" name="Shape 20"/>
          <p:cNvSpPr/>
          <p:nvPr/>
        </p:nvSpPr>
        <p:spPr>
          <a:xfrm>
            <a:off x="9885426" y="3977640"/>
            <a:ext cx="1757629" cy="914400"/>
          </a:xfrm>
          <a:prstGeom prst="rect">
            <a:avLst/>
          </a:prstGeom>
          <a:solidFill>
            <a:srgbClr val="FFFFFF"/>
          </a:solidFill>
          <a:ln w="12700">
            <a:solidFill>
              <a:srgbClr val="FFFFFF"/>
            </a:solidFill>
            <a:prstDash val="solid"/>
          </a:ln>
        </p:spPr>
        <p:txBody>
          <a:bodyPr/>
          <a:lstStyle/>
          <a:p>
            <a:endParaRPr lang="es-ES"/>
          </a:p>
        </p:txBody>
      </p:sp>
      <p:pic>
        <p:nvPicPr>
          <p:cNvPr id="41" name="Image 18" descr="/tmp/claude-0/-home-claude/6ecba087-9563-50f1-9ffc-6a20c07eac08/scratchpad/decks/assets/logos/partners_fee_18.png"/>
          <p:cNvPicPr>
            <a:picLocks noChangeAspect="1"/>
          </p:cNvPicPr>
          <p:nvPr/>
        </p:nvPicPr>
        <p:blipFill>
          <a:blip r:embed="rId21"/>
          <a:stretch>
            <a:fillRect/>
          </a:stretch>
        </p:blipFill>
        <p:spPr>
          <a:xfrm>
            <a:off x="10154048" y="4298383"/>
            <a:ext cx="1220386" cy="272913"/>
          </a:xfrm>
          <a:prstGeom prst="rect">
            <a:avLst/>
          </a:prstGeom>
        </p:spPr>
      </p:pic>
      <p:sp>
        <p:nvSpPr>
          <p:cNvPr id="42" name="Shape 21"/>
          <p:cNvSpPr/>
          <p:nvPr/>
        </p:nvSpPr>
        <p:spPr>
          <a:xfrm>
            <a:off x="2415997" y="5001768"/>
            <a:ext cx="1757629" cy="914400"/>
          </a:xfrm>
          <a:prstGeom prst="rect">
            <a:avLst/>
          </a:prstGeom>
          <a:solidFill>
            <a:srgbClr val="FFFFFF"/>
          </a:solidFill>
          <a:ln w="12700">
            <a:solidFill>
              <a:srgbClr val="FFFFFF"/>
            </a:solidFill>
            <a:prstDash val="solid"/>
          </a:ln>
        </p:spPr>
        <p:txBody>
          <a:bodyPr/>
          <a:lstStyle/>
          <a:p>
            <a:endParaRPr lang="es-ES"/>
          </a:p>
        </p:txBody>
      </p:sp>
      <p:pic>
        <p:nvPicPr>
          <p:cNvPr id="43" name="Image 19" descr="/tmp/claude-0/-home-claude/6ecba087-9563-50f1-9ffc-6a20c07eac08/scratchpad/decks/assets/logos/partners_fee_19.png"/>
          <p:cNvPicPr>
            <a:picLocks noChangeAspect="1"/>
          </p:cNvPicPr>
          <p:nvPr/>
        </p:nvPicPr>
        <p:blipFill>
          <a:blip r:embed="rId22"/>
          <a:stretch>
            <a:fillRect/>
          </a:stretch>
        </p:blipFill>
        <p:spPr>
          <a:xfrm>
            <a:off x="2684619" y="5284393"/>
            <a:ext cx="1220386" cy="349150"/>
          </a:xfrm>
          <a:prstGeom prst="rect">
            <a:avLst/>
          </a:prstGeom>
        </p:spPr>
      </p:pic>
      <p:sp>
        <p:nvSpPr>
          <p:cNvPr id="44" name="Shape 22"/>
          <p:cNvSpPr/>
          <p:nvPr/>
        </p:nvSpPr>
        <p:spPr>
          <a:xfrm>
            <a:off x="4283354" y="5001768"/>
            <a:ext cx="1757629" cy="914400"/>
          </a:xfrm>
          <a:prstGeom prst="rect">
            <a:avLst/>
          </a:prstGeom>
          <a:solidFill>
            <a:srgbClr val="FFFFFF"/>
          </a:solidFill>
          <a:ln w="12700">
            <a:solidFill>
              <a:srgbClr val="FFFFFF"/>
            </a:solidFill>
            <a:prstDash val="solid"/>
          </a:ln>
        </p:spPr>
        <p:txBody>
          <a:bodyPr/>
          <a:lstStyle/>
          <a:p>
            <a:endParaRPr lang="es-ES"/>
          </a:p>
        </p:txBody>
      </p:sp>
      <p:pic>
        <p:nvPicPr>
          <p:cNvPr id="45" name="Image 20" descr="/tmp/claude-0/-home-claude/6ecba087-9563-50f1-9ffc-6a20c07eac08/scratchpad/decks/assets/logos/partners_fee_20.png"/>
          <p:cNvPicPr>
            <a:picLocks noChangeAspect="1"/>
          </p:cNvPicPr>
          <p:nvPr/>
        </p:nvPicPr>
        <p:blipFill>
          <a:blip r:embed="rId23"/>
          <a:stretch>
            <a:fillRect/>
          </a:stretch>
        </p:blipFill>
        <p:spPr>
          <a:xfrm>
            <a:off x="4551976" y="5313979"/>
            <a:ext cx="1220386" cy="289977"/>
          </a:xfrm>
          <a:prstGeom prst="rect">
            <a:avLst/>
          </a:prstGeom>
        </p:spPr>
      </p:pic>
      <p:sp>
        <p:nvSpPr>
          <p:cNvPr id="46" name="Shape 23"/>
          <p:cNvSpPr/>
          <p:nvPr/>
        </p:nvSpPr>
        <p:spPr>
          <a:xfrm>
            <a:off x="6150712" y="5001768"/>
            <a:ext cx="1757629" cy="914400"/>
          </a:xfrm>
          <a:prstGeom prst="rect">
            <a:avLst/>
          </a:prstGeom>
          <a:solidFill>
            <a:srgbClr val="FFFFFF"/>
          </a:solidFill>
          <a:ln w="12700">
            <a:solidFill>
              <a:srgbClr val="FFFFFF"/>
            </a:solidFill>
            <a:prstDash val="solid"/>
          </a:ln>
        </p:spPr>
        <p:txBody>
          <a:bodyPr/>
          <a:lstStyle/>
          <a:p>
            <a:endParaRPr lang="es-ES"/>
          </a:p>
        </p:txBody>
      </p:sp>
      <p:pic>
        <p:nvPicPr>
          <p:cNvPr id="47" name="Image 21" descr="/tmp/claude-0/-home-claude/6ecba087-9563-50f1-9ffc-6a20c07eac08/scratchpad/decks/assets/logos/partners_fee_21.png"/>
          <p:cNvPicPr>
            <a:picLocks noChangeAspect="1"/>
          </p:cNvPicPr>
          <p:nvPr/>
        </p:nvPicPr>
        <p:blipFill>
          <a:blip r:embed="rId24"/>
          <a:stretch>
            <a:fillRect/>
          </a:stretch>
        </p:blipFill>
        <p:spPr>
          <a:xfrm>
            <a:off x="6419333" y="5349703"/>
            <a:ext cx="1220386" cy="218531"/>
          </a:xfrm>
          <a:prstGeom prst="rect">
            <a:avLst/>
          </a:prstGeom>
        </p:spPr>
      </p:pic>
      <p:sp>
        <p:nvSpPr>
          <p:cNvPr id="48" name="Shape 24"/>
          <p:cNvSpPr/>
          <p:nvPr/>
        </p:nvSpPr>
        <p:spPr>
          <a:xfrm>
            <a:off x="8018069" y="5001768"/>
            <a:ext cx="1757629" cy="914400"/>
          </a:xfrm>
          <a:prstGeom prst="rect">
            <a:avLst/>
          </a:prstGeom>
          <a:solidFill>
            <a:srgbClr val="FFFFFF"/>
          </a:solidFill>
          <a:ln w="12700">
            <a:solidFill>
              <a:srgbClr val="FFFFFF"/>
            </a:solidFill>
            <a:prstDash val="solid"/>
          </a:ln>
        </p:spPr>
        <p:txBody>
          <a:bodyPr/>
          <a:lstStyle/>
          <a:p>
            <a:endParaRPr lang="es-ES"/>
          </a:p>
        </p:txBody>
      </p:sp>
      <p:pic>
        <p:nvPicPr>
          <p:cNvPr id="49" name="Image 22" descr="/tmp/claude-0/-home-claude/6ecba087-9563-50f1-9ffc-6a20c07eac08/scratchpad/decks/assets/logos/partners_fee_22.png"/>
          <p:cNvPicPr>
            <a:picLocks noChangeAspect="1"/>
          </p:cNvPicPr>
          <p:nvPr/>
        </p:nvPicPr>
        <p:blipFill>
          <a:blip r:embed="rId25"/>
          <a:stretch>
            <a:fillRect/>
          </a:stretch>
        </p:blipFill>
        <p:spPr>
          <a:xfrm>
            <a:off x="8286691" y="5360196"/>
            <a:ext cx="1220386" cy="197544"/>
          </a:xfrm>
          <a:prstGeom prst="rect">
            <a:avLst/>
          </a:prstGeom>
        </p:spPr>
      </p:pic>
      <p:sp>
        <p:nvSpPr>
          <p:cNvPr id="50" name="Text 25"/>
          <p:cNvSpPr txBox="1"/>
          <p:nvPr/>
        </p:nvSpPr>
        <p:spPr>
          <a:xfrm>
            <a:off x="10545775" y="6291072"/>
            <a:ext cx="1097280" cy="274320"/>
          </a:xfrm>
          <a:prstGeom prst="rect">
            <a:avLst/>
          </a:prstGeom>
          <a:noFill/>
          <a:ln/>
        </p:spPr>
        <p:txBody>
          <a:bodyPr wrap="square" lIns="0" tIns="0" rIns="0" bIns="0" rtlCol="0" anchor="t"/>
          <a:lstStyle/>
          <a:p>
            <a:pPr marL="0" indent="0" algn="r">
              <a:buNone/>
            </a:pPr>
            <a:r>
              <a:rPr lang="en-US" sz="1000" kern="0" spc="100" dirty="0">
                <a:solidFill>
                  <a:srgbClr val="5C5C6E"/>
                </a:solidFill>
                <a:latin typeface="Manrope" pitchFamily="34" charset="0"/>
                <a:ea typeface="Manrope" pitchFamily="34" charset="-122"/>
                <a:cs typeface="Manrope" pitchFamily="34" charset="-120"/>
              </a:rPr>
              <a:t>14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claude-0/-home-claude/6ecba087-9563-50f1-9ffc-6a20c07eac08/scratchpad/decks/kit/bg_grad_d.png"/>
          <p:cNvPicPr>
            <a:picLocks noChangeAspect="1"/>
          </p:cNvPicPr>
          <p:nvPr/>
        </p:nvPicPr>
        <p:blipFill>
          <a:blip r:embed="rId3"/>
          <a:stretch>
            <a:fillRect/>
          </a:stretch>
        </p:blipFill>
        <p:spPr>
          <a:xfrm>
            <a:off x="0" y="0"/>
            <a:ext cx="12191695" cy="6858000"/>
          </a:xfrm>
          <a:prstGeom prst="rect">
            <a:avLst/>
          </a:prstGeom>
        </p:spPr>
      </p:pic>
      <p:pic>
        <p:nvPicPr>
          <p:cNvPr id="4" name="Image 2" descr="/tmp/claude-0/-home-claude/6ecba087-9563-50f1-9ffc-6a20c07eac08/scratchpad/decks/kit/logo_white.png"/>
          <p:cNvPicPr>
            <a:picLocks noChangeAspect="1"/>
          </p:cNvPicPr>
          <p:nvPr/>
        </p:nvPicPr>
        <p:blipFill>
          <a:blip r:embed="rId4"/>
          <a:stretch>
            <a:fillRect/>
          </a:stretch>
        </p:blipFill>
        <p:spPr>
          <a:xfrm>
            <a:off x="548640" y="548640"/>
            <a:ext cx="1554480" cy="307732"/>
          </a:xfrm>
          <a:prstGeom prst="rect">
            <a:avLst/>
          </a:prstGeom>
        </p:spPr>
      </p:pic>
      <p:sp>
        <p:nvSpPr>
          <p:cNvPr id="5" name="Text 0"/>
          <p:cNvSpPr txBox="1"/>
          <p:nvPr/>
        </p:nvSpPr>
        <p:spPr>
          <a:xfrm>
            <a:off x="548640" y="2011680"/>
            <a:ext cx="9144000" cy="1737360"/>
          </a:xfrm>
          <a:prstGeom prst="rect">
            <a:avLst/>
          </a:prstGeom>
          <a:noFill/>
          <a:ln/>
        </p:spPr>
        <p:txBody>
          <a:bodyPr wrap="square" lIns="0" tIns="0" rIns="0" bIns="0" rtlCol="0" anchor="b"/>
          <a:lstStyle/>
          <a:p>
            <a:pPr marL="0" indent="0">
              <a:lnSpc>
                <a:spcPct val="95000"/>
              </a:lnSpc>
              <a:buNone/>
            </a:pPr>
            <a:r>
              <a:rPr lang="en-US" sz="4800" kern="0" spc="-50" dirty="0">
                <a:solidFill>
                  <a:srgbClr val="FFFFFF"/>
                </a:solidFill>
                <a:latin typeface="Raleway Light" pitchFamily="34" charset="0"/>
                <a:ea typeface="Raleway Light" pitchFamily="34" charset="-122"/>
                <a:cs typeface="Raleway Light" pitchFamily="34" charset="-120"/>
              </a:rPr>
              <a:t>Building better</a:t>
            </a:r>
            <a:endParaRPr lang="en-US" sz="4800" dirty="0"/>
          </a:p>
          <a:p>
            <a:pPr marL="0" indent="0">
              <a:lnSpc>
                <a:spcPct val="95000"/>
              </a:lnSpc>
              <a:buNone/>
            </a:pPr>
            <a:r>
              <a:rPr lang="en-US" sz="4800" kern="0" spc="-50" dirty="0">
                <a:solidFill>
                  <a:srgbClr val="FFFFFF"/>
                </a:solidFill>
                <a:latin typeface="Raleway Light" pitchFamily="34" charset="0"/>
                <a:ea typeface="Raleway Light" pitchFamily="34" charset="-122"/>
                <a:cs typeface="Raleway Light" pitchFamily="34" charset="-120"/>
              </a:rPr>
              <a:t>teams, together.</a:t>
            </a:r>
            <a:endParaRPr lang="en-US" sz="4800" dirty="0"/>
          </a:p>
        </p:txBody>
      </p:sp>
      <p:sp>
        <p:nvSpPr>
          <p:cNvPr id="6" name="Text 1"/>
          <p:cNvSpPr txBox="1"/>
          <p:nvPr/>
        </p:nvSpPr>
        <p:spPr>
          <a:xfrm>
            <a:off x="548640" y="5715000"/>
            <a:ext cx="2926080" cy="228600"/>
          </a:xfrm>
          <a:prstGeom prst="rect">
            <a:avLst/>
          </a:prstGeom>
          <a:noFill/>
          <a:ln/>
        </p:spPr>
        <p:txBody>
          <a:bodyPr wrap="square" lIns="0" tIns="0" rIns="0" bIns="0" rtlCol="0" anchor="t"/>
          <a:lstStyle/>
          <a:p>
            <a:pPr marL="0" indent="0">
              <a:buNone/>
            </a:pPr>
            <a:r>
              <a:rPr lang="en-US" sz="850" kern="0" spc="220" dirty="0">
                <a:solidFill>
                  <a:srgbClr val="8AA3A5"/>
                </a:solidFill>
                <a:latin typeface="Raleway SemiBold" pitchFamily="34" charset="0"/>
                <a:ea typeface="Raleway SemiBold" pitchFamily="34" charset="-122"/>
                <a:cs typeface="Raleway SemiBold" pitchFamily="34" charset="-120"/>
              </a:rPr>
              <a:t>EMAIL</a:t>
            </a:r>
            <a:endParaRPr lang="en-US" sz="850" dirty="0"/>
          </a:p>
        </p:txBody>
      </p:sp>
      <p:sp>
        <p:nvSpPr>
          <p:cNvPr id="7" name="Text 2"/>
          <p:cNvSpPr txBox="1"/>
          <p:nvPr/>
        </p:nvSpPr>
        <p:spPr>
          <a:xfrm>
            <a:off x="548640" y="5961888"/>
            <a:ext cx="3017520" cy="274320"/>
          </a:xfrm>
          <a:prstGeom prst="rect">
            <a:avLst/>
          </a:prstGeom>
          <a:noFill/>
          <a:ln/>
        </p:spPr>
        <p:txBody>
          <a:bodyPr wrap="square" lIns="0" tIns="0" rIns="0" bIns="0" rtlCol="0" anchor="t"/>
          <a:lstStyle/>
          <a:p>
            <a:pPr marL="0" indent="0">
              <a:buNone/>
            </a:pPr>
            <a:r>
              <a:rPr lang="en-US" sz="1300" dirty="0">
                <a:solidFill>
                  <a:srgbClr val="FFFFFF"/>
                </a:solidFill>
                <a:latin typeface="Raleway" pitchFamily="34" charset="0"/>
                <a:ea typeface="Raleway" pitchFamily="34" charset="-122"/>
                <a:cs typeface="Raleway" pitchFamily="34" charset="-120"/>
              </a:rPr>
              <a:t>edward@tesseraservices.com</a:t>
            </a:r>
            <a:endParaRPr lang="en-US" sz="1300" dirty="0"/>
          </a:p>
        </p:txBody>
      </p:sp>
      <p:sp>
        <p:nvSpPr>
          <p:cNvPr id="8" name="Text 3"/>
          <p:cNvSpPr txBox="1"/>
          <p:nvPr/>
        </p:nvSpPr>
        <p:spPr>
          <a:xfrm>
            <a:off x="3657600" y="5715000"/>
            <a:ext cx="2926080" cy="228600"/>
          </a:xfrm>
          <a:prstGeom prst="rect">
            <a:avLst/>
          </a:prstGeom>
          <a:noFill/>
          <a:ln/>
        </p:spPr>
        <p:txBody>
          <a:bodyPr wrap="square" lIns="0" tIns="0" rIns="0" bIns="0" rtlCol="0" anchor="t"/>
          <a:lstStyle/>
          <a:p>
            <a:pPr marL="0" indent="0">
              <a:buNone/>
            </a:pPr>
            <a:r>
              <a:rPr lang="en-US" sz="850" kern="0" spc="220" dirty="0">
                <a:solidFill>
                  <a:srgbClr val="8AA3A5"/>
                </a:solidFill>
                <a:latin typeface="Raleway SemiBold" pitchFamily="34" charset="0"/>
                <a:ea typeface="Raleway SemiBold" pitchFamily="34" charset="-122"/>
                <a:cs typeface="Raleway SemiBold" pitchFamily="34" charset="-120"/>
              </a:rPr>
              <a:t>LINKEDIN</a:t>
            </a:r>
            <a:endParaRPr lang="en-US" sz="850" dirty="0"/>
          </a:p>
        </p:txBody>
      </p:sp>
      <p:sp>
        <p:nvSpPr>
          <p:cNvPr id="9" name="Text 4"/>
          <p:cNvSpPr txBox="1"/>
          <p:nvPr/>
        </p:nvSpPr>
        <p:spPr>
          <a:xfrm>
            <a:off x="3657600" y="5961888"/>
            <a:ext cx="3017520" cy="274320"/>
          </a:xfrm>
          <a:prstGeom prst="rect">
            <a:avLst/>
          </a:prstGeom>
          <a:noFill/>
          <a:ln/>
        </p:spPr>
        <p:txBody>
          <a:bodyPr wrap="square" lIns="0" tIns="0" rIns="0" bIns="0" rtlCol="0" anchor="t"/>
          <a:lstStyle/>
          <a:p>
            <a:pPr marL="0" indent="0">
              <a:buNone/>
            </a:pPr>
            <a:r>
              <a:rPr lang="en-US" sz="1300" dirty="0">
                <a:solidFill>
                  <a:srgbClr val="FFFFFF"/>
                </a:solidFill>
                <a:latin typeface="Raleway" pitchFamily="34" charset="0"/>
                <a:ea typeface="Raleway" pitchFamily="34" charset="-122"/>
                <a:cs typeface="Raleway" pitchFamily="34" charset="-120"/>
              </a:rPr>
              <a:t>@tesseraservices</a:t>
            </a:r>
            <a:endParaRPr lang="en-US" sz="1300" dirty="0"/>
          </a:p>
        </p:txBody>
      </p:sp>
      <p:pic>
        <p:nvPicPr>
          <p:cNvPr id="10" name="Logo cliente"/>
          <p:cNvPicPr>
            <a:picLocks noChangeAspect="1"/>
          </p:cNvPicPr>
          <p:nvPr/>
        </p:nvPicPr>
        <p:blipFill>
          <a:blip r:embed="rId5"/>
          <a:stretch>
            <a:fillRect/>
          </a:stretch>
        </p:blipFill>
        <p:spPr>
          <a:xfrm>
            <a:off x="7112000" y="1905000"/>
            <a:ext cx="4318000" cy="330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aleway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aleway"/>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2836</Words>
  <Application>Microsoft Office PowerPoint</Application>
  <PresentationFormat>Panorámica</PresentationFormat>
  <Paragraphs>333</Paragraphs>
  <Slides>17</Slides>
  <Notes>17</Notes>
  <HiddenSlides>1</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17</vt:i4>
      </vt:variant>
    </vt:vector>
  </HeadingPairs>
  <TitlesOfParts>
    <vt:vector size="28" baseType="lpstr">
      <vt:lpstr>Arial</vt:lpstr>
      <vt:lpstr>Manrope</vt:lpstr>
      <vt:lpstr>Manrope Light</vt:lpstr>
      <vt:lpstr>Manrope Medium</vt:lpstr>
      <vt:lpstr>Manrope SemiBold</vt:lpstr>
      <vt:lpstr>Raleway</vt:lpstr>
      <vt:lpstr>Raleway Light</vt:lpstr>
      <vt:lpstr>Raleway Medium</vt:lpstr>
      <vt:lpstr>Raleway SemiBold</vt:lpstr>
      <vt:lpstr>Segoe UI Symbol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Tessera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Somos tu Partner</dc:title>
  <dc:subject>PptxGenJS Presentation</dc:subject>
  <dc:creator>Tessera</dc:creator>
  <cp:lastModifiedBy>Jaime Amaya</cp:lastModifiedBy>
  <cp:revision>3</cp:revision>
  <dcterms:created xsi:type="dcterms:W3CDTF">2026-10-13T09:53:21Z</dcterms:created>
  <dcterms:modified xsi:type="dcterms:W3CDTF">2026-10-13T11:36:51Z</dcterms:modified>
</cp:coreProperties>
</file>