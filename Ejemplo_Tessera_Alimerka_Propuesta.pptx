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3"/>
    <p:sldId id="272" r:id="rId4"/>
    <p:sldId id="257" r:id="rId5"/>
    <p:sldId id="273"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2.png"/><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87579"/>
            </a:gs>
            <a:gs pos="100000">
              <a:srgbClr val="202031"/>
            </a:gs>
          </a:gsLst>
          <a:lin ang="18900000" scaled="0"/>
        </a:gra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762000"/>
            <a:ext cx="1629833" cy="279400"/>
          </a:xfrm>
          <a:prstGeom prst="rect">
            <a:avLst/>
          </a:prstGeom>
        </p:spPr>
      </p:pic>
      <p:sp>
        <p:nvSpPr>
          <p:cNvPr id="3" name="TextBox 2"/>
          <p:cNvSpPr txBox="1"/>
          <p:nvPr/>
        </p:nvSpPr>
        <p:spPr>
          <a:xfrm>
            <a:off x="762000" y="1905000"/>
            <a:ext cx="6350000" cy="228600"/>
          </a:xfrm>
          <a:prstGeom prst="rect">
            <a:avLst/>
          </a:prstGeom>
          <a:noFill/>
        </p:spPr>
        <p:txBody>
          <a:bodyPr wrap="square" lIns="0" tIns="0" rIns="0" bIns="0" anchor="t">
            <a:spAutoFit/>
          </a:bodyPr>
          <a:lstStyle/>
          <a:p>
            <a:pPr algn="l"/>
            <a:r>
              <a:rPr sz="1100" b="0" spc="150">
                <a:solidFill>
                  <a:srgbClr val="8AA3A5"/>
                </a:solidFill>
                <a:latin typeface="Raleway Medium"/>
              </a:rPr>
              <a:t>PROPUESTA COMERCIAL</a:t>
            </a:r>
          </a:p>
        </p:txBody>
      </p:sp>
      <p:sp>
        <p:nvSpPr>
          <p:cNvPr id="4" name="TextBox 3"/>
          <p:cNvSpPr txBox="1"/>
          <p:nvPr/>
        </p:nvSpPr>
        <p:spPr>
          <a:xfrm>
            <a:off x="762000" y="2286000"/>
            <a:ext cx="9652000" cy="1905000"/>
          </a:xfrm>
          <a:prstGeom prst="rect">
            <a:avLst/>
          </a:prstGeom>
          <a:noFill/>
        </p:spPr>
        <p:txBody>
          <a:bodyPr wrap="square" lIns="0" tIns="0" rIns="0" bIns="0" anchor="t">
            <a:spAutoFit/>
          </a:bodyPr>
          <a:lstStyle/>
          <a:p>
            <a:pPr algn="l"/>
            <a:r>
              <a:rPr sz="5000" b="0">
                <a:solidFill>
                  <a:srgbClr val="FFFFFF"/>
                </a:solidFill>
                <a:latin typeface="Raleway Light"/>
              </a:rPr>
              <a:t>Queremos ser tu
partner.</a:t>
            </a:r>
          </a:p>
        </p:txBody>
      </p:sp>
      <p:sp>
        <p:nvSpPr>
          <p:cNvPr id="5" name="TextBox 4"/>
          <p:cNvSpPr txBox="1"/>
          <p:nvPr/>
        </p:nvSpPr>
        <p:spPr>
          <a:xfrm>
            <a:off x="762000" y="4191000"/>
            <a:ext cx="7620000" cy="508000"/>
          </a:xfrm>
          <a:prstGeom prst="rect">
            <a:avLst/>
          </a:prstGeom>
          <a:noFill/>
        </p:spPr>
        <p:txBody>
          <a:bodyPr wrap="square" lIns="0" tIns="0" rIns="0" bIns="0" anchor="t">
            <a:spAutoFit/>
          </a:bodyPr>
          <a:lstStyle/>
          <a:p>
            <a:pPr algn="l"/>
            <a:r>
              <a:rPr sz="1500" b="0">
                <a:solidFill>
                  <a:srgbClr val="FFFFFF"/>
                </a:solidFill>
                <a:latin typeface="Raleway"/>
              </a:rPr>
              <a:t>Better decisions, together.</a:t>
            </a:r>
          </a:p>
        </p:txBody>
      </p:sp>
      <p:sp>
        <p:nvSpPr>
          <p:cNvPr id="6" name="TextBox 5"/>
          <p:cNvSpPr txBox="1"/>
          <p:nvPr/>
        </p:nvSpPr>
        <p:spPr>
          <a:xfrm>
            <a:off x="762000" y="6070600"/>
            <a:ext cx="5080000" cy="228600"/>
          </a:xfrm>
          <a:prstGeom prst="rect">
            <a:avLst/>
          </a:prstGeom>
          <a:noFill/>
        </p:spPr>
        <p:txBody>
          <a:bodyPr wrap="square" lIns="0" tIns="0" rIns="0" bIns="0" anchor="t">
            <a:spAutoFit/>
          </a:bodyPr>
          <a:lstStyle/>
          <a:p>
            <a:pPr algn="l"/>
            <a:r>
              <a:rPr sz="900" b="0">
                <a:solidFill>
                  <a:srgbClr val="8AA3A5"/>
                </a:solidFill>
                <a:latin typeface="Raleway"/>
              </a:rPr>
              <a:t>tesseraservices.com</a:t>
            </a:r>
          </a:p>
        </p:txBody>
      </p:sp>
      <p:sp>
        <p:nvSpPr>
          <p:cNvPr id="7" name="TextBox 6"/>
          <p:cNvSpPr txBox="1"/>
          <p:nvPr/>
        </p:nvSpPr>
        <p:spPr>
          <a:xfrm>
            <a:off x="10414000" y="6070600"/>
            <a:ext cx="1016000" cy="228600"/>
          </a:xfrm>
          <a:prstGeom prst="rect">
            <a:avLst/>
          </a:prstGeom>
          <a:noFill/>
        </p:spPr>
        <p:txBody>
          <a:bodyPr wrap="square" lIns="0" tIns="0" rIns="0" bIns="0" anchor="t">
            <a:spAutoFit/>
          </a:bodyPr>
          <a:lstStyle/>
          <a:p>
            <a:pPr algn="r"/>
            <a:r>
              <a:rPr sz="1100" b="0">
                <a:solidFill>
                  <a:srgbClr val="8AA3A5"/>
                </a:solidFill>
                <a:latin typeface="Manrope Medium"/>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C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NOSOTROS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9652000" cy="762000"/>
          </a:xfrm>
          <a:prstGeom prst="rect">
            <a:avLst/>
          </a:prstGeom>
          <a:noFill/>
        </p:spPr>
        <p:txBody>
          <a:bodyPr wrap="square" lIns="0" tIns="0" rIns="0" bIns="0" anchor="t">
            <a:normAutofit/>
          </a:bodyPr>
          <a:lstStyle/>
          <a:p>
            <a:r>
              <a:rPr sz="4000" b="0" dirty="0" err="1">
                <a:solidFill>
                  <a:srgbClr val="202031"/>
                </a:solidFill>
                <a:latin typeface="Raleway Light"/>
              </a:rPr>
              <a:t>Índice</a:t>
            </a:r>
            <a:endParaRPr sz="4000" b="0" dirty="0">
              <a:solidFill>
                <a:srgbClr val="202031"/>
              </a:solidFill>
              <a:latin typeface="Raleway Light"/>
            </a:endParaRPr>
          </a:p>
        </p:txBody>
      </p:sp>
      <p:sp>
        <p:nvSpPr>
          <p:cNvPr id="6" name="TextBox 5"/>
          <p:cNvSpPr txBox="1"/>
          <p:nvPr/>
        </p:nvSpPr>
        <p:spPr>
          <a:xfrm>
            <a:off x="762000" y="1625600"/>
            <a:ext cx="9652000" cy="4191000"/>
          </a:xfrm>
          <a:prstGeom prst="rect">
            <a:avLst/>
          </a:prstGeom>
          <a:noFill/>
        </p:spPr>
        <p:txBody>
          <a:bodyPr wrap="square" lIns="0" tIns="0" rIns="0" bIns="0" anchor="ctr">
            <a:normAutofit/>
          </a:bodyPr>
          <a:lstStyle/>
          <a:p>
            <a:r>
              <a:rPr sz="1560" b="0" dirty="0">
                <a:solidFill>
                  <a:srgbClr val="202031"/>
                </a:solidFill>
                <a:latin typeface="Raleway"/>
              </a:rPr>
              <a:t>01.  </a:t>
            </a:r>
            <a:r>
              <a:rPr sz="1560" b="0" dirty="0" err="1">
                <a:solidFill>
                  <a:srgbClr val="202031"/>
                </a:solidFill>
                <a:latin typeface="Raleway"/>
              </a:rPr>
              <a:t>Contexto</a:t>
            </a:r>
            <a:r>
              <a:rPr sz="1560" b="0" dirty="0">
                <a:solidFill>
                  <a:srgbClr val="202031"/>
                </a:solidFill>
                <a:latin typeface="Raleway"/>
              </a:rPr>
              <a:t>
02.  Nuestro </a:t>
            </a:r>
            <a:r>
              <a:rPr sz="1560" b="0" dirty="0" err="1">
                <a:solidFill>
                  <a:srgbClr val="202031"/>
                </a:solidFill>
                <a:latin typeface="Raleway"/>
              </a:rPr>
              <a:t>equipo</a:t>
            </a:r>
            <a:r>
              <a:rPr sz="1560" b="0" dirty="0">
                <a:solidFill>
                  <a:srgbClr val="202031"/>
                </a:solidFill>
                <a:latin typeface="Raleway"/>
              </a:rPr>
              <a:t>
03.  </a:t>
            </a:r>
            <a:r>
              <a:rPr sz="1560" b="0" dirty="0" err="1">
                <a:solidFill>
                  <a:srgbClr val="202031"/>
                </a:solidFill>
                <a:latin typeface="Raleway"/>
              </a:rPr>
              <a:t>Dónde</a:t>
            </a:r>
            <a:r>
              <a:rPr sz="1560" b="0" dirty="0">
                <a:solidFill>
                  <a:srgbClr val="202031"/>
                </a:solidFill>
                <a:latin typeface="Raleway"/>
              </a:rPr>
              <a:t> </a:t>
            </a:r>
            <a:r>
              <a:rPr sz="1560" b="0" dirty="0" err="1">
                <a:solidFill>
                  <a:srgbClr val="202031"/>
                </a:solidFill>
                <a:latin typeface="Raleway"/>
              </a:rPr>
              <a:t>estamos</a:t>
            </a:r>
            <a:r>
              <a:rPr sz="1560" b="0" dirty="0">
                <a:solidFill>
                  <a:srgbClr val="202031"/>
                </a:solidFill>
                <a:latin typeface="Raleway"/>
              </a:rPr>
              <a:t>
04.  Por </a:t>
            </a:r>
            <a:r>
              <a:rPr sz="1560" b="0" dirty="0" err="1">
                <a:solidFill>
                  <a:srgbClr val="202031"/>
                </a:solidFill>
                <a:latin typeface="Raleway"/>
              </a:rPr>
              <a:t>qué</a:t>
            </a:r>
            <a:r>
              <a:rPr sz="1560" b="0" dirty="0">
                <a:solidFill>
                  <a:srgbClr val="202031"/>
                </a:solidFill>
                <a:latin typeface="Raleway"/>
              </a:rPr>
              <a:t> Tessera
05.  Headhunting
06.  Outsourcing Time &amp; Material
07.  </a:t>
            </a:r>
            <a:r>
              <a:rPr sz="1560" b="0" dirty="0" err="1">
                <a:solidFill>
                  <a:srgbClr val="202031"/>
                </a:solidFill>
                <a:latin typeface="Raleway"/>
              </a:rPr>
              <a:t>Consultoría</a:t>
            </a:r>
            <a:r>
              <a:rPr sz="1560" b="0" dirty="0">
                <a:solidFill>
                  <a:srgbClr val="202031"/>
                </a:solidFill>
                <a:latin typeface="Raleway"/>
              </a:rPr>
              <a:t> </a:t>
            </a:r>
            <a:r>
              <a:rPr sz="1560" b="0" dirty="0" err="1">
                <a:solidFill>
                  <a:srgbClr val="202031"/>
                </a:solidFill>
                <a:latin typeface="Raleway"/>
              </a:rPr>
              <a:t>Salarial</a:t>
            </a:r>
            <a:r>
              <a:rPr sz="1560" b="0" dirty="0">
                <a:solidFill>
                  <a:srgbClr val="202031"/>
                </a:solidFill>
                <a:latin typeface="Raleway"/>
              </a:rPr>
              <a:t>
08.  </a:t>
            </a:r>
            <a:r>
              <a:rPr sz="1560" b="0" dirty="0" err="1">
                <a:solidFill>
                  <a:srgbClr val="202031"/>
                </a:solidFill>
                <a:latin typeface="Raleway"/>
              </a:rPr>
              <a:t>Formación</a:t>
            </a:r>
            <a:r>
              <a:rPr sz="1560" b="0" dirty="0">
                <a:solidFill>
                  <a:srgbClr val="202031"/>
                </a:solidFill>
                <a:latin typeface="Raleway"/>
              </a:rPr>
              <a:t> </a:t>
            </a:r>
            <a:r>
              <a:rPr sz="1560" b="0" dirty="0" err="1">
                <a:solidFill>
                  <a:srgbClr val="202031"/>
                </a:solidFill>
                <a:latin typeface="Raleway"/>
              </a:rPr>
              <a:t>en</a:t>
            </a:r>
            <a:r>
              <a:rPr sz="1560" b="0" dirty="0">
                <a:solidFill>
                  <a:srgbClr val="202031"/>
                </a:solidFill>
                <a:latin typeface="Raleway"/>
              </a:rPr>
              <a:t> </a:t>
            </a:r>
            <a:r>
              <a:rPr sz="1560" b="0" dirty="0" err="1">
                <a:solidFill>
                  <a:srgbClr val="202031"/>
                </a:solidFill>
                <a:latin typeface="Raleway"/>
              </a:rPr>
              <a:t>Recursos</a:t>
            </a:r>
            <a:r>
              <a:rPr sz="1560" b="0" dirty="0">
                <a:solidFill>
                  <a:srgbClr val="202031"/>
                </a:solidFill>
                <a:latin typeface="Raleway"/>
              </a:rPr>
              <a:t> Humanos
09.  </a:t>
            </a:r>
            <a:r>
              <a:rPr sz="1560" b="0" dirty="0" err="1">
                <a:solidFill>
                  <a:srgbClr val="202031"/>
                </a:solidFill>
                <a:latin typeface="Raleway"/>
              </a:rPr>
              <a:t>Honorarios</a:t>
            </a:r>
            <a:r>
              <a:rPr sz="1560" b="0" dirty="0">
                <a:solidFill>
                  <a:srgbClr val="202031"/>
                </a:solidFill>
                <a:latin typeface="Raleway"/>
              </a:rPr>
              <a:t>
10.  </a:t>
            </a:r>
            <a:r>
              <a:rPr sz="1560" b="0" dirty="0" err="1">
                <a:solidFill>
                  <a:srgbClr val="202031"/>
                </a:solidFill>
                <a:latin typeface="Raleway"/>
              </a:rPr>
              <a:t>Confían</a:t>
            </a:r>
            <a:r>
              <a:rPr sz="1560" b="0" dirty="0">
                <a:solidFill>
                  <a:srgbClr val="202031"/>
                </a:solidFill>
                <a:latin typeface="Raleway"/>
              </a:rPr>
              <a:t> </a:t>
            </a:r>
            <a:r>
              <a:rPr sz="1560" b="0" dirty="0" err="1">
                <a:solidFill>
                  <a:srgbClr val="202031"/>
                </a:solidFill>
                <a:latin typeface="Raleway"/>
              </a:rPr>
              <a:t>en</a:t>
            </a:r>
            <a:r>
              <a:rPr sz="1560" b="0" dirty="0">
                <a:solidFill>
                  <a:srgbClr val="202031"/>
                </a:solidFill>
                <a:latin typeface="Raleway"/>
              </a:rPr>
              <a:t> </a:t>
            </a:r>
            <a:r>
              <a:rPr sz="1560" b="0" dirty="0" err="1">
                <a:solidFill>
                  <a:srgbClr val="202031"/>
                </a:solidFill>
                <a:latin typeface="Raleway"/>
              </a:rPr>
              <a:t>nosotros</a:t>
            </a:r>
            <a:endParaRPr sz="1560" b="0" dirty="0">
              <a:solidFill>
                <a:srgbClr val="202031"/>
              </a:solidFill>
              <a:latin typeface="Raleway"/>
            </a:endParaRPr>
          </a:p>
        </p:txBody>
      </p:sp>
      <p:sp>
        <p:nvSpPr>
          <p:cNvPr id="25" name="TextBox 24"/>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26" name="TextBox 25"/>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C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NOSOTROS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9652000" cy="762000"/>
          </a:xfrm>
          <a:prstGeom prst="rect">
            <a:avLst/>
          </a:prstGeom>
          <a:noFill/>
        </p:spPr>
        <p:txBody>
          <a:bodyPr wrap="square" lIns="0" tIns="0" rIns="0" bIns="0" anchor="t">
            <a:normAutofit/>
          </a:bodyPr>
          <a:lstStyle/>
          <a:p>
            <a:r>
              <a:rPr sz="4000" b="0" dirty="0" err="1">
                <a:solidFill>
                  <a:srgbClr val="202031"/>
                </a:solidFill>
                <a:latin typeface="Raleway Light"/>
              </a:rPr>
              <a:t>Contexto</a:t>
            </a:r>
            <a:endParaRPr sz="4000" b="0" dirty="0">
              <a:solidFill>
                <a:srgbClr val="202031"/>
              </a:solidFill>
              <a:latin typeface="Raleway Light"/>
            </a:endParaRPr>
          </a:p>
        </p:txBody>
      </p:sp>
      <p:sp>
        <p:nvSpPr>
          <p:cNvPr id="6" name="TextBox 5"/>
          <p:cNvSpPr txBox="1"/>
          <p:nvPr/>
        </p:nvSpPr>
        <p:spPr>
          <a:xfrm>
            <a:off x="762000" y="1651000"/>
            <a:ext cx="9652000" cy="762000"/>
          </a:xfrm>
          <a:prstGeom prst="rect">
            <a:avLst/>
          </a:prstGeom>
          <a:noFill/>
        </p:spPr>
        <p:txBody>
          <a:bodyPr wrap="square" lIns="0" tIns="0" rIns="0" bIns="0" anchor="ctr">
            <a:normAutofit/>
          </a:bodyPr>
          <a:lstStyle/>
          <a:p>
            <a:r>
              <a:rPr lang="es-ES" sz="1560" b="0" dirty="0">
                <a:solidFill>
                  <a:srgbClr val="202031"/>
                </a:solidFill>
                <a:latin typeface="Raleway"/>
              </a:rPr>
              <a:t>Te</a:t>
            </a:r>
            <a:r>
              <a:rPr sz="1560" b="0" dirty="0" err="1">
                <a:solidFill>
                  <a:srgbClr val="202031"/>
                </a:solidFill>
                <a:latin typeface="Raleway"/>
              </a:rPr>
              <a:t>ssera</a:t>
            </a:r>
            <a:r>
              <a:rPr sz="1560" b="0" dirty="0">
                <a:solidFill>
                  <a:srgbClr val="202031"/>
                </a:solidFill>
                <a:latin typeface="Raleway"/>
              </a:rPr>
              <a:t> </a:t>
            </a:r>
            <a:r>
              <a:rPr sz="1560" b="0" dirty="0" err="1">
                <a:solidFill>
                  <a:srgbClr val="202031"/>
                </a:solidFill>
                <a:latin typeface="Raleway"/>
              </a:rPr>
              <a:t>trabaja</a:t>
            </a:r>
            <a:r>
              <a:rPr sz="1560" b="0" dirty="0">
                <a:solidFill>
                  <a:srgbClr val="202031"/>
                </a:solidFill>
                <a:latin typeface="Raleway"/>
              </a:rPr>
              <a:t> junto a </a:t>
            </a:r>
            <a:r>
              <a:rPr sz="1560" b="0" dirty="0" err="1">
                <a:solidFill>
                  <a:srgbClr val="202031"/>
                </a:solidFill>
                <a:latin typeface="Raleway"/>
              </a:rPr>
              <a:t>Alimerka</a:t>
            </a:r>
            <a:r>
              <a:rPr sz="1560" b="0" dirty="0">
                <a:solidFill>
                  <a:srgbClr val="202031"/>
                </a:solidFill>
                <a:latin typeface="Raleway"/>
              </a:rPr>
              <a:t> para responder a sus </a:t>
            </a:r>
            <a:r>
              <a:rPr sz="1560" b="0" dirty="0" err="1">
                <a:solidFill>
                  <a:srgbClr val="202031"/>
                </a:solidFill>
                <a:latin typeface="Raleway"/>
              </a:rPr>
              <a:t>necesidades</a:t>
            </a:r>
            <a:r>
              <a:rPr sz="1560" b="0" dirty="0">
                <a:solidFill>
                  <a:srgbClr val="202031"/>
                </a:solidFill>
                <a:latin typeface="Raleway"/>
              </a:rPr>
              <a:t> </a:t>
            </a:r>
            <a:r>
              <a:rPr sz="1560" b="0" dirty="0" err="1">
                <a:solidFill>
                  <a:srgbClr val="202031"/>
                </a:solidFill>
                <a:latin typeface="Raleway"/>
              </a:rPr>
              <a:t>actuales</a:t>
            </a:r>
            <a:r>
              <a:rPr sz="1560" b="0" dirty="0">
                <a:solidFill>
                  <a:srgbClr val="202031"/>
                </a:solidFill>
                <a:latin typeface="Raleway"/>
              </a:rPr>
              <a:t> con un </a:t>
            </a:r>
            <a:r>
              <a:rPr sz="1560" b="0" dirty="0" err="1">
                <a:solidFill>
                  <a:srgbClr val="202031"/>
                </a:solidFill>
                <a:latin typeface="Raleway"/>
              </a:rPr>
              <a:t>equipo</a:t>
            </a:r>
            <a:r>
              <a:rPr sz="1560" b="0" dirty="0">
                <a:solidFill>
                  <a:srgbClr val="202031"/>
                </a:solidFill>
                <a:latin typeface="Raleway"/>
              </a:rPr>
              <a:t> senior y un </a:t>
            </a:r>
            <a:r>
              <a:rPr sz="1560" b="0" dirty="0" err="1">
                <a:solidFill>
                  <a:srgbClr val="202031"/>
                </a:solidFill>
                <a:latin typeface="Raleway"/>
              </a:rPr>
              <a:t>enfoque</a:t>
            </a:r>
            <a:r>
              <a:rPr sz="1560" b="0" dirty="0">
                <a:solidFill>
                  <a:srgbClr val="202031"/>
                </a:solidFill>
                <a:latin typeface="Raleway"/>
              </a:rPr>
              <a:t> </a:t>
            </a:r>
            <a:r>
              <a:rPr sz="1560" b="0" dirty="0" err="1">
                <a:solidFill>
                  <a:srgbClr val="202031"/>
                </a:solidFill>
                <a:latin typeface="Raleway"/>
              </a:rPr>
              <a:t>directo</a:t>
            </a:r>
            <a:r>
              <a:rPr sz="1560" b="0" dirty="0">
                <a:solidFill>
                  <a:srgbClr val="202031"/>
                </a:solidFill>
                <a:latin typeface="Raleway"/>
              </a:rPr>
              <a:t>.</a:t>
            </a:r>
          </a:p>
        </p:txBody>
      </p:sp>
      <p:sp>
        <p:nvSpPr>
          <p:cNvPr id="25" name="TextBox 24"/>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26" name="TextBox 25"/>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NUESTRO EQUIPO</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6350000" cy="762000"/>
          </a:xfrm>
          <a:prstGeom prst="rect">
            <a:avLst/>
          </a:prstGeom>
          <a:noFill/>
        </p:spPr>
        <p:txBody>
          <a:bodyPr wrap="square" lIns="0" tIns="0" rIns="0" bIns="0" anchor="t">
            <a:spAutoFit/>
          </a:bodyPr>
          <a:lstStyle/>
          <a:p>
            <a:pPr algn="l"/>
            <a:r>
              <a:rPr sz="4000" b="0" dirty="0">
                <a:solidFill>
                  <a:srgbClr val="202031"/>
                </a:solidFill>
                <a:latin typeface="Raleway Light"/>
              </a:rPr>
              <a:t>El Equipo</a:t>
            </a:r>
          </a:p>
        </p:txBody>
      </p:sp>
      <p:sp>
        <p:nvSpPr>
          <p:cNvPr id="6" name="TextBox 5"/>
          <p:cNvSpPr txBox="1"/>
          <p:nvPr/>
        </p:nvSpPr>
        <p:spPr>
          <a:xfrm>
            <a:off x="8636000" y="1092200"/>
            <a:ext cx="1143000" cy="457200"/>
          </a:xfrm>
          <a:prstGeom prst="rect">
            <a:avLst/>
          </a:prstGeom>
          <a:noFill/>
        </p:spPr>
        <p:txBody>
          <a:bodyPr wrap="square" lIns="0" tIns="0" rIns="0" bIns="0" anchor="t">
            <a:spAutoFit/>
          </a:bodyPr>
          <a:lstStyle/>
          <a:p>
            <a:pPr algn="r"/>
            <a:r>
              <a:rPr sz="2600" b="0">
                <a:solidFill>
                  <a:srgbClr val="202031"/>
                </a:solidFill>
                <a:latin typeface="Manrope ExtraLight"/>
              </a:rPr>
              <a:t>+21</a:t>
            </a:r>
          </a:p>
        </p:txBody>
      </p:sp>
      <p:sp>
        <p:nvSpPr>
          <p:cNvPr id="7" name="TextBox 6"/>
          <p:cNvSpPr txBox="1"/>
          <p:nvPr/>
        </p:nvSpPr>
        <p:spPr>
          <a:xfrm>
            <a:off x="9906000" y="1244600"/>
            <a:ext cx="1524000" cy="254000"/>
          </a:xfrm>
          <a:prstGeom prst="rect">
            <a:avLst/>
          </a:prstGeom>
          <a:noFill/>
        </p:spPr>
        <p:txBody>
          <a:bodyPr wrap="square" lIns="0" tIns="0" rIns="0" bIns="0" anchor="t">
            <a:spAutoFit/>
          </a:bodyPr>
          <a:lstStyle/>
          <a:p>
            <a:pPr algn="l"/>
            <a:r>
              <a:rPr sz="1100" b="0">
                <a:solidFill>
                  <a:srgbClr val="202031"/>
                </a:solidFill>
                <a:latin typeface="Raleway"/>
              </a:rPr>
              <a:t>consultores</a:t>
            </a:r>
          </a:p>
        </p:txBody>
      </p:sp>
      <p:sp>
        <p:nvSpPr>
          <p:cNvPr id="10" name="TextBox 9"/>
          <p:cNvSpPr txBox="1"/>
          <p:nvPr/>
        </p:nvSpPr>
        <p:spPr>
          <a:xfrm>
            <a:off x="762000" y="3911600"/>
            <a:ext cx="3378200" cy="254000"/>
          </a:xfrm>
          <a:prstGeom prst="rect">
            <a:avLst/>
          </a:prstGeom>
          <a:noFill/>
        </p:spPr>
        <p:txBody>
          <a:bodyPr wrap="square" lIns="0" tIns="0" rIns="0" bIns="0" anchor="t">
            <a:spAutoFit/>
          </a:bodyPr>
          <a:lstStyle/>
          <a:p>
            <a:pPr algn="l"/>
            <a:r>
              <a:rPr sz="1300" b="0">
                <a:solidFill>
                  <a:srgbClr val="202031"/>
                </a:solidFill>
                <a:latin typeface="Raleway SemiBold"/>
              </a:rPr>
              <a:t>EDUARDO SERRANO</a:t>
            </a:r>
          </a:p>
        </p:txBody>
      </p:sp>
      <p:sp>
        <p:nvSpPr>
          <p:cNvPr id="11" name="TextBox 10"/>
          <p:cNvSpPr txBox="1"/>
          <p:nvPr/>
        </p:nvSpPr>
        <p:spPr>
          <a:xfrm>
            <a:off x="762000" y="4165600"/>
            <a:ext cx="3378200" cy="203200"/>
          </a:xfrm>
          <a:prstGeom prst="rect">
            <a:avLst/>
          </a:prstGeom>
          <a:noFill/>
        </p:spPr>
        <p:txBody>
          <a:bodyPr wrap="square" lIns="0" tIns="0" rIns="0" bIns="0" anchor="t">
            <a:spAutoFit/>
          </a:bodyPr>
          <a:lstStyle/>
          <a:p>
            <a:pPr algn="l"/>
            <a:r>
              <a:rPr sz="900" b="0" spc="80">
                <a:solidFill>
                  <a:srgbClr val="587579"/>
                </a:solidFill>
                <a:latin typeface="Raleway Medium"/>
              </a:rPr>
              <a:t>PARTNER</a:t>
            </a:r>
          </a:p>
        </p:txBody>
      </p:sp>
      <p:sp>
        <p:nvSpPr>
          <p:cNvPr id="12" name="TextBox 11"/>
          <p:cNvSpPr txBox="1"/>
          <p:nvPr/>
        </p:nvSpPr>
        <p:spPr>
          <a:xfrm>
            <a:off x="762000" y="4419600"/>
            <a:ext cx="3378200" cy="1968500"/>
          </a:xfrm>
          <a:prstGeom prst="rect">
            <a:avLst/>
          </a:prstGeom>
          <a:noFill/>
        </p:spPr>
        <p:txBody>
          <a:bodyPr wrap="square" lIns="0" tIns="0" rIns="0" bIns="0" anchor="t">
            <a:spAutoFit/>
          </a:bodyPr>
          <a:lstStyle/>
          <a:p>
            <a:pPr algn="l">
              <a:lnSpc>
                <a:spcPct val="118000"/>
              </a:lnSpc>
              <a:spcAft>
                <a:spcPts val="600"/>
              </a:spcAft>
            </a:pPr>
            <a:r>
              <a:rPr sz="900" b="0">
                <a:solidFill>
                  <a:srgbClr val="202031"/>
                </a:solidFill>
                <a:latin typeface="Raleway"/>
              </a:rPr>
              <a:t>17 años en el mundo del emprendimiento tanto como CFO de grandes startups internacionales como de CFO en fondos líderes de Venture Capital y Venture Builders, especializado en aportar valor al negocio y su expansión desde el área financiera, la gestión de tesorería y la consecución de financiación y capital para todas ellas, con experiencia en el sector publicitario como Business Global Director en Adglow.</a:t>
            </a:r>
          </a:p>
        </p:txBody>
      </p:sp>
      <p:sp>
        <p:nvSpPr>
          <p:cNvPr id="15" name="TextBox 14"/>
          <p:cNvSpPr txBox="1"/>
          <p:nvPr/>
        </p:nvSpPr>
        <p:spPr>
          <a:xfrm>
            <a:off x="4406900" y="3911600"/>
            <a:ext cx="3378200" cy="254000"/>
          </a:xfrm>
          <a:prstGeom prst="rect">
            <a:avLst/>
          </a:prstGeom>
          <a:noFill/>
        </p:spPr>
        <p:txBody>
          <a:bodyPr wrap="square" lIns="0" tIns="0" rIns="0" bIns="0" anchor="t">
            <a:spAutoFit/>
          </a:bodyPr>
          <a:lstStyle/>
          <a:p>
            <a:pPr algn="l"/>
            <a:r>
              <a:rPr sz="1300" b="0">
                <a:solidFill>
                  <a:srgbClr val="202031"/>
                </a:solidFill>
                <a:latin typeface="Raleway SemiBold"/>
              </a:rPr>
              <a:t>MANUEL PINA</a:t>
            </a:r>
          </a:p>
        </p:txBody>
      </p:sp>
      <p:sp>
        <p:nvSpPr>
          <p:cNvPr id="16" name="TextBox 15"/>
          <p:cNvSpPr txBox="1"/>
          <p:nvPr/>
        </p:nvSpPr>
        <p:spPr>
          <a:xfrm>
            <a:off x="4406900" y="4165600"/>
            <a:ext cx="3378200" cy="203200"/>
          </a:xfrm>
          <a:prstGeom prst="rect">
            <a:avLst/>
          </a:prstGeom>
          <a:noFill/>
        </p:spPr>
        <p:txBody>
          <a:bodyPr wrap="square" lIns="0" tIns="0" rIns="0" bIns="0" anchor="t">
            <a:spAutoFit/>
          </a:bodyPr>
          <a:lstStyle/>
          <a:p>
            <a:pPr algn="l"/>
            <a:r>
              <a:rPr sz="900" b="0" spc="80">
                <a:solidFill>
                  <a:srgbClr val="587579"/>
                </a:solidFill>
                <a:latin typeface="Raleway Medium"/>
              </a:rPr>
              <a:t>PARTNER</a:t>
            </a:r>
          </a:p>
        </p:txBody>
      </p:sp>
      <p:sp>
        <p:nvSpPr>
          <p:cNvPr id="17" name="TextBox 16"/>
          <p:cNvSpPr txBox="1"/>
          <p:nvPr/>
        </p:nvSpPr>
        <p:spPr>
          <a:xfrm>
            <a:off x="4406900" y="4419600"/>
            <a:ext cx="3378200" cy="1968500"/>
          </a:xfrm>
          <a:prstGeom prst="rect">
            <a:avLst/>
          </a:prstGeom>
          <a:noFill/>
        </p:spPr>
        <p:txBody>
          <a:bodyPr wrap="square" lIns="0" tIns="0" rIns="0" bIns="0" anchor="t">
            <a:spAutoFit/>
          </a:bodyPr>
          <a:lstStyle/>
          <a:p>
            <a:pPr algn="l">
              <a:lnSpc>
                <a:spcPct val="118000"/>
              </a:lnSpc>
              <a:spcAft>
                <a:spcPts val="600"/>
              </a:spcAft>
            </a:pPr>
            <a:r>
              <a:rPr sz="900" b="0">
                <a:solidFill>
                  <a:srgbClr val="202031"/>
                </a:solidFill>
                <a:latin typeface="Raleway"/>
              </a:rPr>
              <a:t>Con más de 10 años de experiencia en Big Four en Auditoría, Due Diligence y M&amp;A, posteriormente asumió posiciones como CFO en grandes pymes españolas. En la actualidad lidera Tessera Finance, coordinando un equipo especializado en servicios de CFO, transacciones, Due Diligence y asesoramiento financiero estratégico para compañías en distintas fases de crecimiento.</a:t>
            </a:r>
          </a:p>
        </p:txBody>
      </p:sp>
      <p:pic>
        <p:nvPicPr>
          <p:cNvPr id="18" name="Picture 17" descr="team_hc_edward_manrique.png"/>
          <p:cNvPicPr>
            <a:picLocks noChangeAspect="1"/>
          </p:cNvPicPr>
          <p:nvPr/>
        </p:nvPicPr>
        <p:blipFill>
          <a:blip r:embed="rId3"/>
          <a:srcRect l="75" r="75"/>
          <a:stretch>
            <a:fillRect/>
          </a:stretch>
        </p:blipFill>
        <p:spPr>
          <a:xfrm>
            <a:off x="8051800" y="1778000"/>
            <a:ext cx="3378200" cy="1778000"/>
          </a:xfrm>
          <a:prstGeom prst="rect">
            <a:avLst/>
          </a:prstGeom>
        </p:spPr>
      </p:pic>
      <p:sp>
        <p:nvSpPr>
          <p:cNvPr id="20" name="TextBox 19"/>
          <p:cNvSpPr txBox="1"/>
          <p:nvPr/>
        </p:nvSpPr>
        <p:spPr>
          <a:xfrm>
            <a:off x="8051800" y="3911600"/>
            <a:ext cx="3378200" cy="254000"/>
          </a:xfrm>
          <a:prstGeom prst="rect">
            <a:avLst/>
          </a:prstGeom>
          <a:noFill/>
        </p:spPr>
        <p:txBody>
          <a:bodyPr wrap="square" lIns="0" tIns="0" rIns="0" bIns="0" anchor="t">
            <a:spAutoFit/>
          </a:bodyPr>
          <a:lstStyle/>
          <a:p>
            <a:pPr algn="l"/>
            <a:r>
              <a:rPr sz="1300" b="0">
                <a:solidFill>
                  <a:srgbClr val="202031"/>
                </a:solidFill>
                <a:latin typeface="Raleway SemiBold"/>
              </a:rPr>
              <a:t>EDWARD MANRIQUE</a:t>
            </a:r>
          </a:p>
        </p:txBody>
      </p:sp>
      <p:sp>
        <p:nvSpPr>
          <p:cNvPr id="21" name="TextBox 20"/>
          <p:cNvSpPr txBox="1"/>
          <p:nvPr/>
        </p:nvSpPr>
        <p:spPr>
          <a:xfrm>
            <a:off x="8051800" y="4165600"/>
            <a:ext cx="3378200" cy="203200"/>
          </a:xfrm>
          <a:prstGeom prst="rect">
            <a:avLst/>
          </a:prstGeom>
          <a:noFill/>
        </p:spPr>
        <p:txBody>
          <a:bodyPr wrap="square" lIns="0" tIns="0" rIns="0" bIns="0" anchor="t">
            <a:spAutoFit/>
          </a:bodyPr>
          <a:lstStyle/>
          <a:p>
            <a:pPr algn="l"/>
            <a:r>
              <a:rPr sz="900" b="0" spc="80">
                <a:solidFill>
                  <a:srgbClr val="587579"/>
                </a:solidFill>
                <a:latin typeface="Raleway Medium"/>
              </a:rPr>
              <a:t>HEAD OF TALENT</a:t>
            </a:r>
          </a:p>
        </p:txBody>
      </p:sp>
      <p:sp>
        <p:nvSpPr>
          <p:cNvPr id="22" name="TextBox 21"/>
          <p:cNvSpPr txBox="1"/>
          <p:nvPr/>
        </p:nvSpPr>
        <p:spPr>
          <a:xfrm>
            <a:off x="8051800" y="4419600"/>
            <a:ext cx="3378200" cy="1968500"/>
          </a:xfrm>
          <a:prstGeom prst="rect">
            <a:avLst/>
          </a:prstGeom>
          <a:noFill/>
        </p:spPr>
        <p:txBody>
          <a:bodyPr wrap="square" lIns="0" tIns="0" rIns="0" bIns="0" anchor="t">
            <a:spAutoFit/>
          </a:bodyPr>
          <a:lstStyle/>
          <a:p>
            <a:pPr algn="l">
              <a:lnSpc>
                <a:spcPct val="118000"/>
              </a:lnSpc>
              <a:spcAft>
                <a:spcPts val="600"/>
              </a:spcAft>
            </a:pPr>
            <a:r>
              <a:rPr sz="900" b="0">
                <a:solidFill>
                  <a:srgbClr val="202031"/>
                </a:solidFill>
                <a:latin typeface="Raleway"/>
              </a:rPr>
              <a:t>Más de 8 años de experiencia en identificación y evaluación de talento. Experiencia en Seedtag, donde lideró la contratación de más de 200 profesionales en 16 países, así como en grandes entidades financieras internacionales como Santander, BNP Paribas y BBVA.</a:t>
            </a:r>
          </a:p>
        </p:txBody>
      </p:sp>
      <p:sp>
        <p:nvSpPr>
          <p:cNvPr id="23" name="TextBox 22"/>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4" name="TextBox 23"/>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03</a:t>
            </a:r>
          </a:p>
        </p:txBody>
      </p:sp>
      <p:pic>
        <p:nvPicPr>
          <p:cNvPr id="32" name="Imagen 23">
            <a:extLst>
              <a:ext uri="{FF2B5EF4-FFF2-40B4-BE49-F238E27FC236}">
                <a16:creationId xmlns:a16="http://schemas.microsoft.com/office/drawing/2014/main" id="{46893E59-A62F-4773-A7DD-11B619F0FD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6839" y="1562100"/>
            <a:ext cx="2179021" cy="2003580"/>
          </a:xfrm>
          <a:prstGeom prst="rect">
            <a:avLst/>
          </a:prstGeom>
        </p:spPr>
      </p:pic>
      <p:pic>
        <p:nvPicPr>
          <p:cNvPr id="34" name="Imagen 27">
            <a:extLst>
              <a:ext uri="{FF2B5EF4-FFF2-40B4-BE49-F238E27FC236}">
                <a16:creationId xmlns:a16="http://schemas.microsoft.com/office/drawing/2014/main" id="{FA976432-C361-3ED7-2839-7CA987156564}"/>
              </a:ext>
            </a:extLst>
          </p:cNvPr>
          <p:cNvPicPr>
            <a:picLocks noChangeAspect="1"/>
          </p:cNvPicPr>
          <p:nvPr/>
        </p:nvPicPr>
        <p:blipFill>
          <a:blip r:embed="rId5"/>
          <a:stretch/>
        </p:blipFill>
        <p:spPr>
          <a:xfrm>
            <a:off x="5082456" y="1692119"/>
            <a:ext cx="2027088" cy="18638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DÓNDE ESTAMOS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762000"/>
          </a:xfrm>
          <a:prstGeom prst="rect">
            <a:avLst/>
          </a:prstGeom>
          <a:noFill/>
        </p:spPr>
        <p:txBody>
          <a:bodyPr wrap="square" lIns="0" tIns="0" rIns="0" bIns="0" anchor="t">
            <a:spAutoFit/>
          </a:bodyPr>
          <a:lstStyle/>
          <a:p>
            <a:pPr algn="l"/>
            <a:r>
              <a:rPr sz="4000" b="0">
                <a:solidFill>
                  <a:srgbClr val="202031"/>
                </a:solidFill>
                <a:latin typeface="Raleway Light"/>
              </a:rPr>
              <a:t>Dónde estamos</a:t>
            </a:r>
          </a:p>
        </p:txBody>
      </p:sp>
      <p:sp>
        <p:nvSpPr>
          <p:cNvPr id="6" name="TextBox 5"/>
          <p:cNvSpPr txBox="1"/>
          <p:nvPr/>
        </p:nvSpPr>
        <p:spPr>
          <a:xfrm>
            <a:off x="762000" y="1625600"/>
            <a:ext cx="9652000" cy="254000"/>
          </a:xfrm>
          <a:prstGeom prst="rect">
            <a:avLst/>
          </a:prstGeom>
          <a:noFill/>
        </p:spPr>
        <p:txBody>
          <a:bodyPr wrap="square" lIns="0" tIns="0" rIns="0" bIns="0" anchor="t">
            <a:spAutoFit/>
          </a:bodyPr>
          <a:lstStyle/>
          <a:p>
            <a:pPr algn="l"/>
            <a:r>
              <a:rPr sz="1200" b="0">
                <a:solidFill>
                  <a:srgbClr val="202031"/>
                </a:solidFill>
                <a:latin typeface="Raleway"/>
              </a:rPr>
              <a:t>El mismo estándar de servicio en cada oficina.</a:t>
            </a:r>
          </a:p>
        </p:txBody>
      </p:sp>
      <p:sp>
        <p:nvSpPr>
          <p:cNvPr id="7" name="Rectangle 6"/>
          <p:cNvSpPr/>
          <p:nvPr/>
        </p:nvSpPr>
        <p:spPr>
          <a:xfrm>
            <a:off x="762000" y="2352997"/>
            <a:ext cx="3810000" cy="2879403"/>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15999" y="2606997"/>
            <a:ext cx="716165" cy="45719"/>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6000" y="2784797"/>
            <a:ext cx="3237068" cy="430887"/>
          </a:xfrm>
          <a:prstGeom prst="rect">
            <a:avLst/>
          </a:prstGeom>
          <a:noFill/>
        </p:spPr>
        <p:txBody>
          <a:bodyPr wrap="square" lIns="0" tIns="0" rIns="0" bIns="0" anchor="t">
            <a:spAutoFit/>
          </a:bodyPr>
          <a:lstStyle/>
          <a:p>
            <a:pPr algn="l"/>
            <a:r>
              <a:rPr sz="2800" b="0" dirty="0">
                <a:solidFill>
                  <a:srgbClr val="202031"/>
                </a:solidFill>
                <a:latin typeface="Raleway SemiBold"/>
              </a:rPr>
              <a:t>MADRID</a:t>
            </a:r>
          </a:p>
        </p:txBody>
      </p:sp>
      <p:sp>
        <p:nvSpPr>
          <p:cNvPr id="10" name="TextBox 9"/>
          <p:cNvSpPr txBox="1"/>
          <p:nvPr/>
        </p:nvSpPr>
        <p:spPr>
          <a:xfrm>
            <a:off x="1016000" y="3186182"/>
            <a:ext cx="3237068" cy="161583"/>
          </a:xfrm>
          <a:prstGeom prst="rect">
            <a:avLst/>
          </a:prstGeom>
          <a:noFill/>
        </p:spPr>
        <p:txBody>
          <a:bodyPr wrap="square" lIns="0" tIns="0" rIns="0" bIns="0" anchor="t">
            <a:spAutoFit/>
          </a:bodyPr>
          <a:lstStyle/>
          <a:p>
            <a:pPr algn="l"/>
            <a:r>
              <a:rPr sz="1050" b="0" dirty="0" err="1">
                <a:solidFill>
                  <a:srgbClr val="587579"/>
                </a:solidFill>
                <a:latin typeface="Raleway"/>
              </a:rPr>
              <a:t>Sede</a:t>
            </a:r>
            <a:r>
              <a:rPr sz="1050" b="0" dirty="0">
                <a:solidFill>
                  <a:srgbClr val="587579"/>
                </a:solidFill>
                <a:latin typeface="Raleway"/>
              </a:rPr>
              <a:t> central</a:t>
            </a:r>
          </a:p>
        </p:txBody>
      </p:sp>
      <p:sp>
        <p:nvSpPr>
          <p:cNvPr id="11" name="TextBox 10"/>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12" name="TextBox 11"/>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02</a:t>
            </a:r>
          </a:p>
        </p:txBody>
      </p:sp>
      <p:sp>
        <p:nvSpPr>
          <p:cNvPr id="14" name="Graphic 17">
            <a:extLst>
              <a:ext uri="{FF2B5EF4-FFF2-40B4-BE49-F238E27FC236}">
                <a16:creationId xmlns:a16="http://schemas.microsoft.com/office/drawing/2014/main" id="{68393EEB-6A74-6D08-28FA-1637A39C8812}"/>
              </a:ext>
            </a:extLst>
          </p:cNvPr>
          <p:cNvSpPr/>
          <p:nvPr/>
        </p:nvSpPr>
        <p:spPr>
          <a:xfrm>
            <a:off x="6905090" y="2235105"/>
            <a:ext cx="3508910" cy="2879403"/>
          </a:xfrm>
          <a:custGeom>
            <a:avLst/>
            <a:gdLst>
              <a:gd name="csX0" fmla="*/ 2420120 w 2765447"/>
              <a:gd name="csY0" fmla="*/ 305991 h 2294737"/>
              <a:gd name="csX1" fmla="*/ 2239870 w 2765447"/>
              <a:gd name="csY1" fmla="*/ 1988324 h 2294737"/>
              <a:gd name="csX2" fmla="*/ 437378 w 2765447"/>
              <a:gd name="csY2" fmla="*/ 2048407 h 2294737"/>
              <a:gd name="csX3" fmla="*/ 257129 w 2765447"/>
              <a:gd name="csY3" fmla="*/ 426157 h 2294737"/>
              <a:gd name="csX4" fmla="*/ 2420120 w 2765447"/>
              <a:gd name="csY4" fmla="*/ 305991 h 2294737"/>
            </a:gdLst>
            <a:ahLst/>
            <a:cxnLst>
              <a:cxn ang="0">
                <a:pos x="csX0" y="csY0"/>
              </a:cxn>
              <a:cxn ang="0">
                <a:pos x="csX1" y="csY1"/>
              </a:cxn>
              <a:cxn ang="0">
                <a:pos x="csX2" y="csY2"/>
              </a:cxn>
              <a:cxn ang="0">
                <a:pos x="csX3" y="csY3"/>
              </a:cxn>
              <a:cxn ang="0">
                <a:pos x="csX4" y="csY4"/>
              </a:cxn>
            </a:cxnLst>
            <a:rect l="l" t="t" r="r" b="b"/>
            <a:pathLst>
              <a:path w="2765447" h="2294737">
                <a:moveTo>
                  <a:pt x="2420120" y="305991"/>
                </a:moveTo>
                <a:cubicBezTo>
                  <a:pt x="2960867" y="786662"/>
                  <a:pt x="2840701" y="1567742"/>
                  <a:pt x="2239870" y="1988324"/>
                </a:cubicBezTo>
                <a:cubicBezTo>
                  <a:pt x="1699122" y="2360839"/>
                  <a:pt x="918042" y="2408906"/>
                  <a:pt x="437378" y="2048407"/>
                </a:cubicBezTo>
                <a:cubicBezTo>
                  <a:pt x="-43287" y="1687908"/>
                  <a:pt x="-163453" y="906828"/>
                  <a:pt x="257129" y="426157"/>
                </a:cubicBezTo>
                <a:cubicBezTo>
                  <a:pt x="677711" y="-54508"/>
                  <a:pt x="1879372" y="-174674"/>
                  <a:pt x="2420120" y="305991"/>
                </a:cubicBezTo>
                <a:close/>
              </a:path>
            </a:pathLst>
          </a:custGeom>
          <a:blipFill dpi="0" rotWithShape="1">
            <a:blip r:embed="rId3"/>
            <a:srcRect/>
            <a:stretch>
              <a:fillRect l="135" r="-135" b="-8766"/>
            </a:stretch>
          </a:blipFill>
          <a:ln w="48006" cap="rnd">
            <a:gradFill>
              <a:gsLst>
                <a:gs pos="0">
                  <a:srgbClr val="587579"/>
                </a:gs>
                <a:gs pos="52000">
                  <a:srgbClr val="6E8E7E"/>
                </a:gs>
                <a:gs pos="100000">
                  <a:srgbClr val="F0E8DE"/>
                </a:gs>
              </a:gsLst>
              <a:lin ang="0" scaled="1"/>
            </a:gradFill>
            <a:prstDash val="solid"/>
            <a:round/>
          </a:ln>
        </p:spPr>
        <p:txBody>
          <a:bodyPr/>
          <a:lstStyle/>
          <a:p>
            <a:endParaRPr lang="es-ES_tradnl"/>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CE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POR QUÉ TESSERA</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9652000" cy="762000"/>
          </a:xfrm>
          <a:prstGeom prst="rect">
            <a:avLst/>
          </a:prstGeom>
          <a:noFill/>
        </p:spPr>
        <p:txBody>
          <a:bodyPr wrap="square" lIns="0" tIns="0" rIns="0" bIns="0" anchor="t">
            <a:normAutofit/>
          </a:bodyPr>
          <a:lstStyle/>
          <a:p>
            <a:pPr algn="l"/>
            <a:r>
              <a:rPr sz="4000" b="0">
                <a:solidFill>
                  <a:srgbClr val="202031"/>
                </a:solidFill>
                <a:latin typeface="Raleway Light"/>
              </a:rPr>
              <a:t>Por qué Tessera</a:t>
            </a:r>
          </a:p>
        </p:txBody>
      </p:sp>
      <p:sp>
        <p:nvSpPr>
          <p:cNvPr id="6" name="TextBox 5"/>
          <p:cNvSpPr txBox="1"/>
          <p:nvPr/>
        </p:nvSpPr>
        <p:spPr>
          <a:xfrm>
            <a:off x="762000" y="1625600"/>
            <a:ext cx="9652000" cy="304800"/>
          </a:xfrm>
          <a:prstGeom prst="rect">
            <a:avLst/>
          </a:prstGeom>
          <a:noFill/>
        </p:spPr>
        <p:txBody>
          <a:bodyPr wrap="square" lIns="0" tIns="0" rIns="0" bIns="0" anchor="t">
            <a:normAutofit/>
          </a:bodyPr>
          <a:lstStyle/>
          <a:p>
            <a:pPr algn="l"/>
            <a:r>
              <a:rPr sz="1200" b="0">
                <a:solidFill>
                  <a:srgbClr val="202031"/>
                </a:solidFill>
                <a:latin typeface="Raleway"/>
              </a:rPr>
              <a:t>Procesos claros y compromisos que se cumplen: así movemos el talento.</a:t>
            </a:r>
          </a:p>
        </p:txBody>
      </p:sp>
      <p:sp>
        <p:nvSpPr>
          <p:cNvPr id="7" name="Rectangle 6"/>
          <p:cNvSpPr/>
          <p:nvPr/>
        </p:nvSpPr>
        <p:spPr>
          <a:xfrm>
            <a:off x="762000" y="2184400"/>
            <a:ext cx="3378200" cy="241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8" name="Rectangle 7"/>
          <p:cNvSpPr/>
          <p:nvPr/>
        </p:nvSpPr>
        <p:spPr>
          <a:xfrm>
            <a:off x="1016000" y="2463800"/>
            <a:ext cx="635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9" name="TextBox 8"/>
          <p:cNvSpPr txBox="1"/>
          <p:nvPr/>
        </p:nvSpPr>
        <p:spPr>
          <a:xfrm>
            <a:off x="1016000" y="2667000"/>
            <a:ext cx="2870200" cy="1778000"/>
          </a:xfrm>
          <a:prstGeom prst="rect">
            <a:avLst/>
          </a:prstGeom>
          <a:noFill/>
        </p:spPr>
        <p:txBody>
          <a:bodyPr wrap="square" lIns="0" tIns="0" rIns="0" bIns="0" anchor="t">
            <a:normAutofit/>
          </a:bodyPr>
          <a:lstStyle/>
          <a:p>
            <a:pPr algn="l">
              <a:spcAft>
                <a:spcPts val="600"/>
              </a:spcAft>
            </a:pPr>
            <a:r>
              <a:rPr sz="1400" b="0">
                <a:solidFill>
                  <a:srgbClr val="202031"/>
                </a:solidFill>
                <a:latin typeface="Raleway SemiBold"/>
              </a:rPr>
              <a:t>Acompañamiento real y cercano</a:t>
            </a:r>
          </a:p>
          <a:p>
            <a:pPr>
              <a:lnSpc>
                <a:spcPct val="120000"/>
              </a:lnSpc>
            </a:pPr>
            <a:r>
              <a:rPr sz="1050" b="0">
                <a:solidFill>
                  <a:srgbClr val="202031"/>
                </a:solidFill>
                <a:latin typeface="Raleway"/>
              </a:rPr>
              <a:t>No desaparecemos tras la firma. Seguimos el proceso de incorporación y garantizamos que cada persona se integra bien en el equipo desde el primer día.</a:t>
            </a:r>
          </a:p>
        </p:txBody>
      </p:sp>
      <p:sp>
        <p:nvSpPr>
          <p:cNvPr id="10" name="Rectangle 9"/>
          <p:cNvSpPr/>
          <p:nvPr/>
        </p:nvSpPr>
        <p:spPr>
          <a:xfrm>
            <a:off x="4406900" y="2184400"/>
            <a:ext cx="3378200" cy="241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1" name="Rectangle 10"/>
          <p:cNvSpPr/>
          <p:nvPr/>
        </p:nvSpPr>
        <p:spPr>
          <a:xfrm>
            <a:off x="4660900" y="2463800"/>
            <a:ext cx="635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2" name="TextBox 11"/>
          <p:cNvSpPr txBox="1"/>
          <p:nvPr/>
        </p:nvSpPr>
        <p:spPr>
          <a:xfrm>
            <a:off x="4660900" y="2667000"/>
            <a:ext cx="2870200" cy="1778000"/>
          </a:xfrm>
          <a:prstGeom prst="rect">
            <a:avLst/>
          </a:prstGeom>
          <a:noFill/>
        </p:spPr>
        <p:txBody>
          <a:bodyPr wrap="square" lIns="0" tIns="0" rIns="0" bIns="0" anchor="t">
            <a:normAutofit/>
          </a:bodyPr>
          <a:lstStyle/>
          <a:p>
            <a:pPr algn="l">
              <a:spcAft>
                <a:spcPts val="600"/>
              </a:spcAft>
            </a:pPr>
            <a:r>
              <a:rPr sz="1400" b="0">
                <a:solidFill>
                  <a:srgbClr val="202031"/>
                </a:solidFill>
                <a:latin typeface="Raleway SemiBold"/>
              </a:rPr>
              <a:t>Velocidad real</a:t>
            </a:r>
          </a:p>
          <a:p>
            <a:pPr>
              <a:lnSpc>
                <a:spcPct val="120000"/>
              </a:lnSpc>
            </a:pPr>
            <a:r>
              <a:rPr sz="1050" b="0">
                <a:solidFill>
                  <a:srgbClr val="202031"/>
                </a:solidFill>
                <a:latin typeface="Raleway"/>
              </a:rPr>
              <a:t>Candidatos listos en días, no en meses.</a:t>
            </a:r>
          </a:p>
        </p:txBody>
      </p:sp>
      <p:sp>
        <p:nvSpPr>
          <p:cNvPr id="13" name="Rectangle 12"/>
          <p:cNvSpPr/>
          <p:nvPr/>
        </p:nvSpPr>
        <p:spPr>
          <a:xfrm>
            <a:off x="8051800" y="2184400"/>
            <a:ext cx="3378200" cy="241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4" name="Rectangle 13"/>
          <p:cNvSpPr/>
          <p:nvPr/>
        </p:nvSpPr>
        <p:spPr>
          <a:xfrm>
            <a:off x="8305800" y="2463800"/>
            <a:ext cx="635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5" name="TextBox 14"/>
          <p:cNvSpPr txBox="1"/>
          <p:nvPr/>
        </p:nvSpPr>
        <p:spPr>
          <a:xfrm>
            <a:off x="8305800" y="2667000"/>
            <a:ext cx="2870200" cy="1778000"/>
          </a:xfrm>
          <a:prstGeom prst="rect">
            <a:avLst/>
          </a:prstGeom>
          <a:noFill/>
        </p:spPr>
        <p:txBody>
          <a:bodyPr wrap="square" lIns="0" tIns="0" rIns="0" bIns="0" anchor="t">
            <a:normAutofit/>
          </a:bodyPr>
          <a:lstStyle/>
          <a:p>
            <a:pPr algn="l">
              <a:spcAft>
                <a:spcPts val="600"/>
              </a:spcAft>
            </a:pPr>
            <a:r>
              <a:rPr sz="1400" b="0">
                <a:solidFill>
                  <a:srgbClr val="202031"/>
                </a:solidFill>
                <a:latin typeface="Raleway SemiBold"/>
              </a:rPr>
              <a:t>Siempre contigo</a:t>
            </a:r>
          </a:p>
          <a:p>
            <a:pPr>
              <a:lnSpc>
                <a:spcPct val="120000"/>
              </a:lnSpc>
            </a:pPr>
            <a:r>
              <a:rPr sz="1050" b="0">
                <a:solidFill>
                  <a:srgbClr val="202031"/>
                </a:solidFill>
                <a:latin typeface="Raleway"/>
              </a:rPr>
              <a:t>Acompañamos la incorporación y el primer año completo.</a:t>
            </a:r>
          </a:p>
        </p:txBody>
      </p:sp>
      <p:sp>
        <p:nvSpPr>
          <p:cNvPr id="16" name="Rectangle 15"/>
          <p:cNvSpPr/>
          <p:nvPr/>
        </p:nvSpPr>
        <p:spPr>
          <a:xfrm>
            <a:off x="762000" y="49784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7" name="TextBox 16"/>
          <p:cNvSpPr txBox="1"/>
          <p:nvPr/>
        </p:nvSpPr>
        <p:spPr>
          <a:xfrm>
            <a:off x="965200" y="5156200"/>
            <a:ext cx="2675466" cy="203200"/>
          </a:xfrm>
          <a:prstGeom prst="rect">
            <a:avLst/>
          </a:prstGeom>
          <a:noFill/>
        </p:spPr>
        <p:txBody>
          <a:bodyPr wrap="square" lIns="0" tIns="0" rIns="0" bIns="0" anchor="t">
            <a:normAutofit/>
          </a:bodyPr>
          <a:lstStyle/>
          <a:p>
            <a:pPr algn="l"/>
            <a:r>
              <a:rPr sz="900" b="0" spc="80">
                <a:solidFill>
                  <a:srgbClr val="587579"/>
                </a:solidFill>
                <a:latin typeface="Raleway Medium"/>
              </a:rPr>
              <a:t>BOUTIQUE</a:t>
            </a:r>
          </a:p>
        </p:txBody>
      </p:sp>
      <p:sp>
        <p:nvSpPr>
          <p:cNvPr id="18" name="TextBox 17"/>
          <p:cNvSpPr txBox="1"/>
          <p:nvPr/>
        </p:nvSpPr>
        <p:spPr>
          <a:xfrm>
            <a:off x="965200" y="5410200"/>
            <a:ext cx="2675466" cy="355600"/>
          </a:xfrm>
          <a:prstGeom prst="rect">
            <a:avLst/>
          </a:prstGeom>
          <a:noFill/>
        </p:spPr>
        <p:txBody>
          <a:bodyPr wrap="square" lIns="0" tIns="0" rIns="0" bIns="0" anchor="t">
            <a:normAutofit/>
          </a:bodyPr>
          <a:lstStyle/>
          <a:p>
            <a:pPr algn="l"/>
            <a:r>
              <a:rPr sz="1000" b="0">
                <a:solidFill>
                  <a:srgbClr val="202031"/>
                </a:solidFill>
                <a:latin typeface="Raleway"/>
              </a:rPr>
              <a:t>Equipo senior en cada búsqueda.</a:t>
            </a:r>
          </a:p>
        </p:txBody>
      </p:sp>
      <p:sp>
        <p:nvSpPr>
          <p:cNvPr id="19" name="Rectangle 18"/>
          <p:cNvSpPr/>
          <p:nvPr/>
        </p:nvSpPr>
        <p:spPr>
          <a:xfrm>
            <a:off x="4047066" y="49784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20" name="TextBox 19"/>
          <p:cNvSpPr txBox="1"/>
          <p:nvPr/>
        </p:nvSpPr>
        <p:spPr>
          <a:xfrm>
            <a:off x="4250266" y="5156200"/>
            <a:ext cx="2675466" cy="203200"/>
          </a:xfrm>
          <a:prstGeom prst="rect">
            <a:avLst/>
          </a:prstGeom>
          <a:noFill/>
        </p:spPr>
        <p:txBody>
          <a:bodyPr wrap="square" lIns="0" tIns="0" rIns="0" bIns="0" anchor="t">
            <a:normAutofit/>
          </a:bodyPr>
          <a:lstStyle/>
          <a:p>
            <a:pPr algn="l"/>
            <a:r>
              <a:rPr sz="900" b="0" spc="80">
                <a:solidFill>
                  <a:srgbClr val="587579"/>
                </a:solidFill>
                <a:latin typeface="Raleway Medium"/>
              </a:rPr>
              <a:t>TRATO DIRECTO</a:t>
            </a:r>
          </a:p>
        </p:txBody>
      </p:sp>
      <p:sp>
        <p:nvSpPr>
          <p:cNvPr id="21" name="TextBox 20"/>
          <p:cNvSpPr txBox="1"/>
          <p:nvPr/>
        </p:nvSpPr>
        <p:spPr>
          <a:xfrm>
            <a:off x="4250266" y="5410200"/>
            <a:ext cx="2675466" cy="355600"/>
          </a:xfrm>
          <a:prstGeom prst="rect">
            <a:avLst/>
          </a:prstGeom>
          <a:noFill/>
        </p:spPr>
        <p:txBody>
          <a:bodyPr wrap="square" lIns="0" tIns="0" rIns="0" bIns="0" anchor="t">
            <a:normAutofit/>
          </a:bodyPr>
          <a:lstStyle/>
          <a:p>
            <a:pPr algn="l"/>
            <a:r>
              <a:rPr sz="1000" b="0">
                <a:solidFill>
                  <a:srgbClr val="202031"/>
                </a:solidFill>
                <a:latin typeface="Raleway"/>
              </a:rPr>
              <a:t>Sin intermediarios: trato de tú a tú.</a:t>
            </a:r>
          </a:p>
        </p:txBody>
      </p:sp>
      <p:sp>
        <p:nvSpPr>
          <p:cNvPr id="22" name="Rectangle 21"/>
          <p:cNvSpPr/>
          <p:nvPr/>
        </p:nvSpPr>
        <p:spPr>
          <a:xfrm>
            <a:off x="7332133" y="4978400"/>
            <a:ext cx="3081866" cy="889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23" name="TextBox 22"/>
          <p:cNvSpPr txBox="1"/>
          <p:nvPr/>
        </p:nvSpPr>
        <p:spPr>
          <a:xfrm>
            <a:off x="7535333" y="5156200"/>
            <a:ext cx="2675466" cy="203200"/>
          </a:xfrm>
          <a:prstGeom prst="rect">
            <a:avLst/>
          </a:prstGeom>
          <a:noFill/>
        </p:spPr>
        <p:txBody>
          <a:bodyPr wrap="square" lIns="0" tIns="0" rIns="0" bIns="0" anchor="t">
            <a:normAutofit/>
          </a:bodyPr>
          <a:lstStyle/>
          <a:p>
            <a:pPr algn="l"/>
            <a:r>
              <a:rPr sz="900" b="0" spc="80">
                <a:solidFill>
                  <a:srgbClr val="587579"/>
                </a:solidFill>
                <a:latin typeface="Raleway Medium"/>
              </a:rPr>
              <a:t>VISIÓN DE NEGOCIO</a:t>
            </a:r>
          </a:p>
        </p:txBody>
      </p:sp>
      <p:sp>
        <p:nvSpPr>
          <p:cNvPr id="24" name="TextBox 23"/>
          <p:cNvSpPr txBox="1"/>
          <p:nvPr/>
        </p:nvSpPr>
        <p:spPr>
          <a:xfrm>
            <a:off x="7535333" y="5410200"/>
            <a:ext cx="2675466" cy="355600"/>
          </a:xfrm>
          <a:prstGeom prst="rect">
            <a:avLst/>
          </a:prstGeom>
          <a:noFill/>
        </p:spPr>
        <p:txBody>
          <a:bodyPr wrap="square" lIns="0" tIns="0" rIns="0" bIns="0" anchor="t">
            <a:normAutofit/>
          </a:bodyPr>
          <a:lstStyle/>
          <a:p>
            <a:pPr algn="l"/>
            <a:r>
              <a:rPr sz="1000" b="0">
                <a:solidFill>
                  <a:srgbClr val="202031"/>
                </a:solidFill>
                <a:latin typeface="Raleway"/>
              </a:rPr>
              <a:t>Estrategia diseñada para ti.</a:t>
            </a:r>
          </a:p>
        </p:txBody>
      </p:sp>
      <p:sp>
        <p:nvSpPr>
          <p:cNvPr id="25" name="TextBox 24"/>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26" name="TextBox 25"/>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HEADHUNTING</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normAutofit/>
          </a:bodyPr>
          <a:lstStyle/>
          <a:p>
            <a:pPr algn="l"/>
            <a:r>
              <a:rPr sz="3600" b="0">
                <a:solidFill>
                  <a:srgbClr val="202031"/>
                </a:solidFill>
                <a:latin typeface="Raleway Light"/>
              </a:rPr>
              <a:t>Headhunting</a:t>
            </a:r>
          </a:p>
        </p:txBody>
      </p:sp>
      <p:sp>
        <p:nvSpPr>
          <p:cNvPr id="6" name="Rectangle 5"/>
          <p:cNvSpPr/>
          <p:nvPr/>
        </p:nvSpPr>
        <p:spPr>
          <a:xfrm>
            <a:off x="762000" y="1778000"/>
            <a:ext cx="3378200" cy="3429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7" name="TextBox 6"/>
          <p:cNvSpPr txBox="1"/>
          <p:nvPr/>
        </p:nvSpPr>
        <p:spPr>
          <a:xfrm>
            <a:off x="990600" y="1981200"/>
            <a:ext cx="2921000" cy="203200"/>
          </a:xfrm>
          <a:prstGeom prst="rect">
            <a:avLst/>
          </a:prstGeom>
          <a:noFill/>
        </p:spPr>
        <p:txBody>
          <a:bodyPr wrap="square" lIns="0" tIns="0" rIns="0" bIns="0" anchor="t">
            <a:normAutofit/>
          </a:bodyPr>
          <a:lstStyle/>
          <a:p>
            <a:pPr algn="l"/>
            <a:r>
              <a:rPr sz="1000" b="0" spc="80">
                <a:solidFill>
                  <a:srgbClr val="587579"/>
                </a:solidFill>
                <a:latin typeface="Raleway Medium"/>
              </a:rPr>
              <a:t>¿POR QUÉ ELEGIRNOS?</a:t>
            </a:r>
          </a:p>
        </p:txBody>
      </p:sp>
      <p:sp>
        <p:nvSpPr>
          <p:cNvPr id="8" name="Rectangle 7"/>
          <p:cNvSpPr/>
          <p:nvPr/>
        </p:nvSpPr>
        <p:spPr>
          <a:xfrm>
            <a:off x="990600" y="2235200"/>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9" name="TextBox 8"/>
          <p:cNvSpPr txBox="1"/>
          <p:nvPr/>
        </p:nvSpPr>
        <p:spPr>
          <a:xfrm>
            <a:off x="990600" y="2387600"/>
            <a:ext cx="2921000" cy="2616200"/>
          </a:xfrm>
          <a:prstGeom prst="rect">
            <a:avLst/>
          </a:prstGeom>
          <a:noFill/>
        </p:spPr>
        <p:txBody>
          <a:bodyPr wrap="square" lIns="0" tIns="0" rIns="0" bIns="0" anchor="t">
            <a:normAutofit/>
          </a:bodyPr>
          <a:lstStyle/>
          <a:p>
            <a:pPr algn="l">
              <a:spcBef>
                <a:spcPts val="1000"/>
              </a:spcBef>
            </a:pPr>
            <a:r>
              <a:rPr sz="1050" b="0">
                <a:solidFill>
                  <a:srgbClr val="202031"/>
                </a:solidFill>
                <a:latin typeface="Raleway SemiBold"/>
              </a:rPr>
              <a:t>SECTOR QUE CONOCEMOS</a:t>
            </a:r>
          </a:p>
          <a:p>
            <a:pPr>
              <a:lnSpc>
                <a:spcPct val="115000"/>
              </a:lnSpc>
            </a:pPr>
            <a:r>
              <a:rPr sz="950" b="0">
                <a:solidFill>
                  <a:srgbClr val="202031"/>
                </a:solidFill>
                <a:latin typeface="Raleway"/>
              </a:rPr>
              <a:t>Trabajamos con empresas de distribución y retail alimentario. Sabemos qué competencias hacen falta en cada puesto.</a:t>
            </a:r>
          </a:p>
          <a:p>
            <a:pPr>
              <a:spcBef>
                <a:spcPts val="1000"/>
              </a:spcBef>
            </a:pPr>
            <a:r>
              <a:rPr sz="1050" b="0">
                <a:solidFill>
                  <a:srgbClr val="202031"/>
                </a:solidFill>
                <a:latin typeface="Raleway SemiBold"/>
              </a:rPr>
              <a:t>PERFILES DIFÍCILES DE ENCONTRAR</a:t>
            </a:r>
          </a:p>
          <a:p>
            <a:pPr>
              <a:lnSpc>
                <a:spcPct val="115000"/>
              </a:lnSpc>
            </a:pPr>
            <a:r>
              <a:rPr sz="950" b="0">
                <a:solidFill>
                  <a:srgbClr val="202031"/>
                </a:solidFill>
                <a:latin typeface="Raleway"/>
              </a:rPr>
              <a:t>Los jefes de sección con experiencia real en frescos o panadería no abundan. Sabemos dónde están y cómo atraerlos.</a:t>
            </a:r>
          </a:p>
          <a:p>
            <a:pPr>
              <a:spcBef>
                <a:spcPts val="1000"/>
              </a:spcBef>
            </a:pPr>
            <a:r>
              <a:rPr sz="1050" b="0">
                <a:solidFill>
                  <a:srgbClr val="202031"/>
                </a:solidFill>
                <a:latin typeface="Raleway SemiBold"/>
              </a:rPr>
              <a:t>PROCESO ÁGIL Y CLARO</a:t>
            </a:r>
          </a:p>
          <a:p>
            <a:pPr>
              <a:lnSpc>
                <a:spcPct val="115000"/>
              </a:lnSpc>
            </a:pPr>
            <a:r>
              <a:rPr sz="950" b="0">
                <a:solidFill>
                  <a:srgbClr val="202031"/>
                </a:solidFill>
                <a:latin typeface="Raleway"/>
              </a:rPr>
              <a:t>Sin demoras innecesarias. Definimos el perfil, buscamos con rigor y presentamos solo candidatos que de verdad encajan.</a:t>
            </a:r>
          </a:p>
        </p:txBody>
      </p:sp>
      <p:sp>
        <p:nvSpPr>
          <p:cNvPr id="10" name="Rectangle 9"/>
          <p:cNvSpPr/>
          <p:nvPr/>
        </p:nvSpPr>
        <p:spPr>
          <a:xfrm>
            <a:off x="4406900" y="1778000"/>
            <a:ext cx="3378200" cy="3429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1" name="TextBox 10"/>
          <p:cNvSpPr txBox="1"/>
          <p:nvPr/>
        </p:nvSpPr>
        <p:spPr>
          <a:xfrm>
            <a:off x="4635500" y="1981200"/>
            <a:ext cx="2921000" cy="203200"/>
          </a:xfrm>
          <a:prstGeom prst="rect">
            <a:avLst/>
          </a:prstGeom>
          <a:noFill/>
        </p:spPr>
        <p:txBody>
          <a:bodyPr wrap="square" lIns="0" tIns="0" rIns="0" bIns="0" anchor="t">
            <a:normAutofit/>
          </a:bodyPr>
          <a:lstStyle/>
          <a:p>
            <a:pPr algn="l"/>
            <a:r>
              <a:rPr sz="1000" b="0" spc="80">
                <a:solidFill>
                  <a:srgbClr val="587579"/>
                </a:solidFill>
                <a:latin typeface="Raleway Medium"/>
              </a:rPr>
              <a:t>BENEFICIOS PARA TI</a:t>
            </a:r>
          </a:p>
        </p:txBody>
      </p:sp>
      <p:sp>
        <p:nvSpPr>
          <p:cNvPr id="12" name="Rectangle 11"/>
          <p:cNvSpPr/>
          <p:nvPr/>
        </p:nvSpPr>
        <p:spPr>
          <a:xfrm>
            <a:off x="4635500" y="2235200"/>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3" name="TextBox 12"/>
          <p:cNvSpPr txBox="1"/>
          <p:nvPr/>
        </p:nvSpPr>
        <p:spPr>
          <a:xfrm>
            <a:off x="4635500" y="2387600"/>
            <a:ext cx="2921000" cy="2616200"/>
          </a:xfrm>
          <a:prstGeom prst="rect">
            <a:avLst/>
          </a:prstGeom>
          <a:noFill/>
        </p:spPr>
        <p:txBody>
          <a:bodyPr wrap="square" lIns="0" tIns="0" rIns="0" bIns="0" anchor="t">
            <a:normAutofit/>
          </a:bodyPr>
          <a:lstStyle/>
          <a:p>
            <a:pPr algn="l">
              <a:spcBef>
                <a:spcPts val="1000"/>
              </a:spcBef>
            </a:pPr>
            <a:r>
              <a:rPr sz="1050" b="0">
                <a:solidFill>
                  <a:srgbClr val="202031"/>
                </a:solidFill>
                <a:latin typeface="Raleway SemiBold"/>
              </a:rPr>
              <a:t>CERO ESTRÉS</a:t>
            </a:r>
          </a:p>
          <a:p>
            <a:pPr>
              <a:lnSpc>
                <a:spcPct val="115000"/>
              </a:lnSpc>
            </a:pPr>
            <a:r>
              <a:rPr sz="950" b="0">
                <a:solidFill>
                  <a:srgbClr val="202031"/>
                </a:solidFill>
                <a:latin typeface="Raleway"/>
              </a:rPr>
              <a:t>Nos encargamos de todo el proceso de búsqueda y selección. Solo dedicas tiempo a conocer a los finalistas.</a:t>
            </a:r>
          </a:p>
          <a:p>
            <a:pPr>
              <a:spcBef>
                <a:spcPts val="1000"/>
              </a:spcBef>
            </a:pPr>
            <a:r>
              <a:rPr sz="1050" b="0">
                <a:solidFill>
                  <a:srgbClr val="202031"/>
                </a:solidFill>
                <a:latin typeface="Raleway SemiBold"/>
              </a:rPr>
              <a:t>TALENTO A MEDIDA</a:t>
            </a:r>
          </a:p>
          <a:p>
            <a:pPr>
              <a:lnSpc>
                <a:spcPct val="115000"/>
              </a:lnSpc>
            </a:pPr>
            <a:r>
              <a:rPr sz="950" b="0">
                <a:solidFill>
                  <a:srgbClr val="202031"/>
                </a:solidFill>
                <a:latin typeface="Raleway"/>
              </a:rPr>
              <a:t>Buscamos el perfil exacto: experiencia en alimentación, encaje cultural y competencias técnicas.</a:t>
            </a:r>
          </a:p>
          <a:p>
            <a:pPr>
              <a:spcBef>
                <a:spcPts val="1000"/>
              </a:spcBef>
            </a:pPr>
            <a:r>
              <a:rPr sz="1050" b="0">
                <a:solidFill>
                  <a:srgbClr val="202031"/>
                </a:solidFill>
                <a:latin typeface="Raleway SemiBold"/>
              </a:rPr>
              <a:t>RELACIÓN A LARGO PLAZO</a:t>
            </a:r>
          </a:p>
          <a:p>
            <a:pPr>
              <a:lnSpc>
                <a:spcPct val="115000"/>
              </a:lnSpc>
            </a:pPr>
            <a:r>
              <a:rPr sz="950" b="0">
                <a:solidFill>
                  <a:srgbClr val="202031"/>
                </a:solidFill>
                <a:latin typeface="Raleway"/>
              </a:rPr>
              <a:t>Nos interesa que la incorporación funcione a largo plazo. Acompañamos el proceso más allá de la firma.</a:t>
            </a:r>
          </a:p>
        </p:txBody>
      </p:sp>
      <p:sp>
        <p:nvSpPr>
          <p:cNvPr id="14" name="Rectangle 13"/>
          <p:cNvSpPr/>
          <p:nvPr/>
        </p:nvSpPr>
        <p:spPr>
          <a:xfrm>
            <a:off x="8051800" y="1778000"/>
            <a:ext cx="3378200" cy="3429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5" name="TextBox 14"/>
          <p:cNvSpPr txBox="1"/>
          <p:nvPr/>
        </p:nvSpPr>
        <p:spPr>
          <a:xfrm>
            <a:off x="8280400" y="1981200"/>
            <a:ext cx="2921000" cy="203200"/>
          </a:xfrm>
          <a:prstGeom prst="rect">
            <a:avLst/>
          </a:prstGeom>
          <a:noFill/>
        </p:spPr>
        <p:txBody>
          <a:bodyPr wrap="square" lIns="0" tIns="0" rIns="0" bIns="0" anchor="t">
            <a:normAutofit/>
          </a:bodyPr>
          <a:lstStyle/>
          <a:p>
            <a:pPr algn="l"/>
            <a:r>
              <a:rPr sz="1000" b="0" spc="80">
                <a:solidFill>
                  <a:srgbClr val="587579"/>
                </a:solidFill>
                <a:latin typeface="Raleway Medium"/>
              </a:rPr>
              <a:t>¿CÓMO LO HACEMOS?</a:t>
            </a:r>
          </a:p>
        </p:txBody>
      </p:sp>
      <p:sp>
        <p:nvSpPr>
          <p:cNvPr id="16" name="Rectangle 15"/>
          <p:cNvSpPr/>
          <p:nvPr/>
        </p:nvSpPr>
        <p:spPr>
          <a:xfrm>
            <a:off x="8280400" y="2235200"/>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7" name="TextBox 16"/>
          <p:cNvSpPr txBox="1"/>
          <p:nvPr/>
        </p:nvSpPr>
        <p:spPr>
          <a:xfrm>
            <a:off x="8280400" y="2387600"/>
            <a:ext cx="2921000" cy="2616200"/>
          </a:xfrm>
          <a:prstGeom prst="rect">
            <a:avLst/>
          </a:prstGeom>
          <a:noFill/>
        </p:spPr>
        <p:txBody>
          <a:bodyPr wrap="square" lIns="0" tIns="0" rIns="0" bIns="0" anchor="t">
            <a:normAutofit/>
          </a:bodyPr>
          <a:lstStyle/>
          <a:p>
            <a:pPr algn="l">
              <a:spcBef>
                <a:spcPts val="1000"/>
              </a:spcBef>
            </a:pPr>
            <a:r>
              <a:rPr sz="1050" b="0">
                <a:solidFill>
                  <a:srgbClr val="202031"/>
                </a:solidFill>
                <a:latin typeface="Raleway SemiBold"/>
              </a:rPr>
              <a:t>ELEGIMOS CON PRECISIÓN</a:t>
            </a:r>
          </a:p>
          <a:p>
            <a:pPr>
              <a:lnSpc>
                <a:spcPct val="115000"/>
              </a:lnSpc>
            </a:pPr>
            <a:r>
              <a:rPr sz="950" b="0">
                <a:solidFill>
                  <a:srgbClr val="202031"/>
                </a:solidFill>
                <a:latin typeface="Raleway"/>
              </a:rPr>
              <a:t>Evaluamos cada candidato en profundidad: trayectoria, competencias técnicas y encaje cultural.</a:t>
            </a:r>
          </a:p>
          <a:p>
            <a:pPr>
              <a:spcBef>
                <a:spcPts val="1000"/>
              </a:spcBef>
            </a:pPr>
            <a:r>
              <a:rPr sz="1050" b="0">
                <a:solidFill>
                  <a:srgbClr val="202031"/>
                </a:solidFill>
                <a:latin typeface="Raleway SemiBold"/>
              </a:rPr>
              <a:t>SOLO LO MEJOR</a:t>
            </a:r>
          </a:p>
          <a:p>
            <a:pPr>
              <a:lnSpc>
                <a:spcPct val="115000"/>
              </a:lnSpc>
            </a:pPr>
            <a:r>
              <a:rPr sz="950" b="0">
                <a:solidFill>
                  <a:srgbClr val="202031"/>
                </a:solidFill>
                <a:latin typeface="Raleway"/>
              </a:rPr>
              <a:t>Presentamos una terna de finalistas. Pocos, bien seleccionados y con toda la información necesaria.</a:t>
            </a:r>
          </a:p>
          <a:p>
            <a:pPr>
              <a:spcBef>
                <a:spcPts val="1000"/>
              </a:spcBef>
            </a:pPr>
            <a:r>
              <a:rPr sz="1050" b="0">
                <a:solidFill>
                  <a:srgbClr val="202031"/>
                </a:solidFill>
                <a:latin typeface="Raleway SemiBold"/>
              </a:rPr>
              <a:t>ACOMPAÑAMOS EL PROCESO</a:t>
            </a:r>
          </a:p>
          <a:p>
            <a:pPr>
              <a:lnSpc>
                <a:spcPct val="115000"/>
              </a:lnSpc>
            </a:pPr>
            <a:r>
              <a:rPr sz="950" b="0">
                <a:solidFill>
                  <a:srgbClr val="202031"/>
                </a:solidFill>
                <a:latin typeface="Raleway"/>
              </a:rPr>
              <a:t>Hacemos seguimiento durante los primeros meses para asegurar que la integración va bien.</a:t>
            </a:r>
          </a:p>
        </p:txBody>
      </p:sp>
      <p:sp>
        <p:nvSpPr>
          <p:cNvPr id="18" name="Rectangle 17"/>
          <p:cNvSpPr/>
          <p:nvPr/>
        </p:nvSpPr>
        <p:spPr>
          <a:xfrm>
            <a:off x="762000" y="5435600"/>
            <a:ext cx="9652000" cy="965200"/>
          </a:xfrm>
          <a:prstGeom prst="rect">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9" name="TextBox 18"/>
          <p:cNvSpPr txBox="1"/>
          <p:nvPr/>
        </p:nvSpPr>
        <p:spPr>
          <a:xfrm>
            <a:off x="1016000" y="5613400"/>
            <a:ext cx="1778000" cy="203200"/>
          </a:xfrm>
          <a:prstGeom prst="rect">
            <a:avLst/>
          </a:prstGeom>
          <a:noFill/>
        </p:spPr>
        <p:txBody>
          <a:bodyPr wrap="square" lIns="0" tIns="0" rIns="0" bIns="0" anchor="t">
            <a:normAutofit/>
          </a:bodyPr>
          <a:lstStyle/>
          <a:p>
            <a:pPr algn="l"/>
            <a:r>
              <a:rPr sz="900" b="0" spc="80">
                <a:solidFill>
                  <a:srgbClr val="8AA3A5"/>
                </a:solidFill>
                <a:latin typeface="Raleway Medium"/>
              </a:rPr>
              <a:t>IA PROPIA DE SELECCIÓN</a:t>
            </a:r>
          </a:p>
        </p:txBody>
      </p:sp>
      <p:sp>
        <p:nvSpPr>
          <p:cNvPr id="20" name="TextBox 19"/>
          <p:cNvSpPr txBox="1"/>
          <p:nvPr/>
        </p:nvSpPr>
        <p:spPr>
          <a:xfrm>
            <a:off x="1016000" y="5842000"/>
            <a:ext cx="1778000" cy="381000"/>
          </a:xfrm>
          <a:prstGeom prst="rect">
            <a:avLst/>
          </a:prstGeom>
          <a:noFill/>
        </p:spPr>
        <p:txBody>
          <a:bodyPr wrap="square" lIns="0" tIns="0" rIns="0" bIns="0" anchor="t">
            <a:normAutofit/>
          </a:bodyPr>
          <a:lstStyle/>
          <a:p>
            <a:pPr algn="l"/>
            <a:r>
              <a:rPr sz="1800" b="0">
                <a:solidFill>
                  <a:srgbClr val="FFFFFF"/>
                </a:solidFill>
                <a:latin typeface="Raleway SemiBold"/>
              </a:rPr>
              <a:t>TESSA</a:t>
            </a:r>
          </a:p>
        </p:txBody>
      </p:sp>
      <p:sp>
        <p:nvSpPr>
          <p:cNvPr id="21" name="TextBox 20"/>
          <p:cNvSpPr txBox="1"/>
          <p:nvPr/>
        </p:nvSpPr>
        <p:spPr>
          <a:xfrm>
            <a:off x="2921000" y="5613400"/>
            <a:ext cx="5334000" cy="609600"/>
          </a:xfrm>
          <a:prstGeom prst="rect">
            <a:avLst/>
          </a:prstGeom>
          <a:noFill/>
        </p:spPr>
        <p:txBody>
          <a:bodyPr wrap="square" lIns="0" tIns="0" rIns="0" bIns="0" anchor="t">
            <a:normAutofit/>
          </a:bodyPr>
          <a:lstStyle/>
          <a:p>
            <a:pPr algn="l">
              <a:lnSpc>
                <a:spcPct val="120000"/>
              </a:lnSpc>
            </a:pPr>
            <a:r>
              <a:rPr sz="1000" b="0">
                <a:solidFill>
                  <a:srgbClr val="FFFFFF"/>
                </a:solidFill>
                <a:latin typeface="Raleway"/>
              </a:rPr>
              <a:t>Nuestra inteligencia artificial, junto a nuestra metodología propia, identifica y prioriza al mejor talento del mercado en cada búsqueda.</a:t>
            </a:r>
          </a:p>
        </p:txBody>
      </p:sp>
      <p:sp>
        <p:nvSpPr>
          <p:cNvPr id="22" name="TextBox 21"/>
          <p:cNvSpPr txBox="1"/>
          <p:nvPr/>
        </p:nvSpPr>
        <p:spPr>
          <a:xfrm>
            <a:off x="8509000" y="5588000"/>
            <a:ext cx="1143000" cy="457200"/>
          </a:xfrm>
          <a:prstGeom prst="rect">
            <a:avLst/>
          </a:prstGeom>
          <a:noFill/>
        </p:spPr>
        <p:txBody>
          <a:bodyPr wrap="square" lIns="0" tIns="0" rIns="0" bIns="0" anchor="t">
            <a:normAutofit/>
          </a:bodyPr>
          <a:lstStyle/>
          <a:p>
            <a:pPr algn="l"/>
            <a:r>
              <a:rPr sz="2400" b="0">
                <a:solidFill>
                  <a:srgbClr val="FFFFFF"/>
                </a:solidFill>
                <a:latin typeface="Manrope ExtraLight"/>
              </a:rPr>
              <a:t>72h</a:t>
            </a:r>
          </a:p>
        </p:txBody>
      </p:sp>
      <p:sp>
        <p:nvSpPr>
          <p:cNvPr id="23" name="TextBox 22"/>
          <p:cNvSpPr txBox="1"/>
          <p:nvPr/>
        </p:nvSpPr>
        <p:spPr>
          <a:xfrm>
            <a:off x="8509000" y="6045200"/>
            <a:ext cx="1905000" cy="304800"/>
          </a:xfrm>
          <a:prstGeom prst="rect">
            <a:avLst/>
          </a:prstGeom>
          <a:noFill/>
        </p:spPr>
        <p:txBody>
          <a:bodyPr wrap="square" lIns="0" tIns="0" rIns="0" bIns="0" anchor="t">
            <a:normAutofit/>
          </a:bodyPr>
          <a:lstStyle/>
          <a:p>
            <a:pPr algn="l">
              <a:lnSpc>
                <a:spcPct val="105000"/>
              </a:lnSpc>
            </a:pPr>
            <a:r>
              <a:rPr sz="850" b="0">
                <a:solidFill>
                  <a:srgbClr val="8AA3A5"/>
                </a:solidFill>
                <a:latin typeface="Raleway"/>
              </a:rPr>
              <a:t>Primer shortlist
sobre tu mesa</a:t>
            </a:r>
          </a:p>
        </p:txBody>
      </p:sp>
      <p:sp>
        <p:nvSpPr>
          <p:cNvPr id="24" name="TextBox 23"/>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25" name="TextBox 24"/>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OUTSOURCING TIME &amp; MATERIAL</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9652000" cy="635000"/>
          </a:xfrm>
          <a:prstGeom prst="rect">
            <a:avLst/>
          </a:prstGeom>
          <a:noFill/>
        </p:spPr>
        <p:txBody>
          <a:bodyPr wrap="square" lIns="0" tIns="0" rIns="0" bIns="0" anchor="t">
            <a:normAutofit/>
          </a:bodyPr>
          <a:lstStyle/>
          <a:p>
            <a:pPr algn="l"/>
            <a:r>
              <a:rPr sz="3000" b="0">
                <a:solidFill>
                  <a:srgbClr val="202031"/>
                </a:solidFill>
                <a:latin typeface="Raleway Light"/>
              </a:rPr>
              <a:t>Outsourcing Time &amp; Material</a:t>
            </a:r>
          </a:p>
        </p:txBody>
      </p:sp>
      <p:sp>
        <p:nvSpPr>
          <p:cNvPr id="6" name="TextBox 5"/>
          <p:cNvSpPr txBox="1"/>
          <p:nvPr/>
        </p:nvSpPr>
        <p:spPr>
          <a:xfrm>
            <a:off x="762000" y="1473200"/>
            <a:ext cx="9652000" cy="304800"/>
          </a:xfrm>
          <a:prstGeom prst="rect">
            <a:avLst/>
          </a:prstGeom>
          <a:noFill/>
        </p:spPr>
        <p:txBody>
          <a:bodyPr wrap="square" lIns="0" tIns="0" rIns="0" bIns="0" anchor="t">
            <a:normAutofit/>
          </a:bodyPr>
          <a:lstStyle/>
          <a:p>
            <a:pPr algn="l">
              <a:lnSpc>
                <a:spcPct val="115000"/>
              </a:lnSpc>
            </a:pPr>
            <a:r>
              <a:rPr sz="1400" b="0">
                <a:solidFill>
                  <a:srgbClr val="587579"/>
                </a:solidFill>
                <a:latin typeface="Raleway SemiBold"/>
              </a:rPr>
              <a:t>Externalización que funciona de verdad para operaciones de gran volumen.</a:t>
            </a:r>
          </a:p>
        </p:txBody>
      </p:sp>
      <p:sp>
        <p:nvSpPr>
          <p:cNvPr id="7" name="TextBox 6"/>
          <p:cNvSpPr txBox="1"/>
          <p:nvPr/>
        </p:nvSpPr>
        <p:spPr>
          <a:xfrm>
            <a:off x="762000" y="1905000"/>
            <a:ext cx="9652000" cy="457200"/>
          </a:xfrm>
          <a:prstGeom prst="rect">
            <a:avLst/>
          </a:prstGeom>
          <a:noFill/>
        </p:spPr>
        <p:txBody>
          <a:bodyPr wrap="square" lIns="0" tIns="0" rIns="0" bIns="0" anchor="t">
            <a:normAutofit/>
          </a:bodyPr>
          <a:lstStyle/>
          <a:p>
            <a:pPr algn="l">
              <a:lnSpc>
                <a:spcPct val="120000"/>
              </a:lnSpc>
            </a:pPr>
            <a:r>
              <a:rPr sz="1100" b="0">
                <a:solidFill>
                  <a:srgbClr val="202031"/>
                </a:solidFill>
                <a:latin typeface="Raleway"/>
              </a:rPr>
              <a:t>Ajustas el equipo a tu operativa real sin perder el control del servicio ni la calidad.</a:t>
            </a:r>
          </a:p>
        </p:txBody>
      </p:sp>
      <p:sp>
        <p:nvSpPr>
          <p:cNvPr id="8" name="Rectangle 7"/>
          <p:cNvSpPr/>
          <p:nvPr/>
        </p:nvSpPr>
        <p:spPr>
          <a:xfrm>
            <a:off x="762000" y="2921000"/>
            <a:ext cx="4635500" cy="8636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9" name="TextBox 8"/>
          <p:cNvSpPr txBox="1"/>
          <p:nvPr/>
        </p:nvSpPr>
        <p:spPr>
          <a:xfrm>
            <a:off x="990600" y="3073400"/>
            <a:ext cx="4178300" cy="228600"/>
          </a:xfrm>
          <a:prstGeom prst="rect">
            <a:avLst/>
          </a:prstGeom>
          <a:noFill/>
        </p:spPr>
        <p:txBody>
          <a:bodyPr wrap="square" lIns="0" tIns="0" rIns="0" bIns="0" anchor="t">
            <a:normAutofit/>
          </a:bodyPr>
          <a:lstStyle/>
          <a:p>
            <a:pPr algn="l"/>
            <a:r>
              <a:rPr sz="1150" b="0">
                <a:solidFill>
                  <a:srgbClr val="202031"/>
                </a:solidFill>
                <a:latin typeface="Raleway SemiBold"/>
              </a:rPr>
              <a:t>Ahorro en costes de personal</a:t>
            </a:r>
          </a:p>
        </p:txBody>
      </p:sp>
      <p:sp>
        <p:nvSpPr>
          <p:cNvPr id="10" name="TextBox 9"/>
          <p:cNvSpPr txBox="1"/>
          <p:nvPr/>
        </p:nvSpPr>
        <p:spPr>
          <a:xfrm>
            <a:off x="990600" y="3352800"/>
            <a:ext cx="4178300" cy="355600"/>
          </a:xfrm>
          <a:prstGeom prst="rect">
            <a:avLst/>
          </a:prstGeom>
          <a:noFill/>
        </p:spPr>
        <p:txBody>
          <a:bodyPr wrap="square" lIns="0" tIns="0" rIns="0" bIns="0" anchor="t">
            <a:normAutofit/>
          </a:bodyPr>
          <a:lstStyle/>
          <a:p>
            <a:pPr algn="l"/>
            <a:r>
              <a:rPr sz="950" b="0">
                <a:solidFill>
                  <a:srgbClr val="202031"/>
                </a:solidFill>
                <a:latin typeface="Raleway"/>
              </a:rPr>
              <a:t>Pagas solo por horas reales de trabajo prestadas en tienda.</a:t>
            </a:r>
          </a:p>
        </p:txBody>
      </p:sp>
      <p:sp>
        <p:nvSpPr>
          <p:cNvPr id="11" name="Rectangle 10"/>
          <p:cNvSpPr/>
          <p:nvPr/>
        </p:nvSpPr>
        <p:spPr>
          <a:xfrm>
            <a:off x="5651500" y="2921000"/>
            <a:ext cx="4635500" cy="8636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2" name="TextBox 11"/>
          <p:cNvSpPr txBox="1"/>
          <p:nvPr/>
        </p:nvSpPr>
        <p:spPr>
          <a:xfrm>
            <a:off x="5880100" y="3073400"/>
            <a:ext cx="4178300" cy="228600"/>
          </a:xfrm>
          <a:prstGeom prst="rect">
            <a:avLst/>
          </a:prstGeom>
          <a:noFill/>
        </p:spPr>
        <p:txBody>
          <a:bodyPr wrap="square" lIns="0" tIns="0" rIns="0" bIns="0" anchor="t">
            <a:normAutofit/>
          </a:bodyPr>
          <a:lstStyle/>
          <a:p>
            <a:pPr algn="l"/>
            <a:r>
              <a:rPr sz="1150" b="0">
                <a:solidFill>
                  <a:srgbClr val="202031"/>
                </a:solidFill>
                <a:latin typeface="Raleway SemiBold"/>
              </a:rPr>
              <a:t>Cobertura total</a:t>
            </a:r>
          </a:p>
        </p:txBody>
      </p:sp>
      <p:sp>
        <p:nvSpPr>
          <p:cNvPr id="13" name="TextBox 12"/>
          <p:cNvSpPr txBox="1"/>
          <p:nvPr/>
        </p:nvSpPr>
        <p:spPr>
          <a:xfrm>
            <a:off x="5880100" y="3352800"/>
            <a:ext cx="4178300" cy="355600"/>
          </a:xfrm>
          <a:prstGeom prst="rect">
            <a:avLst/>
          </a:prstGeom>
          <a:noFill/>
        </p:spPr>
        <p:txBody>
          <a:bodyPr wrap="square" lIns="0" tIns="0" rIns="0" bIns="0" anchor="t">
            <a:normAutofit/>
          </a:bodyPr>
          <a:lstStyle/>
          <a:p>
            <a:pPr algn="l"/>
            <a:r>
              <a:rPr sz="950" b="0">
                <a:solidFill>
                  <a:srgbClr val="202031"/>
                </a:solidFill>
                <a:latin typeface="Raleway"/>
              </a:rPr>
              <a:t>Cubrimos bajas y vacaciones sin interrupciones en el servicio.</a:t>
            </a:r>
          </a:p>
        </p:txBody>
      </p:sp>
      <p:sp>
        <p:nvSpPr>
          <p:cNvPr id="14" name="Rectangle 13"/>
          <p:cNvSpPr/>
          <p:nvPr/>
        </p:nvSpPr>
        <p:spPr>
          <a:xfrm>
            <a:off x="762000" y="3937000"/>
            <a:ext cx="4635500" cy="8636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5" name="TextBox 14"/>
          <p:cNvSpPr txBox="1"/>
          <p:nvPr/>
        </p:nvSpPr>
        <p:spPr>
          <a:xfrm>
            <a:off x="990600" y="4089400"/>
            <a:ext cx="4178300" cy="228600"/>
          </a:xfrm>
          <a:prstGeom prst="rect">
            <a:avLst/>
          </a:prstGeom>
          <a:noFill/>
        </p:spPr>
        <p:txBody>
          <a:bodyPr wrap="square" lIns="0" tIns="0" rIns="0" bIns="0" anchor="t">
            <a:normAutofit/>
          </a:bodyPr>
          <a:lstStyle/>
          <a:p>
            <a:pPr algn="l"/>
            <a:r>
              <a:rPr sz="1150" b="0">
                <a:solidFill>
                  <a:srgbClr val="202031"/>
                </a:solidFill>
                <a:latin typeface="Raleway SemiBold"/>
              </a:rPr>
              <a:t>Sin gestión</a:t>
            </a:r>
          </a:p>
        </p:txBody>
      </p:sp>
      <p:sp>
        <p:nvSpPr>
          <p:cNvPr id="16" name="TextBox 15"/>
          <p:cNvSpPr txBox="1"/>
          <p:nvPr/>
        </p:nvSpPr>
        <p:spPr>
          <a:xfrm>
            <a:off x="990600" y="4368800"/>
            <a:ext cx="4178300" cy="355600"/>
          </a:xfrm>
          <a:prstGeom prst="rect">
            <a:avLst/>
          </a:prstGeom>
          <a:noFill/>
        </p:spPr>
        <p:txBody>
          <a:bodyPr wrap="square" lIns="0" tIns="0" rIns="0" bIns="0" anchor="t">
            <a:normAutofit/>
          </a:bodyPr>
          <a:lstStyle/>
          <a:p>
            <a:pPr algn="l"/>
            <a:r>
              <a:rPr sz="950" b="0">
                <a:solidFill>
                  <a:srgbClr val="202031"/>
                </a:solidFill>
                <a:latin typeface="Raleway"/>
              </a:rPr>
              <a:t>Nóminas y trámites, a cargo nuestro en todo momento.</a:t>
            </a:r>
          </a:p>
        </p:txBody>
      </p:sp>
      <p:sp>
        <p:nvSpPr>
          <p:cNvPr id="17" name="Rectangle 16"/>
          <p:cNvSpPr/>
          <p:nvPr/>
        </p:nvSpPr>
        <p:spPr>
          <a:xfrm>
            <a:off x="5651500" y="3937000"/>
            <a:ext cx="4635500" cy="8636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8" name="TextBox 17"/>
          <p:cNvSpPr txBox="1"/>
          <p:nvPr/>
        </p:nvSpPr>
        <p:spPr>
          <a:xfrm>
            <a:off x="5880100" y="4089400"/>
            <a:ext cx="4178300" cy="228600"/>
          </a:xfrm>
          <a:prstGeom prst="rect">
            <a:avLst/>
          </a:prstGeom>
          <a:noFill/>
        </p:spPr>
        <p:txBody>
          <a:bodyPr wrap="square" lIns="0" tIns="0" rIns="0" bIns="0" anchor="t">
            <a:normAutofit/>
          </a:bodyPr>
          <a:lstStyle/>
          <a:p>
            <a:pPr algn="l"/>
            <a:r>
              <a:rPr sz="1150" b="0">
                <a:solidFill>
                  <a:srgbClr val="202031"/>
                </a:solidFill>
                <a:latin typeface="Raleway SemiBold"/>
              </a:rPr>
              <a:t>Flexibilidad</a:t>
            </a:r>
          </a:p>
        </p:txBody>
      </p:sp>
      <p:sp>
        <p:nvSpPr>
          <p:cNvPr id="19" name="TextBox 18"/>
          <p:cNvSpPr txBox="1"/>
          <p:nvPr/>
        </p:nvSpPr>
        <p:spPr>
          <a:xfrm>
            <a:off x="5880100" y="4368800"/>
            <a:ext cx="4178300" cy="355600"/>
          </a:xfrm>
          <a:prstGeom prst="rect">
            <a:avLst/>
          </a:prstGeom>
          <a:noFill/>
        </p:spPr>
        <p:txBody>
          <a:bodyPr wrap="square" lIns="0" tIns="0" rIns="0" bIns="0" anchor="t">
            <a:normAutofit/>
          </a:bodyPr>
          <a:lstStyle/>
          <a:p>
            <a:pPr algn="l"/>
            <a:r>
              <a:rPr sz="950" b="0">
                <a:solidFill>
                  <a:srgbClr val="202031"/>
                </a:solidFill>
                <a:latin typeface="Raleway"/>
              </a:rPr>
              <a:t>Escalas el equipo cuando lo necesites, arriba o abajo.</a:t>
            </a:r>
          </a:p>
        </p:txBody>
      </p:sp>
      <p:sp>
        <p:nvSpPr>
          <p:cNvPr id="20" name="Rounded Rectangle 19"/>
          <p:cNvSpPr/>
          <p:nvPr/>
        </p:nvSpPr>
        <p:spPr>
          <a:xfrm>
            <a:off x="762000" y="5689600"/>
            <a:ext cx="3081866" cy="406400"/>
          </a:xfrm>
          <a:prstGeom prst="roundRect">
            <a:avLst>
              <a:gd name="adj" fmla="val 50000"/>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wrap="none" lIns="228600" tIns="50800" rIns="228600" bIns="50800" rtlCol="0" anchor="ctr">
            <a:normAutofit/>
          </a:bodyPr>
          <a:lstStyle/>
          <a:p>
            <a:pPr algn="ctr"/>
            <a:r>
              <a:rPr sz="1000" b="0">
                <a:solidFill>
                  <a:srgbClr val="FFFFFF"/>
                </a:solidFill>
                <a:latin typeface="Raleway Medium"/>
              </a:rPr>
              <a:t>Recruiters especializados</a:t>
            </a:r>
          </a:p>
        </p:txBody>
      </p:sp>
      <p:sp>
        <p:nvSpPr>
          <p:cNvPr id="21" name="Rounded Rectangle 20"/>
          <p:cNvSpPr/>
          <p:nvPr/>
        </p:nvSpPr>
        <p:spPr>
          <a:xfrm>
            <a:off x="4047066" y="5689600"/>
            <a:ext cx="3081866" cy="406400"/>
          </a:xfrm>
          <a:prstGeom prst="roundRect">
            <a:avLst>
              <a:gd name="adj" fmla="val 50000"/>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wrap="none" lIns="228600" tIns="50800" rIns="228600" bIns="50800" rtlCol="0" anchor="ctr">
            <a:normAutofit/>
          </a:bodyPr>
          <a:lstStyle/>
          <a:p>
            <a:pPr algn="ctr"/>
            <a:r>
              <a:rPr sz="1000" b="0">
                <a:solidFill>
                  <a:srgbClr val="FFFFFF"/>
                </a:solidFill>
                <a:latin typeface="Raleway Medium"/>
              </a:rPr>
              <a:t>Cuidamos a las personas</a:t>
            </a:r>
          </a:p>
        </p:txBody>
      </p:sp>
      <p:sp>
        <p:nvSpPr>
          <p:cNvPr id="22" name="Rounded Rectangle 21"/>
          <p:cNvSpPr/>
          <p:nvPr/>
        </p:nvSpPr>
        <p:spPr>
          <a:xfrm>
            <a:off x="7332133" y="5689600"/>
            <a:ext cx="3081866" cy="406400"/>
          </a:xfrm>
          <a:prstGeom prst="roundRect">
            <a:avLst>
              <a:gd name="adj" fmla="val 50000"/>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wrap="none" lIns="228600" tIns="50800" rIns="228600" bIns="50800" rtlCol="0" anchor="ctr">
            <a:normAutofit/>
          </a:bodyPr>
          <a:lstStyle/>
          <a:p>
            <a:pPr algn="ctr"/>
            <a:r>
              <a:rPr sz="1000" b="0">
                <a:solidFill>
                  <a:srgbClr val="FFFFFF"/>
                </a:solidFill>
                <a:latin typeface="Raleway Medium"/>
              </a:rPr>
              <a:t>Partner de principio a fin</a:t>
            </a:r>
          </a:p>
        </p:txBody>
      </p:sp>
      <p:sp>
        <p:nvSpPr>
          <p:cNvPr id="23" name="TextBox 22"/>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24" name="TextBox 23"/>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ESTRATEGIA SALARIAL</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9652000" cy="635000"/>
          </a:xfrm>
          <a:prstGeom prst="rect">
            <a:avLst/>
          </a:prstGeom>
          <a:noFill/>
        </p:spPr>
        <p:txBody>
          <a:bodyPr wrap="square" lIns="0" tIns="0" rIns="0" bIns="0" anchor="t">
            <a:normAutofit/>
          </a:bodyPr>
          <a:lstStyle/>
          <a:p>
            <a:pPr algn="l"/>
            <a:r>
              <a:rPr sz="3400" b="0">
                <a:solidFill>
                  <a:srgbClr val="202031"/>
                </a:solidFill>
                <a:latin typeface="Raleway Light"/>
              </a:rPr>
              <a:t>Consultoría Salarial</a:t>
            </a:r>
          </a:p>
        </p:txBody>
      </p:sp>
      <p:sp>
        <p:nvSpPr>
          <p:cNvPr id="6" name="TextBox 5"/>
          <p:cNvSpPr txBox="1"/>
          <p:nvPr/>
        </p:nvSpPr>
        <p:spPr>
          <a:xfrm>
            <a:off x="762000" y="1473200"/>
            <a:ext cx="9652000" cy="304800"/>
          </a:xfrm>
          <a:prstGeom prst="rect">
            <a:avLst/>
          </a:prstGeom>
          <a:noFill/>
        </p:spPr>
        <p:txBody>
          <a:bodyPr wrap="square" lIns="0" tIns="0" rIns="0" bIns="0" anchor="t">
            <a:normAutofit/>
          </a:bodyPr>
          <a:lstStyle/>
          <a:p>
            <a:pPr algn="l"/>
            <a:r>
              <a:rPr sz="1300" b="0">
                <a:solidFill>
                  <a:srgbClr val="587579"/>
                </a:solidFill>
                <a:latin typeface="Raleway SemiBold"/>
              </a:rPr>
              <a:t>Inteligencia retributiva para el sector retail alimentario.</a:t>
            </a:r>
          </a:p>
        </p:txBody>
      </p:sp>
      <p:sp>
        <p:nvSpPr>
          <p:cNvPr id="7" name="TextBox 6"/>
          <p:cNvSpPr txBox="1"/>
          <p:nvPr/>
        </p:nvSpPr>
        <p:spPr>
          <a:xfrm>
            <a:off x="762000" y="1828800"/>
            <a:ext cx="9652000" cy="457200"/>
          </a:xfrm>
          <a:prstGeom prst="rect">
            <a:avLst/>
          </a:prstGeom>
          <a:noFill/>
        </p:spPr>
        <p:txBody>
          <a:bodyPr wrap="square" lIns="0" tIns="0" rIns="0" bIns="0" anchor="t">
            <a:normAutofit/>
          </a:bodyPr>
          <a:lstStyle/>
          <a:p>
            <a:pPr algn="l">
              <a:lnSpc>
                <a:spcPct val="120000"/>
              </a:lnSpc>
            </a:pPr>
            <a:r>
              <a:rPr sz="1100" b="0">
                <a:solidFill>
                  <a:srgbClr val="202031"/>
                </a:solidFill>
                <a:latin typeface="Raleway"/>
              </a:rPr>
              <a:t>Acompañamos en el diseño de estructuras salariales coherentes y preparadas para el nuevo marco regulatorio europeo.</a:t>
            </a:r>
          </a:p>
        </p:txBody>
      </p:sp>
      <p:sp>
        <p:nvSpPr>
          <p:cNvPr id="8" name="TextBox 7"/>
          <p:cNvSpPr txBox="1"/>
          <p:nvPr/>
        </p:nvSpPr>
        <p:spPr>
          <a:xfrm>
            <a:off x="762000" y="2489200"/>
            <a:ext cx="3810000" cy="203200"/>
          </a:xfrm>
          <a:prstGeom prst="rect">
            <a:avLst/>
          </a:prstGeom>
          <a:noFill/>
        </p:spPr>
        <p:txBody>
          <a:bodyPr wrap="square" lIns="0" tIns="0" rIns="0" bIns="0" anchor="t">
            <a:normAutofit/>
          </a:bodyPr>
          <a:lstStyle/>
          <a:p>
            <a:pPr algn="l"/>
            <a:r>
              <a:rPr sz="950" b="0" spc="80">
                <a:solidFill>
                  <a:srgbClr val="587579"/>
                </a:solidFill>
                <a:latin typeface="Raleway Medium"/>
              </a:rPr>
              <a:t>QUÉ OFRECEMOS</a:t>
            </a:r>
          </a:p>
        </p:txBody>
      </p:sp>
      <p:sp>
        <p:nvSpPr>
          <p:cNvPr id="9" name="Rectangle 8"/>
          <p:cNvSpPr/>
          <p:nvPr/>
        </p:nvSpPr>
        <p:spPr>
          <a:xfrm>
            <a:off x="762000" y="2794000"/>
            <a:ext cx="31242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0" name="Rectangle 9"/>
          <p:cNvSpPr/>
          <p:nvPr/>
        </p:nvSpPr>
        <p:spPr>
          <a:xfrm>
            <a:off x="990600" y="2997200"/>
            <a:ext cx="508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1" name="TextBox 10"/>
          <p:cNvSpPr txBox="1"/>
          <p:nvPr/>
        </p:nvSpPr>
        <p:spPr>
          <a:xfrm>
            <a:off x="990600" y="3175000"/>
            <a:ext cx="2667000" cy="228600"/>
          </a:xfrm>
          <a:prstGeom prst="rect">
            <a:avLst/>
          </a:prstGeom>
          <a:noFill/>
        </p:spPr>
        <p:txBody>
          <a:bodyPr wrap="square" lIns="0" tIns="0" rIns="0" bIns="0" anchor="t">
            <a:normAutofit/>
          </a:bodyPr>
          <a:lstStyle/>
          <a:p>
            <a:pPr algn="l"/>
            <a:r>
              <a:rPr sz="1150" b="0">
                <a:solidFill>
                  <a:srgbClr val="202031"/>
                </a:solidFill>
                <a:latin typeface="Raleway SemiBold"/>
              </a:rPr>
              <a:t>Benchmarking salarial</a:t>
            </a:r>
          </a:p>
        </p:txBody>
      </p:sp>
      <p:sp>
        <p:nvSpPr>
          <p:cNvPr id="12" name="TextBox 11"/>
          <p:cNvSpPr txBox="1"/>
          <p:nvPr/>
        </p:nvSpPr>
        <p:spPr>
          <a:xfrm>
            <a:off x="990600" y="3454400"/>
            <a:ext cx="2667000" cy="965200"/>
          </a:xfrm>
          <a:prstGeom prst="rect">
            <a:avLst/>
          </a:prstGeom>
          <a:noFill/>
        </p:spPr>
        <p:txBody>
          <a:bodyPr wrap="square" lIns="0" tIns="0" rIns="0" bIns="0" anchor="t">
            <a:normAutofit/>
          </a:bodyPr>
          <a:lstStyle/>
          <a:p>
            <a:pPr algn="l">
              <a:lnSpc>
                <a:spcPct val="120000"/>
              </a:lnSpc>
            </a:pPr>
            <a:r>
              <a:rPr sz="900" b="0">
                <a:solidFill>
                  <a:srgbClr val="202031"/>
                </a:solidFill>
                <a:latin typeface="Raleway"/>
              </a:rPr>
              <a:t>Análisis de bandas por perfil, sector y geografía con datos contrastados de múltiples fuentes.</a:t>
            </a:r>
          </a:p>
        </p:txBody>
      </p:sp>
      <p:sp>
        <p:nvSpPr>
          <p:cNvPr id="13" name="Rectangle 12"/>
          <p:cNvSpPr/>
          <p:nvPr/>
        </p:nvSpPr>
        <p:spPr>
          <a:xfrm>
            <a:off x="4089400" y="2794000"/>
            <a:ext cx="31242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4" name="Rectangle 13"/>
          <p:cNvSpPr/>
          <p:nvPr/>
        </p:nvSpPr>
        <p:spPr>
          <a:xfrm>
            <a:off x="4318000" y="2997200"/>
            <a:ext cx="508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5" name="TextBox 14"/>
          <p:cNvSpPr txBox="1"/>
          <p:nvPr/>
        </p:nvSpPr>
        <p:spPr>
          <a:xfrm>
            <a:off x="4318000" y="3175000"/>
            <a:ext cx="2667000" cy="228600"/>
          </a:xfrm>
          <a:prstGeom prst="rect">
            <a:avLst/>
          </a:prstGeom>
          <a:noFill/>
        </p:spPr>
        <p:txBody>
          <a:bodyPr wrap="square" lIns="0" tIns="0" rIns="0" bIns="0" anchor="t">
            <a:normAutofit/>
          </a:bodyPr>
          <a:lstStyle/>
          <a:p>
            <a:pPr algn="l"/>
            <a:r>
              <a:rPr sz="1150" b="0">
                <a:solidFill>
                  <a:srgbClr val="202031"/>
                </a:solidFill>
                <a:latin typeface="Raleway SemiBold"/>
              </a:rPr>
              <a:t>Transparencia retributiva</a:t>
            </a:r>
          </a:p>
        </p:txBody>
      </p:sp>
      <p:sp>
        <p:nvSpPr>
          <p:cNvPr id="16" name="TextBox 15"/>
          <p:cNvSpPr txBox="1"/>
          <p:nvPr/>
        </p:nvSpPr>
        <p:spPr>
          <a:xfrm>
            <a:off x="4318000" y="3454400"/>
            <a:ext cx="2667000" cy="965200"/>
          </a:xfrm>
          <a:prstGeom prst="rect">
            <a:avLst/>
          </a:prstGeom>
          <a:noFill/>
        </p:spPr>
        <p:txBody>
          <a:bodyPr wrap="square" lIns="0" tIns="0" rIns="0" bIns="0" anchor="t">
            <a:normAutofit/>
          </a:bodyPr>
          <a:lstStyle/>
          <a:p>
            <a:pPr algn="l">
              <a:lnSpc>
                <a:spcPct val="120000"/>
              </a:lnSpc>
            </a:pPr>
            <a:r>
              <a:rPr sz="900" b="0">
                <a:solidFill>
                  <a:srgbClr val="202031"/>
                </a:solidFill>
                <a:latin typeface="Raleway"/>
              </a:rPr>
              <a:t>Arquitectura salarial alineada con la Directiva EU 2023/970: equidad, coherencia y trazabilidad.</a:t>
            </a:r>
          </a:p>
        </p:txBody>
      </p:sp>
      <p:sp>
        <p:nvSpPr>
          <p:cNvPr id="17" name="Rectangle 16"/>
          <p:cNvSpPr/>
          <p:nvPr/>
        </p:nvSpPr>
        <p:spPr>
          <a:xfrm>
            <a:off x="7416800" y="2794000"/>
            <a:ext cx="31242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8" name="Rectangle 17"/>
          <p:cNvSpPr/>
          <p:nvPr/>
        </p:nvSpPr>
        <p:spPr>
          <a:xfrm>
            <a:off x="7645400" y="2997200"/>
            <a:ext cx="508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9" name="TextBox 18"/>
          <p:cNvSpPr txBox="1"/>
          <p:nvPr/>
        </p:nvSpPr>
        <p:spPr>
          <a:xfrm>
            <a:off x="7645400" y="3175000"/>
            <a:ext cx="2667000" cy="228600"/>
          </a:xfrm>
          <a:prstGeom prst="rect">
            <a:avLst/>
          </a:prstGeom>
          <a:noFill/>
        </p:spPr>
        <p:txBody>
          <a:bodyPr wrap="square" lIns="0" tIns="0" rIns="0" bIns="0" anchor="t">
            <a:normAutofit/>
          </a:bodyPr>
          <a:lstStyle/>
          <a:p>
            <a:pPr algn="l"/>
            <a:r>
              <a:rPr sz="1150" b="0">
                <a:solidFill>
                  <a:srgbClr val="202031"/>
                </a:solidFill>
                <a:latin typeface="Raleway SemiBold"/>
              </a:rPr>
              <a:t>Estudio de mercado</a:t>
            </a:r>
          </a:p>
        </p:txBody>
      </p:sp>
      <p:sp>
        <p:nvSpPr>
          <p:cNvPr id="20" name="TextBox 19"/>
          <p:cNvSpPr txBox="1"/>
          <p:nvPr/>
        </p:nvSpPr>
        <p:spPr>
          <a:xfrm>
            <a:off x="7645400" y="3454400"/>
            <a:ext cx="2667000" cy="965200"/>
          </a:xfrm>
          <a:prstGeom prst="rect">
            <a:avLst/>
          </a:prstGeom>
          <a:noFill/>
        </p:spPr>
        <p:txBody>
          <a:bodyPr wrap="square" lIns="0" tIns="0" rIns="0" bIns="0" anchor="t">
            <a:normAutofit/>
          </a:bodyPr>
          <a:lstStyle/>
          <a:p>
            <a:pPr algn="l">
              <a:lnSpc>
                <a:spcPct val="120000"/>
              </a:lnSpc>
            </a:pPr>
            <a:r>
              <a:rPr sz="900" b="0">
                <a:solidFill>
                  <a:srgbClr val="202031"/>
                </a:solidFill>
                <a:latin typeface="Raleway"/>
              </a:rPr>
              <a:t>Informe de posicionamiento competitivo: percepción de candidatos, gaps y tendencias por rol.</a:t>
            </a:r>
          </a:p>
        </p:txBody>
      </p:sp>
      <p:sp>
        <p:nvSpPr>
          <p:cNvPr id="21" name="Rectangle 20"/>
          <p:cNvSpPr/>
          <p:nvPr/>
        </p:nvSpPr>
        <p:spPr>
          <a:xfrm>
            <a:off x="762000" y="4699000"/>
            <a:ext cx="31242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22" name="Rectangle 21"/>
          <p:cNvSpPr/>
          <p:nvPr/>
        </p:nvSpPr>
        <p:spPr>
          <a:xfrm>
            <a:off x="990600" y="4902200"/>
            <a:ext cx="508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23" name="TextBox 22"/>
          <p:cNvSpPr txBox="1"/>
          <p:nvPr/>
        </p:nvSpPr>
        <p:spPr>
          <a:xfrm>
            <a:off x="990600" y="5080000"/>
            <a:ext cx="2667000" cy="228600"/>
          </a:xfrm>
          <a:prstGeom prst="rect">
            <a:avLst/>
          </a:prstGeom>
          <a:noFill/>
        </p:spPr>
        <p:txBody>
          <a:bodyPr wrap="square" lIns="0" tIns="0" rIns="0" bIns="0" anchor="t">
            <a:normAutofit/>
          </a:bodyPr>
          <a:lstStyle/>
          <a:p>
            <a:pPr algn="l"/>
            <a:r>
              <a:rPr sz="1150" b="0">
                <a:solidFill>
                  <a:srgbClr val="202031"/>
                </a:solidFill>
                <a:latin typeface="Raleway SemiBold"/>
              </a:rPr>
              <a:t>Informes de proceso</a:t>
            </a:r>
          </a:p>
        </p:txBody>
      </p:sp>
      <p:sp>
        <p:nvSpPr>
          <p:cNvPr id="24" name="TextBox 23"/>
          <p:cNvSpPr txBox="1"/>
          <p:nvPr/>
        </p:nvSpPr>
        <p:spPr>
          <a:xfrm>
            <a:off x="990600" y="5359400"/>
            <a:ext cx="2667000" cy="965200"/>
          </a:xfrm>
          <a:prstGeom prst="rect">
            <a:avLst/>
          </a:prstGeom>
          <a:noFill/>
        </p:spPr>
        <p:txBody>
          <a:bodyPr wrap="square" lIns="0" tIns="0" rIns="0" bIns="0" anchor="t">
            <a:normAutofit/>
          </a:bodyPr>
          <a:lstStyle/>
          <a:p>
            <a:pPr algn="l">
              <a:lnSpc>
                <a:spcPct val="120000"/>
              </a:lnSpc>
            </a:pPr>
            <a:r>
              <a:rPr sz="900" b="0">
                <a:solidFill>
                  <a:srgbClr val="202031"/>
                </a:solidFill>
                <a:latin typeface="Raleway"/>
              </a:rPr>
              <a:t>Expectativas salariales declaradas durante búsquedas activas, documentadas y estructuradas.</a:t>
            </a:r>
          </a:p>
        </p:txBody>
      </p:sp>
      <p:sp>
        <p:nvSpPr>
          <p:cNvPr id="25" name="Rectangle 24"/>
          <p:cNvSpPr/>
          <p:nvPr/>
        </p:nvSpPr>
        <p:spPr>
          <a:xfrm>
            <a:off x="4089400" y="4699000"/>
            <a:ext cx="31242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26" name="Rectangle 25"/>
          <p:cNvSpPr/>
          <p:nvPr/>
        </p:nvSpPr>
        <p:spPr>
          <a:xfrm>
            <a:off x="4318000" y="4902200"/>
            <a:ext cx="508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27" name="TextBox 26"/>
          <p:cNvSpPr txBox="1"/>
          <p:nvPr/>
        </p:nvSpPr>
        <p:spPr>
          <a:xfrm>
            <a:off x="4318000" y="5080000"/>
            <a:ext cx="2667000" cy="228600"/>
          </a:xfrm>
          <a:prstGeom prst="rect">
            <a:avLst/>
          </a:prstGeom>
          <a:noFill/>
        </p:spPr>
        <p:txBody>
          <a:bodyPr wrap="square" lIns="0" tIns="0" rIns="0" bIns="0" anchor="t">
            <a:normAutofit/>
          </a:bodyPr>
          <a:lstStyle/>
          <a:p>
            <a:pPr algn="l"/>
            <a:r>
              <a:rPr sz="1150" b="0">
                <a:solidFill>
                  <a:srgbClr val="202031"/>
                </a:solidFill>
                <a:latin typeface="Raleway SemiBold"/>
              </a:rPr>
              <a:t>Diseño de bandas</a:t>
            </a:r>
          </a:p>
        </p:txBody>
      </p:sp>
      <p:sp>
        <p:nvSpPr>
          <p:cNvPr id="28" name="TextBox 27"/>
          <p:cNvSpPr txBox="1"/>
          <p:nvPr/>
        </p:nvSpPr>
        <p:spPr>
          <a:xfrm>
            <a:off x="4318000" y="5359400"/>
            <a:ext cx="2667000" cy="965200"/>
          </a:xfrm>
          <a:prstGeom prst="rect">
            <a:avLst/>
          </a:prstGeom>
          <a:noFill/>
        </p:spPr>
        <p:txBody>
          <a:bodyPr wrap="square" lIns="0" tIns="0" rIns="0" bIns="0" anchor="t">
            <a:normAutofit/>
          </a:bodyPr>
          <a:lstStyle/>
          <a:p>
            <a:pPr algn="l">
              <a:lnSpc>
                <a:spcPct val="120000"/>
              </a:lnSpc>
            </a:pPr>
            <a:r>
              <a:rPr sz="900" b="0">
                <a:solidFill>
                  <a:srgbClr val="202031"/>
                </a:solidFill>
                <a:latin typeface="Raleway"/>
              </a:rPr>
              <a:t>Estructuras P25/Mediana/P75 vinculadas a niveles de responsabilidad y ciclo de performance.</a:t>
            </a:r>
          </a:p>
        </p:txBody>
      </p:sp>
      <p:sp>
        <p:nvSpPr>
          <p:cNvPr id="29" name="Rectangle 28"/>
          <p:cNvSpPr/>
          <p:nvPr/>
        </p:nvSpPr>
        <p:spPr>
          <a:xfrm>
            <a:off x="7416800" y="4699000"/>
            <a:ext cx="3124200" cy="17272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30" name="Rectangle 29"/>
          <p:cNvSpPr/>
          <p:nvPr/>
        </p:nvSpPr>
        <p:spPr>
          <a:xfrm>
            <a:off x="7645400" y="4902200"/>
            <a:ext cx="508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31" name="TextBox 30"/>
          <p:cNvSpPr txBox="1"/>
          <p:nvPr/>
        </p:nvSpPr>
        <p:spPr>
          <a:xfrm>
            <a:off x="7645400" y="5080000"/>
            <a:ext cx="2667000" cy="228600"/>
          </a:xfrm>
          <a:prstGeom prst="rect">
            <a:avLst/>
          </a:prstGeom>
          <a:noFill/>
        </p:spPr>
        <p:txBody>
          <a:bodyPr wrap="square" lIns="0" tIns="0" rIns="0" bIns="0" anchor="t">
            <a:normAutofit/>
          </a:bodyPr>
          <a:lstStyle/>
          <a:p>
            <a:pPr algn="l"/>
            <a:r>
              <a:rPr sz="1150" b="0">
                <a:solidFill>
                  <a:srgbClr val="202031"/>
                </a:solidFill>
                <a:latin typeface="Raleway SemiBold"/>
              </a:rPr>
              <a:t>Asesoría People</a:t>
            </a:r>
          </a:p>
        </p:txBody>
      </p:sp>
      <p:sp>
        <p:nvSpPr>
          <p:cNvPr id="32" name="TextBox 31"/>
          <p:cNvSpPr txBox="1"/>
          <p:nvPr/>
        </p:nvSpPr>
        <p:spPr>
          <a:xfrm>
            <a:off x="7645400" y="5359400"/>
            <a:ext cx="2667000" cy="965200"/>
          </a:xfrm>
          <a:prstGeom prst="rect">
            <a:avLst/>
          </a:prstGeom>
          <a:noFill/>
        </p:spPr>
        <p:txBody>
          <a:bodyPr wrap="square" lIns="0" tIns="0" rIns="0" bIns="0" anchor="t">
            <a:normAutofit/>
          </a:bodyPr>
          <a:lstStyle/>
          <a:p>
            <a:pPr algn="l">
              <a:lnSpc>
                <a:spcPct val="120000"/>
              </a:lnSpc>
            </a:pPr>
            <a:r>
              <a:rPr sz="900" b="0">
                <a:solidFill>
                  <a:srgbClr val="202031"/>
                </a:solidFill>
                <a:latin typeface="Raleway"/>
              </a:rPr>
              <a:t>Apoyo en decisiones retributivas: ofertas, revisiones, retención y análisis de pay gap.</a:t>
            </a:r>
          </a:p>
        </p:txBody>
      </p:sp>
      <p:sp>
        <p:nvSpPr>
          <p:cNvPr id="33" name="TextBox 32"/>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34" name="TextBox 33"/>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normAutofit/>
          </a:bodyPr>
          <a:lstStyle/>
          <a:p>
            <a:pPr algn="r"/>
            <a:r>
              <a:rPr sz="1000" b="0" spc="120">
                <a:solidFill>
                  <a:srgbClr val="587579"/>
                </a:solidFill>
                <a:latin typeface="Raleway Medium"/>
              </a:rPr>
              <a:t>FORMACIÓN EN RECURSOS HUMANOS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5" name="TextBox 4"/>
          <p:cNvSpPr txBox="1"/>
          <p:nvPr/>
        </p:nvSpPr>
        <p:spPr>
          <a:xfrm>
            <a:off x="762000" y="889000"/>
            <a:ext cx="9652000" cy="635000"/>
          </a:xfrm>
          <a:prstGeom prst="rect">
            <a:avLst/>
          </a:prstGeom>
          <a:noFill/>
        </p:spPr>
        <p:txBody>
          <a:bodyPr wrap="square" lIns="0" tIns="0" rIns="0" bIns="0" anchor="t">
            <a:normAutofit/>
          </a:bodyPr>
          <a:lstStyle/>
          <a:p>
            <a:pPr algn="l"/>
            <a:r>
              <a:rPr sz="3600" b="0">
                <a:solidFill>
                  <a:srgbClr val="202031"/>
                </a:solidFill>
                <a:latin typeface="Raleway Light"/>
              </a:rPr>
              <a:t>Formación</a:t>
            </a:r>
          </a:p>
        </p:txBody>
      </p:sp>
      <p:sp>
        <p:nvSpPr>
          <p:cNvPr id="6" name="TextBox 5"/>
          <p:cNvSpPr txBox="1"/>
          <p:nvPr/>
        </p:nvSpPr>
        <p:spPr>
          <a:xfrm>
            <a:off x="762000" y="1498600"/>
            <a:ext cx="9652000" cy="304800"/>
          </a:xfrm>
          <a:prstGeom prst="rect">
            <a:avLst/>
          </a:prstGeom>
          <a:noFill/>
        </p:spPr>
        <p:txBody>
          <a:bodyPr wrap="square" lIns="0" tIns="0" rIns="0" bIns="0" anchor="t">
            <a:normAutofit/>
          </a:bodyPr>
          <a:lstStyle/>
          <a:p>
            <a:pPr algn="l"/>
            <a:r>
              <a:rPr sz="1100" b="0">
                <a:solidFill>
                  <a:srgbClr val="202031"/>
                </a:solidFill>
                <a:latin typeface="Raleway"/>
              </a:rPr>
              <a:t>Formación práctica orientada a resultados para los equipos de tienda, con foco en procesos ágiles.</a:t>
            </a:r>
          </a:p>
        </p:txBody>
      </p:sp>
      <p:sp>
        <p:nvSpPr>
          <p:cNvPr id="7" name="Rectangle 6"/>
          <p:cNvSpPr/>
          <p:nvPr/>
        </p:nvSpPr>
        <p:spPr>
          <a:xfrm>
            <a:off x="762000" y="2006600"/>
            <a:ext cx="3378200" cy="2921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8" name="TextBox 7"/>
          <p:cNvSpPr txBox="1"/>
          <p:nvPr/>
        </p:nvSpPr>
        <p:spPr>
          <a:xfrm>
            <a:off x="990600" y="2209800"/>
            <a:ext cx="2921000" cy="203200"/>
          </a:xfrm>
          <a:prstGeom prst="rect">
            <a:avLst/>
          </a:prstGeom>
          <a:noFill/>
        </p:spPr>
        <p:txBody>
          <a:bodyPr wrap="square" lIns="0" tIns="0" rIns="0" bIns="0" anchor="t">
            <a:normAutofit/>
          </a:bodyPr>
          <a:lstStyle/>
          <a:p>
            <a:pPr algn="l"/>
            <a:r>
              <a:rPr sz="950" b="0" spc="80">
                <a:solidFill>
                  <a:srgbClr val="587579"/>
                </a:solidFill>
                <a:latin typeface="Raleway Medium"/>
              </a:rPr>
              <a:t>ESPECIALIZACIÓN</a:t>
            </a:r>
          </a:p>
        </p:txBody>
      </p:sp>
      <p:sp>
        <p:nvSpPr>
          <p:cNvPr id="9" name="Rectangle 8"/>
          <p:cNvSpPr/>
          <p:nvPr/>
        </p:nvSpPr>
        <p:spPr>
          <a:xfrm>
            <a:off x="990600" y="2463800"/>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0" name="TextBox 9"/>
          <p:cNvSpPr txBox="1"/>
          <p:nvPr/>
        </p:nvSpPr>
        <p:spPr>
          <a:xfrm>
            <a:off x="990600" y="2641600"/>
            <a:ext cx="2921000" cy="2159000"/>
          </a:xfrm>
          <a:prstGeom prst="rect">
            <a:avLst/>
          </a:prstGeom>
          <a:noFill/>
        </p:spPr>
        <p:txBody>
          <a:bodyPr wrap="square" lIns="0" tIns="0" rIns="0" bIns="0" anchor="t">
            <a:normAutofit/>
          </a:bodyPr>
          <a:lstStyle/>
          <a:p>
            <a:pPr algn="l">
              <a:lnSpc>
                <a:spcPct val="125000"/>
              </a:lnSpc>
              <a:spcAft>
                <a:spcPts val="600"/>
              </a:spcAft>
            </a:pPr>
            <a:r>
              <a:rPr sz="1000" b="0">
                <a:solidFill>
                  <a:srgbClr val="202031"/>
                </a:solidFill>
                <a:latin typeface="Raleway"/>
              </a:rPr>
              <a:t>-  Gestión del talento y selección avanzada</a:t>
            </a:r>
          </a:p>
          <a:p>
            <a:pPr algn="l">
              <a:lnSpc>
                <a:spcPct val="125000"/>
              </a:lnSpc>
              <a:spcAft>
                <a:spcPts val="600"/>
              </a:spcAft>
            </a:pPr>
            <a:r>
              <a:rPr sz="1000" b="0">
                <a:solidFill>
                  <a:srgbClr val="202031"/>
                </a:solidFill>
                <a:latin typeface="Raleway"/>
              </a:rPr>
              <a:t>-  Employee Experience y retención</a:t>
            </a:r>
          </a:p>
          <a:p>
            <a:pPr algn="l">
              <a:lnSpc>
                <a:spcPct val="125000"/>
              </a:lnSpc>
              <a:spcAft>
                <a:spcPts val="600"/>
              </a:spcAft>
            </a:pPr>
            <a:r>
              <a:rPr sz="1000" b="0">
                <a:solidFill>
                  <a:srgbClr val="202031"/>
                </a:solidFill>
                <a:latin typeface="Raleway"/>
              </a:rPr>
              <a:t>-  Estrategia y procesos de RRHH</a:t>
            </a:r>
          </a:p>
          <a:p>
            <a:pPr algn="l">
              <a:lnSpc>
                <a:spcPct val="125000"/>
              </a:lnSpc>
              <a:spcAft>
                <a:spcPts val="600"/>
              </a:spcAft>
            </a:pPr>
            <a:r>
              <a:rPr sz="1000" b="0">
                <a:solidFill>
                  <a:srgbClr val="202031"/>
                </a:solidFill>
                <a:latin typeface="Raleway"/>
              </a:rPr>
              <a:t>-  Procesos automatizados</a:t>
            </a:r>
          </a:p>
          <a:p>
            <a:pPr algn="l">
              <a:lnSpc>
                <a:spcPct val="125000"/>
              </a:lnSpc>
              <a:spcAft>
                <a:spcPts val="600"/>
              </a:spcAft>
            </a:pPr>
            <a:r>
              <a:rPr sz="1000" b="0">
                <a:solidFill>
                  <a:srgbClr val="202031"/>
                </a:solidFill>
                <a:latin typeface="Raleway"/>
              </a:rPr>
              <a:t>-  IA aplicada a procesos de HR</a:t>
            </a:r>
          </a:p>
        </p:txBody>
      </p:sp>
      <p:sp>
        <p:nvSpPr>
          <p:cNvPr id="11" name="Rectangle 10"/>
          <p:cNvSpPr/>
          <p:nvPr/>
        </p:nvSpPr>
        <p:spPr>
          <a:xfrm>
            <a:off x="4406900" y="2006600"/>
            <a:ext cx="3378200" cy="2921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2" name="TextBox 11"/>
          <p:cNvSpPr txBox="1"/>
          <p:nvPr/>
        </p:nvSpPr>
        <p:spPr>
          <a:xfrm>
            <a:off x="4635500" y="2209800"/>
            <a:ext cx="2921000" cy="203200"/>
          </a:xfrm>
          <a:prstGeom prst="rect">
            <a:avLst/>
          </a:prstGeom>
          <a:noFill/>
        </p:spPr>
        <p:txBody>
          <a:bodyPr wrap="square" lIns="0" tIns="0" rIns="0" bIns="0" anchor="t">
            <a:normAutofit/>
          </a:bodyPr>
          <a:lstStyle/>
          <a:p>
            <a:pPr algn="l"/>
            <a:r>
              <a:rPr sz="950" b="0" spc="80">
                <a:solidFill>
                  <a:srgbClr val="587579"/>
                </a:solidFill>
                <a:latin typeface="Raleway Medium"/>
              </a:rPr>
              <a:t>METODOLOGÍA PRÁCTICA</a:t>
            </a:r>
          </a:p>
        </p:txBody>
      </p:sp>
      <p:sp>
        <p:nvSpPr>
          <p:cNvPr id="13" name="Rectangle 12"/>
          <p:cNvSpPr/>
          <p:nvPr/>
        </p:nvSpPr>
        <p:spPr>
          <a:xfrm>
            <a:off x="4635500" y="2463800"/>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4" name="TextBox 13"/>
          <p:cNvSpPr txBox="1"/>
          <p:nvPr/>
        </p:nvSpPr>
        <p:spPr>
          <a:xfrm>
            <a:off x="4635500" y="2641600"/>
            <a:ext cx="2921000" cy="2159000"/>
          </a:xfrm>
          <a:prstGeom prst="rect">
            <a:avLst/>
          </a:prstGeom>
          <a:noFill/>
        </p:spPr>
        <p:txBody>
          <a:bodyPr wrap="square" lIns="0" tIns="0" rIns="0" bIns="0" anchor="t">
            <a:normAutofit/>
          </a:bodyPr>
          <a:lstStyle/>
          <a:p>
            <a:pPr algn="l">
              <a:lnSpc>
                <a:spcPct val="125000"/>
              </a:lnSpc>
              <a:spcAft>
                <a:spcPts val="600"/>
              </a:spcAft>
            </a:pPr>
            <a:r>
              <a:rPr sz="1000" b="0">
                <a:solidFill>
                  <a:srgbClr val="202031"/>
                </a:solidFill>
                <a:latin typeface="Raleway"/>
              </a:rPr>
              <a:t>-  Workshops dinámicos</a:t>
            </a:r>
          </a:p>
          <a:p>
            <a:pPr algn="l">
              <a:lnSpc>
                <a:spcPct val="125000"/>
              </a:lnSpc>
              <a:spcAft>
                <a:spcPts val="600"/>
              </a:spcAft>
            </a:pPr>
            <a:r>
              <a:rPr sz="1000" b="0">
                <a:solidFill>
                  <a:srgbClr val="202031"/>
                </a:solidFill>
                <a:latin typeface="Raleway"/>
              </a:rPr>
              <a:t>-  Casos reales aplicados a tu empresa</a:t>
            </a:r>
          </a:p>
          <a:p>
            <a:pPr algn="l">
              <a:lnSpc>
                <a:spcPct val="125000"/>
              </a:lnSpc>
              <a:spcAft>
                <a:spcPts val="600"/>
              </a:spcAft>
            </a:pPr>
            <a:r>
              <a:rPr sz="1000" b="0">
                <a:solidFill>
                  <a:srgbClr val="202031"/>
                </a:solidFill>
                <a:latin typeface="Raleway"/>
              </a:rPr>
              <a:t>-  Sprints formativos con entregables</a:t>
            </a:r>
          </a:p>
          <a:p>
            <a:pPr algn="l">
              <a:lnSpc>
                <a:spcPct val="125000"/>
              </a:lnSpc>
              <a:spcAft>
                <a:spcPts val="600"/>
              </a:spcAft>
            </a:pPr>
            <a:r>
              <a:rPr sz="1000" b="0">
                <a:solidFill>
                  <a:srgbClr val="202031"/>
                </a:solidFill>
                <a:latin typeface="Raleway"/>
              </a:rPr>
              <a:t>-  Evaluación y seguimiento continuo</a:t>
            </a:r>
          </a:p>
        </p:txBody>
      </p:sp>
      <p:sp>
        <p:nvSpPr>
          <p:cNvPr id="15" name="Rectangle 14"/>
          <p:cNvSpPr/>
          <p:nvPr/>
        </p:nvSpPr>
        <p:spPr>
          <a:xfrm>
            <a:off x="8051800" y="2006600"/>
            <a:ext cx="3378200" cy="2921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16" name="TextBox 15"/>
          <p:cNvSpPr txBox="1"/>
          <p:nvPr/>
        </p:nvSpPr>
        <p:spPr>
          <a:xfrm>
            <a:off x="8280400" y="2209800"/>
            <a:ext cx="2921000" cy="203200"/>
          </a:xfrm>
          <a:prstGeom prst="rect">
            <a:avLst/>
          </a:prstGeom>
          <a:noFill/>
        </p:spPr>
        <p:txBody>
          <a:bodyPr wrap="square" lIns="0" tIns="0" rIns="0" bIns="0" anchor="t">
            <a:normAutofit/>
          </a:bodyPr>
          <a:lstStyle/>
          <a:p>
            <a:pPr algn="l"/>
            <a:r>
              <a:rPr sz="950" b="0" spc="80">
                <a:solidFill>
                  <a:srgbClr val="587579"/>
                </a:solidFill>
                <a:latin typeface="Raleway Medium"/>
              </a:rPr>
              <a:t>RESULTADOS ÁGILES</a:t>
            </a:r>
          </a:p>
        </p:txBody>
      </p:sp>
      <p:sp>
        <p:nvSpPr>
          <p:cNvPr id="17" name="Rectangle 16"/>
          <p:cNvSpPr/>
          <p:nvPr/>
        </p:nvSpPr>
        <p:spPr>
          <a:xfrm>
            <a:off x="8280400" y="2463800"/>
            <a:ext cx="5588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fontScale="25000" lnSpcReduction="20000"/>
          </a:bodyPr>
          <a:lstStyle/>
          <a:p>
            <a:pPr algn="ctr"/>
            <a:endParaRPr/>
          </a:p>
        </p:txBody>
      </p:sp>
      <p:sp>
        <p:nvSpPr>
          <p:cNvPr id="18" name="TextBox 17"/>
          <p:cNvSpPr txBox="1"/>
          <p:nvPr/>
        </p:nvSpPr>
        <p:spPr>
          <a:xfrm>
            <a:off x="8280400" y="2641600"/>
            <a:ext cx="2921000" cy="2159000"/>
          </a:xfrm>
          <a:prstGeom prst="rect">
            <a:avLst/>
          </a:prstGeom>
          <a:noFill/>
        </p:spPr>
        <p:txBody>
          <a:bodyPr wrap="square" lIns="0" tIns="0" rIns="0" bIns="0" anchor="t">
            <a:normAutofit/>
          </a:bodyPr>
          <a:lstStyle/>
          <a:p>
            <a:pPr algn="l">
              <a:lnSpc>
                <a:spcPct val="125000"/>
              </a:lnSpc>
              <a:spcAft>
                <a:spcPts val="600"/>
              </a:spcAft>
            </a:pPr>
            <a:r>
              <a:rPr sz="1000" b="0">
                <a:solidFill>
                  <a:srgbClr val="202031"/>
                </a:solidFill>
                <a:latin typeface="Raleway"/>
              </a:rPr>
              <a:t>-  Diagnóstico de procesos y skills</a:t>
            </a:r>
          </a:p>
          <a:p>
            <a:pPr algn="l">
              <a:lnSpc>
                <a:spcPct val="125000"/>
              </a:lnSpc>
              <a:spcAft>
                <a:spcPts val="600"/>
              </a:spcAft>
            </a:pPr>
            <a:r>
              <a:rPr sz="1000" b="0">
                <a:solidFill>
                  <a:srgbClr val="202031"/>
                </a:solidFill>
                <a:latin typeface="Raleway"/>
              </a:rPr>
              <a:t>-  Iteraciones cortas, feedback continuo</a:t>
            </a:r>
          </a:p>
          <a:p>
            <a:pPr algn="l">
              <a:lnSpc>
                <a:spcPct val="125000"/>
              </a:lnSpc>
              <a:spcAft>
                <a:spcPts val="600"/>
              </a:spcAft>
            </a:pPr>
            <a:r>
              <a:rPr sz="1000" b="0">
                <a:solidFill>
                  <a:srgbClr val="202031"/>
                </a:solidFill>
                <a:latin typeface="Raleway"/>
              </a:rPr>
              <a:t>-  KPIs de aprendizaje medibles</a:t>
            </a:r>
          </a:p>
          <a:p>
            <a:pPr algn="l">
              <a:lnSpc>
                <a:spcPct val="125000"/>
              </a:lnSpc>
              <a:spcAft>
                <a:spcPts val="600"/>
              </a:spcAft>
            </a:pPr>
            <a:r>
              <a:rPr sz="1000" b="0">
                <a:solidFill>
                  <a:srgbClr val="202031"/>
                </a:solidFill>
                <a:latin typeface="Raleway"/>
              </a:rPr>
              <a:t>-  Mejora continua post-formación</a:t>
            </a:r>
          </a:p>
        </p:txBody>
      </p:sp>
      <p:sp>
        <p:nvSpPr>
          <p:cNvPr id="19" name="Rectangle 18"/>
          <p:cNvSpPr/>
          <p:nvPr/>
        </p:nvSpPr>
        <p:spPr>
          <a:xfrm>
            <a:off x="762000" y="5207000"/>
            <a:ext cx="9652000" cy="1143000"/>
          </a:xfrm>
          <a:prstGeom prst="rect">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rtlCol="0" anchor="ctr">
            <a:normAutofit/>
          </a:bodyPr>
          <a:lstStyle/>
          <a:p>
            <a:pPr algn="ctr"/>
            <a:endParaRPr/>
          </a:p>
        </p:txBody>
      </p:sp>
      <p:sp>
        <p:nvSpPr>
          <p:cNvPr id="20" name="TextBox 19"/>
          <p:cNvSpPr txBox="1"/>
          <p:nvPr/>
        </p:nvSpPr>
        <p:spPr>
          <a:xfrm>
            <a:off x="1016000" y="5486400"/>
            <a:ext cx="6350000" cy="635000"/>
          </a:xfrm>
          <a:prstGeom prst="rect">
            <a:avLst/>
          </a:prstGeom>
          <a:noFill/>
        </p:spPr>
        <p:txBody>
          <a:bodyPr wrap="square" lIns="0" tIns="0" rIns="0" bIns="0" anchor="t">
            <a:normAutofit/>
          </a:bodyPr>
          <a:lstStyle/>
          <a:p>
            <a:pPr algn="l">
              <a:lnSpc>
                <a:spcPct val="125000"/>
              </a:lnSpc>
            </a:pPr>
            <a:r>
              <a:rPr sz="1050" b="0">
                <a:solidFill>
                  <a:srgbClr val="FFFFFF"/>
                </a:solidFill>
                <a:latin typeface="Raleway"/>
              </a:rPr>
              <a:t>Diagnosticamos, diseñamos e implantamos programas formativos con metodología ágil. La formación no se queda en teoría: se mide en resultados.</a:t>
            </a:r>
          </a:p>
        </p:txBody>
      </p:sp>
      <p:sp>
        <p:nvSpPr>
          <p:cNvPr id="21" name="TextBox 20"/>
          <p:cNvSpPr txBox="1"/>
          <p:nvPr/>
        </p:nvSpPr>
        <p:spPr>
          <a:xfrm>
            <a:off x="8128000" y="5384800"/>
            <a:ext cx="1270000" cy="508000"/>
          </a:xfrm>
          <a:prstGeom prst="rect">
            <a:avLst/>
          </a:prstGeom>
          <a:noFill/>
        </p:spPr>
        <p:txBody>
          <a:bodyPr wrap="square" lIns="0" tIns="0" rIns="0" bIns="0" anchor="t">
            <a:normAutofit/>
          </a:bodyPr>
          <a:lstStyle/>
          <a:p>
            <a:pPr algn="l"/>
            <a:r>
              <a:rPr sz="2600" b="0">
                <a:solidFill>
                  <a:srgbClr val="FFFFFF"/>
                </a:solidFill>
                <a:latin typeface="Manrope ExtraLight"/>
              </a:rPr>
              <a:t>100%</a:t>
            </a:r>
          </a:p>
        </p:txBody>
      </p:sp>
      <p:sp>
        <p:nvSpPr>
          <p:cNvPr id="22" name="TextBox 21"/>
          <p:cNvSpPr txBox="1"/>
          <p:nvPr/>
        </p:nvSpPr>
        <p:spPr>
          <a:xfrm>
            <a:off x="8128000" y="5867400"/>
            <a:ext cx="1905000" cy="304800"/>
          </a:xfrm>
          <a:prstGeom prst="rect">
            <a:avLst/>
          </a:prstGeom>
          <a:noFill/>
        </p:spPr>
        <p:txBody>
          <a:bodyPr wrap="square" lIns="0" tIns="0" rIns="0" bIns="0" anchor="t">
            <a:normAutofit/>
          </a:bodyPr>
          <a:lstStyle/>
          <a:p>
            <a:pPr algn="l">
              <a:lnSpc>
                <a:spcPct val="105000"/>
              </a:lnSpc>
            </a:pPr>
            <a:r>
              <a:rPr sz="850" b="0">
                <a:solidFill>
                  <a:srgbClr val="8AA3A5"/>
                </a:solidFill>
                <a:latin typeface="Raleway"/>
              </a:rPr>
              <a:t>Programas diseñados
a medida</a:t>
            </a:r>
          </a:p>
        </p:txBody>
      </p:sp>
      <p:sp>
        <p:nvSpPr>
          <p:cNvPr id="23" name="TextBox 22"/>
          <p:cNvSpPr txBox="1"/>
          <p:nvPr/>
        </p:nvSpPr>
        <p:spPr>
          <a:xfrm>
            <a:off x="762000" y="6477000"/>
            <a:ext cx="3810000" cy="203200"/>
          </a:xfrm>
          <a:prstGeom prst="rect">
            <a:avLst/>
          </a:prstGeom>
          <a:noFill/>
        </p:spPr>
        <p:txBody>
          <a:bodyPr wrap="square" lIns="0" tIns="0" rIns="0" bIns="0" anchor="t">
            <a:normAutofit/>
          </a:bodyPr>
          <a:lstStyle/>
          <a:p>
            <a:pPr algn="l"/>
            <a:r>
              <a:rPr sz="900" b="0">
                <a:solidFill>
                  <a:srgbClr val="587579"/>
                </a:solidFill>
                <a:latin typeface="Raleway"/>
              </a:rPr>
              <a:t>tesseraservices.com</a:t>
            </a:r>
          </a:p>
        </p:txBody>
      </p:sp>
      <p:sp>
        <p:nvSpPr>
          <p:cNvPr id="24" name="TextBox 23"/>
          <p:cNvSpPr txBox="1"/>
          <p:nvPr/>
        </p:nvSpPr>
        <p:spPr>
          <a:xfrm>
            <a:off x="10668000" y="6400800"/>
            <a:ext cx="762000" cy="330200"/>
          </a:xfrm>
          <a:prstGeom prst="rect">
            <a:avLst/>
          </a:prstGeom>
          <a:noFill/>
        </p:spPr>
        <p:txBody>
          <a:bodyPr wrap="square" lIns="0" tIns="0" rIns="0" bIns="0" anchor="t">
            <a:normAutofit/>
          </a:bodyPr>
          <a:lstStyle/>
          <a:p>
            <a:pPr algn="r"/>
            <a:r>
              <a:rPr sz="1600" b="0">
                <a:solidFill>
                  <a:srgbClr val="202031"/>
                </a:solidFill>
                <a:latin typeface="Manrope Medium"/>
              </a:rPr>
              <a:t>09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2031"/>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8AA3A5"/>
                </a:solidFill>
                <a:latin typeface="Raleway Medium"/>
              </a:rPr>
              <a:t>TESSERA FINANCE</a:t>
            </a:r>
          </a:p>
        </p:txBody>
      </p:sp>
      <p:sp>
        <p:nvSpPr>
          <p:cNvPr id="4" name="Rectangle 3"/>
          <p:cNvSpPr/>
          <p:nvPr/>
        </p:nvSpPr>
        <p:spPr>
          <a:xfrm>
            <a:off x="762000" y="660400"/>
            <a:ext cx="10668000" cy="12700"/>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3810000" cy="203200"/>
          </a:xfrm>
          <a:prstGeom prst="rect">
            <a:avLst/>
          </a:prstGeom>
          <a:noFill/>
        </p:spPr>
        <p:txBody>
          <a:bodyPr wrap="square" lIns="0" tIns="0" rIns="0" bIns="0" anchor="t">
            <a:spAutoFit/>
          </a:bodyPr>
          <a:lstStyle/>
          <a:p>
            <a:pPr algn="l"/>
            <a:r>
              <a:rPr sz="950" b="0" spc="80">
                <a:solidFill>
                  <a:srgbClr val="8AA3A5"/>
                </a:solidFill>
                <a:latin typeface="Raleway Medium"/>
              </a:rPr>
              <a:t>EXPERTOS EN LAS EMPRESAS</a:t>
            </a:r>
          </a:p>
        </p:txBody>
      </p:sp>
      <p:sp>
        <p:nvSpPr>
          <p:cNvPr id="6" name="TextBox 5"/>
          <p:cNvSpPr txBox="1"/>
          <p:nvPr/>
        </p:nvSpPr>
        <p:spPr>
          <a:xfrm>
            <a:off x="762000" y="1168400"/>
            <a:ext cx="5334000" cy="1143000"/>
          </a:xfrm>
          <a:prstGeom prst="rect">
            <a:avLst/>
          </a:prstGeom>
          <a:noFill/>
        </p:spPr>
        <p:txBody>
          <a:bodyPr wrap="square" lIns="0" tIns="0" rIns="0" bIns="0" anchor="t">
            <a:spAutoFit/>
          </a:bodyPr>
          <a:lstStyle/>
          <a:p>
            <a:pPr algn="l">
              <a:lnSpc>
                <a:spcPct val="125000"/>
              </a:lnSpc>
            </a:pPr>
            <a:r>
              <a:rPr sz="1100" b="0">
                <a:solidFill>
                  <a:srgbClr val="FFFFFF"/>
                </a:solidFill>
                <a:latin typeface="Raleway"/>
              </a:rPr>
              <a:t>En Tessera, potenciamos el talento humano con la tecnología para transformar empresas. Somos una firma de consultoría estratégica especializada en Finanzas, donde ofrecemos entre otros los siguientes servicios:</a:t>
            </a:r>
          </a:p>
        </p:txBody>
      </p:sp>
      <p:sp>
        <p:nvSpPr>
          <p:cNvPr id="7" name="TextBox 6"/>
          <p:cNvSpPr txBox="1"/>
          <p:nvPr/>
        </p:nvSpPr>
        <p:spPr>
          <a:xfrm>
            <a:off x="762000" y="2413000"/>
            <a:ext cx="5334000" cy="2540000"/>
          </a:xfrm>
          <a:prstGeom prst="rect">
            <a:avLst/>
          </a:prstGeom>
          <a:noFill/>
        </p:spPr>
        <p:txBody>
          <a:bodyPr wrap="square" lIns="0" tIns="0" rIns="0" bIns="0" anchor="t">
            <a:spAutoFit/>
          </a:bodyPr>
          <a:lstStyle/>
          <a:p>
            <a:pPr algn="l">
              <a:lnSpc>
                <a:spcPct val="160000"/>
              </a:lnSpc>
              <a:spcAft>
                <a:spcPts val="400"/>
              </a:spcAft>
            </a:pPr>
            <a:r>
              <a:rPr sz="1200" b="0">
                <a:solidFill>
                  <a:srgbClr val="FFFFFF"/>
                </a:solidFill>
                <a:latin typeface="Raleway"/>
              </a:rPr>
              <a:t>-  Búsqueda de Financiación</a:t>
            </a:r>
          </a:p>
          <a:p>
            <a:pPr algn="l">
              <a:lnSpc>
                <a:spcPct val="160000"/>
              </a:lnSpc>
              <a:spcAft>
                <a:spcPts val="400"/>
              </a:spcAft>
            </a:pPr>
            <a:r>
              <a:rPr sz="1200" b="0">
                <a:solidFill>
                  <a:srgbClr val="FFFFFF"/>
                </a:solidFill>
                <a:latin typeface="Raleway"/>
              </a:rPr>
              <a:t>-  M&amp;A</a:t>
            </a:r>
          </a:p>
          <a:p>
            <a:pPr algn="l">
              <a:lnSpc>
                <a:spcPct val="160000"/>
              </a:lnSpc>
              <a:spcAft>
                <a:spcPts val="400"/>
              </a:spcAft>
            </a:pPr>
            <a:r>
              <a:rPr sz="1200" b="0">
                <a:solidFill>
                  <a:srgbClr val="FFFFFF"/>
                </a:solidFill>
                <a:latin typeface="Raleway"/>
              </a:rPr>
              <a:t>-  Business Plan</a:t>
            </a:r>
          </a:p>
          <a:p>
            <a:pPr algn="l">
              <a:lnSpc>
                <a:spcPct val="160000"/>
              </a:lnSpc>
              <a:spcAft>
                <a:spcPts val="400"/>
              </a:spcAft>
            </a:pPr>
            <a:r>
              <a:rPr sz="1200" b="0">
                <a:solidFill>
                  <a:srgbClr val="FFFFFF"/>
                </a:solidFill>
                <a:latin typeface="Raleway"/>
              </a:rPr>
              <a:t>-  CFO Part-Time</a:t>
            </a:r>
          </a:p>
          <a:p>
            <a:pPr algn="l">
              <a:lnSpc>
                <a:spcPct val="160000"/>
              </a:lnSpc>
              <a:spcAft>
                <a:spcPts val="400"/>
              </a:spcAft>
            </a:pPr>
            <a:r>
              <a:rPr sz="1200" b="0">
                <a:solidFill>
                  <a:srgbClr val="FFFFFF"/>
                </a:solidFill>
                <a:latin typeface="Raleway"/>
              </a:rPr>
              <a:t>-  Due Diligence</a:t>
            </a:r>
          </a:p>
          <a:p>
            <a:pPr algn="l">
              <a:lnSpc>
                <a:spcPct val="160000"/>
              </a:lnSpc>
              <a:spcAft>
                <a:spcPts val="400"/>
              </a:spcAft>
            </a:pPr>
            <a:r>
              <a:rPr sz="1200" b="0">
                <a:solidFill>
                  <a:srgbClr val="FFFFFF"/>
                </a:solidFill>
                <a:latin typeface="Raleway"/>
              </a:rPr>
              <a:t>-  Restructuring</a:t>
            </a:r>
          </a:p>
        </p:txBody>
      </p:sp>
      <p:sp>
        <p:nvSpPr>
          <p:cNvPr id="8" name="Rectangle 7"/>
          <p:cNvSpPr/>
          <p:nvPr/>
        </p:nvSpPr>
        <p:spPr>
          <a:xfrm>
            <a:off x="6604000" y="889000"/>
            <a:ext cx="3810000" cy="4318000"/>
          </a:xfrm>
          <a:prstGeom prst="rect">
            <a:avLst/>
          </a:prstGeom>
          <a:solidFill>
            <a:srgbClr val="16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08800" y="1219200"/>
            <a:ext cx="3200400" cy="508000"/>
          </a:xfrm>
          <a:prstGeom prst="rect">
            <a:avLst/>
          </a:prstGeom>
          <a:noFill/>
        </p:spPr>
        <p:txBody>
          <a:bodyPr wrap="square" lIns="0" tIns="0" rIns="0" bIns="0" anchor="t">
            <a:spAutoFit/>
          </a:bodyPr>
          <a:lstStyle/>
          <a:p>
            <a:pPr algn="l">
              <a:lnSpc>
                <a:spcPct val="115000"/>
              </a:lnSpc>
            </a:pPr>
            <a:r>
              <a:rPr sz="1400" b="0">
                <a:solidFill>
                  <a:srgbClr val="FFFFFF"/>
                </a:solidFill>
                <a:latin typeface="Raleway SemiBold"/>
              </a:rPr>
              <a:t>ASESORÍA LABORAL,
FISCAL &amp; CONTABLE</a:t>
            </a:r>
          </a:p>
        </p:txBody>
      </p:sp>
      <p:sp>
        <p:nvSpPr>
          <p:cNvPr id="10" name="TextBox 9"/>
          <p:cNvSpPr txBox="1"/>
          <p:nvPr/>
        </p:nvSpPr>
        <p:spPr>
          <a:xfrm>
            <a:off x="6908800" y="1905000"/>
            <a:ext cx="3200400" cy="2032000"/>
          </a:xfrm>
          <a:prstGeom prst="rect">
            <a:avLst/>
          </a:prstGeom>
          <a:noFill/>
        </p:spPr>
        <p:txBody>
          <a:bodyPr wrap="square" lIns="0" tIns="0" rIns="0" bIns="0" anchor="t">
            <a:spAutoFit/>
          </a:bodyPr>
          <a:lstStyle/>
          <a:p>
            <a:pPr algn="l">
              <a:lnSpc>
                <a:spcPct val="130000"/>
              </a:lnSpc>
            </a:pPr>
            <a:r>
              <a:rPr sz="950" b="0">
                <a:solidFill>
                  <a:srgbClr val="8AA3A5"/>
                </a:solidFill>
                <a:latin typeface="Raleway"/>
              </a:rPr>
              <a:t>Impulsamos a tu empresa para que te centres en lo importante: tu negocio. Nos encargamos de que, a nivel fiscal, laboral y contable, no haya ningún problema, se optimice la gestión fiscal, se aprovechen las subvenciones laborales y se disponga de información contable veraz, al día y precisa para la toma de decisiones.</a:t>
            </a:r>
          </a:p>
        </p:txBody>
      </p:sp>
      <p:sp>
        <p:nvSpPr>
          <p:cNvPr id="11" name="Rectangle 10"/>
          <p:cNvSpPr/>
          <p:nvPr/>
        </p:nvSpPr>
        <p:spPr>
          <a:xfrm>
            <a:off x="6908800" y="4140200"/>
            <a:ext cx="762000" cy="38100"/>
          </a:xfrm>
          <a:prstGeom prst="rect">
            <a:avLst/>
          </a:prstGeom>
          <a:gradFill rotWithShape="1">
            <a:gsLst>
              <a:gs pos="0">
                <a:srgbClr val="587579"/>
              </a:gs>
              <a:gs pos="100000">
                <a:srgbClr val="202031"/>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08800" y="4292600"/>
            <a:ext cx="1143000" cy="431800"/>
          </a:xfrm>
          <a:prstGeom prst="rect">
            <a:avLst/>
          </a:prstGeom>
          <a:noFill/>
        </p:spPr>
        <p:txBody>
          <a:bodyPr wrap="square" lIns="0" tIns="0" rIns="0" bIns="0" anchor="t">
            <a:spAutoFit/>
          </a:bodyPr>
          <a:lstStyle/>
          <a:p>
            <a:pPr algn="l"/>
            <a:r>
              <a:rPr sz="2400" b="0">
                <a:solidFill>
                  <a:srgbClr val="FFFFFF"/>
                </a:solidFill>
                <a:latin typeface="Manrope ExtraLight"/>
              </a:rPr>
              <a:t>37%</a:t>
            </a:r>
          </a:p>
        </p:txBody>
      </p:sp>
      <p:sp>
        <p:nvSpPr>
          <p:cNvPr id="13" name="TextBox 12"/>
          <p:cNvSpPr txBox="1"/>
          <p:nvPr/>
        </p:nvSpPr>
        <p:spPr>
          <a:xfrm>
            <a:off x="6908800" y="4724400"/>
            <a:ext cx="3200400" cy="355600"/>
          </a:xfrm>
          <a:prstGeom prst="rect">
            <a:avLst/>
          </a:prstGeom>
          <a:noFill/>
        </p:spPr>
        <p:txBody>
          <a:bodyPr wrap="square" lIns="0" tIns="0" rIns="0" bIns="0" anchor="t">
            <a:spAutoFit/>
          </a:bodyPr>
          <a:lstStyle/>
          <a:p>
            <a:pPr algn="l">
              <a:lnSpc>
                <a:spcPct val="110000"/>
              </a:lnSpc>
            </a:pPr>
            <a:r>
              <a:rPr sz="850" b="0">
                <a:solidFill>
                  <a:srgbClr val="8AA3A5"/>
                </a:solidFill>
                <a:latin typeface="Raleway"/>
              </a:rPr>
              <a:t>Ahorro medio de costes en el análisis gratuito</a:t>
            </a:r>
          </a:p>
        </p:txBody>
      </p:sp>
      <p:sp>
        <p:nvSpPr>
          <p:cNvPr id="14" name="TextBox 13"/>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8AA3A5"/>
                </a:solidFill>
                <a:latin typeface="Raleway"/>
              </a:rPr>
              <a:t>tesseraservices.com</a:t>
            </a:r>
          </a:p>
        </p:txBody>
      </p:sp>
      <p:sp>
        <p:nvSpPr>
          <p:cNvPr id="15" name="TextBox 14"/>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FFFFFF"/>
                </a:solidFill>
                <a:latin typeface="Manrope Medium"/>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TÉRMINOS Y CONDICIONES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508000"/>
          </a:xfrm>
          <a:prstGeom prst="rect">
            <a:avLst/>
          </a:prstGeom>
          <a:noFill/>
        </p:spPr>
        <p:txBody>
          <a:bodyPr wrap="square" lIns="0" tIns="0" rIns="0" bIns="0" anchor="t">
            <a:spAutoFit/>
          </a:bodyPr>
          <a:lstStyle/>
          <a:p>
            <a:pPr algn="l"/>
            <a:r>
              <a:rPr sz="2800" b="0">
                <a:solidFill>
                  <a:srgbClr val="202031"/>
                </a:solidFill>
                <a:latin typeface="Raleway Light"/>
              </a:rPr>
              <a:t>Términos y condiciones</a:t>
            </a:r>
          </a:p>
        </p:txBody>
      </p:sp>
      <p:sp>
        <p:nvSpPr>
          <p:cNvPr id="6" name="TextBox 5"/>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7" name="TextBox 6"/>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11</a:t>
            </a:r>
          </a:p>
        </p:txBody>
      </p:sp>
      <p:sp>
        <p:nvSpPr>
          <p:cNvPr id="8" name="TextBox 7"/>
          <p:cNvSpPr txBox="1"/>
          <p:nvPr/>
        </p:nvSpPr>
        <p:spPr>
          <a:xfrm>
            <a:off x="762000" y="1422400"/>
            <a:ext cx="8890000" cy="203200"/>
          </a:xfrm>
          <a:prstGeom prst="rect">
            <a:avLst/>
          </a:prstGeom>
          <a:noFill/>
        </p:spPr>
        <p:txBody>
          <a:bodyPr wrap="square" lIns="0" tIns="0" rIns="0" bIns="0" anchor="t">
            <a:spAutoFit/>
          </a:bodyPr>
          <a:lstStyle/>
          <a:p>
            <a:pPr algn="l"/>
            <a:r>
              <a:rPr sz="950" b="0" spc="80">
                <a:solidFill>
                  <a:srgbClr val="587579"/>
                </a:solidFill>
                <a:latin typeface="Raleway Medium"/>
              </a:rPr>
              <a:t>CONDICIONES SUBYACENTES DE LA PROPUESTA</a:t>
            </a:r>
          </a:p>
        </p:txBody>
      </p:sp>
      <p:sp>
        <p:nvSpPr>
          <p:cNvPr id="9" name="TextBox 8"/>
          <p:cNvSpPr txBox="1"/>
          <p:nvPr/>
        </p:nvSpPr>
        <p:spPr>
          <a:xfrm>
            <a:off x="762000" y="1778000"/>
            <a:ext cx="4572000" cy="4445000"/>
          </a:xfrm>
          <a:prstGeom prst="rect">
            <a:avLst/>
          </a:prstGeom>
          <a:noFill/>
        </p:spPr>
        <p:txBody>
          <a:bodyPr wrap="square" lIns="0" tIns="0" rIns="0" bIns="0" anchor="t">
            <a:spAutoFit/>
          </a:bodyPr>
          <a:lstStyle/>
          <a:p>
            <a:pPr algn="l">
              <a:lnSpc>
                <a:spcPct val="108000"/>
              </a:lnSpc>
              <a:spcAft>
                <a:spcPts val="400"/>
              </a:spcAft>
            </a:pPr>
            <a:r>
              <a:rPr sz="730" b="0">
                <a:solidFill>
                  <a:srgbClr val="202031"/>
                </a:solidFill>
                <a:latin typeface="Raleway"/>
              </a:rPr>
              <a:t>Las presentes condiciones generales se aplican a cualquier servicio profesional prestado entre las partes y son adicionales a cualquier acuerdo específico suscrito, el cual prevalecerá sobre estas en caso de discrepancia. En este documento: (i) «Tessera» significa Tessera Human Capital, S.L.; (ii) «Cliente» es el destinatario de la Propuesta y (iii) «Servicios» son los servicios profesionales cubiertos por la Propuesta.</a:t>
            </a:r>
          </a:p>
          <a:p>
            <a:pPr>
              <a:lnSpc>
                <a:spcPct val="108000"/>
              </a:lnSpc>
              <a:spcAft>
                <a:spcPts val="400"/>
              </a:spcAft>
            </a:pPr>
            <a:r>
              <a:rPr sz="900" b="0">
                <a:solidFill>
                  <a:srgbClr val="587579"/>
                </a:solidFill>
                <a:latin typeface="Raleway SemiBold"/>
              </a:rPr>
              <a:t>1. CONFIDENCIALIDAD</a:t>
            </a:r>
          </a:p>
          <a:p>
            <a:pPr>
              <a:lnSpc>
                <a:spcPct val="108000"/>
              </a:lnSpc>
              <a:spcAft>
                <a:spcPts val="400"/>
              </a:spcAft>
            </a:pPr>
            <a:r>
              <a:rPr sz="730" b="0">
                <a:solidFill>
                  <a:srgbClr val="202031"/>
                </a:solidFill>
                <a:latin typeface="Raleway"/>
              </a:rPr>
              <a:t>Toda la información relativa a la empresa cliente, sus miembros y los candidatos presentados o contactados será tratada por ambas partes con la máxima confidencialidad, manteniendo la obligación de secreto profesional sobre toda dicha información y, en particular, sobre los datos personales de los candidatos, incluso una vez finalizado este acuerdo, todo ello de conformidad con la legislación española.</a:t>
            </a:r>
          </a:p>
          <a:p>
            <a:pPr>
              <a:lnSpc>
                <a:spcPct val="108000"/>
              </a:lnSpc>
              <a:spcAft>
                <a:spcPts val="400"/>
              </a:spcAft>
            </a:pPr>
            <a:r>
              <a:rPr sz="730" b="0">
                <a:solidFill>
                  <a:srgbClr val="202031"/>
                </a:solidFill>
                <a:latin typeface="Raleway"/>
              </a:rPr>
              <a:t>Ambas partes se comprometen mutuamente a mantener la confidencialidad y a no revelar a terceros ninguna información confidencial facilitada por la otra parte, durante la vigencia de este acuerdo y con posterioridad al mismo. Este compromiso no impedirá a Tessera Human Capital hacer referencia a los servicios prestados al Cliente y al propio Cliente como parte de su cartera de clientes, con fines publicitarios y de marketing.</a:t>
            </a:r>
          </a:p>
          <a:p>
            <a:pPr>
              <a:lnSpc>
                <a:spcPct val="108000"/>
              </a:lnSpc>
              <a:spcAft>
                <a:spcPts val="400"/>
              </a:spcAft>
            </a:pPr>
            <a:r>
              <a:rPr sz="900" b="0">
                <a:solidFill>
                  <a:srgbClr val="587579"/>
                </a:solidFill>
                <a:latin typeface="Raleway SemiBold"/>
              </a:rPr>
              <a:t>2. CANDIDATURAS</a:t>
            </a:r>
          </a:p>
          <a:p>
            <a:pPr>
              <a:lnSpc>
                <a:spcPct val="108000"/>
              </a:lnSpc>
              <a:spcAft>
                <a:spcPts val="400"/>
              </a:spcAft>
            </a:pPr>
            <a:r>
              <a:rPr sz="900" b="0">
                <a:solidFill>
                  <a:srgbClr val="587579"/>
                </a:solidFill>
                <a:latin typeface="Raleway SemiBold"/>
              </a:rPr>
              <a:t>2.1 Todos los candidatos identificados y presentados por Tessera Human Capital al cliente quedarán reservados exclusivamente para la presente selección. Si alguno de dichos candidatos fuera contratado por el cliente en un puesto correspondiente al encargo, o en otro puesto, o en otra empresa del grupo, dentro de un plazo de 12 meses tras la presentación del candidato, el cliente deberá abonar a Tessera Human Capital el importe previsto para la contratación inicial, o la totalidad de los honorarios calculados sobre la retribución bruta anual, incluidas las retribuciones en especie.</a:t>
            </a:r>
          </a:p>
          <a:p>
            <a:pPr>
              <a:lnSpc>
                <a:spcPct val="108000"/>
              </a:lnSpc>
              <a:spcAft>
                <a:spcPts val="400"/>
              </a:spcAft>
            </a:pPr>
            <a:r>
              <a:rPr sz="900" b="0">
                <a:solidFill>
                  <a:srgbClr val="587579"/>
                </a:solidFill>
                <a:latin typeface="Raleway SemiBold"/>
              </a:rPr>
              <a:t>2.2 Esta cláusula se aplica en los mismos términos si el cliente presenta a alguno de estos candidatos a otra persona física o jurídica y si el candidato se compromete con dicha persona.</a:t>
            </a:r>
          </a:p>
        </p:txBody>
      </p:sp>
      <p:sp>
        <p:nvSpPr>
          <p:cNvPr id="10" name="TextBox 9"/>
          <p:cNvSpPr txBox="1"/>
          <p:nvPr/>
        </p:nvSpPr>
        <p:spPr>
          <a:xfrm>
            <a:off x="5842000" y="1778000"/>
            <a:ext cx="4572000" cy="4445000"/>
          </a:xfrm>
          <a:prstGeom prst="rect">
            <a:avLst/>
          </a:prstGeom>
          <a:noFill/>
        </p:spPr>
        <p:txBody>
          <a:bodyPr wrap="square" lIns="0" tIns="0" rIns="0" bIns="0" anchor="t">
            <a:spAutoFit/>
          </a:bodyPr>
          <a:lstStyle/>
          <a:p>
            <a:pPr algn="l">
              <a:lnSpc>
                <a:spcPct val="108000"/>
              </a:lnSpc>
              <a:spcAft>
                <a:spcPts val="400"/>
              </a:spcAft>
            </a:pPr>
            <a:r>
              <a:rPr sz="900" b="0">
                <a:solidFill>
                  <a:srgbClr val="587579"/>
                </a:solidFill>
                <a:latin typeface="Raleway SemiBold"/>
              </a:rPr>
              <a:t>3. GARANTÍA</a:t>
            </a:r>
          </a:p>
          <a:p>
            <a:pPr>
              <a:lnSpc>
                <a:spcPct val="108000"/>
              </a:lnSpc>
              <a:spcAft>
                <a:spcPts val="400"/>
              </a:spcAft>
            </a:pPr>
            <a:r>
              <a:rPr sz="730" b="0">
                <a:solidFill>
                  <a:srgbClr val="202031"/>
                </a:solidFill>
                <a:latin typeface="Raleway"/>
              </a:rPr>
              <a:t>Si el candidato o el cliente rescinde el contrato de trabajo dentro de los 6 meses siguientes a la fecha de contratación, Tessera Human Capital se compromete a proporcionar otro candidato y/o a activar otro proceso de selección, a elección del cliente, con el fin de sustituir al candidato sin coste adicional.</a:t>
            </a:r>
          </a:p>
          <a:p>
            <a:pPr>
              <a:lnSpc>
                <a:spcPct val="108000"/>
              </a:lnSpc>
              <a:spcAft>
                <a:spcPts val="400"/>
              </a:spcAft>
            </a:pPr>
            <a:r>
              <a:rPr sz="730" b="0">
                <a:solidFill>
                  <a:srgbClr val="202031"/>
                </a:solidFill>
                <a:latin typeface="Raleway"/>
              </a:rPr>
              <a:t>Esta garantía podrá aplicarse salvo en los siguientes casos:</a:t>
            </a:r>
          </a:p>
          <a:p>
            <a:pPr>
              <a:lnSpc>
                <a:spcPct val="108000"/>
              </a:lnSpc>
              <a:spcAft>
                <a:spcPts val="400"/>
              </a:spcAft>
            </a:pPr>
            <a:r>
              <a:rPr sz="900" b="0">
                <a:solidFill>
                  <a:srgbClr val="587579"/>
                </a:solidFill>
                <a:latin typeface="Raleway SemiBold"/>
              </a:rPr>
              <a:t>3.1 Si la rescisión del contrato de trabajo se debe a un exceso de plantilla o a un cambio geográfico inicialmente no previsto.</a:t>
            </a:r>
          </a:p>
          <a:p>
            <a:pPr>
              <a:lnSpc>
                <a:spcPct val="108000"/>
              </a:lnSpc>
              <a:spcAft>
                <a:spcPts val="400"/>
              </a:spcAft>
            </a:pPr>
            <a:r>
              <a:rPr sz="900" b="0">
                <a:solidFill>
                  <a:srgbClr val="587579"/>
                </a:solidFill>
                <a:latin typeface="Raleway SemiBold"/>
              </a:rPr>
              <a:t>3.2 Si las condiciones laborales del candidato contratado difieren significativamente de las inicialmente definidas en el contrato de trabajo.</a:t>
            </a:r>
          </a:p>
          <a:p>
            <a:pPr>
              <a:lnSpc>
                <a:spcPct val="108000"/>
              </a:lnSpc>
              <a:spcAft>
                <a:spcPts val="400"/>
              </a:spcAft>
            </a:pPr>
            <a:r>
              <a:rPr sz="900" b="0">
                <a:solidFill>
                  <a:srgbClr val="587579"/>
                </a:solidFill>
                <a:latin typeface="Raleway SemiBold"/>
              </a:rPr>
              <a:t>3.3 Si la rescisión del contrato de trabajo se debe a una falta grave por parte de la empresa contratante.</a:t>
            </a:r>
          </a:p>
          <a:p>
            <a:pPr>
              <a:lnSpc>
                <a:spcPct val="108000"/>
              </a:lnSpc>
              <a:spcAft>
                <a:spcPts val="400"/>
              </a:spcAft>
            </a:pPr>
            <a:r>
              <a:rPr sz="900" b="0">
                <a:solidFill>
                  <a:srgbClr val="587579"/>
                </a:solidFill>
                <a:latin typeface="Raleway SemiBold"/>
              </a:rPr>
              <a:t>3.4 Si no se han abonado todas las facturas adeudadas por el cliente dentro de los plazos establecidos y conforme a las condiciones generales.</a:t>
            </a:r>
          </a:p>
          <a:p>
            <a:pPr>
              <a:lnSpc>
                <a:spcPct val="108000"/>
              </a:lnSpc>
              <a:spcAft>
                <a:spcPts val="400"/>
              </a:spcAft>
            </a:pPr>
            <a:r>
              <a:rPr sz="730" b="0">
                <a:solidFill>
                  <a:srgbClr val="202031"/>
                </a:solidFill>
                <a:latin typeface="Raleway"/>
              </a:rPr>
              <a:t>Si el candidato abandona la empresa transcurridos 6 meses desde la fecha de contratación (periodo de prueba), Tessera Human Capital no se hace responsable y, por tanto, no tiene obligación de cubrir el puesto.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TÉRMINOS Y CONDICIONES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508000"/>
          </a:xfrm>
          <a:prstGeom prst="rect">
            <a:avLst/>
          </a:prstGeom>
          <a:noFill/>
        </p:spPr>
        <p:txBody>
          <a:bodyPr wrap="square" lIns="0" tIns="0" rIns="0" bIns="0" anchor="t">
            <a:spAutoFit/>
          </a:bodyPr>
          <a:lstStyle/>
          <a:p>
            <a:pPr algn="l"/>
            <a:r>
              <a:rPr sz="2800" b="0">
                <a:solidFill>
                  <a:srgbClr val="202031"/>
                </a:solidFill>
                <a:latin typeface="Raleway Light"/>
              </a:rPr>
              <a:t>Términos y condiciones</a:t>
            </a:r>
          </a:p>
        </p:txBody>
      </p:sp>
      <p:sp>
        <p:nvSpPr>
          <p:cNvPr id="6" name="TextBox 5"/>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7" name="TextBox 6"/>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12</a:t>
            </a:r>
          </a:p>
        </p:txBody>
      </p:sp>
      <p:sp>
        <p:nvSpPr>
          <p:cNvPr id="8" name="TextBox 7"/>
          <p:cNvSpPr txBox="1"/>
          <p:nvPr/>
        </p:nvSpPr>
        <p:spPr>
          <a:xfrm>
            <a:off x="762000" y="1778000"/>
            <a:ext cx="4572000" cy="4191000"/>
          </a:xfrm>
          <a:prstGeom prst="rect">
            <a:avLst/>
          </a:prstGeom>
          <a:noFill/>
        </p:spPr>
        <p:txBody>
          <a:bodyPr wrap="square" lIns="0" tIns="0" rIns="0" bIns="0" anchor="t">
            <a:spAutoFit/>
          </a:bodyPr>
          <a:lstStyle/>
          <a:p>
            <a:pPr algn="l">
              <a:lnSpc>
                <a:spcPct val="108000"/>
              </a:lnSpc>
              <a:spcAft>
                <a:spcPts val="400"/>
              </a:spcAft>
            </a:pPr>
            <a:r>
              <a:rPr sz="900" b="0">
                <a:solidFill>
                  <a:srgbClr val="587579"/>
                </a:solidFill>
                <a:latin typeface="Raleway SemiBold"/>
              </a:rPr>
              <a:t>.4. RESPONSABILIDAD</a:t>
            </a:r>
          </a:p>
          <a:p>
            <a:pPr>
              <a:lnSpc>
                <a:spcPct val="108000"/>
              </a:lnSpc>
              <a:spcAft>
                <a:spcPts val="400"/>
              </a:spcAft>
            </a:pPr>
            <a:r>
              <a:rPr sz="730" b="0">
                <a:solidFill>
                  <a:srgbClr val="202031"/>
                </a:solidFill>
                <a:latin typeface="Raleway"/>
              </a:rPr>
              <a:t>Las siguientes aclaraciones legales no excluyen nuestras condiciones de garantía, que permanecen válidas conforme a los términos definidos en el apartado 3.</a:t>
            </a:r>
          </a:p>
          <a:p>
            <a:pPr>
              <a:lnSpc>
                <a:spcPct val="108000"/>
              </a:lnSpc>
              <a:spcAft>
                <a:spcPts val="400"/>
              </a:spcAft>
            </a:pPr>
            <a:r>
              <a:rPr sz="730" b="0">
                <a:solidFill>
                  <a:srgbClr val="202031"/>
                </a:solidFill>
                <a:latin typeface="Raleway"/>
              </a:rPr>
              <a:t>4.1 Tessera Human Capital se compromete a prestar un servicio de calidad y garantiza, como mínimo, la devolución de las cantidades abonadas en aquellos casos en los que hubiera advertido al cliente de un incumplimiento grave y directo de sus obligaciones.</a:t>
            </a:r>
          </a:p>
          <a:p>
            <a:pPr>
              <a:lnSpc>
                <a:spcPct val="108000"/>
              </a:lnSpc>
              <a:spcAft>
                <a:spcPts val="400"/>
              </a:spcAft>
            </a:pPr>
            <a:r>
              <a:rPr sz="730" b="0">
                <a:solidFill>
                  <a:srgbClr val="202031"/>
                </a:solidFill>
                <a:latin typeface="Raleway"/>
              </a:rPr>
              <a:t>4.2 Sin perjuicio de lo anterior, salvo en caso de dolo, Tessera Human Capital no asume responsabilidad alguna, ni tampoco su personal, por cualquier negligencia o incapacidad, mala conducta o práctica inadecuada o cualquier otra reclamación atribuida a los candidatos presentados.</a:t>
            </a:r>
          </a:p>
          <a:p>
            <a:pPr>
              <a:lnSpc>
                <a:spcPct val="108000"/>
              </a:lnSpc>
              <a:spcAft>
                <a:spcPts val="400"/>
              </a:spcAft>
            </a:pPr>
            <a:r>
              <a:rPr sz="900" b="0">
                <a:solidFill>
                  <a:srgbClr val="587579"/>
                </a:solidFill>
                <a:latin typeface="Raleway SemiBold"/>
              </a:rPr>
              <a:t>.5. PROTECCIÓN DE DATOS</a:t>
            </a:r>
          </a:p>
          <a:p>
            <a:pPr>
              <a:lnSpc>
                <a:spcPct val="108000"/>
              </a:lnSpc>
              <a:spcAft>
                <a:spcPts val="400"/>
              </a:spcAft>
            </a:pPr>
            <a:r>
              <a:rPr sz="730" b="0">
                <a:solidFill>
                  <a:srgbClr val="202031"/>
                </a:solidFill>
                <a:latin typeface="Raleway"/>
              </a:rPr>
              <a:t>Ambas partes reconocen que cumplen con la normativa de protección de datos personales y han sido informadas de las finalidades del tratamiento de los datos facilitados en esta oferta comercial, basadas en el interés legítimo de ambas partes. Cualquier cuestión relativa al tratamiento de datos podrá dirigirse a Tessera Human Capital.</a:t>
            </a:r>
          </a:p>
          <a:p>
            <a:pPr>
              <a:lnSpc>
                <a:spcPct val="108000"/>
              </a:lnSpc>
              <a:spcAft>
                <a:spcPts val="400"/>
              </a:spcAft>
            </a:pPr>
            <a:r>
              <a:rPr sz="730" b="0">
                <a:solidFill>
                  <a:srgbClr val="202031"/>
                </a:solidFill>
                <a:latin typeface="Raleway"/>
              </a:rPr>
              <a:t>La cesión de los CV se realiza exclusivamente en el marco de la selección contratada; una vez finalizada, el cliente se compromete a devolverlos o destruirlos, a la confidencialidad de los datos personales facilitados, a su no utilización fuera de la relación contractual y al cumplimiento del RGPD, siendo el único responsable de cualquier incumplimiento de dicha normativa.</a:t>
            </a:r>
          </a:p>
          <a:p>
            <a:pPr>
              <a:lnSpc>
                <a:spcPct val="108000"/>
              </a:lnSpc>
              <a:spcAft>
                <a:spcPts val="400"/>
              </a:spcAft>
            </a:pPr>
            <a:r>
              <a:rPr sz="730" b="0">
                <a:solidFill>
                  <a:srgbClr val="202031"/>
                </a:solidFill>
                <a:latin typeface="Raleway"/>
              </a:rPr>
              <a:t>Tessera Human Capital, por su parte, garantiza que cuenta con el consentimiento de los candidatos para la cesión de sus datos a sus clientes durante los procesos de selección de personal.</a:t>
            </a:r>
          </a:p>
        </p:txBody>
      </p:sp>
      <p:sp>
        <p:nvSpPr>
          <p:cNvPr id="9" name="TextBox 8"/>
          <p:cNvSpPr txBox="1"/>
          <p:nvPr/>
        </p:nvSpPr>
        <p:spPr>
          <a:xfrm>
            <a:off x="5842000" y="1778000"/>
            <a:ext cx="4572000" cy="2159000"/>
          </a:xfrm>
          <a:prstGeom prst="rect">
            <a:avLst/>
          </a:prstGeom>
          <a:noFill/>
        </p:spPr>
        <p:txBody>
          <a:bodyPr wrap="square" lIns="0" tIns="0" rIns="0" bIns="0" anchor="t">
            <a:spAutoFit/>
          </a:bodyPr>
          <a:lstStyle/>
          <a:p>
            <a:pPr algn="l">
              <a:lnSpc>
                <a:spcPct val="108000"/>
              </a:lnSpc>
              <a:spcAft>
                <a:spcPts val="400"/>
              </a:spcAft>
            </a:pPr>
            <a:r>
              <a:rPr sz="900" b="0">
                <a:solidFill>
                  <a:srgbClr val="587579"/>
                </a:solidFill>
                <a:latin typeface="Raleway SemiBold"/>
              </a:rPr>
              <a:t>6. LEY APLICABLE Y JURISDICCIÓN</a:t>
            </a:r>
          </a:p>
          <a:p>
            <a:pPr>
              <a:lnSpc>
                <a:spcPct val="108000"/>
              </a:lnSpc>
              <a:spcAft>
                <a:spcPts val="400"/>
              </a:spcAft>
            </a:pPr>
            <a:r>
              <a:rPr sz="730" b="0">
                <a:solidFill>
                  <a:srgbClr val="202031"/>
                </a:solidFill>
                <a:latin typeface="Raleway"/>
              </a:rPr>
              <a:t>Este acuerdo se regirá e interpretará de conformidad con la legislación española. Para la resolución de cualquier controversia derivada de la interpretación o ejecución de este acuerdo, las partes acuerdan someterse a la jurisdicción de los Juzgados y Tribunales de Madrid, renunciando expresamente a cualquier otro fuero que pudiera corresponderles.</a:t>
            </a:r>
          </a:p>
          <a:p>
            <a:pPr>
              <a:lnSpc>
                <a:spcPct val="108000"/>
              </a:lnSpc>
              <a:spcAft>
                <a:spcPts val="400"/>
              </a:spcAft>
            </a:pPr>
            <a:r>
              <a:rPr sz="900" b="0">
                <a:solidFill>
                  <a:srgbClr val="587579"/>
                </a:solidFill>
                <a:latin typeface="Raleway SemiBold"/>
              </a:rPr>
              <a:t>7. VIGENCIA DE ESTE ACUERDO</a:t>
            </a:r>
          </a:p>
          <a:p>
            <a:pPr>
              <a:lnSpc>
                <a:spcPct val="108000"/>
              </a:lnSpc>
              <a:spcAft>
                <a:spcPts val="400"/>
              </a:spcAft>
            </a:pPr>
            <a:r>
              <a:rPr sz="730" b="0">
                <a:solidFill>
                  <a:srgbClr val="202031"/>
                </a:solidFill>
                <a:latin typeface="Raleway"/>
              </a:rPr>
              <a:t>Este acuerdo entrará en vigor desde la fecha de su firma, con fecha de finalización en mayo de 2026.</a:t>
            </a:r>
          </a:p>
          <a:p>
            <a:pPr>
              <a:lnSpc>
                <a:spcPct val="108000"/>
              </a:lnSpc>
              <a:spcAft>
                <a:spcPts val="400"/>
              </a:spcAft>
            </a:pPr>
            <a:r>
              <a:rPr sz="900" b="0">
                <a:solidFill>
                  <a:srgbClr val="587579"/>
                </a:solidFill>
                <a:latin typeface="Raleway SemiBold"/>
              </a:rPr>
              <a:t>8. FIRMA DEL ACUERDO DE COLABORACIÓN</a:t>
            </a:r>
          </a:p>
          <a:p>
            <a:pPr>
              <a:lnSpc>
                <a:spcPct val="108000"/>
              </a:lnSpc>
              <a:spcAft>
                <a:spcPts val="400"/>
              </a:spcAft>
            </a:pPr>
            <a:r>
              <a:rPr sz="730" b="0">
                <a:solidFill>
                  <a:srgbClr val="202031"/>
                </a:solidFill>
                <a:latin typeface="Raleway"/>
              </a:rPr>
              <a:t>En Madrid, a 19/10/2026</a:t>
            </a:r>
          </a:p>
        </p:txBody>
      </p:sp>
      <p:sp>
        <p:nvSpPr>
          <p:cNvPr id="10" name="Rectangle 9"/>
          <p:cNvSpPr/>
          <p:nvPr/>
        </p:nvSpPr>
        <p:spPr>
          <a:xfrm>
            <a:off x="5842000" y="4191000"/>
            <a:ext cx="4572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42000" y="4343400"/>
            <a:ext cx="2540000" cy="203200"/>
          </a:xfrm>
          <a:prstGeom prst="rect">
            <a:avLst/>
          </a:prstGeom>
          <a:noFill/>
        </p:spPr>
        <p:txBody>
          <a:bodyPr wrap="square" lIns="0" tIns="0" rIns="0" bIns="0" anchor="t">
            <a:spAutoFit/>
          </a:bodyPr>
          <a:lstStyle/>
          <a:p>
            <a:pPr algn="l"/>
            <a:r>
              <a:rPr sz="950" b="0" spc="80">
                <a:solidFill>
                  <a:srgbClr val="587579"/>
                </a:solidFill>
                <a:latin typeface="Raleway Medium"/>
              </a:rPr>
              <a:t>FIRMA DE TESSERA</a:t>
            </a:r>
          </a:p>
        </p:txBody>
      </p:sp>
      <p:sp>
        <p:nvSpPr>
          <p:cNvPr id="12" name="TextBox 11"/>
          <p:cNvSpPr txBox="1"/>
          <p:nvPr/>
        </p:nvSpPr>
        <p:spPr>
          <a:xfrm>
            <a:off x="5842000" y="4622800"/>
            <a:ext cx="4572000" cy="889000"/>
          </a:xfrm>
          <a:prstGeom prst="rect">
            <a:avLst/>
          </a:prstGeom>
          <a:noFill/>
        </p:spPr>
        <p:txBody>
          <a:bodyPr wrap="square" lIns="0" tIns="0" rIns="0" bIns="0" anchor="t">
            <a:spAutoFit/>
          </a:bodyPr>
          <a:lstStyle/>
          <a:p>
            <a:pPr algn="l">
              <a:lnSpc>
                <a:spcPct val="130000"/>
              </a:lnSpc>
              <a:spcAft>
                <a:spcPts val="400"/>
              </a:spcAft>
            </a:pPr>
            <a:r>
              <a:rPr sz="950" b="0">
                <a:solidFill>
                  <a:srgbClr val="202031"/>
                </a:solidFill>
                <a:latin typeface="Raleway"/>
              </a:rPr>
              <a:t>Nombre: Manuel García Pina</a:t>
            </a:r>
          </a:p>
          <a:p>
            <a:pPr algn="l">
              <a:lnSpc>
                <a:spcPct val="130000"/>
              </a:lnSpc>
              <a:spcAft>
                <a:spcPts val="400"/>
              </a:spcAft>
            </a:pPr>
            <a:r>
              <a:rPr sz="950" b="0">
                <a:solidFill>
                  <a:srgbClr val="202031"/>
                </a:solidFill>
                <a:latin typeface="Raleway"/>
              </a:rPr>
              <a:t>Fecha: 19/10/2026</a:t>
            </a:r>
          </a:p>
          <a:p>
            <a:pPr algn="l">
              <a:lnSpc>
                <a:spcPct val="130000"/>
              </a:lnSpc>
              <a:spcAft>
                <a:spcPts val="400"/>
              </a:spcAft>
            </a:pPr>
            <a:r>
              <a:rPr sz="950" b="0">
                <a:solidFill>
                  <a:srgbClr val="202031"/>
                </a:solidFill>
                <a:latin typeface="Raleway"/>
              </a:rPr>
              <a:t>Firma:</a:t>
            </a:r>
          </a:p>
        </p:txBody>
      </p:sp>
      <p:sp>
        <p:nvSpPr>
          <p:cNvPr id="13" name="TextBox 12"/>
          <p:cNvSpPr txBox="1"/>
          <p:nvPr/>
        </p:nvSpPr>
        <p:spPr>
          <a:xfrm>
            <a:off x="5842000" y="5715000"/>
            <a:ext cx="2540000" cy="203200"/>
          </a:xfrm>
          <a:prstGeom prst="rect">
            <a:avLst/>
          </a:prstGeom>
          <a:noFill/>
        </p:spPr>
        <p:txBody>
          <a:bodyPr wrap="square" lIns="0" tIns="0" rIns="0" bIns="0" anchor="t">
            <a:spAutoFit/>
          </a:bodyPr>
          <a:lstStyle/>
          <a:p>
            <a:pPr algn="l"/>
            <a:r>
              <a:rPr sz="950" b="0" spc="80">
                <a:solidFill>
                  <a:srgbClr val="587579"/>
                </a:solidFill>
                <a:latin typeface="Raleway Medium"/>
              </a:rPr>
              <a:t>FIRMA DEL CLIENTE</a:t>
            </a:r>
          </a:p>
        </p:txBody>
      </p:sp>
      <p:sp>
        <p:nvSpPr>
          <p:cNvPr id="14" name="Rectangle 13"/>
          <p:cNvSpPr/>
          <p:nvPr/>
        </p:nvSpPr>
        <p:spPr>
          <a:xfrm>
            <a:off x="5842000" y="6350000"/>
            <a:ext cx="4572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HONORARIOS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9652000" cy="508000"/>
          </a:xfrm>
          <a:prstGeom prst="rect">
            <a:avLst/>
          </a:prstGeom>
          <a:noFill/>
        </p:spPr>
        <p:txBody>
          <a:bodyPr wrap="square" lIns="0" tIns="0" rIns="0" bIns="0" anchor="t">
            <a:spAutoFit/>
          </a:bodyPr>
          <a:lstStyle/>
          <a:p>
            <a:pPr algn="l"/>
            <a:r>
              <a:rPr sz="2400" b="0">
                <a:solidFill>
                  <a:srgbClr val="202031"/>
                </a:solidFill>
                <a:latin typeface="Raleway Light"/>
              </a:rPr>
              <a:t>El valor que aportamos a tu proyecto</a:t>
            </a:r>
          </a:p>
        </p:txBody>
      </p:sp>
      <p:sp>
        <p:nvSpPr>
          <p:cNvPr id="6" name="Rectangle 5"/>
          <p:cNvSpPr/>
          <p:nvPr/>
        </p:nvSpPr>
        <p:spPr>
          <a:xfrm>
            <a:off x="762000" y="1651000"/>
            <a:ext cx="3124200" cy="1905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90600" y="1803400"/>
            <a:ext cx="762000" cy="381000"/>
          </a:xfrm>
          <a:prstGeom prst="rect">
            <a:avLst/>
          </a:prstGeom>
          <a:noFill/>
        </p:spPr>
        <p:txBody>
          <a:bodyPr wrap="square" lIns="0" tIns="0" rIns="0" bIns="0" anchor="t">
            <a:spAutoFit/>
          </a:bodyPr>
          <a:lstStyle/>
          <a:p>
            <a:pPr algn="l"/>
            <a:r>
              <a:rPr sz="2000" b="0">
                <a:solidFill>
                  <a:srgbClr val="587579"/>
                </a:solidFill>
                <a:latin typeface="Manrope Medium"/>
              </a:rPr>
              <a:t>01</a:t>
            </a:r>
          </a:p>
        </p:txBody>
      </p:sp>
      <p:sp>
        <p:nvSpPr>
          <p:cNvPr id="8" name="TextBox 7"/>
          <p:cNvSpPr txBox="1"/>
          <p:nvPr/>
        </p:nvSpPr>
        <p:spPr>
          <a:xfrm>
            <a:off x="990600" y="2235200"/>
            <a:ext cx="2667000" cy="254000"/>
          </a:xfrm>
          <a:prstGeom prst="rect">
            <a:avLst/>
          </a:prstGeom>
          <a:noFill/>
        </p:spPr>
        <p:txBody>
          <a:bodyPr wrap="square" lIns="0" tIns="0" rIns="0" bIns="0" anchor="t">
            <a:spAutoFit/>
          </a:bodyPr>
          <a:lstStyle/>
          <a:p>
            <a:pPr algn="l"/>
            <a:r>
              <a:rPr sz="1200" b="0">
                <a:solidFill>
                  <a:srgbClr val="202031"/>
                </a:solidFill>
                <a:latin typeface="Raleway SemiBold"/>
              </a:rPr>
              <a:t>Experiencia Directa</a:t>
            </a:r>
          </a:p>
        </p:txBody>
      </p:sp>
      <p:sp>
        <p:nvSpPr>
          <p:cNvPr id="9" name="TextBox 8"/>
          <p:cNvSpPr txBox="1"/>
          <p:nvPr/>
        </p:nvSpPr>
        <p:spPr>
          <a:xfrm>
            <a:off x="990600" y="2514600"/>
            <a:ext cx="2667000" cy="914400"/>
          </a:xfrm>
          <a:prstGeom prst="rect">
            <a:avLst/>
          </a:prstGeom>
          <a:noFill/>
        </p:spPr>
        <p:txBody>
          <a:bodyPr wrap="square" lIns="0" tIns="0" rIns="0" bIns="0" anchor="t">
            <a:spAutoFit/>
          </a:bodyPr>
          <a:lstStyle/>
          <a:p>
            <a:pPr algn="l">
              <a:lnSpc>
                <a:spcPct val="120000"/>
              </a:lnSpc>
            </a:pPr>
            <a:r>
              <a:rPr sz="900" b="0">
                <a:solidFill>
                  <a:srgbClr val="202031"/>
                </a:solidFill>
                <a:latin typeface="Raleway"/>
              </a:rPr>
              <a:t>Entendemos tu entorno, lo que nos permite analizar con precisión las dinámicas de negocio y los aspectos críticos que impactan en tu crecimiento.</a:t>
            </a:r>
          </a:p>
        </p:txBody>
      </p:sp>
      <p:sp>
        <p:nvSpPr>
          <p:cNvPr id="10" name="Rectangle 9"/>
          <p:cNvSpPr/>
          <p:nvPr/>
        </p:nvSpPr>
        <p:spPr>
          <a:xfrm>
            <a:off x="4089400" y="1651000"/>
            <a:ext cx="3124200" cy="1905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18000" y="1803400"/>
            <a:ext cx="762000" cy="381000"/>
          </a:xfrm>
          <a:prstGeom prst="rect">
            <a:avLst/>
          </a:prstGeom>
          <a:noFill/>
        </p:spPr>
        <p:txBody>
          <a:bodyPr wrap="square" lIns="0" tIns="0" rIns="0" bIns="0" anchor="t">
            <a:spAutoFit/>
          </a:bodyPr>
          <a:lstStyle/>
          <a:p>
            <a:pPr algn="l"/>
            <a:r>
              <a:rPr sz="2000" b="0">
                <a:solidFill>
                  <a:srgbClr val="587579"/>
                </a:solidFill>
                <a:latin typeface="Manrope Medium"/>
              </a:rPr>
              <a:t>02</a:t>
            </a:r>
          </a:p>
        </p:txBody>
      </p:sp>
      <p:sp>
        <p:nvSpPr>
          <p:cNvPr id="12" name="TextBox 11"/>
          <p:cNvSpPr txBox="1"/>
          <p:nvPr/>
        </p:nvSpPr>
        <p:spPr>
          <a:xfrm>
            <a:off x="4318000" y="2235200"/>
            <a:ext cx="2667000" cy="254000"/>
          </a:xfrm>
          <a:prstGeom prst="rect">
            <a:avLst/>
          </a:prstGeom>
          <a:noFill/>
        </p:spPr>
        <p:txBody>
          <a:bodyPr wrap="square" lIns="0" tIns="0" rIns="0" bIns="0" anchor="t">
            <a:spAutoFit/>
          </a:bodyPr>
          <a:lstStyle/>
          <a:p>
            <a:pPr algn="l"/>
            <a:r>
              <a:rPr sz="1200" b="0">
                <a:solidFill>
                  <a:srgbClr val="202031"/>
                </a:solidFill>
                <a:latin typeface="Raleway SemiBold"/>
              </a:rPr>
              <a:t>Enfoque Práctico</a:t>
            </a:r>
          </a:p>
        </p:txBody>
      </p:sp>
      <p:sp>
        <p:nvSpPr>
          <p:cNvPr id="13" name="TextBox 12"/>
          <p:cNvSpPr txBox="1"/>
          <p:nvPr/>
        </p:nvSpPr>
        <p:spPr>
          <a:xfrm>
            <a:off x="4318000" y="2514600"/>
            <a:ext cx="2667000" cy="914400"/>
          </a:xfrm>
          <a:prstGeom prst="rect">
            <a:avLst/>
          </a:prstGeom>
          <a:noFill/>
        </p:spPr>
        <p:txBody>
          <a:bodyPr wrap="square" lIns="0" tIns="0" rIns="0" bIns="0" anchor="t">
            <a:spAutoFit/>
          </a:bodyPr>
          <a:lstStyle/>
          <a:p>
            <a:pPr algn="l">
              <a:lnSpc>
                <a:spcPct val="120000"/>
              </a:lnSpc>
            </a:pPr>
            <a:r>
              <a:rPr sz="900" b="0">
                <a:solidFill>
                  <a:srgbClr val="202031"/>
                </a:solidFill>
                <a:latin typeface="Raleway"/>
              </a:rPr>
              <a:t>Orientados a resultados, facilitando decisiones claras y ejecutables que optimizan procesos.</a:t>
            </a:r>
          </a:p>
        </p:txBody>
      </p:sp>
      <p:sp>
        <p:nvSpPr>
          <p:cNvPr id="14" name="Rectangle 13"/>
          <p:cNvSpPr/>
          <p:nvPr/>
        </p:nvSpPr>
        <p:spPr>
          <a:xfrm>
            <a:off x="7416800" y="1651000"/>
            <a:ext cx="3124200" cy="19050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45400" y="1803400"/>
            <a:ext cx="762000" cy="381000"/>
          </a:xfrm>
          <a:prstGeom prst="rect">
            <a:avLst/>
          </a:prstGeom>
          <a:noFill/>
        </p:spPr>
        <p:txBody>
          <a:bodyPr wrap="square" lIns="0" tIns="0" rIns="0" bIns="0" anchor="t">
            <a:spAutoFit/>
          </a:bodyPr>
          <a:lstStyle/>
          <a:p>
            <a:pPr algn="l"/>
            <a:r>
              <a:rPr sz="2000" b="0">
                <a:solidFill>
                  <a:srgbClr val="587579"/>
                </a:solidFill>
                <a:latin typeface="Manrope Medium"/>
              </a:rPr>
              <a:t>03</a:t>
            </a:r>
          </a:p>
        </p:txBody>
      </p:sp>
      <p:sp>
        <p:nvSpPr>
          <p:cNvPr id="16" name="TextBox 15"/>
          <p:cNvSpPr txBox="1"/>
          <p:nvPr/>
        </p:nvSpPr>
        <p:spPr>
          <a:xfrm>
            <a:off x="7645400" y="2235200"/>
            <a:ext cx="2667000" cy="254000"/>
          </a:xfrm>
          <a:prstGeom prst="rect">
            <a:avLst/>
          </a:prstGeom>
          <a:noFill/>
        </p:spPr>
        <p:txBody>
          <a:bodyPr wrap="square" lIns="0" tIns="0" rIns="0" bIns="0" anchor="t">
            <a:spAutoFit/>
          </a:bodyPr>
          <a:lstStyle/>
          <a:p>
            <a:pPr algn="l"/>
            <a:r>
              <a:rPr sz="1200" b="0">
                <a:solidFill>
                  <a:srgbClr val="202031"/>
                </a:solidFill>
                <a:latin typeface="Raleway SemiBold"/>
              </a:rPr>
              <a:t>Impacto Real</a:t>
            </a:r>
          </a:p>
        </p:txBody>
      </p:sp>
      <p:sp>
        <p:nvSpPr>
          <p:cNvPr id="17" name="TextBox 16"/>
          <p:cNvSpPr txBox="1"/>
          <p:nvPr/>
        </p:nvSpPr>
        <p:spPr>
          <a:xfrm>
            <a:off x="7645400" y="2514600"/>
            <a:ext cx="2667000" cy="914400"/>
          </a:xfrm>
          <a:prstGeom prst="rect">
            <a:avLst/>
          </a:prstGeom>
          <a:noFill/>
        </p:spPr>
        <p:txBody>
          <a:bodyPr wrap="square" lIns="0" tIns="0" rIns="0" bIns="0" anchor="t">
            <a:spAutoFit/>
          </a:bodyPr>
          <a:lstStyle/>
          <a:p>
            <a:pPr algn="l">
              <a:lnSpc>
                <a:spcPct val="120000"/>
              </a:lnSpc>
            </a:pPr>
            <a:r>
              <a:rPr sz="900" b="0">
                <a:solidFill>
                  <a:srgbClr val="202031"/>
                </a:solidFill>
                <a:latin typeface="Raleway"/>
              </a:rPr>
              <a:t>Soluciones que impulsan eficiencias y mejoras sostenibles en el negocio de nuestros clientes.</a:t>
            </a:r>
          </a:p>
        </p:txBody>
      </p:sp>
      <p:sp>
        <p:nvSpPr>
          <p:cNvPr id="18" name="Rectangle 17"/>
          <p:cNvSpPr/>
          <p:nvPr/>
        </p:nvSpPr>
        <p:spPr>
          <a:xfrm>
            <a:off x="762000" y="3937000"/>
            <a:ext cx="9652000" cy="1524000"/>
          </a:xfrm>
          <a:prstGeom prst="rect">
            <a:avLst/>
          </a:prstGeom>
          <a:solidFill>
            <a:srgbClr val="20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6800" y="4191000"/>
            <a:ext cx="3810000" cy="203200"/>
          </a:xfrm>
          <a:prstGeom prst="rect">
            <a:avLst/>
          </a:prstGeom>
          <a:noFill/>
        </p:spPr>
        <p:txBody>
          <a:bodyPr wrap="square" lIns="0" tIns="0" rIns="0" bIns="0" anchor="t">
            <a:spAutoFit/>
          </a:bodyPr>
          <a:lstStyle/>
          <a:p>
            <a:pPr algn="l"/>
            <a:r>
              <a:rPr sz="950" b="0" spc="80">
                <a:solidFill>
                  <a:srgbClr val="8AA3A5"/>
                </a:solidFill>
                <a:latin typeface="Raleway Medium"/>
              </a:rPr>
              <a:t>HONORARIOS</a:t>
            </a:r>
          </a:p>
        </p:txBody>
      </p:sp>
      <p:sp>
        <p:nvSpPr>
          <p:cNvPr id="20" name="TextBox 19"/>
          <p:cNvSpPr txBox="1"/>
          <p:nvPr/>
        </p:nvSpPr>
        <p:spPr>
          <a:xfrm>
            <a:off x="1066800" y="4470400"/>
            <a:ext cx="5080000" cy="304800"/>
          </a:xfrm>
          <a:prstGeom prst="rect">
            <a:avLst/>
          </a:prstGeom>
          <a:noFill/>
        </p:spPr>
        <p:txBody>
          <a:bodyPr wrap="square" lIns="0" tIns="0" rIns="0" bIns="0" anchor="t">
            <a:spAutoFit/>
          </a:bodyPr>
          <a:lstStyle/>
          <a:p>
            <a:pPr algn="l"/>
            <a:r>
              <a:rPr sz="1300" b="0">
                <a:solidFill>
                  <a:srgbClr val="FFFFFF"/>
                </a:solidFill>
                <a:latin typeface="Raleway SemiBold"/>
              </a:rPr>
              <a:t>Modalidad a éxito en Headhunting</a:t>
            </a:r>
          </a:p>
        </p:txBody>
      </p:sp>
      <p:sp>
        <p:nvSpPr>
          <p:cNvPr id="21" name="TextBox 20"/>
          <p:cNvSpPr txBox="1"/>
          <p:nvPr/>
        </p:nvSpPr>
        <p:spPr>
          <a:xfrm>
            <a:off x="1066800" y="4851400"/>
            <a:ext cx="3810000" cy="228600"/>
          </a:xfrm>
          <a:prstGeom prst="rect">
            <a:avLst/>
          </a:prstGeom>
          <a:noFill/>
        </p:spPr>
        <p:txBody>
          <a:bodyPr wrap="square" lIns="0" tIns="0" rIns="0" bIns="0" anchor="t">
            <a:spAutoFit/>
          </a:bodyPr>
          <a:lstStyle/>
          <a:p>
            <a:pPr algn="l"/>
            <a:r>
              <a:rPr sz="1000" b="0">
                <a:solidFill>
                  <a:srgbClr val="8AA3A5"/>
                </a:solidFill>
                <a:latin typeface="Raleway"/>
              </a:rPr>
              <a:t>Salario Bruto Anual</a:t>
            </a:r>
          </a:p>
        </p:txBody>
      </p:sp>
      <p:sp>
        <p:nvSpPr>
          <p:cNvPr id="22" name="TextBox 21"/>
          <p:cNvSpPr txBox="1"/>
          <p:nvPr/>
        </p:nvSpPr>
        <p:spPr>
          <a:xfrm>
            <a:off x="8890000" y="4318000"/>
            <a:ext cx="1143000" cy="635000"/>
          </a:xfrm>
          <a:prstGeom prst="rect">
            <a:avLst/>
          </a:prstGeom>
          <a:noFill/>
        </p:spPr>
        <p:txBody>
          <a:bodyPr wrap="square" lIns="0" tIns="0" rIns="0" bIns="0" anchor="t">
            <a:spAutoFit/>
          </a:bodyPr>
          <a:lstStyle/>
          <a:p>
            <a:pPr algn="r"/>
            <a:r>
              <a:rPr sz="3400" b="0">
                <a:solidFill>
                  <a:srgbClr val="FFFFFF"/>
                </a:solidFill>
                <a:latin typeface="Manrope ExtraLight"/>
              </a:rPr>
              <a:t>15%</a:t>
            </a:r>
          </a:p>
        </p:txBody>
      </p:sp>
      <p:sp>
        <p:nvSpPr>
          <p:cNvPr id="23" name="TextBox 22"/>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4" name="TextBox 23"/>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355600"/>
            <a:ext cx="1037166" cy="177800"/>
          </a:xfrm>
          <a:prstGeom prst="rect">
            <a:avLst/>
          </a:prstGeom>
        </p:spPr>
      </p:pic>
      <p:sp>
        <p:nvSpPr>
          <p:cNvPr id="3" name="TextBox 2"/>
          <p:cNvSpPr txBox="1"/>
          <p:nvPr/>
        </p:nvSpPr>
        <p:spPr>
          <a:xfrm>
            <a:off x="7620000" y="355600"/>
            <a:ext cx="3810000" cy="203200"/>
          </a:xfrm>
          <a:prstGeom prst="rect">
            <a:avLst/>
          </a:prstGeom>
          <a:noFill/>
        </p:spPr>
        <p:txBody>
          <a:bodyPr wrap="square" lIns="0" tIns="0" rIns="0" bIns="0" anchor="t">
            <a:spAutoFit/>
          </a:bodyPr>
          <a:lstStyle/>
          <a:p>
            <a:pPr algn="r"/>
            <a:r>
              <a:rPr sz="1000" b="0" spc="120">
                <a:solidFill>
                  <a:srgbClr val="587579"/>
                </a:solidFill>
                <a:latin typeface="Raleway Medium"/>
              </a:rPr>
              <a:t>CONFÍAN EN NOSOTROS</a:t>
            </a:r>
          </a:p>
        </p:txBody>
      </p:sp>
      <p:sp>
        <p:nvSpPr>
          <p:cNvPr id="4" name="Rectangle 3"/>
          <p:cNvSpPr/>
          <p:nvPr/>
        </p:nvSpPr>
        <p:spPr>
          <a:xfrm>
            <a:off x="762000" y="660400"/>
            <a:ext cx="10668000" cy="12700"/>
          </a:xfrm>
          <a:prstGeom prst="rect">
            <a:avLst/>
          </a:prstGeom>
          <a:solidFill>
            <a:srgbClr val="E6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2000" y="889000"/>
            <a:ext cx="8890000" cy="635000"/>
          </a:xfrm>
          <a:prstGeom prst="rect">
            <a:avLst/>
          </a:prstGeom>
          <a:noFill/>
        </p:spPr>
        <p:txBody>
          <a:bodyPr wrap="square" lIns="0" tIns="0" rIns="0" bIns="0" anchor="t">
            <a:spAutoFit/>
          </a:bodyPr>
          <a:lstStyle/>
          <a:p>
            <a:pPr algn="l"/>
            <a:r>
              <a:rPr sz="3400" b="0">
                <a:solidFill>
                  <a:srgbClr val="202031"/>
                </a:solidFill>
                <a:latin typeface="Raleway Light"/>
              </a:rPr>
              <a:t>Confían en nosotros</a:t>
            </a:r>
          </a:p>
        </p:txBody>
      </p:sp>
      <p:pic>
        <p:nvPicPr>
          <p:cNvPr id="6" name="Picture 5" descr="logo_01.png"/>
          <p:cNvPicPr>
            <a:picLocks noChangeAspect="1"/>
          </p:cNvPicPr>
          <p:nvPr/>
        </p:nvPicPr>
        <p:blipFill>
          <a:blip r:embed="rId3"/>
          <a:stretch>
            <a:fillRect/>
          </a:stretch>
        </p:blipFill>
        <p:spPr>
          <a:xfrm>
            <a:off x="1371600" y="2197100"/>
            <a:ext cx="558800" cy="558800"/>
          </a:xfrm>
          <a:prstGeom prst="rect">
            <a:avLst/>
          </a:prstGeom>
        </p:spPr>
      </p:pic>
      <p:pic>
        <p:nvPicPr>
          <p:cNvPr id="7" name="Picture 6" descr="logo_02.png"/>
          <p:cNvPicPr>
            <a:picLocks noChangeAspect="1"/>
          </p:cNvPicPr>
          <p:nvPr/>
        </p:nvPicPr>
        <p:blipFill>
          <a:blip r:embed="rId4"/>
          <a:stretch>
            <a:fillRect/>
          </a:stretch>
        </p:blipFill>
        <p:spPr>
          <a:xfrm>
            <a:off x="3149600" y="2197100"/>
            <a:ext cx="558800" cy="558800"/>
          </a:xfrm>
          <a:prstGeom prst="rect">
            <a:avLst/>
          </a:prstGeom>
        </p:spPr>
      </p:pic>
      <p:pic>
        <p:nvPicPr>
          <p:cNvPr id="8" name="Picture 7" descr="logo_03.png"/>
          <p:cNvPicPr>
            <a:picLocks noChangeAspect="1"/>
          </p:cNvPicPr>
          <p:nvPr/>
        </p:nvPicPr>
        <p:blipFill>
          <a:blip r:embed="rId5"/>
          <a:stretch>
            <a:fillRect/>
          </a:stretch>
        </p:blipFill>
        <p:spPr>
          <a:xfrm>
            <a:off x="4470400" y="2228433"/>
            <a:ext cx="1473200" cy="496132"/>
          </a:xfrm>
          <a:prstGeom prst="rect">
            <a:avLst/>
          </a:prstGeom>
        </p:spPr>
      </p:pic>
      <p:pic>
        <p:nvPicPr>
          <p:cNvPr id="9" name="Picture 8" descr="logo_04.png"/>
          <p:cNvPicPr>
            <a:picLocks noChangeAspect="1"/>
          </p:cNvPicPr>
          <p:nvPr/>
        </p:nvPicPr>
        <p:blipFill>
          <a:blip r:embed="rId6"/>
          <a:stretch>
            <a:fillRect/>
          </a:stretch>
        </p:blipFill>
        <p:spPr>
          <a:xfrm>
            <a:off x="6705600" y="2197100"/>
            <a:ext cx="558800" cy="558800"/>
          </a:xfrm>
          <a:prstGeom prst="rect">
            <a:avLst/>
          </a:prstGeom>
        </p:spPr>
      </p:pic>
      <p:pic>
        <p:nvPicPr>
          <p:cNvPr id="10" name="Picture 9" descr="logo_05.png"/>
          <p:cNvPicPr>
            <a:picLocks noChangeAspect="1"/>
          </p:cNvPicPr>
          <p:nvPr/>
        </p:nvPicPr>
        <p:blipFill>
          <a:blip r:embed="rId7"/>
          <a:stretch>
            <a:fillRect/>
          </a:stretch>
        </p:blipFill>
        <p:spPr>
          <a:xfrm>
            <a:off x="8483600" y="2197100"/>
            <a:ext cx="558800" cy="558800"/>
          </a:xfrm>
          <a:prstGeom prst="rect">
            <a:avLst/>
          </a:prstGeom>
        </p:spPr>
      </p:pic>
      <p:pic>
        <p:nvPicPr>
          <p:cNvPr id="11" name="Picture 10" descr="logo_06.png"/>
          <p:cNvPicPr>
            <a:picLocks noChangeAspect="1"/>
          </p:cNvPicPr>
          <p:nvPr/>
        </p:nvPicPr>
        <p:blipFill>
          <a:blip r:embed="rId8"/>
          <a:stretch>
            <a:fillRect/>
          </a:stretch>
        </p:blipFill>
        <p:spPr>
          <a:xfrm>
            <a:off x="9804400" y="2247742"/>
            <a:ext cx="1473200" cy="457515"/>
          </a:xfrm>
          <a:prstGeom prst="rect">
            <a:avLst/>
          </a:prstGeom>
        </p:spPr>
      </p:pic>
      <p:pic>
        <p:nvPicPr>
          <p:cNvPr id="12" name="Picture 11" descr="logo_07.png"/>
          <p:cNvPicPr>
            <a:picLocks noChangeAspect="1"/>
          </p:cNvPicPr>
          <p:nvPr/>
        </p:nvPicPr>
        <p:blipFill>
          <a:blip r:embed="rId9"/>
          <a:stretch>
            <a:fillRect/>
          </a:stretch>
        </p:blipFill>
        <p:spPr>
          <a:xfrm>
            <a:off x="1258859" y="3340100"/>
            <a:ext cx="784280" cy="558800"/>
          </a:xfrm>
          <a:prstGeom prst="rect">
            <a:avLst/>
          </a:prstGeom>
        </p:spPr>
      </p:pic>
      <p:pic>
        <p:nvPicPr>
          <p:cNvPr id="13" name="Picture 12" descr="logo_08.png"/>
          <p:cNvPicPr>
            <a:picLocks noChangeAspect="1"/>
          </p:cNvPicPr>
          <p:nvPr/>
        </p:nvPicPr>
        <p:blipFill>
          <a:blip r:embed="rId10"/>
          <a:stretch>
            <a:fillRect/>
          </a:stretch>
        </p:blipFill>
        <p:spPr>
          <a:xfrm>
            <a:off x="2692400" y="3494278"/>
            <a:ext cx="1473199" cy="250444"/>
          </a:xfrm>
          <a:prstGeom prst="rect">
            <a:avLst/>
          </a:prstGeom>
        </p:spPr>
      </p:pic>
      <p:pic>
        <p:nvPicPr>
          <p:cNvPr id="14" name="Picture 13" descr="logo_09.png"/>
          <p:cNvPicPr>
            <a:picLocks noChangeAspect="1"/>
          </p:cNvPicPr>
          <p:nvPr/>
        </p:nvPicPr>
        <p:blipFill>
          <a:blip r:embed="rId11"/>
          <a:stretch>
            <a:fillRect/>
          </a:stretch>
        </p:blipFill>
        <p:spPr>
          <a:xfrm>
            <a:off x="4647160" y="3340100"/>
            <a:ext cx="1119679" cy="558800"/>
          </a:xfrm>
          <a:prstGeom prst="rect">
            <a:avLst/>
          </a:prstGeom>
        </p:spPr>
      </p:pic>
      <p:pic>
        <p:nvPicPr>
          <p:cNvPr id="15" name="Picture 14" descr="logo_10.png"/>
          <p:cNvPicPr>
            <a:picLocks noChangeAspect="1"/>
          </p:cNvPicPr>
          <p:nvPr/>
        </p:nvPicPr>
        <p:blipFill>
          <a:blip r:embed="rId12"/>
          <a:stretch>
            <a:fillRect/>
          </a:stretch>
        </p:blipFill>
        <p:spPr>
          <a:xfrm>
            <a:off x="6248400" y="3386754"/>
            <a:ext cx="1473200" cy="465490"/>
          </a:xfrm>
          <a:prstGeom prst="rect">
            <a:avLst/>
          </a:prstGeom>
        </p:spPr>
      </p:pic>
      <p:pic>
        <p:nvPicPr>
          <p:cNvPr id="16" name="Picture 15" descr="logo_11.png"/>
          <p:cNvPicPr>
            <a:picLocks noChangeAspect="1"/>
          </p:cNvPicPr>
          <p:nvPr/>
        </p:nvPicPr>
        <p:blipFill>
          <a:blip r:embed="rId13"/>
          <a:stretch>
            <a:fillRect/>
          </a:stretch>
        </p:blipFill>
        <p:spPr>
          <a:xfrm>
            <a:off x="8483600" y="3340100"/>
            <a:ext cx="558800" cy="558800"/>
          </a:xfrm>
          <a:prstGeom prst="rect">
            <a:avLst/>
          </a:prstGeom>
        </p:spPr>
      </p:pic>
      <p:pic>
        <p:nvPicPr>
          <p:cNvPr id="17" name="Picture 16" descr="logo_12.png"/>
          <p:cNvPicPr>
            <a:picLocks noChangeAspect="1"/>
          </p:cNvPicPr>
          <p:nvPr/>
        </p:nvPicPr>
        <p:blipFill>
          <a:blip r:embed="rId14"/>
          <a:stretch>
            <a:fillRect/>
          </a:stretch>
        </p:blipFill>
        <p:spPr>
          <a:xfrm>
            <a:off x="10261600" y="3340100"/>
            <a:ext cx="558800" cy="558800"/>
          </a:xfrm>
          <a:prstGeom prst="rect">
            <a:avLst/>
          </a:prstGeom>
        </p:spPr>
      </p:pic>
      <p:pic>
        <p:nvPicPr>
          <p:cNvPr id="18" name="Picture 17" descr="logo_13.png"/>
          <p:cNvPicPr>
            <a:picLocks noChangeAspect="1"/>
          </p:cNvPicPr>
          <p:nvPr/>
        </p:nvPicPr>
        <p:blipFill>
          <a:blip r:embed="rId15"/>
          <a:stretch>
            <a:fillRect/>
          </a:stretch>
        </p:blipFill>
        <p:spPr>
          <a:xfrm>
            <a:off x="1371600" y="4483100"/>
            <a:ext cx="558800" cy="558800"/>
          </a:xfrm>
          <a:prstGeom prst="rect">
            <a:avLst/>
          </a:prstGeom>
        </p:spPr>
      </p:pic>
      <p:pic>
        <p:nvPicPr>
          <p:cNvPr id="19" name="Picture 18" descr="logo_14.png"/>
          <p:cNvPicPr>
            <a:picLocks noChangeAspect="1"/>
          </p:cNvPicPr>
          <p:nvPr/>
        </p:nvPicPr>
        <p:blipFill>
          <a:blip r:embed="rId16"/>
          <a:stretch>
            <a:fillRect/>
          </a:stretch>
        </p:blipFill>
        <p:spPr>
          <a:xfrm>
            <a:off x="2928279" y="4483100"/>
            <a:ext cx="1001440" cy="558800"/>
          </a:xfrm>
          <a:prstGeom prst="rect">
            <a:avLst/>
          </a:prstGeom>
        </p:spPr>
      </p:pic>
      <p:pic>
        <p:nvPicPr>
          <p:cNvPr id="20" name="Picture 19" descr="logo_15.png"/>
          <p:cNvPicPr>
            <a:picLocks noChangeAspect="1"/>
          </p:cNvPicPr>
          <p:nvPr/>
        </p:nvPicPr>
        <p:blipFill>
          <a:blip r:embed="rId17"/>
          <a:stretch>
            <a:fillRect/>
          </a:stretch>
        </p:blipFill>
        <p:spPr>
          <a:xfrm>
            <a:off x="4602797" y="4483100"/>
            <a:ext cx="1208405" cy="558800"/>
          </a:xfrm>
          <a:prstGeom prst="rect">
            <a:avLst/>
          </a:prstGeom>
        </p:spPr>
      </p:pic>
      <p:pic>
        <p:nvPicPr>
          <p:cNvPr id="21" name="Picture 20" descr="logo_16.png"/>
          <p:cNvPicPr>
            <a:picLocks noChangeAspect="1"/>
          </p:cNvPicPr>
          <p:nvPr/>
        </p:nvPicPr>
        <p:blipFill>
          <a:blip r:embed="rId18"/>
          <a:stretch>
            <a:fillRect/>
          </a:stretch>
        </p:blipFill>
        <p:spPr>
          <a:xfrm>
            <a:off x="6565900" y="4483100"/>
            <a:ext cx="838200" cy="558800"/>
          </a:xfrm>
          <a:prstGeom prst="rect">
            <a:avLst/>
          </a:prstGeom>
        </p:spPr>
      </p:pic>
      <p:pic>
        <p:nvPicPr>
          <p:cNvPr id="22" name="Picture 21" descr="logo_17.png"/>
          <p:cNvPicPr>
            <a:picLocks noChangeAspect="1"/>
          </p:cNvPicPr>
          <p:nvPr/>
        </p:nvPicPr>
        <p:blipFill>
          <a:blip r:embed="rId19"/>
          <a:stretch>
            <a:fillRect/>
          </a:stretch>
        </p:blipFill>
        <p:spPr>
          <a:xfrm>
            <a:off x="8060732" y="4483100"/>
            <a:ext cx="1404534" cy="558800"/>
          </a:xfrm>
          <a:prstGeom prst="rect">
            <a:avLst/>
          </a:prstGeom>
        </p:spPr>
      </p:pic>
      <p:pic>
        <p:nvPicPr>
          <p:cNvPr id="23" name="Picture 22" descr="logo_18.png"/>
          <p:cNvPicPr>
            <a:picLocks noChangeAspect="1"/>
          </p:cNvPicPr>
          <p:nvPr/>
        </p:nvPicPr>
        <p:blipFill>
          <a:blip r:embed="rId20"/>
          <a:stretch>
            <a:fillRect/>
          </a:stretch>
        </p:blipFill>
        <p:spPr>
          <a:xfrm>
            <a:off x="9804400" y="4515017"/>
            <a:ext cx="1473200" cy="494964"/>
          </a:xfrm>
          <a:prstGeom prst="rect">
            <a:avLst/>
          </a:prstGeom>
        </p:spPr>
      </p:pic>
      <p:sp>
        <p:nvSpPr>
          <p:cNvPr id="24" name="TextBox 23"/>
          <p:cNvSpPr txBox="1"/>
          <p:nvPr/>
        </p:nvSpPr>
        <p:spPr>
          <a:xfrm>
            <a:off x="762000" y="6477000"/>
            <a:ext cx="3810000" cy="203200"/>
          </a:xfrm>
          <a:prstGeom prst="rect">
            <a:avLst/>
          </a:prstGeom>
          <a:noFill/>
        </p:spPr>
        <p:txBody>
          <a:bodyPr wrap="square" lIns="0" tIns="0" rIns="0" bIns="0" anchor="t">
            <a:spAutoFit/>
          </a:bodyPr>
          <a:lstStyle/>
          <a:p>
            <a:pPr algn="l"/>
            <a:r>
              <a:rPr sz="900" b="0">
                <a:solidFill>
                  <a:srgbClr val="587579"/>
                </a:solidFill>
                <a:latin typeface="Raleway"/>
              </a:rPr>
              <a:t>tesseraservices.com</a:t>
            </a:r>
          </a:p>
        </p:txBody>
      </p:sp>
      <p:sp>
        <p:nvSpPr>
          <p:cNvPr id="25" name="TextBox 24"/>
          <p:cNvSpPr txBox="1"/>
          <p:nvPr/>
        </p:nvSpPr>
        <p:spPr>
          <a:xfrm>
            <a:off x="10668000" y="6400800"/>
            <a:ext cx="762000" cy="330200"/>
          </a:xfrm>
          <a:prstGeom prst="rect">
            <a:avLst/>
          </a:prstGeom>
          <a:noFill/>
        </p:spPr>
        <p:txBody>
          <a:bodyPr wrap="square" lIns="0" tIns="0" rIns="0" bIns="0" anchor="t">
            <a:spAutoFit/>
          </a:bodyPr>
          <a:lstStyle/>
          <a:p>
            <a:pPr algn="r"/>
            <a:r>
              <a:rPr sz="1600" b="0">
                <a:solidFill>
                  <a:srgbClr val="202031"/>
                </a:solidFill>
                <a:latin typeface="Manrope Medium"/>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87579"/>
            </a:gs>
            <a:gs pos="100000">
              <a:srgbClr val="202031"/>
            </a:gs>
          </a:gsLst>
          <a:lin ang="18900000" scaled="0"/>
        </a:gra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762000"/>
            <a:ext cx="1629833" cy="279400"/>
          </a:xfrm>
          <a:prstGeom prst="rect">
            <a:avLst/>
          </a:prstGeom>
        </p:spPr>
      </p:pic>
      <p:sp>
        <p:nvSpPr>
          <p:cNvPr id="3" name="TextBox 2"/>
          <p:cNvSpPr txBox="1"/>
          <p:nvPr/>
        </p:nvSpPr>
        <p:spPr>
          <a:xfrm>
            <a:off x="762000" y="2540000"/>
            <a:ext cx="8890000" cy="762000"/>
          </a:xfrm>
          <a:prstGeom prst="rect">
            <a:avLst/>
          </a:prstGeom>
          <a:noFill/>
        </p:spPr>
        <p:txBody>
          <a:bodyPr wrap="square" lIns="0" tIns="0" rIns="0" bIns="0" anchor="t">
            <a:spAutoFit/>
          </a:bodyPr>
          <a:lstStyle/>
          <a:p>
            <a:pPr algn="l"/>
            <a:r>
              <a:rPr sz="3000" b="0">
                <a:solidFill>
                  <a:srgbClr val="FFFFFF"/>
                </a:solidFill>
                <a:latin typeface="Raleway Light"/>
              </a:rPr>
              <a:t>BUILDING BETTER TEAMS, TOGETHER</a:t>
            </a:r>
          </a:p>
        </p:txBody>
      </p:sp>
      <p:sp>
        <p:nvSpPr>
          <p:cNvPr id="4" name="TextBox 3"/>
          <p:cNvSpPr txBox="1"/>
          <p:nvPr/>
        </p:nvSpPr>
        <p:spPr>
          <a:xfrm>
            <a:off x="762000" y="3810000"/>
            <a:ext cx="3810000" cy="228600"/>
          </a:xfrm>
          <a:prstGeom prst="rect">
            <a:avLst/>
          </a:prstGeom>
          <a:noFill/>
        </p:spPr>
        <p:txBody>
          <a:bodyPr wrap="square" lIns="0" tIns="0" rIns="0" bIns="0" anchor="t">
            <a:spAutoFit/>
          </a:bodyPr>
          <a:lstStyle/>
          <a:p>
            <a:pPr algn="l"/>
            <a:r>
              <a:rPr sz="950" b="0" spc="80">
                <a:solidFill>
                  <a:srgbClr val="8AA3A5"/>
                </a:solidFill>
                <a:latin typeface="Raleway Medium"/>
              </a:rPr>
              <a:t>EMAIL</a:t>
            </a:r>
          </a:p>
        </p:txBody>
      </p:sp>
      <p:sp>
        <p:nvSpPr>
          <p:cNvPr id="5" name="TextBox 4"/>
          <p:cNvSpPr txBox="1"/>
          <p:nvPr/>
        </p:nvSpPr>
        <p:spPr>
          <a:xfrm>
            <a:off x="762000" y="4038600"/>
            <a:ext cx="5080000" cy="254000"/>
          </a:xfrm>
          <a:prstGeom prst="rect">
            <a:avLst/>
          </a:prstGeom>
          <a:noFill/>
        </p:spPr>
        <p:txBody>
          <a:bodyPr wrap="square" lIns="0" tIns="0" rIns="0" bIns="0" anchor="t">
            <a:spAutoFit/>
          </a:bodyPr>
          <a:lstStyle/>
          <a:p>
            <a:pPr algn="l"/>
            <a:r>
              <a:rPr sz="1200" b="0">
                <a:solidFill>
                  <a:srgbClr val="FFFFFF"/>
                </a:solidFill>
                <a:latin typeface="Raleway"/>
              </a:rPr>
              <a:t>edward@tesseraservices.com</a:t>
            </a:r>
          </a:p>
        </p:txBody>
      </p:sp>
      <p:sp>
        <p:nvSpPr>
          <p:cNvPr id="6" name="TextBox 5"/>
          <p:cNvSpPr txBox="1"/>
          <p:nvPr/>
        </p:nvSpPr>
        <p:spPr>
          <a:xfrm>
            <a:off x="762000" y="4445000"/>
            <a:ext cx="3810000" cy="228600"/>
          </a:xfrm>
          <a:prstGeom prst="rect">
            <a:avLst/>
          </a:prstGeom>
          <a:noFill/>
        </p:spPr>
        <p:txBody>
          <a:bodyPr wrap="square" lIns="0" tIns="0" rIns="0" bIns="0" anchor="t">
            <a:spAutoFit/>
          </a:bodyPr>
          <a:lstStyle/>
          <a:p>
            <a:pPr algn="l"/>
            <a:r>
              <a:rPr sz="950" b="0" spc="80">
                <a:solidFill>
                  <a:srgbClr val="8AA3A5"/>
                </a:solidFill>
                <a:latin typeface="Raleway Medium"/>
              </a:rPr>
              <a:t>LINKEDIN</a:t>
            </a:r>
          </a:p>
        </p:txBody>
      </p:sp>
      <p:sp>
        <p:nvSpPr>
          <p:cNvPr id="7" name="TextBox 6"/>
          <p:cNvSpPr txBox="1"/>
          <p:nvPr/>
        </p:nvSpPr>
        <p:spPr>
          <a:xfrm>
            <a:off x="762000" y="4673600"/>
            <a:ext cx="5080000" cy="254000"/>
          </a:xfrm>
          <a:prstGeom prst="rect">
            <a:avLst/>
          </a:prstGeom>
          <a:noFill/>
        </p:spPr>
        <p:txBody>
          <a:bodyPr wrap="square" lIns="0" tIns="0" rIns="0" bIns="0" anchor="t">
            <a:spAutoFit/>
          </a:bodyPr>
          <a:lstStyle/>
          <a:p>
            <a:pPr algn="l"/>
            <a:r>
              <a:rPr sz="1200" b="0">
                <a:solidFill>
                  <a:srgbClr val="FFFFFF"/>
                </a:solidFill>
                <a:latin typeface="Raleway"/>
              </a:rPr>
              <a:t>@tesseraservices</a:t>
            </a:r>
          </a:p>
        </p:txBody>
      </p:sp>
      <p:sp>
        <p:nvSpPr>
          <p:cNvPr id="8" name="TextBox 7"/>
          <p:cNvSpPr txBox="1"/>
          <p:nvPr/>
        </p:nvSpPr>
        <p:spPr>
          <a:xfrm>
            <a:off x="762000" y="6070600"/>
            <a:ext cx="5080000" cy="228600"/>
          </a:xfrm>
          <a:prstGeom prst="rect">
            <a:avLst/>
          </a:prstGeom>
          <a:noFill/>
        </p:spPr>
        <p:txBody>
          <a:bodyPr wrap="square" lIns="0" tIns="0" rIns="0" bIns="0" anchor="t">
            <a:spAutoFit/>
          </a:bodyPr>
          <a:lstStyle/>
          <a:p>
            <a:pPr algn="l"/>
            <a:r>
              <a:rPr sz="900" b="0">
                <a:solidFill>
                  <a:srgbClr val="8AA3A5"/>
                </a:solidFill>
                <a:latin typeface="Raleway"/>
              </a:rPr>
              <a:t>tesseraservices.com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157</TotalTime>
  <Words>2259</Words>
  <Application>Microsoft Office PowerPoint</Application>
  <PresentationFormat>Widescreen</PresentationFormat>
  <Paragraphs>229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Manrope ExtraLight</vt:lpstr>
      <vt:lpstr>Manrope Medium</vt:lpstr>
      <vt:lpstr>Raleway</vt:lpstr>
      <vt:lpstr>Raleway Light</vt:lpstr>
      <vt:lpstr>Raleway Medium</vt:lpstr>
      <vt:lpstr>Raleway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Suárez</cp:lastModifiedBy>
  <cp:revision>2</cp:revision>
  <dcterms:created xsi:type="dcterms:W3CDTF">2013-01-27T09:14:16Z</dcterms:created>
  <dcterms:modified xsi:type="dcterms:W3CDTF">2026-10-19T14:45:51Z</dcterms:modified>
  <cp:category/>
</cp:coreProperties>
</file>