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653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3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0698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portada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3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logo_cliente_cierr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0728655" y="566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18288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Queremos ser</a:t>
            </a:r>
            <a:endParaRPr lang="en-US" sz="54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tu partner</a:t>
            </a:r>
            <a:endParaRPr lang="en-US" sz="54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3840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Finance &amp; Human Capital.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224528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Soluciones financieras y de talento para fondos de inversión y sus compañías participadas.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Better decisions, </a:t>
            </a: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together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1200" dirty="0"/>
          </a:p>
        </p:txBody>
      </p:sp>
      <p:pic>
        <p:nvPicPr>
          <p:cNvPr id="10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0" y="4953000"/>
            <a:ext cx="4064000" cy="889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EN UNA PÁGINA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Tessera en una página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Mejores decisiones,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juntos.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estratégica en Finanzas y Talento para compañías, inversores y sus participadas. Un equipo senior que se integra en el proyecto y responde por el resultado.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257800" cy="201168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822960" y="31272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31272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áreas: Finance y Human Capital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675888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7307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+21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373075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 y equipo de CFOs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4279392"/>
            <a:ext cx="4709160" cy="0"/>
          </a:xfrm>
          <a:prstGeom prst="line">
            <a:avLst/>
          </a:prstGeom>
          <a:noFill/>
          <a:ln w="12700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822960" y="433425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11680" y="433425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oficinas en España</a:t>
            </a:r>
            <a:endParaRPr lang="en-US" sz="1200" dirty="0"/>
          </a:p>
        </p:txBody>
      </p:sp>
      <p:pic>
        <p:nvPicPr>
          <p:cNvPr id="18" name="Image 1" descr="/tmp/claude-0/-home-claude/6ecba087-9563-50f1-9ffc-6a20c07eac08/scratchpad/decks/kit/c_madrid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55080" y="1645920"/>
            <a:ext cx="1652930" cy="2651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355080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6355080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central</a:t>
            </a:r>
            <a:endParaRPr lang="en-US" sz="900" dirty="0"/>
          </a:p>
        </p:txBody>
      </p:sp>
      <p:pic>
        <p:nvPicPr>
          <p:cNvPr id="21" name="Image 2" descr="/tmp/claude-0/-home-claude/6ecba087-9563-50f1-9ffc-6a20c07eac08/scratchpad/decks/kit/c_bilbao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2602" y="1645920"/>
            <a:ext cx="1652930" cy="2651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72602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BILBAO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8172602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País Vasco - España</a:t>
            </a:r>
            <a:endParaRPr lang="en-US" sz="900" dirty="0"/>
          </a:p>
        </p:txBody>
      </p:sp>
      <p:pic>
        <p:nvPicPr>
          <p:cNvPr id="24" name="Image 3" descr="/tmp/claude-0/-home-claude/6ecba087-9563-50f1-9ffc-6a20c07eac08/scratchpad/decks/kit/c_ovied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990125" y="1645920"/>
            <a:ext cx="1652930" cy="2651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90125" y="44074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kern="0" spc="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OVIEDO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9990125" y="4636008"/>
            <a:ext cx="1652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Asturias - España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0" y="5257800"/>
            <a:ext cx="12191695" cy="160020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2"/>
          <p:cNvSpPr txBox="1"/>
          <p:nvPr/>
        </p:nvSpPr>
        <p:spPr>
          <a:xfrm>
            <a:off x="54864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BOUTIQUE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proyecto.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155338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5"/>
          <p:cNvSpPr txBox="1"/>
          <p:nvPr/>
        </p:nvSpPr>
        <p:spPr>
          <a:xfrm>
            <a:off x="4383938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TRATO DIRECTO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4383938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interlocutor, de tú a tú.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7990637" y="5577840"/>
            <a:ext cx="0" cy="77724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28"/>
          <p:cNvSpPr txBox="1"/>
          <p:nvPr/>
        </p:nvSpPr>
        <p:spPr>
          <a:xfrm>
            <a:off x="8219237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8AA3A5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VISIÓN DE NEGOCIO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8219237" y="5897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servicio de la tesis de inversión.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directivo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711909" cy="213988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10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900" dirty="0"/>
          </a:p>
        </p:txBody>
      </p:sp>
      <p:pic>
        <p:nvPicPr>
          <p:cNvPr id="12" name="Image 2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3938" y="2148840"/>
            <a:ext cx="1711909" cy="21398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383938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383938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4383938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20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900" dirty="0"/>
          </a:p>
        </p:txBody>
      </p:sp>
      <p:pic>
        <p:nvPicPr>
          <p:cNvPr id="16" name="Image 3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9237" y="2148840"/>
            <a:ext cx="1711909" cy="213988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19237" y="4489895"/>
            <a:ext cx="34238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8219237" y="4764215"/>
            <a:ext cx="3423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8219237" y="5221415"/>
            <a:ext cx="3423818" cy="950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90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200 profesionales en 16 países, y ha trabajado con grandes entidades financieras internacionales como Santander, BNP Paribas y BBVA.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NUESTRO EQUIPO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directive con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de </a:t>
            </a:r>
            <a:r>
              <a:rPr lang="en-US" sz="1300" dirty="0">
                <a:solidFill>
                  <a:srgbClr val="587579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21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consultores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</a:t>
            </a:r>
            <a:r>
              <a:rPr lang="en-US" sz="1300" dirty="0" err="1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</a:t>
            </a: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Madrid, Bilbao y Oviedo</a:t>
            </a:r>
            <a:endParaRPr lang="en-US" sz="1300" dirty="0"/>
          </a:p>
        </p:txBody>
      </p:sp>
      <p:pic>
        <p:nvPicPr>
          <p:cNvPr id="8" name="Image 1" descr="/tmp/claude-0/-home-claude/6ecba087-9563-50f1-9ffc-6a20c07eac08/scratchpad/decks/kit/t_manu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1528296" cy="19103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PINA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Big Four en auditoría, due diligence y M&amp;A, y posteriormente CFO en grandes pymes españolas. Lidera Tessera Finance, coordinando el equipo de CFOs, transacciones y asesoramiento financiero estratégico.</a:t>
            </a:r>
            <a:endParaRPr lang="en-US" sz="850" dirty="0"/>
          </a:p>
        </p:txBody>
      </p:sp>
      <p:pic>
        <p:nvPicPr>
          <p:cNvPr id="12" name="Image 2" descr="/tmp/claude-0/-home-claude/6ecba087-9563-50f1-9ffc-6a20c07eac08/scratchpad/decks/kit/t_edu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114" y="2148840"/>
            <a:ext cx="1528296" cy="191037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25114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3425114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425114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17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en el mundo del emprendimiento como CFO de startups internacionales y de fondos líderes de Venture Capital y Venture Builders. Especializado en aportar valor desde el área financiera, la tesorería y la consecución de financiación y capital.</a:t>
            </a:r>
            <a:endParaRPr lang="en-US" sz="850" dirty="0"/>
          </a:p>
        </p:txBody>
      </p:sp>
      <p:pic>
        <p:nvPicPr>
          <p:cNvPr id="16" name="Image 3" descr="/tmp/claude-0/-home-claude/6ecba087-9563-50f1-9ffc-6a20c07eac08/scratchpad/decks/kit/t_monic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2148840"/>
            <a:ext cx="1528296" cy="19103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01588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01588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- FINANCE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6301588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años como Directora Financiera en empresa multinacional, muy involucrada en el día a día de la compañía con visión y estrategia global: reducción de riesgos y planes de crecimiento. Amplia trayectoria en liderazgo y gestión financiera.</a:t>
            </a:r>
            <a:endParaRPr lang="en-US" sz="850" dirty="0"/>
          </a:p>
        </p:txBody>
      </p:sp>
      <p:pic>
        <p:nvPicPr>
          <p:cNvPr id="20" name="Image 4" descr="/tmp/claude-0/-home-claude/6ecba087-9563-50f1-9ffc-6a20c07eac08/scratchpad/decks/kit/t_edw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8061" y="2148840"/>
            <a:ext cx="1528296" cy="191037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78061" y="4260378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9178061" y="4534698"/>
            <a:ext cx="2464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587579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HEAD OF RECRUITMENT &amp; TALENT OPERATIONS</a:t>
            </a:r>
            <a:endParaRPr lang="en-US" sz="850" dirty="0"/>
          </a:p>
        </p:txBody>
      </p:sp>
      <p:sp>
        <p:nvSpPr>
          <p:cNvPr id="23" name="Text 16"/>
          <p:cNvSpPr txBox="1"/>
          <p:nvPr/>
        </p:nvSpPr>
        <p:spPr>
          <a:xfrm>
            <a:off x="9178061" y="4991898"/>
            <a:ext cx="2464994" cy="118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Más de 8 años de experiencia en identificación y evaluación de talento. En Seedtag lideró la contratación de más de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200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profesionales en </a:t>
            </a:r>
            <a:r>
              <a:rPr lang="en-US" sz="850" dirty="0">
                <a:solidFill>
                  <a:srgbClr val="4A4A5C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16</a:t>
            </a:r>
            <a:r>
              <a:rPr lang="en-US" sz="850" dirty="0">
                <a:solidFill>
                  <a:srgbClr val="4A4A5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países, y ha trabajado con grandes entidades financieras internacionales como Santander, BNP Paribas y BBVA.</a:t>
            </a:r>
            <a:endParaRPr lang="en-US" sz="850" dirty="0"/>
          </a:p>
        </p:txBody>
      </p:sp>
      <p:sp>
        <p:nvSpPr>
          <p:cNvPr id="24" name="Text 17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PARA EL FONDO Y SUS PARTICIPADAS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Un partner para el fondo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Human Capital en un mismo equipo,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en cada fase del ciclo de inversión.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3423818" cy="2743200"/>
          </a:xfrm>
          <a:prstGeom prst="rect">
            <a:avLst/>
          </a:prstGeom>
          <a:solidFill>
            <a:srgbClr val="6F8B8C"/>
          </a:solidFill>
          <a:ln w="12700">
            <a:solidFill>
              <a:srgbClr val="6F8B8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828800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PRE-INVERSIÓN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 de firmar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822960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 diligence financiera del target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Valoración independiente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del business plan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la operación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83938" y="2057400"/>
            <a:ext cx="3423818" cy="2743200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4658258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4098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ACOMPAÑAMIENTO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664098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 la inversión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658258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 txBox="1"/>
          <p:nvPr/>
        </p:nvSpPr>
        <p:spPr>
          <a:xfrm>
            <a:off x="4658258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CFO part-time y reporting al fondo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Financiación y ahorro de costes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 de equipos directivos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 y consultoría salarial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19237" y="2057400"/>
            <a:ext cx="3423818" cy="2743200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 txBox="1"/>
          <p:nvPr/>
        </p:nvSpPr>
        <p:spPr>
          <a:xfrm>
            <a:off x="8493557" y="21945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9"/>
          <p:cNvSpPr txBox="1"/>
          <p:nvPr/>
        </p:nvSpPr>
        <p:spPr>
          <a:xfrm>
            <a:off x="9499397" y="230428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SALIDA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499397" y="2578608"/>
            <a:ext cx="20522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preparar la venta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493557" y="3017520"/>
            <a:ext cx="2875178" cy="0"/>
          </a:xfrm>
          <a:prstGeom prst="line">
            <a:avLst/>
          </a:prstGeom>
          <a:noFill/>
          <a:ln w="12700">
            <a:solidFill>
              <a:srgbClr val="C9D6D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8493557" y="3154680"/>
            <a:ext cx="28751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Compañía preparada para la venta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Vendor due diligence y valoración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M&amp;A hasta el cierre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Búsqueda del comprador o socio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5074920"/>
            <a:ext cx="11094415" cy="1097280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822960" y="5170465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rgbClr val="8AA3A5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360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810545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del ciclo de inversión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474720" y="5303520"/>
            <a:ext cx="0" cy="640080"/>
          </a:xfrm>
          <a:prstGeom prst="line">
            <a:avLst/>
          </a:prstGeom>
          <a:noFill/>
          <a:ln w="9525">
            <a:solidFill>
              <a:srgbClr val="3A3A4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784396" y="5408676"/>
            <a:ext cx="7498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único interlocutor para todo el ciclo de inversión, </a:t>
            </a:r>
            <a:r>
              <a:rPr lang="en-US" sz="125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 visibilidad financiera homogénea entre participadas.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FINANCE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Finance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el ciclo financiero de una participada,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desde la due diligence hasta la salida.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Due Diligence Financiera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Calidad de ingresos, EBITDA ajustado, deuda neta, circulante y red flags antes de invertir.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402254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 txBox="1"/>
          <p:nvPr/>
        </p:nvSpPr>
        <p:spPr>
          <a:xfrm>
            <a:off x="3603422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Valoraciones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603422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DCF y múltiplos de mercado, con informe defendible ante compradores, inversores y auditores.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55868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255868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 txBox="1"/>
          <p:nvPr/>
        </p:nvSpPr>
        <p:spPr>
          <a:xfrm>
            <a:off x="6457036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Business Plan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57036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y proyecciones financieras completas, con escenarios y sensibilidad.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109481" y="2148840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9109481" y="2148840"/>
            <a:ext cx="2533574" cy="54864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9310649" y="2331720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M&amp;A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9310649" y="2679192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Compra, venta y búsqueda de socios: del primer contacto al cierre, con red internacional.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548640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 txBox="1"/>
          <p:nvPr/>
        </p:nvSpPr>
        <p:spPr>
          <a:xfrm>
            <a:off x="749808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CFO part-time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financiera senior para la participada y reporting homogéneo para el fondo.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402254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3402254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 txBox="1"/>
          <p:nvPr/>
        </p:nvSpPr>
        <p:spPr>
          <a:xfrm>
            <a:off x="3603422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Financiación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03422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Capital, deuda bancaria y privada, circulante y financiación pública (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93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de éxito en ENISA).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55868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Shape 30"/>
          <p:cNvSpPr/>
          <p:nvPr/>
        </p:nvSpPr>
        <p:spPr>
          <a:xfrm>
            <a:off x="6255868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4" name="Text 31"/>
          <p:cNvSpPr txBox="1"/>
          <p:nvPr/>
        </p:nvSpPr>
        <p:spPr>
          <a:xfrm>
            <a:off x="6457036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Cost Down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6457036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Ahorro de costes a éxito: si no ahorramos, no cobramos. Media del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30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en los costes analizados.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109481" y="3867912"/>
            <a:ext cx="253357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9109481" y="3867912"/>
            <a:ext cx="2533574" cy="54864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 txBox="1"/>
          <p:nvPr/>
        </p:nvSpPr>
        <p:spPr>
          <a:xfrm>
            <a:off x="9310649" y="4050792"/>
            <a:ext cx="21678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Otros servicios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9310649" y="4398264"/>
            <a:ext cx="216781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Restructuring, tesorería, recobros, interim team, integraciones contables y soporte a auditoría.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715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solo equipo para el fondo y para cada compañía: </a:t>
            </a:r>
            <a:r>
              <a:rPr lang="en-US" sz="12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menos interlocutores, más control.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HUMAN CAPITAL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SERVICIOS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Human Capital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Expertos en el flujo de talento: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procesos claros y compromisos que se cumplen.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2533574" cy="64008"/>
          </a:xfrm>
          <a:prstGeom prst="rect">
            <a:avLst/>
          </a:prstGeom>
          <a:solidFill>
            <a:srgbClr val="8AA3A5"/>
          </a:solidFill>
          <a:ln w="12700">
            <a:solidFill>
              <a:srgbClr val="8AA3A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749808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Headhunting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 senior en cada búsqueda y metodología propia apoyada en nuestra IA de selección (TESSA). Primera shortlist en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72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horas y acompañamiento tras la incorporación.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02254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402254" y="2148840"/>
            <a:ext cx="2533574" cy="64008"/>
          </a:xfrm>
          <a:prstGeom prst="rect">
            <a:avLst/>
          </a:prstGeom>
          <a:solidFill>
            <a:srgbClr val="587579"/>
          </a:solidFill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 txBox="1"/>
          <p:nvPr/>
        </p:nvSpPr>
        <p:spPr>
          <a:xfrm>
            <a:off x="3603422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03422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Outsourcing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03422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Equipos que se ajustan a la actividad real: pagas por horas trabajadas, cubrimos bajas y vacaciones y nos ocupamos de nóminas y trámites.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255868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255868" y="2148840"/>
            <a:ext cx="2533574" cy="64008"/>
          </a:xfrm>
          <a:prstGeom prst="rect">
            <a:avLst/>
          </a:prstGeom>
          <a:solidFill>
            <a:srgbClr val="3F5A5E"/>
          </a:solidFill>
          <a:ln w="12700">
            <a:solidFill>
              <a:srgbClr val="3F5A5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 txBox="1"/>
          <p:nvPr/>
        </p:nvSpPr>
        <p:spPr>
          <a:xfrm>
            <a:off x="6457036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6457036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Consultoría salarial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457036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Benchmarking, diseño de bandas y transparencia retributiva alineada con la Directiva EU </a:t>
            </a:r>
            <a:r>
              <a:rPr lang="en-US" sz="1000" dirty="0">
                <a:solidFill>
                  <a:srgbClr val="5C5C6E"/>
                </a:solidFill>
                <a:latin typeface="Manrope" pitchFamily="2" charset="0"/>
                <a:ea typeface="Raleway" pitchFamily="34" charset="-122"/>
                <a:cs typeface="Raleway" pitchFamily="34" charset="-120"/>
              </a:rPr>
              <a:t>2023/970</a:t>
            </a: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 Apoyo en ofertas, revisiones y retención.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109481" y="2148840"/>
            <a:ext cx="2533574" cy="2514600"/>
          </a:xfrm>
          <a:prstGeom prst="rect">
            <a:avLst/>
          </a:prstGeom>
          <a:solidFill>
            <a:srgbClr val="E6ECEC"/>
          </a:solidFill>
          <a:ln w="12700">
            <a:solidFill>
              <a:srgbClr val="E6ECEC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9109481" y="2148840"/>
            <a:ext cx="2533574" cy="64008"/>
          </a:xfrm>
          <a:prstGeom prst="rect">
            <a:avLst/>
          </a:prstGeom>
          <a:solidFill>
            <a:srgbClr val="202031"/>
          </a:solidFill>
          <a:ln w="12700">
            <a:solidFill>
              <a:srgbClr val="20203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9310649" y="23591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8757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9310649" y="2651760"/>
            <a:ext cx="21678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Formación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9310649" y="3108960"/>
            <a:ext cx="216781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Programas a medida con metodología ágil: gestión del talento, employee experience, procesos de RRHH e IA aplicada a HR. Se mide en resultados.</a:t>
            </a:r>
            <a:endParaRPr lang="en-US" sz="1000" dirty="0"/>
          </a:p>
        </p:txBody>
      </p:sp>
      <p:pic>
        <p:nvPicPr>
          <p:cNvPr id="28" name="Image 1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4937760"/>
            <a:ext cx="12191695" cy="192024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48640" y="5303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Para un fondo:</a:t>
            </a: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equipos directivos para las participadas, cobertura de vacantes críticas sin pausas y estructuras salariales que retienen al talento clave.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027268" y="5349240"/>
            <a:ext cx="0" cy="91440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7"/>
          <p:cNvSpPr txBox="1"/>
          <p:nvPr/>
        </p:nvSpPr>
        <p:spPr>
          <a:xfrm>
            <a:off x="6255868" y="5138928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72 </a:t>
            </a:r>
            <a:r>
              <a:rPr lang="en-US" sz="22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h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6255868" y="5897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Primera shortlist sobre tu mesa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9109481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+200</a:t>
            </a:r>
            <a:endParaRPr lang="en-US" sz="4400" dirty="0"/>
          </a:p>
        </p:txBody>
      </p:sp>
      <p:sp>
        <p:nvSpPr>
          <p:cNvPr id="34" name="Text 30"/>
          <p:cNvSpPr txBox="1"/>
          <p:nvPr/>
        </p:nvSpPr>
        <p:spPr>
          <a:xfrm>
            <a:off x="9109481" y="5897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Contrataciones lideradas en 16 países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NOSOTROS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Manrope" pitchFamily="2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>
              <a:latin typeface="Manrope" pitchFamily="2" charset="0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Por qué Tessera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Control, rigor financiero y talento </a:t>
            </a:r>
            <a:r>
              <a:rPr lang="en-US" sz="13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al servicio de la tesis de inversión.</a:t>
            </a:r>
            <a:endParaRPr lang="en-US" sz="1300" dirty="0"/>
          </a:p>
        </p:txBody>
      </p:sp>
      <p:pic>
        <p:nvPicPr>
          <p:cNvPr id="7" name="Image 1" descr="/tmp/claude-0/-home-claude/6ecba087-9563-50f1-9ffc-6a20c07eac08/scratchpad/decks/kit/bg_grad_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74036"/>
            <a:ext cx="11094415" cy="548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2450592"/>
            <a:ext cx="301752" cy="301752"/>
          </a:xfrm>
          <a:prstGeom prst="ellipse">
            <a:avLst/>
          </a:prstGeom>
          <a:solidFill>
            <a:srgbClr val="8AA3A5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5"/>
          <p:cNvSpPr txBox="1"/>
          <p:nvPr/>
        </p:nvSpPr>
        <p:spPr>
          <a:xfrm>
            <a:off x="548640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Visibilidad real del fondo sobre cada participada: reporting homogéneo, cuadro de mando y seguimiento de caja.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3938" y="2450592"/>
            <a:ext cx="301752" cy="301752"/>
          </a:xfrm>
          <a:prstGeom prst="ellipse">
            <a:avLst/>
          </a:prstGeom>
          <a:solidFill>
            <a:srgbClr val="587579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9"/>
          <p:cNvSpPr txBox="1"/>
          <p:nvPr/>
        </p:nvSpPr>
        <p:spPr>
          <a:xfrm>
            <a:off x="4383938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4383938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Rigor financiero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4383938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Metodología de Big Four y de CFOs en activo: información validada y decisiones basadas en datos.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19237" y="2450592"/>
            <a:ext cx="301752" cy="301752"/>
          </a:xfrm>
          <a:prstGeom prst="ellipse">
            <a:avLst/>
          </a:prstGeom>
          <a:solidFill>
            <a:srgbClr val="202031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3"/>
          <p:cNvSpPr txBox="1"/>
          <p:nvPr/>
        </p:nvSpPr>
        <p:spPr>
          <a:xfrm>
            <a:off x="8219237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dirty="0">
                <a:solidFill>
                  <a:srgbClr val="587579"/>
                </a:solidFill>
                <a:latin typeface="Manrope Light" pitchFamily="34" charset="0"/>
                <a:ea typeface="Manrope Light" pitchFamily="34" charset="-122"/>
                <a:cs typeface="Manrope Light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8219237" y="3520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0203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8219237" y="400507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nos quedamos en el diagnóstico: implantamos, acompañamos al equipo directivo y medimos el resultado.</a:t>
            </a:r>
            <a:endParaRPr lang="en-US" sz="1100" dirty="0"/>
          </a:p>
        </p:txBody>
      </p:sp>
      <p:pic>
        <p:nvPicPr>
          <p:cNvPr id="20" name="Image 2" descr="/tmp/claude-0/-home-claude/6ecba087-9563-50f1-9ffc-6a20c07eac08/scratchpad/decks/kit/band_gra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0" y="5074920"/>
            <a:ext cx="12191695" cy="17830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UN SOLO EQUIPO</a:t>
            </a:r>
            <a:endParaRPr 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Finance y talento, un interlocutor.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155338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19"/>
          <p:cNvSpPr txBox="1"/>
          <p:nvPr/>
        </p:nvSpPr>
        <p:spPr>
          <a:xfrm>
            <a:off x="4383938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SOCIOS DENTRO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4383938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socios ejecutan el proyecto.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7990637" y="5440680"/>
            <a:ext cx="0" cy="822960"/>
          </a:xfrm>
          <a:prstGeom prst="line">
            <a:avLst/>
          </a:prstGeom>
          <a:noFill/>
          <a:ln w="9525">
            <a:solidFill>
              <a:srgbClr val="7F9A9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2"/>
          <p:cNvSpPr txBox="1"/>
          <p:nvPr/>
        </p:nvSpPr>
        <p:spPr>
          <a:xfrm>
            <a:off x="8219237" y="54864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kern="0" spc="220" dirty="0">
                <a:solidFill>
                  <a:srgbClr val="D5DFE0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INDEPENDENCIA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19237" y="5760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Decimos lo que vemos.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68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Nuestros Partners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7" name="Image 1" descr="/tmp/claude-0/-home-claude/6ecba087-9563-50f1-9ffc-6a20c07eac08/scratchpad/decks/assets/logos/partners_sf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62" y="2238035"/>
            <a:ext cx="1220386" cy="29709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415997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9" name="Image 2" descr="/tmp/claude-0/-home-claude/6ecba087-9563-50f1-9ffc-6a20c07eac08/scratchpad/decks/assets/logos/partners_sf_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4619" y="2286082"/>
            <a:ext cx="1220386" cy="2010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283354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1" name="Image 3" descr="/tmp/claude-0/-home-claude/6ecba087-9563-50f1-9ffc-6a20c07eac08/scratchpad/decks/assets/logos/partners_sf_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1976" y="2197083"/>
            <a:ext cx="1220386" cy="3790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150712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4" descr="/tmp/claude-0/-home-claude/6ecba087-9563-50f1-9ffc-6a20c07eac08/scratchpad/decks/assets/logos/partners_sf_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0329" y="2130552"/>
            <a:ext cx="1158395" cy="51206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8018069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5" descr="/tmp/claude-0/-home-claude/6ecba087-9563-50f1-9ffc-6a20c07eac08/scratchpad/decks/assets/logos/partners_sf_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6691" y="2255106"/>
            <a:ext cx="1220386" cy="262956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9885426" y="1929384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6" descr="/tmp/claude-0/-home-claude/6ecba087-9563-50f1-9ffc-6a20c07eac08/scratchpad/decks/assets/logos/partners_sf_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54048" y="2212826"/>
            <a:ext cx="1220386" cy="347516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548640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7" descr="/tmp/claude-0/-home-claude/6ecba087-9563-50f1-9ffc-6a20c07eac08/scratchpad/decks/assets/logos/partners_sf_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866" y="3011302"/>
            <a:ext cx="689178" cy="798820"/>
          </a:xfrm>
          <a:prstGeom prst="rect">
            <a:avLst/>
          </a:prstGeom>
        </p:spPr>
      </p:pic>
      <p:sp>
        <p:nvSpPr>
          <p:cNvPr id="20" name="Shape 10"/>
          <p:cNvSpPr/>
          <p:nvPr/>
        </p:nvSpPr>
        <p:spPr>
          <a:xfrm>
            <a:off x="2415997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1" name="Image 8" descr="/tmp/claude-0/-home-claude/6ecba087-9563-50f1-9ffc-6a20c07eac08/scratchpad/decks/assets/logos/partners_sf_0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84619" y="3286099"/>
            <a:ext cx="1220386" cy="249226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4283354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3" name="Image 9" descr="/tmp/claude-0/-home-claude/6ecba087-9563-50f1-9ffc-6a20c07eac08/scratchpad/decks/assets/logos/partners_sf_0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51976" y="3206501"/>
            <a:ext cx="1220386" cy="408422"/>
          </a:xfrm>
          <a:prstGeom prst="rect">
            <a:avLst/>
          </a:prstGeom>
        </p:spPr>
      </p:pic>
      <p:sp>
        <p:nvSpPr>
          <p:cNvPr id="24" name="Shape 12"/>
          <p:cNvSpPr/>
          <p:nvPr/>
        </p:nvSpPr>
        <p:spPr>
          <a:xfrm>
            <a:off x="6150712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5" name="Image 10" descr="/tmp/claude-0/-home-claude/6ecba087-9563-50f1-9ffc-6a20c07eac08/scratchpad/decks/assets/logos/partners_sf_1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9333" y="3329237"/>
            <a:ext cx="1220386" cy="162949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8018069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7" name="Image 11" descr="/tmp/claude-0/-home-claude/6ecba087-9563-50f1-9ffc-6a20c07eac08/scratchpad/decks/assets/logos/partners_sf_1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5267" y="3154680"/>
            <a:ext cx="863234" cy="512064"/>
          </a:xfrm>
          <a:prstGeom prst="rect">
            <a:avLst/>
          </a:prstGeom>
        </p:spPr>
      </p:pic>
      <p:sp>
        <p:nvSpPr>
          <p:cNvPr id="28" name="Shape 14"/>
          <p:cNvSpPr/>
          <p:nvPr/>
        </p:nvSpPr>
        <p:spPr>
          <a:xfrm>
            <a:off x="9885426" y="2953512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9" name="Image 12" descr="/tmp/claude-0/-home-claude/6ecba087-9563-50f1-9ffc-6a20c07eac08/scratchpad/decks/assets/logos/partners_sf_1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54048" y="3249677"/>
            <a:ext cx="1220386" cy="32207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48640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1" name="Image 13" descr="/tmp/claude-0/-home-claude/6ecba087-9563-50f1-9ffc-6a20c07eac08/scratchpad/decks/assets/logos/partners_sf_13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647" y="4178808"/>
            <a:ext cx="959616" cy="512064"/>
          </a:xfrm>
          <a:prstGeom prst="rect">
            <a:avLst/>
          </a:prstGeom>
        </p:spPr>
      </p:pic>
      <p:sp>
        <p:nvSpPr>
          <p:cNvPr id="32" name="Shape 16"/>
          <p:cNvSpPr/>
          <p:nvPr/>
        </p:nvSpPr>
        <p:spPr>
          <a:xfrm>
            <a:off x="2415997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14" descr="/tmp/claude-0/-home-claude/6ecba087-9563-50f1-9ffc-6a20c07eac08/scratchpad/decks/assets/logos/partners_sf_1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46892" y="4178808"/>
            <a:ext cx="895840" cy="512064"/>
          </a:xfrm>
          <a:prstGeom prst="rect">
            <a:avLst/>
          </a:prstGeom>
        </p:spPr>
      </p:pic>
      <p:sp>
        <p:nvSpPr>
          <p:cNvPr id="34" name="Shape 17"/>
          <p:cNvSpPr/>
          <p:nvPr/>
        </p:nvSpPr>
        <p:spPr>
          <a:xfrm>
            <a:off x="4283354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5" name="Image 15" descr="/tmp/claude-0/-home-claude/6ecba087-9563-50f1-9ffc-6a20c07eac08/scratchpad/decks/assets/logos/partners_sf_15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51976" y="4258838"/>
            <a:ext cx="1220386" cy="352005"/>
          </a:xfrm>
          <a:prstGeom prst="rect">
            <a:avLst/>
          </a:prstGeom>
        </p:spPr>
      </p:pic>
      <p:sp>
        <p:nvSpPr>
          <p:cNvPr id="36" name="Shape 18"/>
          <p:cNvSpPr/>
          <p:nvPr/>
        </p:nvSpPr>
        <p:spPr>
          <a:xfrm>
            <a:off x="6150712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16" descr="/tmp/claude-0/-home-claude/6ecba087-9563-50f1-9ffc-6a20c07eac08/scratchpad/decks/assets/logos/partners_sf_16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07560" y="4178808"/>
            <a:ext cx="843933" cy="512064"/>
          </a:xfrm>
          <a:prstGeom prst="rect">
            <a:avLst/>
          </a:prstGeom>
        </p:spPr>
      </p:pic>
      <p:sp>
        <p:nvSpPr>
          <p:cNvPr id="38" name="Shape 19"/>
          <p:cNvSpPr/>
          <p:nvPr/>
        </p:nvSpPr>
        <p:spPr>
          <a:xfrm>
            <a:off x="8018069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9" name="Image 17" descr="/tmp/claude-0/-home-claude/6ecba087-9563-50f1-9ffc-6a20c07eac08/scratchpad/decks/assets/logos/partners_sf_17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11770" y="4178808"/>
            <a:ext cx="970227" cy="512064"/>
          </a:xfrm>
          <a:prstGeom prst="rect">
            <a:avLst/>
          </a:prstGeom>
        </p:spPr>
      </p:pic>
      <p:sp>
        <p:nvSpPr>
          <p:cNvPr id="40" name="Shape 20"/>
          <p:cNvSpPr/>
          <p:nvPr/>
        </p:nvSpPr>
        <p:spPr>
          <a:xfrm>
            <a:off x="9885426" y="3977640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1" name="Image 18" descr="/tmp/claude-0/-home-claude/6ecba087-9563-50f1-9ffc-6a20c07eac08/scratchpad/decks/assets/logos/partners_sf_18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54048" y="4298383"/>
            <a:ext cx="1220386" cy="272913"/>
          </a:xfrm>
          <a:prstGeom prst="rect">
            <a:avLst/>
          </a:prstGeom>
        </p:spPr>
      </p:pic>
      <p:sp>
        <p:nvSpPr>
          <p:cNvPr id="42" name="Shape 21"/>
          <p:cNvSpPr/>
          <p:nvPr/>
        </p:nvSpPr>
        <p:spPr>
          <a:xfrm>
            <a:off x="2415997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3" name="Image 19" descr="/tmp/claude-0/-home-claude/6ecba087-9563-50f1-9ffc-6a20c07eac08/scratchpad/decks/assets/logos/partners_sf_19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84619" y="5284393"/>
            <a:ext cx="1220386" cy="349150"/>
          </a:xfrm>
          <a:prstGeom prst="rect">
            <a:avLst/>
          </a:prstGeom>
        </p:spPr>
      </p:pic>
      <p:sp>
        <p:nvSpPr>
          <p:cNvPr id="44" name="Shape 22"/>
          <p:cNvSpPr/>
          <p:nvPr/>
        </p:nvSpPr>
        <p:spPr>
          <a:xfrm>
            <a:off x="4283354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5" name="Image 20" descr="/tmp/claude-0/-home-claude/6ecba087-9563-50f1-9ffc-6a20c07eac08/scratchpad/decks/assets/logos/partners_sf_20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51976" y="5313979"/>
            <a:ext cx="1220386" cy="289977"/>
          </a:xfrm>
          <a:prstGeom prst="rect">
            <a:avLst/>
          </a:prstGeom>
        </p:spPr>
      </p:pic>
      <p:sp>
        <p:nvSpPr>
          <p:cNvPr id="46" name="Shape 23"/>
          <p:cNvSpPr/>
          <p:nvPr/>
        </p:nvSpPr>
        <p:spPr>
          <a:xfrm>
            <a:off x="6150712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7" name="Image 21" descr="/tmp/claude-0/-home-claude/6ecba087-9563-50f1-9ffc-6a20c07eac08/scratchpad/decks/assets/logos/partners_sf_21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19333" y="5349703"/>
            <a:ext cx="1220386" cy="218531"/>
          </a:xfrm>
          <a:prstGeom prst="rect">
            <a:avLst/>
          </a:prstGeom>
        </p:spPr>
      </p:pic>
      <p:sp>
        <p:nvSpPr>
          <p:cNvPr id="48" name="Shape 24"/>
          <p:cNvSpPr/>
          <p:nvPr/>
        </p:nvSpPr>
        <p:spPr>
          <a:xfrm>
            <a:off x="8018069" y="5001768"/>
            <a:ext cx="1757629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9" name="Image 22" descr="/tmp/claude-0/-home-claude/6ecba087-9563-50f1-9ffc-6a20c07eac08/scratchpad/decks/assets/logos/partners_sf_22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286691" y="5360196"/>
            <a:ext cx="1220386" cy="197544"/>
          </a:xfrm>
          <a:prstGeom prst="rect">
            <a:avLst/>
          </a:prstGeom>
        </p:spPr>
      </p:pic>
      <p:sp>
        <p:nvSpPr>
          <p:cNvPr id="50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5C5C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panel_gra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0" y="0"/>
            <a:ext cx="409925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"/>
            <a:ext cx="960120" cy="19007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057400" y="365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TESSERA GROUP</a:t>
            </a:r>
            <a:endParaRPr lang="en-US" sz="750" dirty="0"/>
          </a:p>
        </p:txBody>
      </p:sp>
      <p:sp>
        <p:nvSpPr>
          <p:cNvPr id="6" name="Text 1"/>
          <p:cNvSpPr txBox="1"/>
          <p:nvPr/>
        </p:nvSpPr>
        <p:spPr>
          <a:xfrm>
            <a:off x="5029200" y="3657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60" dirty="0">
                <a:solidFill>
                  <a:srgbClr val="5C5C6E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CONTACTO</a:t>
            </a:r>
            <a:endParaRPr lang="en-US" sz="750" dirty="0"/>
          </a:p>
        </p:txBody>
      </p:sp>
      <p:sp>
        <p:nvSpPr>
          <p:cNvPr id="7" name="Text 2"/>
          <p:cNvSpPr txBox="1"/>
          <p:nvPr/>
        </p:nvSpPr>
        <p:spPr>
          <a:xfrm>
            <a:off x="10728655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50" kern="0" spc="160" dirty="0">
                <a:solidFill>
                  <a:srgbClr val="E6ECEC"/>
                </a:solidFill>
                <a:latin typeface="Raleway Medium" pitchFamily="34" charset="0"/>
                <a:ea typeface="Raleway Medium" pitchFamily="34" charset="-122"/>
                <a:cs typeface="Raleway Medium" pitchFamily="34" charset="-120"/>
              </a:rPr>
              <a:t>2026</a:t>
            </a:r>
            <a:endParaRPr lang="en-US" sz="75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8686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kern="0" spc="-50" dirty="0">
                <a:solidFill>
                  <a:srgbClr val="20203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Contacta con nosotros</a:t>
            </a:r>
            <a:endParaRPr lang="en-US" sz="3400" dirty="0"/>
          </a:p>
        </p:txBody>
      </p:sp>
      <p:sp>
        <p:nvSpPr>
          <p:cNvPr id="9" name="Shape 4"/>
          <p:cNvSpPr/>
          <p:nvPr/>
        </p:nvSpPr>
        <p:spPr>
          <a:xfrm>
            <a:off x="54864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5"/>
          <p:cNvSpPr txBox="1"/>
          <p:nvPr/>
        </p:nvSpPr>
        <p:spPr>
          <a:xfrm>
            <a:off x="54864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MANUEL GARCÍA PINA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+34 669 01 49 58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manuel.garcia@tesseraservices.com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4297680" y="201168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0"/>
          <p:cNvSpPr txBox="1"/>
          <p:nvPr/>
        </p:nvSpPr>
        <p:spPr>
          <a:xfrm>
            <a:off x="429768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EDUARDO SERRANO CARRETERO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29768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+34 619 51 11 55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29768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eduardo.serrano@tesseraservices.com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5"/>
          <p:cNvSpPr txBox="1"/>
          <p:nvPr/>
        </p:nvSpPr>
        <p:spPr>
          <a:xfrm>
            <a:off x="54864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MÓNICA MAYORAL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Partner - Finance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+34 696 39 38 49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monica.mayoral@tesseraservices.com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297680" y="3977640"/>
            <a:ext cx="3383280" cy="0"/>
          </a:xfrm>
          <a:prstGeom prst="line">
            <a:avLst/>
          </a:prstGeom>
          <a:noFill/>
          <a:ln w="12700">
            <a:solidFill>
              <a:srgbClr val="58757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0"/>
          <p:cNvSpPr txBox="1"/>
          <p:nvPr/>
        </p:nvSpPr>
        <p:spPr>
          <a:xfrm>
            <a:off x="4297680" y="41422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kern="0" spc="100" dirty="0">
                <a:solidFill>
                  <a:srgbClr val="20203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EDWARD MANRIQUE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4297680" y="4434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8757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Head of Recruitment &amp; Talent Operations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4297680" y="4818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0203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+34 695 02 19 78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297680" y="50749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C5C6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edward@tesseraservices.com</a:t>
            </a:r>
            <a:endParaRPr lang="en-US" sz="1050" dirty="0"/>
          </a:p>
        </p:txBody>
      </p:sp>
      <p:pic>
        <p:nvPicPr>
          <p:cNvPr id="29" name="Image 3" descr="/tmp/claude-0/-home-claude/6ecba087-9563-50f1-9ffc-6a20c07eac08/scratchpad/decks/kit/tf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0468" y="2743200"/>
            <a:ext cx="2743200" cy="7993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496148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10545775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E6ECE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6ecba087-9563-50f1-9ffc-6a20c07eac08/scratchpad/decks/kit/bg_grad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/tmp/claude-0/-home-claude/6ecba087-9563-50f1-9ffc-6a20c07eac08/scratchpad/decks/kit/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8640"/>
            <a:ext cx="1554480" cy="30773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201168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Better decisions,</a:t>
            </a:r>
            <a:endParaRPr lang="en-US" sz="48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4800" kern="0" spc="-50" dirty="0">
                <a:solidFill>
                  <a:srgbClr val="FFFFFF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together.</a:t>
            </a:r>
            <a:endParaRPr lang="en-US" sz="48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Gracias</a:t>
            </a:r>
            <a:r>
              <a:rPr lang="en-US" sz="15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por tu tiempo.</a:t>
            </a:r>
            <a:endParaRPr lang="en-US" sz="15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3159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Estaremos encantados de concretar cómo podemos acompañar al fondo y a sus participadas.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CE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tesseraservices.com     LinkedIn @tesseraservices</a:t>
            </a:r>
            <a:endParaRPr lang="en-US" sz="1200" dirty="0"/>
          </a:p>
        </p:txBody>
      </p:sp>
      <p:pic>
        <p:nvPicPr>
          <p:cNvPr id="9" name="Logo clie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0" y="3175000"/>
            <a:ext cx="4064000" cy="88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1239</Words>
  <Application>Microsoft Office PowerPoint</Application>
  <PresentationFormat>Panorámica</PresentationFormat>
  <Paragraphs>202</Paragraphs>
  <Slides>11</Slides>
  <Notes>11</Notes>
  <HiddenSlides>1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9" baseType="lpstr">
      <vt:lpstr>Arial</vt:lpstr>
      <vt:lpstr>Manrope</vt:lpstr>
      <vt:lpstr>Manrope Light</vt:lpstr>
      <vt:lpstr>Raleway</vt:lpstr>
      <vt:lpstr>Raleway Light</vt:lpstr>
      <vt:lpstr>Raleway Medium</vt:lpstr>
      <vt:lpstr>Raleway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Tessera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Catálogo de servicios Tessera</dc:title>
  <dc:subject>PptxGenJS Presentation</dc:subject>
  <dc:creator>Tessera</dc:creator>
  <cp:lastModifiedBy>Jaime Amaya</cp:lastModifiedBy>
  <cp:revision>3</cp:revision>
  <dcterms:created xsi:type="dcterms:W3CDTF">2026-10-13T09:53:21Z</dcterms:created>
  <dcterms:modified xsi:type="dcterms:W3CDTF">2026-10-15T15:04:11Z</dcterms:modified>
</cp:coreProperties>
</file>