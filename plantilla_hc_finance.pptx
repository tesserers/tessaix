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282"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image" Target="../media/image2.png"/><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587579"/>
            </a:gs>
            <a:gs pos="100000">
              <a:srgbClr val="202031"/>
            </a:gs>
          </a:gsLst>
          <a:lin ang="18900000" scaled="0"/>
        </a:gradFill>
        <a:effectLst/>
      </p:bgPr>
    </p:bg>
    <p:spTree>
      <p:nvGrpSpPr>
        <p:cNvPr id="1" name=""/>
        <p:cNvGrpSpPr/>
        <p:nvPr/>
      </p:nvGrpSpPr>
      <p:grpSpPr>
        <a:xfrm>
          <a:off x="0" y="0"/>
          <a:ext cx="0" cy="0"/>
          <a:chOff x="0" y="0"/>
          <a:chExt cx="0" cy="0"/>
        </a:xfrm>
      </p:grpSpPr>
      <p:sp>
        <p:nvSpPr>
          <p:cNvPr id="3" name="TextBox 2"/>
          <p:cNvSpPr txBox="1"/>
          <p:nvPr/>
        </p:nvSpPr>
        <p:spPr>
          <a:xfrm>
            <a:off x="762000" y="1905000"/>
            <a:ext cx="6350000" cy="169277"/>
          </a:xfrm>
          <a:prstGeom prst="rect">
            <a:avLst/>
          </a:prstGeom>
          <a:noFill/>
        </p:spPr>
        <p:txBody>
          <a:bodyPr wrap="square" lIns="0" tIns="0" rIns="0" bIns="0" anchor="t">
            <a:spAutoFit/>
          </a:bodyPr>
          <a:lstStyle/>
          <a:p>
            <a:pPr algn="l"/>
            <a:r>
              <a:rPr sz="1100" b="0" spc="150" dirty="0">
                <a:solidFill>
                  <a:schemeClr val="bg1"/>
                </a:solidFill>
                <a:latin typeface="Raleway Medium"/>
              </a:rPr>
              <a:t>PROPUESTA COMERCIAL</a:t>
            </a:r>
          </a:p>
        </p:txBody>
      </p:sp>
      <p:sp>
        <p:nvSpPr>
          <p:cNvPr id="4" name="TextBox 3"/>
          <p:cNvSpPr txBox="1"/>
          <p:nvPr/>
        </p:nvSpPr>
        <p:spPr>
          <a:xfrm>
            <a:off x="762000" y="2286000"/>
            <a:ext cx="9652000" cy="1143000"/>
          </a:xfrm>
          <a:prstGeom prst="rect">
            <a:avLst/>
          </a:prstGeom>
          <a:noFill/>
        </p:spPr>
        <p:txBody>
          <a:bodyPr wrap="square" lIns="0" tIns="0" rIns="0" bIns="0" anchor="t">
            <a:spAutoFit/>
          </a:bodyPr>
          <a:lstStyle/>
          <a:p>
            <a:pPr algn="l"/>
            <a:r>
              <a:rPr sz="4400" b="0" dirty="0" err="1">
                <a:solidFill>
                  <a:srgbClr val="FFFFFF"/>
                </a:solidFill>
                <a:latin typeface="Raleway Light"/>
              </a:rPr>
              <a:t>Queremos</a:t>
            </a:r>
            <a:r>
              <a:rPr sz="4400" b="0" dirty="0">
                <a:solidFill>
                  <a:srgbClr val="FFFFFF"/>
                </a:solidFill>
                <a:latin typeface="Raleway Light"/>
              </a:rPr>
              <a:t> ser </a:t>
            </a:r>
            <a:r>
              <a:rPr sz="4400" b="0" dirty="0" err="1">
                <a:solidFill>
                  <a:srgbClr val="FFFFFF"/>
                </a:solidFill>
                <a:latin typeface="Raleway Light"/>
              </a:rPr>
              <a:t>tu</a:t>
            </a:r>
            <a:r>
              <a:rPr sz="4400" b="0" dirty="0">
                <a:solidFill>
                  <a:srgbClr val="FFFFFF"/>
                </a:solidFill>
                <a:latin typeface="Raleway Light"/>
              </a:rPr>
              <a:t> partner.</a:t>
            </a:r>
          </a:p>
        </p:txBody>
      </p:sp>
      <p:sp>
        <p:nvSpPr>
          <p:cNvPr id="5" name="TextBox 4"/>
          <p:cNvSpPr txBox="1"/>
          <p:nvPr/>
        </p:nvSpPr>
        <p:spPr>
          <a:xfrm>
            <a:off x="762000" y="3302000"/>
            <a:ext cx="8890000" cy="889000"/>
          </a:xfrm>
          <a:prstGeom prst="rect">
            <a:avLst/>
          </a:prstGeom>
          <a:noFill/>
        </p:spPr>
        <p:txBody>
          <a:bodyPr wrap="square" lIns="0" tIns="0" rIns="0" bIns="0" anchor="t">
            <a:spAutoFit/>
          </a:bodyPr>
          <a:lstStyle/>
          <a:p>
            <a:pPr algn="l">
              <a:lnSpc>
                <a:spcPct val="125000"/>
              </a:lnSpc>
            </a:pPr>
            <a:r>
              <a:rPr sz="1400" b="0">
                <a:solidFill>
                  <a:srgbClr val="FFFFFF"/>
                </a:solidFill>
                <a:latin typeface="Raleway"/>
              </a:rPr>
              <a:t>Finance &amp; Human Capital. Soluciones financieras y de talento para fondos de inversión y sus compañías participadas.</a:t>
            </a:r>
          </a:p>
        </p:txBody>
      </p:sp>
      <p:sp>
        <p:nvSpPr>
          <p:cNvPr id="6" name="TextBox 5"/>
          <p:cNvSpPr txBox="1"/>
          <p:nvPr/>
        </p:nvSpPr>
        <p:spPr>
          <a:xfrm>
            <a:off x="762000" y="6070600"/>
            <a:ext cx="5080000" cy="138499"/>
          </a:xfrm>
          <a:prstGeom prst="rect">
            <a:avLst/>
          </a:prstGeom>
          <a:noFill/>
        </p:spPr>
        <p:txBody>
          <a:bodyPr wrap="square" lIns="0" tIns="0" rIns="0" bIns="0" anchor="t">
            <a:spAutoFit/>
          </a:bodyPr>
          <a:lstStyle/>
          <a:p>
            <a:pPr algn="l"/>
            <a:r>
              <a:rPr sz="900" b="0" dirty="0">
                <a:solidFill>
                  <a:schemeClr val="bg1"/>
                </a:solidFill>
                <a:latin typeface="Raleway"/>
              </a:rPr>
              <a:t>tesseraservices.com</a:t>
            </a:r>
          </a:p>
        </p:txBody>
      </p:sp>
      <p:sp>
        <p:nvSpPr>
          <p:cNvPr id="7" name="TextBox 6"/>
          <p:cNvSpPr txBox="1"/>
          <p:nvPr/>
        </p:nvSpPr>
        <p:spPr>
          <a:xfrm>
            <a:off x="10414000" y="6070600"/>
            <a:ext cx="1016000" cy="228600"/>
          </a:xfrm>
          <a:prstGeom prst="rect">
            <a:avLst/>
          </a:prstGeom>
          <a:noFill/>
        </p:spPr>
        <p:txBody>
          <a:bodyPr wrap="square" lIns="0" tIns="0" rIns="0" bIns="0" anchor="t">
            <a:spAutoFit/>
          </a:bodyPr>
          <a:lstStyle/>
          <a:p>
            <a:pPr algn="r"/>
            <a:r>
              <a:rPr sz="1100" b="0">
                <a:solidFill>
                  <a:srgbClr val="8AA3A5"/>
                </a:solidFill>
                <a:latin typeface="Manrope Medium"/>
              </a:rPr>
              <a:t>2026</a:t>
            </a:r>
          </a:p>
        </p:txBody>
      </p:sp>
      <p:pic>
        <p:nvPicPr>
          <p:cNvPr id="13" name="Picture 12" descr="image.png">
            <a:extLst>
              <a:ext uri="{FF2B5EF4-FFF2-40B4-BE49-F238E27FC236}">
                <a16:creationId xmlns:a16="http://schemas.microsoft.com/office/drawing/2014/main" id="{B9820261-4260-21A8-3700-3AAE7C41AD89}"/>
              </a:ext>
            </a:extLst>
          </p:cNvPr>
          <p:cNvPicPr>
            <a:picLocks noChangeAspect="1"/>
          </p:cNvPicPr>
          <p:nvPr/>
        </p:nvPicPr>
        <p:blipFill>
          <a:blip r:embed="rId2"/>
          <a:stretch>
            <a:fillRect/>
          </a:stretch>
        </p:blipFill>
        <p:spPr>
          <a:xfrm>
            <a:off x="-2443424" y="699699"/>
            <a:ext cx="9616826" cy="16485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spAutoFit/>
          </a:bodyPr>
          <a:lstStyle/>
          <a:p>
            <a:pPr algn="r"/>
            <a:r>
              <a:rPr sz="1000" b="0" spc="120">
                <a:solidFill>
                  <a:srgbClr val="587579"/>
                </a:solidFill>
                <a:latin typeface="Raleway Medium"/>
              </a:rPr>
              <a:t>TESSERA EN UNA PÁGINA</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889000"/>
            <a:ext cx="8890000" cy="635000"/>
          </a:xfrm>
          <a:prstGeom prst="rect">
            <a:avLst/>
          </a:prstGeom>
          <a:noFill/>
        </p:spPr>
        <p:txBody>
          <a:bodyPr wrap="square" lIns="0" tIns="0" rIns="0" bIns="0" anchor="t">
            <a:spAutoFit/>
          </a:bodyPr>
          <a:lstStyle/>
          <a:p>
            <a:pPr algn="l"/>
            <a:r>
              <a:rPr sz="3400" b="0">
                <a:solidFill>
                  <a:srgbClr val="202031"/>
                </a:solidFill>
                <a:latin typeface="Raleway Light"/>
              </a:rPr>
              <a:t>Tessera en una página</a:t>
            </a:r>
          </a:p>
        </p:txBody>
      </p:sp>
      <p:sp>
        <p:nvSpPr>
          <p:cNvPr id="6" name="TextBox 5"/>
          <p:cNvSpPr txBox="1"/>
          <p:nvPr/>
        </p:nvSpPr>
        <p:spPr>
          <a:xfrm>
            <a:off x="762000" y="1473200"/>
            <a:ext cx="3810000" cy="203200"/>
          </a:xfrm>
          <a:prstGeom prst="rect">
            <a:avLst/>
          </a:prstGeom>
          <a:noFill/>
        </p:spPr>
        <p:txBody>
          <a:bodyPr wrap="square" lIns="0" tIns="0" rIns="0" bIns="0" anchor="t">
            <a:spAutoFit/>
          </a:bodyPr>
          <a:lstStyle/>
          <a:p>
            <a:pPr algn="l"/>
            <a:r>
              <a:rPr sz="1200" b="0">
                <a:solidFill>
                  <a:srgbClr val="587579"/>
                </a:solidFill>
                <a:latin typeface="Raleway SemiBold"/>
              </a:rPr>
              <a:t>Mejores decisiones, juntos.</a:t>
            </a:r>
          </a:p>
        </p:txBody>
      </p:sp>
      <p:sp>
        <p:nvSpPr>
          <p:cNvPr id="7" name="TextBox 6"/>
          <p:cNvSpPr txBox="1"/>
          <p:nvPr/>
        </p:nvSpPr>
        <p:spPr>
          <a:xfrm>
            <a:off x="762000" y="1752600"/>
            <a:ext cx="9652000" cy="457200"/>
          </a:xfrm>
          <a:prstGeom prst="rect">
            <a:avLst/>
          </a:prstGeom>
          <a:noFill/>
        </p:spPr>
        <p:txBody>
          <a:bodyPr wrap="square" lIns="0" tIns="0" rIns="0" bIns="0" anchor="t">
            <a:spAutoFit/>
          </a:bodyPr>
          <a:lstStyle/>
          <a:p>
            <a:pPr algn="l">
              <a:lnSpc>
                <a:spcPct val="120000"/>
              </a:lnSpc>
            </a:pPr>
            <a:r>
              <a:rPr sz="1050" b="0" dirty="0" err="1">
                <a:solidFill>
                  <a:srgbClr val="202031"/>
                </a:solidFill>
                <a:latin typeface="Raleway"/>
              </a:rPr>
              <a:t>Consultoría</a:t>
            </a:r>
            <a:r>
              <a:rPr sz="1050" b="0" dirty="0">
                <a:solidFill>
                  <a:srgbClr val="202031"/>
                </a:solidFill>
                <a:latin typeface="Raleway"/>
              </a:rPr>
              <a:t> </a:t>
            </a:r>
            <a:r>
              <a:rPr sz="1050" b="0" dirty="0" err="1">
                <a:solidFill>
                  <a:srgbClr val="202031"/>
                </a:solidFill>
                <a:latin typeface="Raleway"/>
              </a:rPr>
              <a:t>estratégica</a:t>
            </a:r>
            <a:r>
              <a:rPr sz="1050" b="0" dirty="0">
                <a:solidFill>
                  <a:srgbClr val="202031"/>
                </a:solidFill>
                <a:latin typeface="Raleway"/>
              </a:rPr>
              <a:t> </a:t>
            </a:r>
            <a:r>
              <a:rPr sz="1050" b="0" dirty="0" err="1">
                <a:solidFill>
                  <a:srgbClr val="202031"/>
                </a:solidFill>
                <a:latin typeface="Raleway"/>
              </a:rPr>
              <a:t>en</a:t>
            </a:r>
            <a:r>
              <a:rPr sz="1050" b="0" dirty="0">
                <a:solidFill>
                  <a:srgbClr val="202031"/>
                </a:solidFill>
                <a:latin typeface="Raleway"/>
              </a:rPr>
              <a:t> </a:t>
            </a:r>
            <a:r>
              <a:rPr sz="1050" b="0" dirty="0" err="1">
                <a:solidFill>
                  <a:srgbClr val="202031"/>
                </a:solidFill>
                <a:latin typeface="Raleway"/>
              </a:rPr>
              <a:t>Finanzas</a:t>
            </a:r>
            <a:r>
              <a:rPr sz="1050" b="0" dirty="0">
                <a:solidFill>
                  <a:srgbClr val="202031"/>
                </a:solidFill>
                <a:latin typeface="Raleway"/>
              </a:rPr>
              <a:t> y Talento para </a:t>
            </a:r>
            <a:r>
              <a:rPr sz="1050" b="0" dirty="0" err="1">
                <a:solidFill>
                  <a:srgbClr val="202031"/>
                </a:solidFill>
                <a:latin typeface="Raleway"/>
              </a:rPr>
              <a:t>compañías</a:t>
            </a:r>
            <a:r>
              <a:rPr sz="1050" b="0" dirty="0">
                <a:solidFill>
                  <a:srgbClr val="202031"/>
                </a:solidFill>
                <a:latin typeface="Raleway"/>
              </a:rPr>
              <a:t>, </a:t>
            </a:r>
            <a:r>
              <a:rPr sz="1050" b="0" dirty="0" err="1">
                <a:solidFill>
                  <a:srgbClr val="202031"/>
                </a:solidFill>
                <a:latin typeface="Raleway"/>
              </a:rPr>
              <a:t>inversores</a:t>
            </a:r>
            <a:r>
              <a:rPr sz="1050" b="0" dirty="0">
                <a:solidFill>
                  <a:srgbClr val="202031"/>
                </a:solidFill>
                <a:latin typeface="Raleway"/>
              </a:rPr>
              <a:t> y sus </a:t>
            </a:r>
            <a:r>
              <a:rPr sz="1050" b="0" dirty="0" err="1">
                <a:solidFill>
                  <a:srgbClr val="202031"/>
                </a:solidFill>
                <a:latin typeface="Raleway"/>
              </a:rPr>
              <a:t>participadas</a:t>
            </a:r>
            <a:r>
              <a:rPr sz="1050" b="0" dirty="0">
                <a:solidFill>
                  <a:srgbClr val="202031"/>
                </a:solidFill>
                <a:latin typeface="Raleway"/>
              </a:rPr>
              <a:t>. Un </a:t>
            </a:r>
            <a:r>
              <a:rPr sz="1050" b="0" dirty="0" err="1">
                <a:solidFill>
                  <a:srgbClr val="202031"/>
                </a:solidFill>
                <a:latin typeface="Raleway"/>
              </a:rPr>
              <a:t>equipo</a:t>
            </a:r>
            <a:r>
              <a:rPr sz="1050" b="0" dirty="0">
                <a:solidFill>
                  <a:srgbClr val="202031"/>
                </a:solidFill>
                <a:latin typeface="Raleway"/>
              </a:rPr>
              <a:t> senior </a:t>
            </a:r>
            <a:r>
              <a:rPr sz="1050" b="0" dirty="0" err="1">
                <a:solidFill>
                  <a:srgbClr val="202031"/>
                </a:solidFill>
                <a:latin typeface="Raleway"/>
              </a:rPr>
              <a:t>que</a:t>
            </a:r>
            <a:r>
              <a:rPr sz="1050" b="0" dirty="0">
                <a:solidFill>
                  <a:srgbClr val="202031"/>
                </a:solidFill>
                <a:latin typeface="Raleway"/>
              </a:rPr>
              <a:t> se integra </a:t>
            </a:r>
            <a:r>
              <a:rPr sz="1050" b="0" dirty="0" err="1">
                <a:solidFill>
                  <a:srgbClr val="202031"/>
                </a:solidFill>
                <a:latin typeface="Raleway"/>
              </a:rPr>
              <a:t>en</a:t>
            </a:r>
            <a:r>
              <a:rPr sz="1050" b="0" dirty="0">
                <a:solidFill>
                  <a:srgbClr val="202031"/>
                </a:solidFill>
                <a:latin typeface="Raleway"/>
              </a:rPr>
              <a:t> el </a:t>
            </a:r>
            <a:r>
              <a:rPr sz="1050" b="0" dirty="0" err="1">
                <a:solidFill>
                  <a:srgbClr val="202031"/>
                </a:solidFill>
                <a:latin typeface="Raleway"/>
              </a:rPr>
              <a:t>proyecto</a:t>
            </a:r>
            <a:r>
              <a:rPr sz="1050" b="0" dirty="0">
                <a:solidFill>
                  <a:srgbClr val="202031"/>
                </a:solidFill>
                <a:latin typeface="Raleway"/>
              </a:rPr>
              <a:t> y </a:t>
            </a:r>
            <a:r>
              <a:rPr sz="1050" b="0" dirty="0" err="1">
                <a:solidFill>
                  <a:srgbClr val="202031"/>
                </a:solidFill>
                <a:latin typeface="Raleway"/>
              </a:rPr>
              <a:t>responde</a:t>
            </a:r>
            <a:r>
              <a:rPr sz="1050" b="0" dirty="0">
                <a:solidFill>
                  <a:srgbClr val="202031"/>
                </a:solidFill>
                <a:latin typeface="Raleway"/>
              </a:rPr>
              <a:t> </a:t>
            </a:r>
            <a:r>
              <a:rPr sz="1050" b="0" dirty="0" err="1">
                <a:solidFill>
                  <a:srgbClr val="202031"/>
                </a:solidFill>
                <a:latin typeface="Raleway"/>
              </a:rPr>
              <a:t>por</a:t>
            </a:r>
            <a:r>
              <a:rPr sz="1050" b="0" dirty="0">
                <a:solidFill>
                  <a:srgbClr val="202031"/>
                </a:solidFill>
                <a:latin typeface="Raleway"/>
              </a:rPr>
              <a:t> el </a:t>
            </a:r>
            <a:r>
              <a:rPr sz="1050" b="0" dirty="0" err="1">
                <a:solidFill>
                  <a:srgbClr val="202031"/>
                </a:solidFill>
                <a:latin typeface="Raleway"/>
              </a:rPr>
              <a:t>resultado</a:t>
            </a:r>
            <a:r>
              <a:rPr sz="1050" b="0" dirty="0">
                <a:solidFill>
                  <a:srgbClr val="202031"/>
                </a:solidFill>
                <a:latin typeface="Raleway"/>
              </a:rPr>
              <a:t>.</a:t>
            </a:r>
          </a:p>
        </p:txBody>
      </p:sp>
      <p:sp>
        <p:nvSpPr>
          <p:cNvPr id="8" name="TextBox 7"/>
          <p:cNvSpPr txBox="1"/>
          <p:nvPr/>
        </p:nvSpPr>
        <p:spPr>
          <a:xfrm>
            <a:off x="762000" y="2336800"/>
            <a:ext cx="1016000" cy="431800"/>
          </a:xfrm>
          <a:prstGeom prst="rect">
            <a:avLst/>
          </a:prstGeom>
          <a:noFill/>
        </p:spPr>
        <p:txBody>
          <a:bodyPr wrap="square" lIns="0" tIns="0" rIns="0" bIns="0" anchor="t">
            <a:spAutoFit/>
          </a:bodyPr>
          <a:lstStyle/>
          <a:p>
            <a:pPr algn="l"/>
            <a:r>
              <a:rPr sz="2600" b="0">
                <a:solidFill>
                  <a:srgbClr val="202031"/>
                </a:solidFill>
                <a:latin typeface="Manrope ExtraLight"/>
              </a:rPr>
              <a:t>2</a:t>
            </a:r>
          </a:p>
        </p:txBody>
      </p:sp>
      <p:sp>
        <p:nvSpPr>
          <p:cNvPr id="9" name="TextBox 8"/>
          <p:cNvSpPr txBox="1"/>
          <p:nvPr/>
        </p:nvSpPr>
        <p:spPr>
          <a:xfrm>
            <a:off x="762000" y="2743200"/>
            <a:ext cx="2963333" cy="355600"/>
          </a:xfrm>
          <a:prstGeom prst="rect">
            <a:avLst/>
          </a:prstGeom>
          <a:noFill/>
        </p:spPr>
        <p:txBody>
          <a:bodyPr wrap="square" lIns="0" tIns="0" rIns="0" bIns="0" anchor="t">
            <a:spAutoFit/>
          </a:bodyPr>
          <a:lstStyle/>
          <a:p>
            <a:pPr algn="l">
              <a:lnSpc>
                <a:spcPct val="110000"/>
              </a:lnSpc>
            </a:pPr>
            <a:r>
              <a:rPr sz="950" b="0">
                <a:solidFill>
                  <a:srgbClr val="202031"/>
                </a:solidFill>
                <a:latin typeface="Raleway"/>
              </a:rPr>
              <a:t>áreas: Finance y Human Capital</a:t>
            </a:r>
          </a:p>
        </p:txBody>
      </p:sp>
      <p:sp>
        <p:nvSpPr>
          <p:cNvPr id="10" name="TextBox 9"/>
          <p:cNvSpPr txBox="1"/>
          <p:nvPr/>
        </p:nvSpPr>
        <p:spPr>
          <a:xfrm>
            <a:off x="4474296" y="2336800"/>
            <a:ext cx="1016000" cy="431800"/>
          </a:xfrm>
          <a:prstGeom prst="rect">
            <a:avLst/>
          </a:prstGeom>
          <a:noFill/>
        </p:spPr>
        <p:txBody>
          <a:bodyPr wrap="square" lIns="0" tIns="0" rIns="0" bIns="0" anchor="t">
            <a:spAutoFit/>
          </a:bodyPr>
          <a:lstStyle/>
          <a:p>
            <a:pPr algn="l"/>
            <a:r>
              <a:rPr sz="2600" b="0" dirty="0">
                <a:solidFill>
                  <a:srgbClr val="202031"/>
                </a:solidFill>
                <a:latin typeface="Manrope ExtraLight"/>
              </a:rPr>
              <a:t>+21</a:t>
            </a:r>
          </a:p>
        </p:txBody>
      </p:sp>
      <p:sp>
        <p:nvSpPr>
          <p:cNvPr id="11" name="TextBox 10"/>
          <p:cNvSpPr txBox="1"/>
          <p:nvPr/>
        </p:nvSpPr>
        <p:spPr>
          <a:xfrm>
            <a:off x="4474296" y="2743200"/>
            <a:ext cx="2963333" cy="355600"/>
          </a:xfrm>
          <a:prstGeom prst="rect">
            <a:avLst/>
          </a:prstGeom>
          <a:noFill/>
        </p:spPr>
        <p:txBody>
          <a:bodyPr wrap="square" lIns="0" tIns="0" rIns="0" bIns="0" anchor="t">
            <a:spAutoFit/>
          </a:bodyPr>
          <a:lstStyle/>
          <a:p>
            <a:pPr algn="l">
              <a:lnSpc>
                <a:spcPct val="110000"/>
              </a:lnSpc>
            </a:pPr>
            <a:r>
              <a:rPr sz="950" b="0">
                <a:solidFill>
                  <a:srgbClr val="202031"/>
                </a:solidFill>
                <a:latin typeface="Raleway"/>
              </a:rPr>
              <a:t>consultores y equipo de CFOs</a:t>
            </a:r>
          </a:p>
        </p:txBody>
      </p:sp>
      <p:sp>
        <p:nvSpPr>
          <p:cNvPr id="12" name="TextBox 11"/>
          <p:cNvSpPr txBox="1"/>
          <p:nvPr/>
        </p:nvSpPr>
        <p:spPr>
          <a:xfrm>
            <a:off x="7196666" y="2336800"/>
            <a:ext cx="1016000" cy="431800"/>
          </a:xfrm>
          <a:prstGeom prst="rect">
            <a:avLst/>
          </a:prstGeom>
          <a:noFill/>
        </p:spPr>
        <p:txBody>
          <a:bodyPr wrap="square" lIns="0" tIns="0" rIns="0" bIns="0" anchor="t">
            <a:spAutoFit/>
          </a:bodyPr>
          <a:lstStyle/>
          <a:p>
            <a:pPr algn="l"/>
            <a:r>
              <a:rPr sz="2600" b="0">
                <a:solidFill>
                  <a:srgbClr val="202031"/>
                </a:solidFill>
                <a:latin typeface="Manrope ExtraLight"/>
              </a:rPr>
              <a:t>3</a:t>
            </a:r>
          </a:p>
        </p:txBody>
      </p:sp>
      <p:sp>
        <p:nvSpPr>
          <p:cNvPr id="13" name="TextBox 12"/>
          <p:cNvSpPr txBox="1"/>
          <p:nvPr/>
        </p:nvSpPr>
        <p:spPr>
          <a:xfrm>
            <a:off x="7196666" y="2743200"/>
            <a:ext cx="2963333" cy="355600"/>
          </a:xfrm>
          <a:prstGeom prst="rect">
            <a:avLst/>
          </a:prstGeom>
          <a:noFill/>
        </p:spPr>
        <p:txBody>
          <a:bodyPr wrap="square" lIns="0" tIns="0" rIns="0" bIns="0" anchor="t">
            <a:spAutoFit/>
          </a:bodyPr>
          <a:lstStyle/>
          <a:p>
            <a:pPr algn="l">
              <a:lnSpc>
                <a:spcPct val="110000"/>
              </a:lnSpc>
            </a:pPr>
            <a:r>
              <a:rPr sz="950" b="0" dirty="0" err="1">
                <a:solidFill>
                  <a:srgbClr val="202031"/>
                </a:solidFill>
                <a:latin typeface="Raleway"/>
              </a:rPr>
              <a:t>oficinas</a:t>
            </a:r>
            <a:r>
              <a:rPr sz="950" b="0" dirty="0">
                <a:solidFill>
                  <a:srgbClr val="202031"/>
                </a:solidFill>
                <a:latin typeface="Raleway"/>
              </a:rPr>
              <a:t> </a:t>
            </a:r>
            <a:r>
              <a:rPr sz="950" b="0" dirty="0" err="1">
                <a:solidFill>
                  <a:srgbClr val="202031"/>
                </a:solidFill>
                <a:latin typeface="Raleway"/>
              </a:rPr>
              <a:t>en</a:t>
            </a:r>
            <a:r>
              <a:rPr sz="950" b="0" dirty="0">
                <a:solidFill>
                  <a:srgbClr val="202031"/>
                </a:solidFill>
                <a:latin typeface="Raleway"/>
              </a:rPr>
              <a:t> España</a:t>
            </a:r>
          </a:p>
        </p:txBody>
      </p:sp>
      <p:sp>
        <p:nvSpPr>
          <p:cNvPr id="14" name="TextBox 13"/>
          <p:cNvSpPr txBox="1"/>
          <p:nvPr/>
        </p:nvSpPr>
        <p:spPr>
          <a:xfrm>
            <a:off x="762000" y="6477000"/>
            <a:ext cx="3810000" cy="203200"/>
          </a:xfrm>
          <a:prstGeom prst="rect">
            <a:avLst/>
          </a:prstGeom>
          <a:noFill/>
        </p:spPr>
        <p:txBody>
          <a:bodyPr wrap="square" lIns="0" tIns="0" rIns="0" bIns="0" anchor="t">
            <a:spAutoFit/>
          </a:bodyPr>
          <a:lstStyle/>
          <a:p>
            <a:pPr algn="l"/>
            <a:r>
              <a:rPr sz="900" b="0">
                <a:solidFill>
                  <a:srgbClr val="587579"/>
                </a:solidFill>
                <a:latin typeface="Raleway"/>
              </a:rPr>
              <a:t>tesseraservices.com</a:t>
            </a:r>
          </a:p>
        </p:txBody>
      </p:sp>
      <p:sp>
        <p:nvSpPr>
          <p:cNvPr id="15" name="TextBox 14"/>
          <p:cNvSpPr txBox="1"/>
          <p:nvPr/>
        </p:nvSpPr>
        <p:spPr>
          <a:xfrm>
            <a:off x="10668000" y="6400800"/>
            <a:ext cx="762000" cy="330200"/>
          </a:xfrm>
          <a:prstGeom prst="rect">
            <a:avLst/>
          </a:prstGeom>
          <a:noFill/>
        </p:spPr>
        <p:txBody>
          <a:bodyPr wrap="square" lIns="0" tIns="0" rIns="0" bIns="0" anchor="t">
            <a:spAutoFit/>
          </a:bodyPr>
          <a:lstStyle/>
          <a:p>
            <a:pPr algn="r"/>
            <a:r>
              <a:rPr sz="1600" b="0">
                <a:solidFill>
                  <a:srgbClr val="202031"/>
                </a:solidFill>
                <a:latin typeface="Manrope Medium"/>
              </a:rPr>
              <a:t>02</a:t>
            </a:r>
          </a:p>
        </p:txBody>
      </p:sp>
      <p:sp>
        <p:nvSpPr>
          <p:cNvPr id="16" name="Rectangle 15"/>
          <p:cNvSpPr/>
          <p:nvPr/>
        </p:nvSpPr>
        <p:spPr>
          <a:xfrm>
            <a:off x="762000" y="4129613"/>
            <a:ext cx="3378200" cy="12700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90600" y="4510613"/>
            <a:ext cx="2921000" cy="304800"/>
          </a:xfrm>
          <a:prstGeom prst="rect">
            <a:avLst/>
          </a:prstGeom>
          <a:noFill/>
        </p:spPr>
        <p:txBody>
          <a:bodyPr wrap="square" lIns="0" tIns="0" rIns="0" bIns="0" anchor="t">
            <a:spAutoFit/>
          </a:bodyPr>
          <a:lstStyle/>
          <a:p>
            <a:pPr algn="l"/>
            <a:r>
              <a:rPr sz="1500" b="0">
                <a:solidFill>
                  <a:srgbClr val="202031"/>
                </a:solidFill>
                <a:latin typeface="Raleway SemiBold"/>
              </a:rPr>
              <a:t>MADRID</a:t>
            </a:r>
          </a:p>
        </p:txBody>
      </p:sp>
      <p:sp>
        <p:nvSpPr>
          <p:cNvPr id="19" name="TextBox 18"/>
          <p:cNvSpPr txBox="1"/>
          <p:nvPr/>
        </p:nvSpPr>
        <p:spPr>
          <a:xfrm>
            <a:off x="990600" y="4866213"/>
            <a:ext cx="2921000" cy="254000"/>
          </a:xfrm>
          <a:prstGeom prst="rect">
            <a:avLst/>
          </a:prstGeom>
          <a:noFill/>
        </p:spPr>
        <p:txBody>
          <a:bodyPr wrap="square" lIns="0" tIns="0" rIns="0" bIns="0" anchor="t">
            <a:spAutoFit/>
          </a:bodyPr>
          <a:lstStyle/>
          <a:p>
            <a:pPr algn="l"/>
            <a:r>
              <a:rPr sz="1000" b="0">
                <a:solidFill>
                  <a:srgbClr val="587579"/>
                </a:solidFill>
                <a:latin typeface="Raleway"/>
              </a:rPr>
              <a:t>Sede central</a:t>
            </a:r>
          </a:p>
        </p:txBody>
      </p:sp>
      <p:sp>
        <p:nvSpPr>
          <p:cNvPr id="20" name="Rectangle 19"/>
          <p:cNvSpPr/>
          <p:nvPr/>
        </p:nvSpPr>
        <p:spPr>
          <a:xfrm>
            <a:off x="4406900" y="4129613"/>
            <a:ext cx="3378200" cy="12700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35500" y="4510613"/>
            <a:ext cx="2921000" cy="304800"/>
          </a:xfrm>
          <a:prstGeom prst="rect">
            <a:avLst/>
          </a:prstGeom>
          <a:noFill/>
        </p:spPr>
        <p:txBody>
          <a:bodyPr wrap="square" lIns="0" tIns="0" rIns="0" bIns="0" anchor="t">
            <a:spAutoFit/>
          </a:bodyPr>
          <a:lstStyle/>
          <a:p>
            <a:pPr algn="l"/>
            <a:r>
              <a:rPr sz="1500" b="0">
                <a:solidFill>
                  <a:srgbClr val="202031"/>
                </a:solidFill>
                <a:latin typeface="Raleway SemiBold"/>
              </a:rPr>
              <a:t>BILBAO</a:t>
            </a:r>
          </a:p>
        </p:txBody>
      </p:sp>
      <p:sp>
        <p:nvSpPr>
          <p:cNvPr id="23" name="TextBox 22"/>
          <p:cNvSpPr txBox="1"/>
          <p:nvPr/>
        </p:nvSpPr>
        <p:spPr>
          <a:xfrm>
            <a:off x="4635500" y="4866213"/>
            <a:ext cx="2921000" cy="254000"/>
          </a:xfrm>
          <a:prstGeom prst="rect">
            <a:avLst/>
          </a:prstGeom>
          <a:noFill/>
        </p:spPr>
        <p:txBody>
          <a:bodyPr wrap="square" lIns="0" tIns="0" rIns="0" bIns="0" anchor="t">
            <a:spAutoFit/>
          </a:bodyPr>
          <a:lstStyle/>
          <a:p>
            <a:pPr algn="l"/>
            <a:r>
              <a:rPr sz="1000" b="0">
                <a:solidFill>
                  <a:srgbClr val="587579"/>
                </a:solidFill>
                <a:latin typeface="Raleway"/>
              </a:rPr>
              <a:t>País Vasco - España</a:t>
            </a:r>
          </a:p>
        </p:txBody>
      </p:sp>
      <p:sp>
        <p:nvSpPr>
          <p:cNvPr id="24" name="Rectangle 23"/>
          <p:cNvSpPr/>
          <p:nvPr/>
        </p:nvSpPr>
        <p:spPr>
          <a:xfrm>
            <a:off x="8051800" y="4129613"/>
            <a:ext cx="3378200" cy="12700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80400" y="4510613"/>
            <a:ext cx="2921000" cy="304800"/>
          </a:xfrm>
          <a:prstGeom prst="rect">
            <a:avLst/>
          </a:prstGeom>
          <a:noFill/>
        </p:spPr>
        <p:txBody>
          <a:bodyPr wrap="square" lIns="0" tIns="0" rIns="0" bIns="0" anchor="t">
            <a:spAutoFit/>
          </a:bodyPr>
          <a:lstStyle/>
          <a:p>
            <a:pPr algn="l"/>
            <a:r>
              <a:rPr sz="1500" b="0">
                <a:solidFill>
                  <a:srgbClr val="202031"/>
                </a:solidFill>
                <a:latin typeface="Raleway SemiBold"/>
              </a:rPr>
              <a:t>OVIEDO</a:t>
            </a:r>
          </a:p>
        </p:txBody>
      </p:sp>
      <p:sp>
        <p:nvSpPr>
          <p:cNvPr id="27" name="TextBox 26"/>
          <p:cNvSpPr txBox="1"/>
          <p:nvPr/>
        </p:nvSpPr>
        <p:spPr>
          <a:xfrm>
            <a:off x="8280400" y="4866213"/>
            <a:ext cx="2921000" cy="254000"/>
          </a:xfrm>
          <a:prstGeom prst="rect">
            <a:avLst/>
          </a:prstGeom>
          <a:noFill/>
        </p:spPr>
        <p:txBody>
          <a:bodyPr wrap="square" lIns="0" tIns="0" rIns="0" bIns="0" anchor="t">
            <a:spAutoFit/>
          </a:bodyPr>
          <a:lstStyle/>
          <a:p>
            <a:pPr algn="l"/>
            <a:r>
              <a:rPr sz="1000" b="0">
                <a:solidFill>
                  <a:srgbClr val="587579"/>
                </a:solidFill>
                <a:latin typeface="Raleway"/>
              </a:rPr>
              <a:t>Asturias - España</a:t>
            </a:r>
          </a:p>
        </p:txBody>
      </p:sp>
      <p:sp>
        <p:nvSpPr>
          <p:cNvPr id="28" name="Rectangle 27"/>
          <p:cNvSpPr/>
          <p:nvPr/>
        </p:nvSpPr>
        <p:spPr>
          <a:xfrm>
            <a:off x="762000" y="5490087"/>
            <a:ext cx="3081866" cy="889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5200" y="5667887"/>
            <a:ext cx="2675466" cy="203200"/>
          </a:xfrm>
          <a:prstGeom prst="rect">
            <a:avLst/>
          </a:prstGeom>
          <a:noFill/>
        </p:spPr>
        <p:txBody>
          <a:bodyPr wrap="square" lIns="0" tIns="0" rIns="0" bIns="0" anchor="t">
            <a:spAutoFit/>
          </a:bodyPr>
          <a:lstStyle/>
          <a:p>
            <a:pPr algn="l"/>
            <a:r>
              <a:rPr sz="900" b="0" spc="80">
                <a:solidFill>
                  <a:srgbClr val="587579"/>
                </a:solidFill>
                <a:latin typeface="Raleway Medium"/>
              </a:rPr>
              <a:t>BOUTIQUE</a:t>
            </a:r>
          </a:p>
        </p:txBody>
      </p:sp>
      <p:sp>
        <p:nvSpPr>
          <p:cNvPr id="30" name="TextBox 29"/>
          <p:cNvSpPr txBox="1"/>
          <p:nvPr/>
        </p:nvSpPr>
        <p:spPr>
          <a:xfrm>
            <a:off x="965200" y="5921887"/>
            <a:ext cx="2675466" cy="355600"/>
          </a:xfrm>
          <a:prstGeom prst="rect">
            <a:avLst/>
          </a:prstGeom>
          <a:noFill/>
        </p:spPr>
        <p:txBody>
          <a:bodyPr wrap="square" lIns="0" tIns="0" rIns="0" bIns="0" anchor="t">
            <a:spAutoFit/>
          </a:bodyPr>
          <a:lstStyle/>
          <a:p>
            <a:pPr algn="l"/>
            <a:r>
              <a:rPr sz="1000" b="0">
                <a:solidFill>
                  <a:srgbClr val="202031"/>
                </a:solidFill>
                <a:latin typeface="Raleway"/>
              </a:rPr>
              <a:t>Equipo senior en cada proyecto.</a:t>
            </a:r>
          </a:p>
        </p:txBody>
      </p:sp>
      <p:sp>
        <p:nvSpPr>
          <p:cNvPr id="31" name="Rectangle 30"/>
          <p:cNvSpPr/>
          <p:nvPr/>
        </p:nvSpPr>
        <p:spPr>
          <a:xfrm>
            <a:off x="4047066" y="5490087"/>
            <a:ext cx="3081866" cy="889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250266" y="5667887"/>
            <a:ext cx="2675466" cy="203200"/>
          </a:xfrm>
          <a:prstGeom prst="rect">
            <a:avLst/>
          </a:prstGeom>
          <a:noFill/>
        </p:spPr>
        <p:txBody>
          <a:bodyPr wrap="square" lIns="0" tIns="0" rIns="0" bIns="0" anchor="t">
            <a:spAutoFit/>
          </a:bodyPr>
          <a:lstStyle/>
          <a:p>
            <a:pPr algn="l"/>
            <a:r>
              <a:rPr sz="900" b="0" spc="80">
                <a:solidFill>
                  <a:srgbClr val="587579"/>
                </a:solidFill>
                <a:latin typeface="Raleway Medium"/>
              </a:rPr>
              <a:t>TRATO DIRECTO</a:t>
            </a:r>
          </a:p>
        </p:txBody>
      </p:sp>
      <p:sp>
        <p:nvSpPr>
          <p:cNvPr id="33" name="TextBox 32"/>
          <p:cNvSpPr txBox="1"/>
          <p:nvPr/>
        </p:nvSpPr>
        <p:spPr>
          <a:xfrm>
            <a:off x="4250266" y="5921887"/>
            <a:ext cx="2675466" cy="355600"/>
          </a:xfrm>
          <a:prstGeom prst="rect">
            <a:avLst/>
          </a:prstGeom>
          <a:noFill/>
        </p:spPr>
        <p:txBody>
          <a:bodyPr wrap="square" lIns="0" tIns="0" rIns="0" bIns="0" anchor="t">
            <a:spAutoFit/>
          </a:bodyPr>
          <a:lstStyle/>
          <a:p>
            <a:pPr algn="l"/>
            <a:r>
              <a:rPr sz="1000" b="0">
                <a:solidFill>
                  <a:srgbClr val="202031"/>
                </a:solidFill>
                <a:latin typeface="Raleway"/>
              </a:rPr>
              <a:t>Un interlocutor, de tú a tú.</a:t>
            </a:r>
          </a:p>
        </p:txBody>
      </p:sp>
      <p:sp>
        <p:nvSpPr>
          <p:cNvPr id="34" name="Rectangle 33"/>
          <p:cNvSpPr/>
          <p:nvPr/>
        </p:nvSpPr>
        <p:spPr>
          <a:xfrm>
            <a:off x="7332133" y="5490087"/>
            <a:ext cx="3081866" cy="889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535333" y="5667887"/>
            <a:ext cx="2675466" cy="203200"/>
          </a:xfrm>
          <a:prstGeom prst="rect">
            <a:avLst/>
          </a:prstGeom>
          <a:noFill/>
        </p:spPr>
        <p:txBody>
          <a:bodyPr wrap="square" lIns="0" tIns="0" rIns="0" bIns="0" anchor="t">
            <a:spAutoFit/>
          </a:bodyPr>
          <a:lstStyle/>
          <a:p>
            <a:pPr algn="l"/>
            <a:r>
              <a:rPr sz="900" b="0" spc="80">
                <a:solidFill>
                  <a:srgbClr val="587579"/>
                </a:solidFill>
                <a:latin typeface="Raleway Medium"/>
              </a:rPr>
              <a:t>VISIÓN DE NEGOCIO</a:t>
            </a:r>
          </a:p>
        </p:txBody>
      </p:sp>
      <p:sp>
        <p:nvSpPr>
          <p:cNvPr id="36" name="TextBox 35"/>
          <p:cNvSpPr txBox="1"/>
          <p:nvPr/>
        </p:nvSpPr>
        <p:spPr>
          <a:xfrm>
            <a:off x="7535333" y="5921887"/>
            <a:ext cx="2675466" cy="355600"/>
          </a:xfrm>
          <a:prstGeom prst="rect">
            <a:avLst/>
          </a:prstGeom>
          <a:noFill/>
        </p:spPr>
        <p:txBody>
          <a:bodyPr wrap="square" lIns="0" tIns="0" rIns="0" bIns="0" anchor="t">
            <a:spAutoFit/>
          </a:bodyPr>
          <a:lstStyle/>
          <a:p>
            <a:pPr algn="l"/>
            <a:r>
              <a:rPr sz="1000" b="0">
                <a:solidFill>
                  <a:srgbClr val="202031"/>
                </a:solidFill>
                <a:latin typeface="Raleway"/>
              </a:rPr>
              <a:t>Al servicio de la tesis de inversión.</a:t>
            </a:r>
          </a:p>
        </p:txBody>
      </p:sp>
      <p:sp>
        <p:nvSpPr>
          <p:cNvPr id="38" name="Graphic 17">
            <a:extLst>
              <a:ext uri="{FF2B5EF4-FFF2-40B4-BE49-F238E27FC236}">
                <a16:creationId xmlns:a16="http://schemas.microsoft.com/office/drawing/2014/main" id="{E028163A-99E4-6946-5526-87355120F93A}"/>
              </a:ext>
            </a:extLst>
          </p:cNvPr>
          <p:cNvSpPr/>
          <p:nvPr/>
        </p:nvSpPr>
        <p:spPr>
          <a:xfrm>
            <a:off x="9375848" y="2999540"/>
            <a:ext cx="2584303" cy="2120673"/>
          </a:xfrm>
          <a:custGeom>
            <a:avLst/>
            <a:gdLst>
              <a:gd name="csX0" fmla="*/ 2420120 w 2765447"/>
              <a:gd name="csY0" fmla="*/ 305991 h 2294737"/>
              <a:gd name="csX1" fmla="*/ 2239870 w 2765447"/>
              <a:gd name="csY1" fmla="*/ 1988324 h 2294737"/>
              <a:gd name="csX2" fmla="*/ 437378 w 2765447"/>
              <a:gd name="csY2" fmla="*/ 2048407 h 2294737"/>
              <a:gd name="csX3" fmla="*/ 257129 w 2765447"/>
              <a:gd name="csY3" fmla="*/ 426157 h 2294737"/>
              <a:gd name="csX4" fmla="*/ 2420120 w 2765447"/>
              <a:gd name="csY4" fmla="*/ 305991 h 2294737"/>
            </a:gdLst>
            <a:ahLst/>
            <a:cxnLst>
              <a:cxn ang="0">
                <a:pos x="csX0" y="csY0"/>
              </a:cxn>
              <a:cxn ang="0">
                <a:pos x="csX1" y="csY1"/>
              </a:cxn>
              <a:cxn ang="0">
                <a:pos x="csX2" y="csY2"/>
              </a:cxn>
              <a:cxn ang="0">
                <a:pos x="csX3" y="csY3"/>
              </a:cxn>
              <a:cxn ang="0">
                <a:pos x="csX4" y="csY4"/>
              </a:cxn>
            </a:cxnLst>
            <a:rect l="l" t="t" r="r" b="b"/>
            <a:pathLst>
              <a:path w="2765447" h="2294737">
                <a:moveTo>
                  <a:pt x="2420120" y="305991"/>
                </a:moveTo>
                <a:cubicBezTo>
                  <a:pt x="2960867" y="786662"/>
                  <a:pt x="2840701" y="1567742"/>
                  <a:pt x="2239870" y="1988324"/>
                </a:cubicBezTo>
                <a:cubicBezTo>
                  <a:pt x="1699122" y="2360839"/>
                  <a:pt x="918042" y="2408906"/>
                  <a:pt x="437378" y="2048407"/>
                </a:cubicBezTo>
                <a:cubicBezTo>
                  <a:pt x="-43287" y="1687908"/>
                  <a:pt x="-163453" y="906828"/>
                  <a:pt x="257129" y="426157"/>
                </a:cubicBezTo>
                <a:cubicBezTo>
                  <a:pt x="677711" y="-54508"/>
                  <a:pt x="1879372" y="-174674"/>
                  <a:pt x="2420120" y="305991"/>
                </a:cubicBezTo>
                <a:close/>
              </a:path>
            </a:pathLst>
          </a:custGeom>
          <a:blipFill>
            <a:blip r:embed="rId3"/>
            <a:stretch>
              <a:fillRect l="135" r="-135" b="-8766"/>
            </a:stretch>
          </a:blipFill>
          <a:ln w="48006" cap="rnd">
            <a:gradFill>
              <a:gsLst>
                <a:gs pos="0">
                  <a:srgbClr val="587579"/>
                </a:gs>
                <a:gs pos="52000">
                  <a:srgbClr val="6E8E7E"/>
                </a:gs>
                <a:gs pos="100000">
                  <a:srgbClr val="F0E8DE"/>
                </a:gs>
              </a:gsLst>
              <a:lin ang="0" scaled="1"/>
            </a:gradFill>
            <a:prstDash val="solid"/>
            <a:round/>
          </a:ln>
        </p:spPr>
        <p:txBody>
          <a:bodyPr/>
          <a:lstStyle/>
          <a:p>
            <a:endParaRPr lang="es-ES_tradnl" dirty="0"/>
          </a:p>
        </p:txBody>
      </p:sp>
      <p:sp>
        <p:nvSpPr>
          <p:cNvPr id="40" name="Graphic 17">
            <a:extLst>
              <a:ext uri="{FF2B5EF4-FFF2-40B4-BE49-F238E27FC236}">
                <a16:creationId xmlns:a16="http://schemas.microsoft.com/office/drawing/2014/main" id="{019A56C6-B5FA-FBBA-06EB-10D8201DF9C1}"/>
              </a:ext>
            </a:extLst>
          </p:cNvPr>
          <p:cNvSpPr/>
          <p:nvPr/>
        </p:nvSpPr>
        <p:spPr>
          <a:xfrm>
            <a:off x="5654437" y="2999540"/>
            <a:ext cx="2584303" cy="2120673"/>
          </a:xfrm>
          <a:custGeom>
            <a:avLst/>
            <a:gdLst>
              <a:gd name="csX0" fmla="*/ 2420120 w 2765447"/>
              <a:gd name="csY0" fmla="*/ 305991 h 2294737"/>
              <a:gd name="csX1" fmla="*/ 2239870 w 2765447"/>
              <a:gd name="csY1" fmla="*/ 1988324 h 2294737"/>
              <a:gd name="csX2" fmla="*/ 437378 w 2765447"/>
              <a:gd name="csY2" fmla="*/ 2048407 h 2294737"/>
              <a:gd name="csX3" fmla="*/ 257129 w 2765447"/>
              <a:gd name="csY3" fmla="*/ 426157 h 2294737"/>
              <a:gd name="csX4" fmla="*/ 2420120 w 2765447"/>
              <a:gd name="csY4" fmla="*/ 305991 h 2294737"/>
            </a:gdLst>
            <a:ahLst/>
            <a:cxnLst>
              <a:cxn ang="0">
                <a:pos x="csX0" y="csY0"/>
              </a:cxn>
              <a:cxn ang="0">
                <a:pos x="csX1" y="csY1"/>
              </a:cxn>
              <a:cxn ang="0">
                <a:pos x="csX2" y="csY2"/>
              </a:cxn>
              <a:cxn ang="0">
                <a:pos x="csX3" y="csY3"/>
              </a:cxn>
              <a:cxn ang="0">
                <a:pos x="csX4" y="csY4"/>
              </a:cxn>
            </a:cxnLst>
            <a:rect l="l" t="t" r="r" b="b"/>
            <a:pathLst>
              <a:path w="2765447" h="2294737">
                <a:moveTo>
                  <a:pt x="2420120" y="305991"/>
                </a:moveTo>
                <a:cubicBezTo>
                  <a:pt x="2960867" y="786662"/>
                  <a:pt x="2840701" y="1567742"/>
                  <a:pt x="2239870" y="1988324"/>
                </a:cubicBezTo>
                <a:cubicBezTo>
                  <a:pt x="1699122" y="2360839"/>
                  <a:pt x="918042" y="2408906"/>
                  <a:pt x="437378" y="2048407"/>
                </a:cubicBezTo>
                <a:cubicBezTo>
                  <a:pt x="-43287" y="1687908"/>
                  <a:pt x="-163453" y="906828"/>
                  <a:pt x="257129" y="426157"/>
                </a:cubicBezTo>
                <a:cubicBezTo>
                  <a:pt x="677711" y="-54508"/>
                  <a:pt x="1879372" y="-174674"/>
                  <a:pt x="2420120" y="305991"/>
                </a:cubicBezTo>
                <a:close/>
              </a:path>
            </a:pathLst>
          </a:custGeom>
          <a:blipFill>
            <a:blip r:embed="rId4"/>
            <a:stretch>
              <a:fillRect l="135" r="-135" b="-8766"/>
            </a:stretch>
          </a:blipFill>
          <a:ln w="48006" cap="rnd">
            <a:gradFill>
              <a:gsLst>
                <a:gs pos="0">
                  <a:srgbClr val="5E7B7A"/>
                </a:gs>
                <a:gs pos="27000">
                  <a:srgbClr val="5E7B7A"/>
                </a:gs>
                <a:gs pos="59000">
                  <a:srgbClr val="F0E8DE"/>
                </a:gs>
                <a:gs pos="83000">
                  <a:srgbClr val="5E7B7A"/>
                </a:gs>
              </a:gsLst>
              <a:lin ang="5400000" scaled="1"/>
            </a:gradFill>
            <a:prstDash val="solid"/>
            <a:round/>
          </a:ln>
        </p:spPr>
        <p:txBody>
          <a:bodyPr/>
          <a:lstStyle/>
          <a:p>
            <a:endParaRPr lang="es-ES_tradnl"/>
          </a:p>
        </p:txBody>
      </p:sp>
      <p:sp>
        <p:nvSpPr>
          <p:cNvPr id="42" name="Graphic 17">
            <a:extLst>
              <a:ext uri="{FF2B5EF4-FFF2-40B4-BE49-F238E27FC236}">
                <a16:creationId xmlns:a16="http://schemas.microsoft.com/office/drawing/2014/main" id="{F8DB76AB-9200-F960-460F-785AB6A28033}"/>
              </a:ext>
            </a:extLst>
          </p:cNvPr>
          <p:cNvSpPr/>
          <p:nvPr/>
        </p:nvSpPr>
        <p:spPr>
          <a:xfrm>
            <a:off x="1916067" y="2983465"/>
            <a:ext cx="2584303" cy="2120673"/>
          </a:xfrm>
          <a:custGeom>
            <a:avLst/>
            <a:gdLst>
              <a:gd name="csX0" fmla="*/ 2420120 w 2765447"/>
              <a:gd name="csY0" fmla="*/ 305991 h 2294737"/>
              <a:gd name="csX1" fmla="*/ 2239870 w 2765447"/>
              <a:gd name="csY1" fmla="*/ 1988324 h 2294737"/>
              <a:gd name="csX2" fmla="*/ 437378 w 2765447"/>
              <a:gd name="csY2" fmla="*/ 2048407 h 2294737"/>
              <a:gd name="csX3" fmla="*/ 257129 w 2765447"/>
              <a:gd name="csY3" fmla="*/ 426157 h 2294737"/>
              <a:gd name="csX4" fmla="*/ 2420120 w 2765447"/>
              <a:gd name="csY4" fmla="*/ 305991 h 2294737"/>
            </a:gdLst>
            <a:ahLst/>
            <a:cxnLst>
              <a:cxn ang="0">
                <a:pos x="csX0" y="csY0"/>
              </a:cxn>
              <a:cxn ang="0">
                <a:pos x="csX1" y="csY1"/>
              </a:cxn>
              <a:cxn ang="0">
                <a:pos x="csX2" y="csY2"/>
              </a:cxn>
              <a:cxn ang="0">
                <a:pos x="csX3" y="csY3"/>
              </a:cxn>
              <a:cxn ang="0">
                <a:pos x="csX4" y="csY4"/>
              </a:cxn>
            </a:cxnLst>
            <a:rect l="l" t="t" r="r" b="b"/>
            <a:pathLst>
              <a:path w="2765447" h="2294737">
                <a:moveTo>
                  <a:pt x="2420120" y="305991"/>
                </a:moveTo>
                <a:cubicBezTo>
                  <a:pt x="2960867" y="786662"/>
                  <a:pt x="2840701" y="1567742"/>
                  <a:pt x="2239870" y="1988324"/>
                </a:cubicBezTo>
                <a:cubicBezTo>
                  <a:pt x="1699122" y="2360839"/>
                  <a:pt x="918042" y="2408906"/>
                  <a:pt x="437378" y="2048407"/>
                </a:cubicBezTo>
                <a:cubicBezTo>
                  <a:pt x="-43287" y="1687908"/>
                  <a:pt x="-163453" y="906828"/>
                  <a:pt x="257129" y="426157"/>
                </a:cubicBezTo>
                <a:cubicBezTo>
                  <a:pt x="677711" y="-54508"/>
                  <a:pt x="1879372" y="-174674"/>
                  <a:pt x="2420120" y="305991"/>
                </a:cubicBezTo>
                <a:close/>
              </a:path>
            </a:pathLst>
          </a:custGeom>
          <a:blipFill dpi="0" rotWithShape="1">
            <a:blip r:embed="rId5"/>
            <a:srcRect/>
            <a:stretch>
              <a:fillRect l="135" r="-135" b="-8766"/>
            </a:stretch>
          </a:blipFill>
          <a:ln w="48006" cap="rnd">
            <a:gradFill>
              <a:gsLst>
                <a:gs pos="0">
                  <a:srgbClr val="587579"/>
                </a:gs>
                <a:gs pos="52000">
                  <a:srgbClr val="6E8E7E"/>
                </a:gs>
                <a:gs pos="100000">
                  <a:srgbClr val="F0E8DE"/>
                </a:gs>
              </a:gsLst>
              <a:lin ang="0" scaled="1"/>
            </a:gradFill>
            <a:prstDash val="solid"/>
            <a:round/>
          </a:ln>
        </p:spPr>
        <p:txBody>
          <a:bodyPr/>
          <a:lstStyle/>
          <a:p>
            <a:endParaRPr lang="es-ES_tradnl"/>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spAutoFit/>
          </a:bodyPr>
          <a:lstStyle/>
          <a:p>
            <a:pPr algn="r"/>
            <a:r>
              <a:rPr sz="1000" b="0" spc="120">
                <a:solidFill>
                  <a:srgbClr val="587579"/>
                </a:solidFill>
                <a:latin typeface="Raleway Medium"/>
              </a:rPr>
              <a:t>TESSERA EN UNA PÁGINA</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889000"/>
            <a:ext cx="8890000" cy="635000"/>
          </a:xfrm>
          <a:prstGeom prst="rect">
            <a:avLst/>
          </a:prstGeom>
          <a:noFill/>
        </p:spPr>
        <p:txBody>
          <a:bodyPr wrap="square" lIns="0" tIns="0" rIns="0" bIns="0" anchor="t">
            <a:spAutoFit/>
          </a:bodyPr>
          <a:lstStyle/>
          <a:p>
            <a:pPr algn="l"/>
            <a:r>
              <a:rPr sz="3400" b="0">
                <a:solidFill>
                  <a:srgbClr val="202031"/>
                </a:solidFill>
                <a:latin typeface="Raleway Light"/>
              </a:rPr>
              <a:t>Tessera en una página</a:t>
            </a:r>
          </a:p>
        </p:txBody>
      </p:sp>
      <p:sp>
        <p:nvSpPr>
          <p:cNvPr id="6" name="TextBox 5"/>
          <p:cNvSpPr txBox="1"/>
          <p:nvPr/>
        </p:nvSpPr>
        <p:spPr>
          <a:xfrm>
            <a:off x="762000" y="1473200"/>
            <a:ext cx="3810000" cy="203200"/>
          </a:xfrm>
          <a:prstGeom prst="rect">
            <a:avLst/>
          </a:prstGeom>
          <a:noFill/>
        </p:spPr>
        <p:txBody>
          <a:bodyPr wrap="square" lIns="0" tIns="0" rIns="0" bIns="0" anchor="t">
            <a:spAutoFit/>
          </a:bodyPr>
          <a:lstStyle/>
          <a:p>
            <a:pPr algn="l"/>
            <a:r>
              <a:rPr sz="1200" b="0">
                <a:solidFill>
                  <a:srgbClr val="587579"/>
                </a:solidFill>
                <a:latin typeface="Raleway SemiBold"/>
              </a:rPr>
              <a:t>Mejores decisiones, juntos.</a:t>
            </a:r>
          </a:p>
        </p:txBody>
      </p:sp>
      <p:sp>
        <p:nvSpPr>
          <p:cNvPr id="7" name="TextBox 6"/>
          <p:cNvSpPr txBox="1"/>
          <p:nvPr/>
        </p:nvSpPr>
        <p:spPr>
          <a:xfrm>
            <a:off x="762000" y="1752600"/>
            <a:ext cx="9652000" cy="457200"/>
          </a:xfrm>
          <a:prstGeom prst="rect">
            <a:avLst/>
          </a:prstGeom>
          <a:noFill/>
        </p:spPr>
        <p:txBody>
          <a:bodyPr wrap="square" lIns="0" tIns="0" rIns="0" bIns="0" anchor="t">
            <a:spAutoFit/>
          </a:bodyPr>
          <a:lstStyle/>
          <a:p>
            <a:pPr algn="l">
              <a:lnSpc>
                <a:spcPct val="120000"/>
              </a:lnSpc>
            </a:pPr>
            <a:r>
              <a:rPr sz="1050" b="0">
                <a:solidFill>
                  <a:srgbClr val="202031"/>
                </a:solidFill>
                <a:latin typeface="Raleway"/>
              </a:rPr>
              <a:t>Consultoría estratégica en Finanzas y Talento para compañías, inversores y sus participadas. Un equipo senior que se integra en el proyecto y responde por el resultado.</a:t>
            </a:r>
          </a:p>
        </p:txBody>
      </p:sp>
      <p:sp>
        <p:nvSpPr>
          <p:cNvPr id="8" name="TextBox 7"/>
          <p:cNvSpPr txBox="1"/>
          <p:nvPr/>
        </p:nvSpPr>
        <p:spPr>
          <a:xfrm>
            <a:off x="762000" y="2349499"/>
            <a:ext cx="1016000" cy="431800"/>
          </a:xfrm>
          <a:prstGeom prst="rect">
            <a:avLst/>
          </a:prstGeom>
          <a:noFill/>
        </p:spPr>
        <p:txBody>
          <a:bodyPr wrap="square" lIns="0" tIns="0" rIns="0" bIns="0" anchor="t">
            <a:spAutoFit/>
          </a:bodyPr>
          <a:lstStyle/>
          <a:p>
            <a:pPr algn="l"/>
            <a:r>
              <a:rPr sz="2600" b="0">
                <a:solidFill>
                  <a:srgbClr val="202031"/>
                </a:solidFill>
                <a:latin typeface="Manrope ExtraLight"/>
              </a:rPr>
              <a:t>2</a:t>
            </a:r>
          </a:p>
        </p:txBody>
      </p:sp>
      <p:sp>
        <p:nvSpPr>
          <p:cNvPr id="9" name="TextBox 8"/>
          <p:cNvSpPr txBox="1"/>
          <p:nvPr/>
        </p:nvSpPr>
        <p:spPr>
          <a:xfrm>
            <a:off x="762000" y="2755899"/>
            <a:ext cx="2963333" cy="355600"/>
          </a:xfrm>
          <a:prstGeom prst="rect">
            <a:avLst/>
          </a:prstGeom>
          <a:noFill/>
        </p:spPr>
        <p:txBody>
          <a:bodyPr wrap="square" lIns="0" tIns="0" rIns="0" bIns="0" anchor="t">
            <a:spAutoFit/>
          </a:bodyPr>
          <a:lstStyle/>
          <a:p>
            <a:pPr algn="l">
              <a:lnSpc>
                <a:spcPct val="110000"/>
              </a:lnSpc>
            </a:pPr>
            <a:r>
              <a:rPr sz="950" b="0">
                <a:solidFill>
                  <a:srgbClr val="202031"/>
                </a:solidFill>
                <a:latin typeface="Raleway"/>
              </a:rPr>
              <a:t>áreas: Finance y Human Capital</a:t>
            </a:r>
          </a:p>
        </p:txBody>
      </p:sp>
      <p:sp>
        <p:nvSpPr>
          <p:cNvPr id="10" name="TextBox 9"/>
          <p:cNvSpPr txBox="1"/>
          <p:nvPr/>
        </p:nvSpPr>
        <p:spPr>
          <a:xfrm>
            <a:off x="5317066" y="2336800"/>
            <a:ext cx="1016000" cy="431800"/>
          </a:xfrm>
          <a:prstGeom prst="rect">
            <a:avLst/>
          </a:prstGeom>
          <a:noFill/>
        </p:spPr>
        <p:txBody>
          <a:bodyPr wrap="square" lIns="0" tIns="0" rIns="0" bIns="0" anchor="t">
            <a:spAutoFit/>
          </a:bodyPr>
          <a:lstStyle/>
          <a:p>
            <a:pPr algn="l"/>
            <a:r>
              <a:rPr sz="2600" b="0" dirty="0">
                <a:solidFill>
                  <a:srgbClr val="202031"/>
                </a:solidFill>
                <a:latin typeface="Manrope ExtraLight"/>
              </a:rPr>
              <a:t>+21</a:t>
            </a:r>
          </a:p>
        </p:txBody>
      </p:sp>
      <p:sp>
        <p:nvSpPr>
          <p:cNvPr id="11" name="TextBox 10"/>
          <p:cNvSpPr txBox="1"/>
          <p:nvPr/>
        </p:nvSpPr>
        <p:spPr>
          <a:xfrm>
            <a:off x="5317066" y="2743200"/>
            <a:ext cx="2963333" cy="355600"/>
          </a:xfrm>
          <a:prstGeom prst="rect">
            <a:avLst/>
          </a:prstGeom>
          <a:noFill/>
        </p:spPr>
        <p:txBody>
          <a:bodyPr wrap="square" lIns="0" tIns="0" rIns="0" bIns="0" anchor="t">
            <a:spAutoFit/>
          </a:bodyPr>
          <a:lstStyle/>
          <a:p>
            <a:pPr algn="l">
              <a:lnSpc>
                <a:spcPct val="110000"/>
              </a:lnSpc>
            </a:pPr>
            <a:r>
              <a:rPr sz="950" b="0" dirty="0" err="1">
                <a:solidFill>
                  <a:srgbClr val="202031"/>
                </a:solidFill>
                <a:latin typeface="Raleway"/>
              </a:rPr>
              <a:t>consultores</a:t>
            </a:r>
            <a:r>
              <a:rPr sz="950" b="0" dirty="0">
                <a:solidFill>
                  <a:srgbClr val="202031"/>
                </a:solidFill>
                <a:latin typeface="Raleway"/>
              </a:rPr>
              <a:t> y </a:t>
            </a:r>
            <a:r>
              <a:rPr sz="950" b="0" dirty="0" err="1">
                <a:solidFill>
                  <a:srgbClr val="202031"/>
                </a:solidFill>
                <a:latin typeface="Raleway"/>
              </a:rPr>
              <a:t>equipo</a:t>
            </a:r>
            <a:r>
              <a:rPr sz="950" b="0" dirty="0">
                <a:solidFill>
                  <a:srgbClr val="202031"/>
                </a:solidFill>
                <a:latin typeface="Raleway"/>
              </a:rPr>
              <a:t> de CFOs</a:t>
            </a:r>
          </a:p>
        </p:txBody>
      </p:sp>
      <p:sp>
        <p:nvSpPr>
          <p:cNvPr id="12" name="TextBox 11"/>
          <p:cNvSpPr txBox="1"/>
          <p:nvPr/>
        </p:nvSpPr>
        <p:spPr>
          <a:xfrm>
            <a:off x="8534399" y="2336800"/>
            <a:ext cx="1016000" cy="431800"/>
          </a:xfrm>
          <a:prstGeom prst="rect">
            <a:avLst/>
          </a:prstGeom>
          <a:noFill/>
        </p:spPr>
        <p:txBody>
          <a:bodyPr wrap="square" lIns="0" tIns="0" rIns="0" bIns="0" anchor="t">
            <a:spAutoFit/>
          </a:bodyPr>
          <a:lstStyle/>
          <a:p>
            <a:pPr algn="l"/>
            <a:r>
              <a:rPr sz="2600" b="0">
                <a:solidFill>
                  <a:srgbClr val="202031"/>
                </a:solidFill>
                <a:latin typeface="Manrope ExtraLight"/>
              </a:rPr>
              <a:t>3</a:t>
            </a:r>
          </a:p>
        </p:txBody>
      </p:sp>
      <p:sp>
        <p:nvSpPr>
          <p:cNvPr id="13" name="TextBox 12"/>
          <p:cNvSpPr txBox="1"/>
          <p:nvPr/>
        </p:nvSpPr>
        <p:spPr>
          <a:xfrm>
            <a:off x="8534399" y="2743200"/>
            <a:ext cx="2963333" cy="355600"/>
          </a:xfrm>
          <a:prstGeom prst="rect">
            <a:avLst/>
          </a:prstGeom>
          <a:noFill/>
        </p:spPr>
        <p:txBody>
          <a:bodyPr wrap="square" lIns="0" tIns="0" rIns="0" bIns="0" anchor="t">
            <a:spAutoFit/>
          </a:bodyPr>
          <a:lstStyle/>
          <a:p>
            <a:pPr algn="l">
              <a:lnSpc>
                <a:spcPct val="110000"/>
              </a:lnSpc>
            </a:pPr>
            <a:r>
              <a:rPr sz="950" b="0">
                <a:solidFill>
                  <a:srgbClr val="202031"/>
                </a:solidFill>
                <a:latin typeface="Raleway"/>
              </a:rPr>
              <a:t>oficinas en España</a:t>
            </a:r>
          </a:p>
        </p:txBody>
      </p:sp>
      <p:sp>
        <p:nvSpPr>
          <p:cNvPr id="14" name="TextBox 13"/>
          <p:cNvSpPr txBox="1"/>
          <p:nvPr/>
        </p:nvSpPr>
        <p:spPr>
          <a:xfrm>
            <a:off x="762000" y="6477000"/>
            <a:ext cx="3810000" cy="203200"/>
          </a:xfrm>
          <a:prstGeom prst="rect">
            <a:avLst/>
          </a:prstGeom>
          <a:noFill/>
        </p:spPr>
        <p:txBody>
          <a:bodyPr wrap="square" lIns="0" tIns="0" rIns="0" bIns="0" anchor="t">
            <a:spAutoFit/>
          </a:bodyPr>
          <a:lstStyle/>
          <a:p>
            <a:pPr algn="l"/>
            <a:r>
              <a:rPr sz="900" b="0">
                <a:solidFill>
                  <a:srgbClr val="587579"/>
                </a:solidFill>
                <a:latin typeface="Raleway"/>
              </a:rPr>
              <a:t>tesseraservices.com</a:t>
            </a:r>
          </a:p>
        </p:txBody>
      </p:sp>
      <p:sp>
        <p:nvSpPr>
          <p:cNvPr id="15" name="TextBox 14"/>
          <p:cNvSpPr txBox="1"/>
          <p:nvPr/>
        </p:nvSpPr>
        <p:spPr>
          <a:xfrm>
            <a:off x="10668000" y="6400800"/>
            <a:ext cx="762000" cy="330200"/>
          </a:xfrm>
          <a:prstGeom prst="rect">
            <a:avLst/>
          </a:prstGeom>
          <a:noFill/>
        </p:spPr>
        <p:txBody>
          <a:bodyPr wrap="square" lIns="0" tIns="0" rIns="0" bIns="0" anchor="t">
            <a:spAutoFit/>
          </a:bodyPr>
          <a:lstStyle/>
          <a:p>
            <a:pPr algn="r"/>
            <a:r>
              <a:rPr sz="1600" b="0">
                <a:solidFill>
                  <a:srgbClr val="202031"/>
                </a:solidFill>
                <a:latin typeface="Manrope Medium"/>
              </a:rPr>
              <a:t>02</a:t>
            </a:r>
          </a:p>
        </p:txBody>
      </p:sp>
      <p:sp>
        <p:nvSpPr>
          <p:cNvPr id="16" name="Rectangle 15"/>
          <p:cNvSpPr/>
          <p:nvPr/>
        </p:nvSpPr>
        <p:spPr>
          <a:xfrm>
            <a:off x="762000" y="3314699"/>
            <a:ext cx="3378200" cy="12700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90600" y="3517899"/>
            <a:ext cx="558800" cy="38100"/>
          </a:xfrm>
          <a:prstGeom prst="rect">
            <a:avLst/>
          </a:prstGeom>
          <a:gradFill rotWithShape="1">
            <a:gsLst>
              <a:gs pos="0">
                <a:srgbClr val="587579"/>
              </a:gs>
              <a:gs pos="100000">
                <a:srgbClr val="20203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90600" y="3695699"/>
            <a:ext cx="2921000" cy="304800"/>
          </a:xfrm>
          <a:prstGeom prst="rect">
            <a:avLst/>
          </a:prstGeom>
          <a:noFill/>
        </p:spPr>
        <p:txBody>
          <a:bodyPr wrap="square" lIns="0" tIns="0" rIns="0" bIns="0" anchor="t">
            <a:spAutoFit/>
          </a:bodyPr>
          <a:lstStyle/>
          <a:p>
            <a:pPr algn="l"/>
            <a:r>
              <a:rPr sz="1500" b="0">
                <a:solidFill>
                  <a:srgbClr val="202031"/>
                </a:solidFill>
                <a:latin typeface="Raleway SemiBold"/>
              </a:rPr>
              <a:t>MADRID</a:t>
            </a:r>
          </a:p>
        </p:txBody>
      </p:sp>
      <p:sp>
        <p:nvSpPr>
          <p:cNvPr id="19" name="TextBox 18"/>
          <p:cNvSpPr txBox="1"/>
          <p:nvPr/>
        </p:nvSpPr>
        <p:spPr>
          <a:xfrm>
            <a:off x="990600" y="4051299"/>
            <a:ext cx="2921000" cy="254000"/>
          </a:xfrm>
          <a:prstGeom prst="rect">
            <a:avLst/>
          </a:prstGeom>
          <a:noFill/>
        </p:spPr>
        <p:txBody>
          <a:bodyPr wrap="square" lIns="0" tIns="0" rIns="0" bIns="0" anchor="t">
            <a:spAutoFit/>
          </a:bodyPr>
          <a:lstStyle/>
          <a:p>
            <a:pPr algn="l"/>
            <a:r>
              <a:rPr sz="1000" b="0">
                <a:solidFill>
                  <a:srgbClr val="587579"/>
                </a:solidFill>
                <a:latin typeface="Raleway"/>
              </a:rPr>
              <a:t>Sede central</a:t>
            </a:r>
          </a:p>
        </p:txBody>
      </p:sp>
      <p:sp>
        <p:nvSpPr>
          <p:cNvPr id="20" name="Rectangle 19"/>
          <p:cNvSpPr/>
          <p:nvPr/>
        </p:nvSpPr>
        <p:spPr>
          <a:xfrm>
            <a:off x="2099733" y="4800600"/>
            <a:ext cx="3081866" cy="889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5200" y="4991099"/>
            <a:ext cx="2675466" cy="203200"/>
          </a:xfrm>
          <a:prstGeom prst="rect">
            <a:avLst/>
          </a:prstGeom>
          <a:noFill/>
        </p:spPr>
        <p:txBody>
          <a:bodyPr wrap="square" lIns="0" tIns="0" rIns="0" bIns="0" anchor="t">
            <a:spAutoFit/>
          </a:bodyPr>
          <a:lstStyle/>
          <a:p>
            <a:pPr algn="l"/>
            <a:r>
              <a:rPr sz="900" b="0" spc="80">
                <a:solidFill>
                  <a:srgbClr val="587579"/>
                </a:solidFill>
                <a:latin typeface="Raleway Medium"/>
              </a:rPr>
              <a:t>BOUTIQUE</a:t>
            </a:r>
          </a:p>
        </p:txBody>
      </p:sp>
      <p:sp>
        <p:nvSpPr>
          <p:cNvPr id="22" name="TextBox 21"/>
          <p:cNvSpPr txBox="1"/>
          <p:nvPr/>
        </p:nvSpPr>
        <p:spPr>
          <a:xfrm>
            <a:off x="965200" y="5245099"/>
            <a:ext cx="2675466" cy="355600"/>
          </a:xfrm>
          <a:prstGeom prst="rect">
            <a:avLst/>
          </a:prstGeom>
          <a:noFill/>
        </p:spPr>
        <p:txBody>
          <a:bodyPr wrap="square" lIns="0" tIns="0" rIns="0" bIns="0" anchor="t">
            <a:spAutoFit/>
          </a:bodyPr>
          <a:lstStyle/>
          <a:p>
            <a:pPr algn="l"/>
            <a:r>
              <a:rPr sz="1000" b="0">
                <a:solidFill>
                  <a:srgbClr val="202031"/>
                </a:solidFill>
                <a:latin typeface="Raleway"/>
              </a:rPr>
              <a:t>Equipo senior en cada proyecto.</a:t>
            </a:r>
          </a:p>
        </p:txBody>
      </p:sp>
      <p:sp>
        <p:nvSpPr>
          <p:cNvPr id="23" name="Rectangle 22"/>
          <p:cNvSpPr/>
          <p:nvPr/>
        </p:nvSpPr>
        <p:spPr>
          <a:xfrm>
            <a:off x="5384799" y="4800600"/>
            <a:ext cx="3081866" cy="889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587999" y="4978400"/>
            <a:ext cx="2675466" cy="203200"/>
          </a:xfrm>
          <a:prstGeom prst="rect">
            <a:avLst/>
          </a:prstGeom>
          <a:noFill/>
        </p:spPr>
        <p:txBody>
          <a:bodyPr wrap="square" lIns="0" tIns="0" rIns="0" bIns="0" anchor="t">
            <a:spAutoFit/>
          </a:bodyPr>
          <a:lstStyle/>
          <a:p>
            <a:pPr algn="l"/>
            <a:r>
              <a:rPr sz="900" b="0" spc="80">
                <a:solidFill>
                  <a:srgbClr val="587579"/>
                </a:solidFill>
                <a:latin typeface="Raleway Medium"/>
              </a:rPr>
              <a:t>TRATO DIRECTO</a:t>
            </a:r>
          </a:p>
        </p:txBody>
      </p:sp>
      <p:sp>
        <p:nvSpPr>
          <p:cNvPr id="25" name="TextBox 24"/>
          <p:cNvSpPr txBox="1"/>
          <p:nvPr/>
        </p:nvSpPr>
        <p:spPr>
          <a:xfrm>
            <a:off x="5587999" y="5232400"/>
            <a:ext cx="2675466" cy="355600"/>
          </a:xfrm>
          <a:prstGeom prst="rect">
            <a:avLst/>
          </a:prstGeom>
          <a:noFill/>
        </p:spPr>
        <p:txBody>
          <a:bodyPr wrap="square" lIns="0" tIns="0" rIns="0" bIns="0" anchor="t">
            <a:spAutoFit/>
          </a:bodyPr>
          <a:lstStyle/>
          <a:p>
            <a:pPr algn="l"/>
            <a:r>
              <a:rPr sz="1000" b="0">
                <a:solidFill>
                  <a:srgbClr val="202031"/>
                </a:solidFill>
                <a:latin typeface="Raleway"/>
              </a:rPr>
              <a:t>Un interlocutor, de tú a tú.</a:t>
            </a:r>
          </a:p>
        </p:txBody>
      </p:sp>
      <p:sp>
        <p:nvSpPr>
          <p:cNvPr id="27" name="TextBox 26"/>
          <p:cNvSpPr txBox="1"/>
          <p:nvPr/>
        </p:nvSpPr>
        <p:spPr>
          <a:xfrm>
            <a:off x="8873066" y="4978400"/>
            <a:ext cx="2675466" cy="203200"/>
          </a:xfrm>
          <a:prstGeom prst="rect">
            <a:avLst/>
          </a:prstGeom>
          <a:noFill/>
        </p:spPr>
        <p:txBody>
          <a:bodyPr wrap="square" lIns="0" tIns="0" rIns="0" bIns="0" anchor="t">
            <a:spAutoFit/>
          </a:bodyPr>
          <a:lstStyle/>
          <a:p>
            <a:pPr algn="l"/>
            <a:r>
              <a:rPr sz="900" b="0" spc="80">
                <a:solidFill>
                  <a:srgbClr val="587579"/>
                </a:solidFill>
                <a:latin typeface="Raleway Medium"/>
              </a:rPr>
              <a:t>VISIÓN DE NEGOCIO</a:t>
            </a:r>
          </a:p>
        </p:txBody>
      </p:sp>
      <p:sp>
        <p:nvSpPr>
          <p:cNvPr id="28" name="TextBox 27"/>
          <p:cNvSpPr txBox="1"/>
          <p:nvPr/>
        </p:nvSpPr>
        <p:spPr>
          <a:xfrm>
            <a:off x="8873066" y="5232400"/>
            <a:ext cx="2675466" cy="355600"/>
          </a:xfrm>
          <a:prstGeom prst="rect">
            <a:avLst/>
          </a:prstGeom>
          <a:noFill/>
        </p:spPr>
        <p:txBody>
          <a:bodyPr wrap="square" lIns="0" tIns="0" rIns="0" bIns="0" anchor="t">
            <a:spAutoFit/>
          </a:bodyPr>
          <a:lstStyle/>
          <a:p>
            <a:pPr algn="l"/>
            <a:r>
              <a:rPr sz="1000" b="0">
                <a:solidFill>
                  <a:srgbClr val="202031"/>
                </a:solidFill>
                <a:latin typeface="Raleway"/>
              </a:rPr>
              <a:t>Al servicio de la tesis de inversión.</a:t>
            </a:r>
          </a:p>
        </p:txBody>
      </p:sp>
      <p:sp>
        <p:nvSpPr>
          <p:cNvPr id="30" name="Graphic 17">
            <a:extLst>
              <a:ext uri="{FF2B5EF4-FFF2-40B4-BE49-F238E27FC236}">
                <a16:creationId xmlns:a16="http://schemas.microsoft.com/office/drawing/2014/main" id="{610B7595-5E49-CCAC-8DC7-EC8A578D43F4}"/>
              </a:ext>
            </a:extLst>
          </p:cNvPr>
          <p:cNvSpPr/>
          <p:nvPr/>
        </p:nvSpPr>
        <p:spPr>
          <a:xfrm>
            <a:off x="2243666" y="2978263"/>
            <a:ext cx="2584303" cy="2120673"/>
          </a:xfrm>
          <a:custGeom>
            <a:avLst/>
            <a:gdLst>
              <a:gd name="csX0" fmla="*/ 2420120 w 2765447"/>
              <a:gd name="csY0" fmla="*/ 305991 h 2294737"/>
              <a:gd name="csX1" fmla="*/ 2239870 w 2765447"/>
              <a:gd name="csY1" fmla="*/ 1988324 h 2294737"/>
              <a:gd name="csX2" fmla="*/ 437378 w 2765447"/>
              <a:gd name="csY2" fmla="*/ 2048407 h 2294737"/>
              <a:gd name="csX3" fmla="*/ 257129 w 2765447"/>
              <a:gd name="csY3" fmla="*/ 426157 h 2294737"/>
              <a:gd name="csX4" fmla="*/ 2420120 w 2765447"/>
              <a:gd name="csY4" fmla="*/ 305991 h 2294737"/>
            </a:gdLst>
            <a:ahLst/>
            <a:cxnLst>
              <a:cxn ang="0">
                <a:pos x="csX0" y="csY0"/>
              </a:cxn>
              <a:cxn ang="0">
                <a:pos x="csX1" y="csY1"/>
              </a:cxn>
              <a:cxn ang="0">
                <a:pos x="csX2" y="csY2"/>
              </a:cxn>
              <a:cxn ang="0">
                <a:pos x="csX3" y="csY3"/>
              </a:cxn>
              <a:cxn ang="0">
                <a:pos x="csX4" y="csY4"/>
              </a:cxn>
            </a:cxnLst>
            <a:rect l="l" t="t" r="r" b="b"/>
            <a:pathLst>
              <a:path w="2765447" h="2294737">
                <a:moveTo>
                  <a:pt x="2420120" y="305991"/>
                </a:moveTo>
                <a:cubicBezTo>
                  <a:pt x="2960867" y="786662"/>
                  <a:pt x="2840701" y="1567742"/>
                  <a:pt x="2239870" y="1988324"/>
                </a:cubicBezTo>
                <a:cubicBezTo>
                  <a:pt x="1699122" y="2360839"/>
                  <a:pt x="918042" y="2408906"/>
                  <a:pt x="437378" y="2048407"/>
                </a:cubicBezTo>
                <a:cubicBezTo>
                  <a:pt x="-43287" y="1687908"/>
                  <a:pt x="-163453" y="906828"/>
                  <a:pt x="257129" y="426157"/>
                </a:cubicBezTo>
                <a:cubicBezTo>
                  <a:pt x="677711" y="-54508"/>
                  <a:pt x="1879372" y="-174674"/>
                  <a:pt x="2420120" y="305991"/>
                </a:cubicBezTo>
                <a:close/>
              </a:path>
            </a:pathLst>
          </a:custGeom>
          <a:blipFill dpi="0" rotWithShape="1">
            <a:blip r:embed="rId3"/>
            <a:srcRect/>
            <a:stretch>
              <a:fillRect l="135" r="-135" b="-8766"/>
            </a:stretch>
          </a:blipFill>
          <a:ln w="48006" cap="rnd">
            <a:gradFill>
              <a:gsLst>
                <a:gs pos="0">
                  <a:srgbClr val="587579"/>
                </a:gs>
                <a:gs pos="52000">
                  <a:srgbClr val="6E8E7E"/>
                </a:gs>
                <a:gs pos="100000">
                  <a:srgbClr val="F0E8DE"/>
                </a:gs>
              </a:gsLst>
              <a:lin ang="0" scaled="1"/>
            </a:gradFill>
            <a:prstDash val="solid"/>
            <a:round/>
          </a:ln>
        </p:spPr>
        <p:txBody>
          <a:bodyPr/>
          <a:lstStyle/>
          <a:p>
            <a:endParaRPr lang="es-ES_tradnl"/>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spAutoFit/>
          </a:bodyPr>
          <a:lstStyle/>
          <a:p>
            <a:pPr algn="r"/>
            <a:r>
              <a:rPr sz="1000" b="0" spc="120">
                <a:solidFill>
                  <a:srgbClr val="587579"/>
                </a:solidFill>
                <a:latin typeface="Raleway Medium"/>
              </a:rPr>
              <a:t>NUESTRO EQUIPO</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889000"/>
            <a:ext cx="6350000" cy="635000"/>
          </a:xfrm>
          <a:prstGeom prst="rect">
            <a:avLst/>
          </a:prstGeom>
          <a:noFill/>
        </p:spPr>
        <p:txBody>
          <a:bodyPr wrap="square" lIns="0" tIns="0" rIns="0" bIns="0" anchor="t">
            <a:spAutoFit/>
          </a:bodyPr>
          <a:lstStyle/>
          <a:p>
            <a:pPr algn="l"/>
            <a:r>
              <a:rPr sz="3600" b="0">
                <a:solidFill>
                  <a:srgbClr val="202031"/>
                </a:solidFill>
                <a:latin typeface="Raleway Light"/>
              </a:rPr>
              <a:t>El Equipo</a:t>
            </a:r>
          </a:p>
        </p:txBody>
      </p:sp>
      <p:sp>
        <p:nvSpPr>
          <p:cNvPr id="6" name="TextBox 5"/>
          <p:cNvSpPr txBox="1"/>
          <p:nvPr/>
        </p:nvSpPr>
        <p:spPr>
          <a:xfrm>
            <a:off x="762000" y="1549400"/>
            <a:ext cx="8890000" cy="228600"/>
          </a:xfrm>
          <a:prstGeom prst="rect">
            <a:avLst/>
          </a:prstGeom>
          <a:noFill/>
        </p:spPr>
        <p:txBody>
          <a:bodyPr wrap="square" lIns="0" tIns="0" rIns="0" bIns="0" anchor="t">
            <a:spAutoFit/>
          </a:bodyPr>
          <a:lstStyle/>
          <a:p>
            <a:pPr algn="l"/>
            <a:r>
              <a:rPr sz="1050" b="0" dirty="0">
                <a:solidFill>
                  <a:srgbClr val="587579"/>
                </a:solidFill>
                <a:latin typeface="Raleway"/>
              </a:rPr>
              <a:t>Equipo </a:t>
            </a:r>
            <a:r>
              <a:rPr sz="1050" b="0" dirty="0" err="1">
                <a:solidFill>
                  <a:srgbClr val="587579"/>
                </a:solidFill>
                <a:latin typeface="Raleway"/>
              </a:rPr>
              <a:t>directivo</a:t>
            </a:r>
            <a:r>
              <a:rPr sz="1050" b="0" dirty="0">
                <a:solidFill>
                  <a:srgbClr val="587579"/>
                </a:solidFill>
                <a:latin typeface="Raleway"/>
              </a:rPr>
              <a:t> - +21 </a:t>
            </a:r>
            <a:r>
              <a:rPr sz="1050" b="0" dirty="0" err="1">
                <a:solidFill>
                  <a:srgbClr val="587579"/>
                </a:solidFill>
                <a:latin typeface="Raleway"/>
              </a:rPr>
              <a:t>consultores</a:t>
            </a:r>
            <a:r>
              <a:rPr sz="1050" b="0" dirty="0">
                <a:solidFill>
                  <a:srgbClr val="587579"/>
                </a:solidFill>
                <a:latin typeface="Raleway"/>
              </a:rPr>
              <a:t> - Madrid, Bilbao y Oviedo</a:t>
            </a:r>
          </a:p>
        </p:txBody>
      </p:sp>
      <p:sp>
        <p:nvSpPr>
          <p:cNvPr id="9" name="TextBox 8"/>
          <p:cNvSpPr txBox="1"/>
          <p:nvPr/>
        </p:nvSpPr>
        <p:spPr>
          <a:xfrm>
            <a:off x="762000" y="4762500"/>
            <a:ext cx="3048000" cy="228600"/>
          </a:xfrm>
          <a:prstGeom prst="rect">
            <a:avLst/>
          </a:prstGeom>
          <a:noFill/>
        </p:spPr>
        <p:txBody>
          <a:bodyPr wrap="square" lIns="0" tIns="0" rIns="0" bIns="0" anchor="t">
            <a:spAutoFit/>
          </a:bodyPr>
          <a:lstStyle/>
          <a:p>
            <a:pPr algn="l"/>
            <a:r>
              <a:rPr sz="1200" b="0">
                <a:solidFill>
                  <a:srgbClr val="202031"/>
                </a:solidFill>
                <a:latin typeface="Raleway SemiBold"/>
              </a:rPr>
              <a:t>MANUEL PINA</a:t>
            </a:r>
          </a:p>
        </p:txBody>
      </p:sp>
      <p:sp>
        <p:nvSpPr>
          <p:cNvPr id="10" name="TextBox 9"/>
          <p:cNvSpPr txBox="1"/>
          <p:nvPr/>
        </p:nvSpPr>
        <p:spPr>
          <a:xfrm>
            <a:off x="762000" y="4991100"/>
            <a:ext cx="3048000" cy="203200"/>
          </a:xfrm>
          <a:prstGeom prst="rect">
            <a:avLst/>
          </a:prstGeom>
          <a:noFill/>
        </p:spPr>
        <p:txBody>
          <a:bodyPr wrap="square" lIns="0" tIns="0" rIns="0" bIns="0" anchor="t">
            <a:spAutoFit/>
          </a:bodyPr>
          <a:lstStyle/>
          <a:p>
            <a:pPr algn="l"/>
            <a:r>
              <a:rPr sz="800" b="0" spc="60">
                <a:solidFill>
                  <a:srgbClr val="587579"/>
                </a:solidFill>
                <a:latin typeface="Raleway Medium"/>
              </a:rPr>
              <a:t>PARTNER - FINANCE</a:t>
            </a:r>
          </a:p>
        </p:txBody>
      </p:sp>
      <p:sp>
        <p:nvSpPr>
          <p:cNvPr id="11" name="TextBox 10"/>
          <p:cNvSpPr txBox="1"/>
          <p:nvPr/>
        </p:nvSpPr>
        <p:spPr>
          <a:xfrm>
            <a:off x="762000" y="5245100"/>
            <a:ext cx="3048000" cy="1905000"/>
          </a:xfrm>
          <a:prstGeom prst="rect">
            <a:avLst/>
          </a:prstGeom>
          <a:noFill/>
        </p:spPr>
        <p:txBody>
          <a:bodyPr wrap="square" lIns="0" tIns="0" rIns="0" bIns="0" anchor="t">
            <a:spAutoFit/>
          </a:bodyPr>
          <a:lstStyle/>
          <a:p>
            <a:pPr algn="l">
              <a:lnSpc>
                <a:spcPct val="115000"/>
              </a:lnSpc>
              <a:spcAft>
                <a:spcPts val="600"/>
              </a:spcAft>
            </a:pPr>
            <a:r>
              <a:rPr sz="830" b="0">
                <a:solidFill>
                  <a:srgbClr val="202031"/>
                </a:solidFill>
                <a:latin typeface="Raleway"/>
              </a:rPr>
              <a:t>Más de 10 años en Big Four en auditoría, due diligence y M&amp;A, y posteriormente CFO en grandes pymes españolas. Lidera Tessera Finance, coordinando el equipo de CFOs, transacciones y asesoramiento financiero estratégico.</a:t>
            </a:r>
          </a:p>
        </p:txBody>
      </p:sp>
      <p:sp>
        <p:nvSpPr>
          <p:cNvPr id="14" name="TextBox 13"/>
          <p:cNvSpPr txBox="1"/>
          <p:nvPr/>
        </p:nvSpPr>
        <p:spPr>
          <a:xfrm>
            <a:off x="4506451" y="4762500"/>
            <a:ext cx="3048000" cy="228600"/>
          </a:xfrm>
          <a:prstGeom prst="rect">
            <a:avLst/>
          </a:prstGeom>
          <a:noFill/>
        </p:spPr>
        <p:txBody>
          <a:bodyPr wrap="square" lIns="0" tIns="0" rIns="0" bIns="0" anchor="t">
            <a:spAutoFit/>
          </a:bodyPr>
          <a:lstStyle/>
          <a:p>
            <a:pPr algn="l"/>
            <a:r>
              <a:rPr sz="1200" b="0">
                <a:solidFill>
                  <a:srgbClr val="202031"/>
                </a:solidFill>
                <a:latin typeface="Raleway SemiBold"/>
              </a:rPr>
              <a:t>MÓNICA MAYORAL</a:t>
            </a:r>
          </a:p>
        </p:txBody>
      </p:sp>
      <p:sp>
        <p:nvSpPr>
          <p:cNvPr id="15" name="TextBox 14"/>
          <p:cNvSpPr txBox="1"/>
          <p:nvPr/>
        </p:nvSpPr>
        <p:spPr>
          <a:xfrm>
            <a:off x="4506451" y="4991100"/>
            <a:ext cx="3048000" cy="203200"/>
          </a:xfrm>
          <a:prstGeom prst="rect">
            <a:avLst/>
          </a:prstGeom>
          <a:noFill/>
        </p:spPr>
        <p:txBody>
          <a:bodyPr wrap="square" lIns="0" tIns="0" rIns="0" bIns="0" anchor="t">
            <a:spAutoFit/>
          </a:bodyPr>
          <a:lstStyle/>
          <a:p>
            <a:pPr algn="l"/>
            <a:r>
              <a:rPr sz="800" b="0" spc="60">
                <a:solidFill>
                  <a:srgbClr val="587579"/>
                </a:solidFill>
                <a:latin typeface="Raleway Medium"/>
              </a:rPr>
              <a:t>PARTNER - FINANCE</a:t>
            </a:r>
          </a:p>
        </p:txBody>
      </p:sp>
      <p:sp>
        <p:nvSpPr>
          <p:cNvPr id="16" name="TextBox 15"/>
          <p:cNvSpPr txBox="1"/>
          <p:nvPr/>
        </p:nvSpPr>
        <p:spPr>
          <a:xfrm>
            <a:off x="4506451" y="5245100"/>
            <a:ext cx="3048000" cy="1905000"/>
          </a:xfrm>
          <a:prstGeom prst="rect">
            <a:avLst/>
          </a:prstGeom>
          <a:noFill/>
        </p:spPr>
        <p:txBody>
          <a:bodyPr wrap="square" lIns="0" tIns="0" rIns="0" bIns="0" anchor="t">
            <a:spAutoFit/>
          </a:bodyPr>
          <a:lstStyle/>
          <a:p>
            <a:pPr algn="l">
              <a:lnSpc>
                <a:spcPct val="115000"/>
              </a:lnSpc>
              <a:spcAft>
                <a:spcPts val="600"/>
              </a:spcAft>
            </a:pPr>
            <a:r>
              <a:rPr sz="830" b="0">
                <a:solidFill>
                  <a:srgbClr val="202031"/>
                </a:solidFill>
                <a:latin typeface="Raleway"/>
              </a:rPr>
              <a:t>Más de 20 años como Directora Financiera en empresa multinacional, muy involucrada en el día a día de la compañía con visión y estrategia global: reducción de riesgos y planes de crecimiento.</a:t>
            </a:r>
          </a:p>
        </p:txBody>
      </p:sp>
      <p:sp>
        <p:nvSpPr>
          <p:cNvPr id="19" name="TextBox 18"/>
          <p:cNvSpPr txBox="1"/>
          <p:nvPr/>
        </p:nvSpPr>
        <p:spPr>
          <a:xfrm>
            <a:off x="8250903" y="4762500"/>
            <a:ext cx="3048000" cy="228600"/>
          </a:xfrm>
          <a:prstGeom prst="rect">
            <a:avLst/>
          </a:prstGeom>
          <a:noFill/>
        </p:spPr>
        <p:txBody>
          <a:bodyPr wrap="square" lIns="0" tIns="0" rIns="0" bIns="0" anchor="t">
            <a:spAutoFit/>
          </a:bodyPr>
          <a:lstStyle/>
          <a:p>
            <a:pPr algn="l"/>
            <a:r>
              <a:rPr sz="1200" b="0">
                <a:solidFill>
                  <a:srgbClr val="202031"/>
                </a:solidFill>
                <a:latin typeface="Raleway SemiBold"/>
              </a:rPr>
              <a:t>EDWARD MANRIQUE</a:t>
            </a:r>
          </a:p>
        </p:txBody>
      </p:sp>
      <p:sp>
        <p:nvSpPr>
          <p:cNvPr id="20" name="TextBox 19"/>
          <p:cNvSpPr txBox="1"/>
          <p:nvPr/>
        </p:nvSpPr>
        <p:spPr>
          <a:xfrm>
            <a:off x="8250903" y="4991100"/>
            <a:ext cx="3048000" cy="203200"/>
          </a:xfrm>
          <a:prstGeom prst="rect">
            <a:avLst/>
          </a:prstGeom>
          <a:noFill/>
        </p:spPr>
        <p:txBody>
          <a:bodyPr wrap="square" lIns="0" tIns="0" rIns="0" bIns="0" anchor="t">
            <a:spAutoFit/>
          </a:bodyPr>
          <a:lstStyle/>
          <a:p>
            <a:pPr algn="l"/>
            <a:r>
              <a:rPr sz="800" b="0" spc="60">
                <a:solidFill>
                  <a:srgbClr val="587579"/>
                </a:solidFill>
                <a:latin typeface="Raleway Medium"/>
              </a:rPr>
              <a:t>HEAD OF RECRUITMENT &amp; TALENT OPERATIONS</a:t>
            </a:r>
          </a:p>
        </p:txBody>
      </p:sp>
      <p:sp>
        <p:nvSpPr>
          <p:cNvPr id="21" name="TextBox 20"/>
          <p:cNvSpPr txBox="1"/>
          <p:nvPr/>
        </p:nvSpPr>
        <p:spPr>
          <a:xfrm>
            <a:off x="8250903" y="5245100"/>
            <a:ext cx="3048000" cy="1905000"/>
          </a:xfrm>
          <a:prstGeom prst="rect">
            <a:avLst/>
          </a:prstGeom>
          <a:noFill/>
        </p:spPr>
        <p:txBody>
          <a:bodyPr wrap="square" lIns="0" tIns="0" rIns="0" bIns="0" anchor="t">
            <a:spAutoFit/>
          </a:bodyPr>
          <a:lstStyle/>
          <a:p>
            <a:pPr algn="l">
              <a:lnSpc>
                <a:spcPct val="115000"/>
              </a:lnSpc>
              <a:spcAft>
                <a:spcPts val="600"/>
              </a:spcAft>
            </a:pPr>
            <a:r>
              <a:rPr sz="830" b="0" dirty="0">
                <a:solidFill>
                  <a:srgbClr val="202031"/>
                </a:solidFill>
                <a:latin typeface="Raleway"/>
              </a:rPr>
              <a:t>Más de 8 </a:t>
            </a:r>
            <a:r>
              <a:rPr sz="830" b="0" dirty="0" err="1">
                <a:solidFill>
                  <a:srgbClr val="202031"/>
                </a:solidFill>
                <a:latin typeface="Raleway"/>
              </a:rPr>
              <a:t>años</a:t>
            </a:r>
            <a:r>
              <a:rPr sz="830" b="0" dirty="0">
                <a:solidFill>
                  <a:srgbClr val="202031"/>
                </a:solidFill>
                <a:latin typeface="Raleway"/>
              </a:rPr>
              <a:t> de </a:t>
            </a:r>
            <a:r>
              <a:rPr sz="830" b="0" dirty="0" err="1">
                <a:solidFill>
                  <a:srgbClr val="202031"/>
                </a:solidFill>
                <a:latin typeface="Raleway"/>
              </a:rPr>
              <a:t>experiencia</a:t>
            </a:r>
            <a:r>
              <a:rPr sz="830" b="0" dirty="0">
                <a:solidFill>
                  <a:srgbClr val="202031"/>
                </a:solidFill>
                <a:latin typeface="Raleway"/>
              </a:rPr>
              <a:t> </a:t>
            </a:r>
            <a:r>
              <a:rPr sz="830" b="0" dirty="0" err="1">
                <a:solidFill>
                  <a:srgbClr val="202031"/>
                </a:solidFill>
                <a:latin typeface="Raleway"/>
              </a:rPr>
              <a:t>en</a:t>
            </a:r>
            <a:r>
              <a:rPr sz="830" b="0" dirty="0">
                <a:solidFill>
                  <a:srgbClr val="202031"/>
                </a:solidFill>
                <a:latin typeface="Raleway"/>
              </a:rPr>
              <a:t> </a:t>
            </a:r>
            <a:r>
              <a:rPr sz="830" b="0" dirty="0" err="1">
                <a:solidFill>
                  <a:srgbClr val="202031"/>
                </a:solidFill>
                <a:latin typeface="Raleway"/>
              </a:rPr>
              <a:t>identificación</a:t>
            </a:r>
            <a:r>
              <a:rPr sz="830" b="0" dirty="0">
                <a:solidFill>
                  <a:srgbClr val="202031"/>
                </a:solidFill>
                <a:latin typeface="Raleway"/>
              </a:rPr>
              <a:t> y </a:t>
            </a:r>
            <a:r>
              <a:rPr sz="830" b="0" dirty="0" err="1">
                <a:solidFill>
                  <a:srgbClr val="202031"/>
                </a:solidFill>
                <a:latin typeface="Raleway"/>
              </a:rPr>
              <a:t>evaluación</a:t>
            </a:r>
            <a:r>
              <a:rPr sz="830" b="0" dirty="0">
                <a:solidFill>
                  <a:srgbClr val="202031"/>
                </a:solidFill>
                <a:latin typeface="Raleway"/>
              </a:rPr>
              <a:t> de </a:t>
            </a:r>
            <a:r>
              <a:rPr sz="830" b="0" dirty="0" err="1">
                <a:solidFill>
                  <a:srgbClr val="202031"/>
                </a:solidFill>
                <a:latin typeface="Raleway"/>
              </a:rPr>
              <a:t>talento</a:t>
            </a:r>
            <a:r>
              <a:rPr sz="830" b="0" dirty="0">
                <a:solidFill>
                  <a:srgbClr val="202031"/>
                </a:solidFill>
                <a:latin typeface="Raleway"/>
              </a:rPr>
              <a:t>. En </a:t>
            </a:r>
            <a:r>
              <a:rPr sz="830" b="0" dirty="0" err="1">
                <a:solidFill>
                  <a:srgbClr val="202031"/>
                </a:solidFill>
                <a:latin typeface="Raleway"/>
              </a:rPr>
              <a:t>Seedtag</a:t>
            </a:r>
            <a:r>
              <a:rPr sz="830" b="0" dirty="0">
                <a:solidFill>
                  <a:srgbClr val="202031"/>
                </a:solidFill>
                <a:latin typeface="Raleway"/>
              </a:rPr>
              <a:t> </a:t>
            </a:r>
            <a:r>
              <a:rPr sz="830" b="0" dirty="0" err="1">
                <a:solidFill>
                  <a:srgbClr val="202031"/>
                </a:solidFill>
                <a:latin typeface="Raleway"/>
              </a:rPr>
              <a:t>lideró</a:t>
            </a:r>
            <a:r>
              <a:rPr sz="830" b="0" dirty="0">
                <a:solidFill>
                  <a:srgbClr val="202031"/>
                </a:solidFill>
                <a:latin typeface="Raleway"/>
              </a:rPr>
              <a:t> la </a:t>
            </a:r>
            <a:r>
              <a:rPr sz="830" b="0" dirty="0" err="1">
                <a:solidFill>
                  <a:srgbClr val="202031"/>
                </a:solidFill>
                <a:latin typeface="Raleway"/>
              </a:rPr>
              <a:t>contratación</a:t>
            </a:r>
            <a:r>
              <a:rPr sz="830" b="0" dirty="0">
                <a:solidFill>
                  <a:srgbClr val="202031"/>
                </a:solidFill>
                <a:latin typeface="Raleway"/>
              </a:rPr>
              <a:t> de </a:t>
            </a:r>
            <a:r>
              <a:rPr sz="830" b="0" dirty="0" err="1">
                <a:solidFill>
                  <a:srgbClr val="202031"/>
                </a:solidFill>
                <a:latin typeface="Raleway"/>
              </a:rPr>
              <a:t>más</a:t>
            </a:r>
            <a:r>
              <a:rPr sz="830" b="0" dirty="0">
                <a:solidFill>
                  <a:srgbClr val="202031"/>
                </a:solidFill>
                <a:latin typeface="Raleway"/>
              </a:rPr>
              <a:t> de 200 </a:t>
            </a:r>
            <a:r>
              <a:rPr sz="830" b="0" dirty="0" err="1">
                <a:solidFill>
                  <a:srgbClr val="202031"/>
                </a:solidFill>
                <a:latin typeface="Raleway"/>
              </a:rPr>
              <a:t>profesionales</a:t>
            </a:r>
            <a:r>
              <a:rPr sz="830" b="0" dirty="0">
                <a:solidFill>
                  <a:srgbClr val="202031"/>
                </a:solidFill>
                <a:latin typeface="Raleway"/>
              </a:rPr>
              <a:t> </a:t>
            </a:r>
            <a:r>
              <a:rPr sz="830" b="0" dirty="0" err="1">
                <a:solidFill>
                  <a:srgbClr val="202031"/>
                </a:solidFill>
                <a:latin typeface="Raleway"/>
              </a:rPr>
              <a:t>en</a:t>
            </a:r>
            <a:r>
              <a:rPr sz="830" b="0" dirty="0">
                <a:solidFill>
                  <a:srgbClr val="202031"/>
                </a:solidFill>
                <a:latin typeface="Raleway"/>
              </a:rPr>
              <a:t> 16 </a:t>
            </a:r>
            <a:r>
              <a:rPr sz="830" b="0" dirty="0" err="1">
                <a:solidFill>
                  <a:srgbClr val="202031"/>
                </a:solidFill>
                <a:latin typeface="Raleway"/>
              </a:rPr>
              <a:t>países</a:t>
            </a:r>
            <a:r>
              <a:rPr sz="830" b="0" dirty="0">
                <a:solidFill>
                  <a:srgbClr val="202031"/>
                </a:solidFill>
                <a:latin typeface="Raleway"/>
              </a:rPr>
              <a:t>, y ha </a:t>
            </a:r>
            <a:r>
              <a:rPr sz="830" b="0" dirty="0" err="1">
                <a:solidFill>
                  <a:srgbClr val="202031"/>
                </a:solidFill>
                <a:latin typeface="Raleway"/>
              </a:rPr>
              <a:t>trabajado</a:t>
            </a:r>
            <a:r>
              <a:rPr sz="830" b="0" dirty="0">
                <a:solidFill>
                  <a:srgbClr val="202031"/>
                </a:solidFill>
                <a:latin typeface="Raleway"/>
              </a:rPr>
              <a:t> con </a:t>
            </a:r>
            <a:r>
              <a:rPr sz="830" b="0" dirty="0" err="1">
                <a:solidFill>
                  <a:srgbClr val="202031"/>
                </a:solidFill>
                <a:latin typeface="Raleway"/>
              </a:rPr>
              <a:t>entidades</a:t>
            </a:r>
            <a:r>
              <a:rPr sz="830" b="0" dirty="0">
                <a:solidFill>
                  <a:srgbClr val="202031"/>
                </a:solidFill>
                <a:latin typeface="Raleway"/>
              </a:rPr>
              <a:t> </a:t>
            </a:r>
            <a:r>
              <a:rPr sz="830" b="0" dirty="0" err="1">
                <a:solidFill>
                  <a:srgbClr val="202031"/>
                </a:solidFill>
                <a:latin typeface="Raleway"/>
              </a:rPr>
              <a:t>financieras</a:t>
            </a:r>
            <a:r>
              <a:rPr sz="830" b="0" dirty="0">
                <a:solidFill>
                  <a:srgbClr val="202031"/>
                </a:solidFill>
                <a:latin typeface="Raleway"/>
              </a:rPr>
              <a:t> </a:t>
            </a:r>
            <a:r>
              <a:rPr sz="830" b="0" dirty="0" err="1">
                <a:solidFill>
                  <a:srgbClr val="202031"/>
                </a:solidFill>
                <a:latin typeface="Raleway"/>
              </a:rPr>
              <a:t>como</a:t>
            </a:r>
            <a:r>
              <a:rPr sz="830" b="0" dirty="0">
                <a:solidFill>
                  <a:srgbClr val="202031"/>
                </a:solidFill>
                <a:latin typeface="Raleway"/>
              </a:rPr>
              <a:t> Santander, BNP Paribas y BBVA.</a:t>
            </a:r>
          </a:p>
        </p:txBody>
      </p:sp>
      <p:sp>
        <p:nvSpPr>
          <p:cNvPr id="22" name="TextBox 21"/>
          <p:cNvSpPr txBox="1"/>
          <p:nvPr/>
        </p:nvSpPr>
        <p:spPr>
          <a:xfrm>
            <a:off x="762000" y="6477000"/>
            <a:ext cx="3810000" cy="203200"/>
          </a:xfrm>
          <a:prstGeom prst="rect">
            <a:avLst/>
          </a:prstGeom>
          <a:noFill/>
        </p:spPr>
        <p:txBody>
          <a:bodyPr wrap="square" lIns="0" tIns="0" rIns="0" bIns="0" anchor="t">
            <a:spAutoFit/>
          </a:bodyPr>
          <a:lstStyle/>
          <a:p>
            <a:pPr algn="l"/>
            <a:r>
              <a:rPr sz="900" b="0">
                <a:solidFill>
                  <a:srgbClr val="587579"/>
                </a:solidFill>
                <a:latin typeface="Raleway"/>
              </a:rPr>
              <a:t>tesseraservices.com</a:t>
            </a:r>
          </a:p>
        </p:txBody>
      </p:sp>
      <p:sp>
        <p:nvSpPr>
          <p:cNvPr id="23" name="TextBox 22"/>
          <p:cNvSpPr txBox="1"/>
          <p:nvPr/>
        </p:nvSpPr>
        <p:spPr>
          <a:xfrm>
            <a:off x="10668000" y="6400800"/>
            <a:ext cx="762000" cy="330200"/>
          </a:xfrm>
          <a:prstGeom prst="rect">
            <a:avLst/>
          </a:prstGeom>
          <a:noFill/>
        </p:spPr>
        <p:txBody>
          <a:bodyPr wrap="square" lIns="0" tIns="0" rIns="0" bIns="0" anchor="t">
            <a:spAutoFit/>
          </a:bodyPr>
          <a:lstStyle/>
          <a:p>
            <a:pPr algn="r"/>
            <a:r>
              <a:rPr sz="1600" b="0">
                <a:solidFill>
                  <a:srgbClr val="202031"/>
                </a:solidFill>
                <a:latin typeface="Manrope Medium"/>
              </a:rPr>
              <a:t>03</a:t>
            </a:r>
          </a:p>
        </p:txBody>
      </p:sp>
      <p:pic>
        <p:nvPicPr>
          <p:cNvPr id="29" name="Imagen 20">
            <a:extLst>
              <a:ext uri="{FF2B5EF4-FFF2-40B4-BE49-F238E27FC236}">
                <a16:creationId xmlns:a16="http://schemas.microsoft.com/office/drawing/2014/main" id="{80EF7E73-E2FB-DBBD-23B9-B4957A6F1503}"/>
              </a:ext>
            </a:extLst>
          </p:cNvPr>
          <p:cNvPicPr>
            <a:picLocks noChangeAspect="1"/>
          </p:cNvPicPr>
          <p:nvPr/>
        </p:nvPicPr>
        <p:blipFill>
          <a:blip r:embed="rId3"/>
          <a:srcRect t="3009"/>
          <a:stretch>
            <a:fillRect/>
          </a:stretch>
        </p:blipFill>
        <p:spPr>
          <a:xfrm>
            <a:off x="932665" y="1955800"/>
            <a:ext cx="2704818" cy="2368190"/>
          </a:xfrm>
          <a:prstGeom prst="rect">
            <a:avLst/>
          </a:prstGeom>
        </p:spPr>
      </p:pic>
      <p:pic>
        <p:nvPicPr>
          <p:cNvPr id="31" name="Imagen 21">
            <a:extLst>
              <a:ext uri="{FF2B5EF4-FFF2-40B4-BE49-F238E27FC236}">
                <a16:creationId xmlns:a16="http://schemas.microsoft.com/office/drawing/2014/main" id="{A2482096-37C9-00DB-7526-466B2263E8A5}"/>
              </a:ext>
            </a:extLst>
          </p:cNvPr>
          <p:cNvPicPr>
            <a:picLocks noChangeAspect="1"/>
          </p:cNvPicPr>
          <p:nvPr/>
        </p:nvPicPr>
        <p:blipFill>
          <a:blip r:embed="rId4"/>
          <a:srcRect r="288" b="13924"/>
          <a:stretch>
            <a:fillRect/>
          </a:stretch>
        </p:blipFill>
        <p:spPr>
          <a:xfrm>
            <a:off x="4861221" y="1933626"/>
            <a:ext cx="2469558" cy="2393847"/>
          </a:xfrm>
          <a:prstGeom prst="rect">
            <a:avLst/>
          </a:prstGeom>
        </p:spPr>
      </p:pic>
      <p:pic>
        <p:nvPicPr>
          <p:cNvPr id="33" name="Imagen 5">
            <a:extLst>
              <a:ext uri="{FF2B5EF4-FFF2-40B4-BE49-F238E27FC236}">
                <a16:creationId xmlns:a16="http://schemas.microsoft.com/office/drawing/2014/main" id="{390F7BD4-55AB-99A2-C8BF-8FA7045BF16B}"/>
              </a:ext>
            </a:extLst>
          </p:cNvPr>
          <p:cNvPicPr>
            <a:picLocks noChangeAspect="1"/>
          </p:cNvPicPr>
          <p:nvPr/>
        </p:nvPicPr>
        <p:blipFill>
          <a:blip r:embed="rId5"/>
          <a:srcRect l="17928" r="22003" b="666"/>
          <a:stretch>
            <a:fillRect/>
          </a:stretch>
        </p:blipFill>
        <p:spPr>
          <a:xfrm>
            <a:off x="8354961" y="1968500"/>
            <a:ext cx="2594078" cy="23493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spAutoFit/>
          </a:bodyPr>
          <a:lstStyle/>
          <a:p>
            <a:pPr algn="r"/>
            <a:r>
              <a:rPr sz="1000" b="0" spc="120">
                <a:solidFill>
                  <a:srgbClr val="587579"/>
                </a:solidFill>
                <a:latin typeface="Raleway Medium"/>
              </a:rPr>
              <a:t>NUESTRO EQUIPO</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889000"/>
            <a:ext cx="6350000" cy="635000"/>
          </a:xfrm>
          <a:prstGeom prst="rect">
            <a:avLst/>
          </a:prstGeom>
          <a:noFill/>
        </p:spPr>
        <p:txBody>
          <a:bodyPr wrap="square" lIns="0" tIns="0" rIns="0" bIns="0" anchor="t">
            <a:spAutoFit/>
          </a:bodyPr>
          <a:lstStyle/>
          <a:p>
            <a:pPr algn="l"/>
            <a:r>
              <a:rPr sz="3600" b="0">
                <a:solidFill>
                  <a:srgbClr val="202031"/>
                </a:solidFill>
                <a:latin typeface="Raleway Light"/>
              </a:rPr>
              <a:t>El Equipo</a:t>
            </a:r>
          </a:p>
        </p:txBody>
      </p:sp>
      <p:sp>
        <p:nvSpPr>
          <p:cNvPr id="6" name="TextBox 5"/>
          <p:cNvSpPr txBox="1"/>
          <p:nvPr/>
        </p:nvSpPr>
        <p:spPr>
          <a:xfrm>
            <a:off x="762000" y="1549400"/>
            <a:ext cx="8890000" cy="228600"/>
          </a:xfrm>
          <a:prstGeom prst="rect">
            <a:avLst/>
          </a:prstGeom>
          <a:noFill/>
        </p:spPr>
        <p:txBody>
          <a:bodyPr wrap="square" lIns="0" tIns="0" rIns="0" bIns="0" anchor="t">
            <a:spAutoFit/>
          </a:bodyPr>
          <a:lstStyle/>
          <a:p>
            <a:pPr algn="l"/>
            <a:r>
              <a:rPr sz="1050" b="0" dirty="0">
                <a:solidFill>
                  <a:srgbClr val="587579"/>
                </a:solidFill>
                <a:latin typeface="Raleway"/>
              </a:rPr>
              <a:t>Equipo </a:t>
            </a:r>
            <a:r>
              <a:rPr sz="1050" b="0" dirty="0" err="1">
                <a:solidFill>
                  <a:srgbClr val="587579"/>
                </a:solidFill>
                <a:latin typeface="Raleway"/>
              </a:rPr>
              <a:t>directivo</a:t>
            </a:r>
            <a:r>
              <a:rPr sz="1050" b="0" dirty="0">
                <a:solidFill>
                  <a:srgbClr val="587579"/>
                </a:solidFill>
                <a:latin typeface="Raleway"/>
              </a:rPr>
              <a:t> - +21 </a:t>
            </a:r>
            <a:r>
              <a:rPr sz="1050" b="0" dirty="0" err="1">
                <a:solidFill>
                  <a:srgbClr val="587579"/>
                </a:solidFill>
                <a:latin typeface="Raleway"/>
              </a:rPr>
              <a:t>consultores</a:t>
            </a:r>
            <a:r>
              <a:rPr sz="1050" b="0" dirty="0">
                <a:solidFill>
                  <a:srgbClr val="587579"/>
                </a:solidFill>
                <a:latin typeface="Raleway"/>
              </a:rPr>
              <a:t> - Madrid, Bilbao y Oviedo</a:t>
            </a:r>
          </a:p>
        </p:txBody>
      </p:sp>
      <p:sp>
        <p:nvSpPr>
          <p:cNvPr id="9" name="TextBox 8"/>
          <p:cNvSpPr txBox="1"/>
          <p:nvPr/>
        </p:nvSpPr>
        <p:spPr>
          <a:xfrm>
            <a:off x="1397000" y="4013611"/>
            <a:ext cx="2222500" cy="228600"/>
          </a:xfrm>
          <a:prstGeom prst="rect">
            <a:avLst/>
          </a:prstGeom>
          <a:noFill/>
        </p:spPr>
        <p:txBody>
          <a:bodyPr wrap="square" lIns="0" tIns="0" rIns="0" bIns="0" anchor="t">
            <a:spAutoFit/>
          </a:bodyPr>
          <a:lstStyle/>
          <a:p>
            <a:pPr algn="l"/>
            <a:r>
              <a:rPr sz="1200" b="0">
                <a:solidFill>
                  <a:srgbClr val="202031"/>
                </a:solidFill>
                <a:latin typeface="Raleway SemiBold"/>
              </a:rPr>
              <a:t>MANUEL PINA</a:t>
            </a:r>
          </a:p>
        </p:txBody>
      </p:sp>
      <p:sp>
        <p:nvSpPr>
          <p:cNvPr id="10" name="TextBox 9"/>
          <p:cNvSpPr txBox="1"/>
          <p:nvPr/>
        </p:nvSpPr>
        <p:spPr>
          <a:xfrm>
            <a:off x="1397000" y="4242211"/>
            <a:ext cx="2222500" cy="203200"/>
          </a:xfrm>
          <a:prstGeom prst="rect">
            <a:avLst/>
          </a:prstGeom>
          <a:noFill/>
        </p:spPr>
        <p:txBody>
          <a:bodyPr wrap="square" lIns="0" tIns="0" rIns="0" bIns="0" anchor="t">
            <a:spAutoFit/>
          </a:bodyPr>
          <a:lstStyle/>
          <a:p>
            <a:pPr algn="l"/>
            <a:r>
              <a:rPr sz="800" b="0" spc="60">
                <a:solidFill>
                  <a:srgbClr val="587579"/>
                </a:solidFill>
                <a:latin typeface="Raleway Medium"/>
              </a:rPr>
              <a:t>PARTNER - FINANCE</a:t>
            </a:r>
          </a:p>
        </p:txBody>
      </p:sp>
      <p:sp>
        <p:nvSpPr>
          <p:cNvPr id="11" name="TextBox 10"/>
          <p:cNvSpPr txBox="1"/>
          <p:nvPr/>
        </p:nvSpPr>
        <p:spPr>
          <a:xfrm>
            <a:off x="1397000" y="4496211"/>
            <a:ext cx="2222500" cy="1905000"/>
          </a:xfrm>
          <a:prstGeom prst="rect">
            <a:avLst/>
          </a:prstGeom>
          <a:noFill/>
        </p:spPr>
        <p:txBody>
          <a:bodyPr wrap="square" lIns="0" tIns="0" rIns="0" bIns="0" anchor="t">
            <a:spAutoFit/>
          </a:bodyPr>
          <a:lstStyle/>
          <a:p>
            <a:pPr algn="l">
              <a:lnSpc>
                <a:spcPct val="115000"/>
              </a:lnSpc>
              <a:spcAft>
                <a:spcPts val="600"/>
              </a:spcAft>
            </a:pPr>
            <a:r>
              <a:rPr sz="830" b="0" dirty="0">
                <a:solidFill>
                  <a:srgbClr val="202031"/>
                </a:solidFill>
                <a:latin typeface="Raleway"/>
              </a:rPr>
              <a:t>Más de 10 </a:t>
            </a:r>
            <a:r>
              <a:rPr sz="830" b="0" dirty="0" err="1">
                <a:solidFill>
                  <a:srgbClr val="202031"/>
                </a:solidFill>
                <a:latin typeface="Raleway"/>
              </a:rPr>
              <a:t>años</a:t>
            </a:r>
            <a:r>
              <a:rPr sz="830" b="0" dirty="0">
                <a:solidFill>
                  <a:srgbClr val="202031"/>
                </a:solidFill>
                <a:latin typeface="Raleway"/>
              </a:rPr>
              <a:t> </a:t>
            </a:r>
            <a:r>
              <a:rPr sz="830" b="0" dirty="0" err="1">
                <a:solidFill>
                  <a:srgbClr val="202031"/>
                </a:solidFill>
                <a:latin typeface="Raleway"/>
              </a:rPr>
              <a:t>en</a:t>
            </a:r>
            <a:r>
              <a:rPr sz="830" b="0" dirty="0">
                <a:solidFill>
                  <a:srgbClr val="202031"/>
                </a:solidFill>
                <a:latin typeface="Raleway"/>
              </a:rPr>
              <a:t> Big Four </a:t>
            </a:r>
            <a:r>
              <a:rPr sz="830" b="0" dirty="0" err="1">
                <a:solidFill>
                  <a:srgbClr val="202031"/>
                </a:solidFill>
                <a:latin typeface="Raleway"/>
              </a:rPr>
              <a:t>en</a:t>
            </a:r>
            <a:r>
              <a:rPr sz="830" b="0" dirty="0">
                <a:solidFill>
                  <a:srgbClr val="202031"/>
                </a:solidFill>
                <a:latin typeface="Raleway"/>
              </a:rPr>
              <a:t> </a:t>
            </a:r>
            <a:r>
              <a:rPr sz="830" b="0" dirty="0" err="1">
                <a:solidFill>
                  <a:srgbClr val="202031"/>
                </a:solidFill>
                <a:latin typeface="Raleway"/>
              </a:rPr>
              <a:t>auditoría</a:t>
            </a:r>
            <a:r>
              <a:rPr sz="830" b="0" dirty="0">
                <a:solidFill>
                  <a:srgbClr val="202031"/>
                </a:solidFill>
                <a:latin typeface="Raleway"/>
              </a:rPr>
              <a:t>, due diligence y M&amp;A, y </a:t>
            </a:r>
            <a:r>
              <a:rPr sz="830" b="0" dirty="0" err="1">
                <a:solidFill>
                  <a:srgbClr val="202031"/>
                </a:solidFill>
                <a:latin typeface="Raleway"/>
              </a:rPr>
              <a:t>posteriormente</a:t>
            </a:r>
            <a:r>
              <a:rPr sz="830" b="0" dirty="0">
                <a:solidFill>
                  <a:srgbClr val="202031"/>
                </a:solidFill>
                <a:latin typeface="Raleway"/>
              </a:rPr>
              <a:t> CFO </a:t>
            </a:r>
            <a:r>
              <a:rPr sz="830" b="0" dirty="0" err="1">
                <a:solidFill>
                  <a:srgbClr val="202031"/>
                </a:solidFill>
                <a:latin typeface="Raleway"/>
              </a:rPr>
              <a:t>en</a:t>
            </a:r>
            <a:r>
              <a:rPr sz="830" b="0" dirty="0">
                <a:solidFill>
                  <a:srgbClr val="202031"/>
                </a:solidFill>
                <a:latin typeface="Raleway"/>
              </a:rPr>
              <a:t> </a:t>
            </a:r>
            <a:r>
              <a:rPr sz="830" b="0" dirty="0" err="1">
                <a:solidFill>
                  <a:srgbClr val="202031"/>
                </a:solidFill>
                <a:latin typeface="Raleway"/>
              </a:rPr>
              <a:t>grandes</a:t>
            </a:r>
            <a:r>
              <a:rPr sz="830" b="0" dirty="0">
                <a:solidFill>
                  <a:srgbClr val="202031"/>
                </a:solidFill>
                <a:latin typeface="Raleway"/>
              </a:rPr>
              <a:t> </a:t>
            </a:r>
            <a:r>
              <a:rPr sz="830" b="0" dirty="0" err="1">
                <a:solidFill>
                  <a:srgbClr val="202031"/>
                </a:solidFill>
                <a:latin typeface="Raleway"/>
              </a:rPr>
              <a:t>pymes</a:t>
            </a:r>
            <a:r>
              <a:rPr sz="830" b="0" dirty="0">
                <a:solidFill>
                  <a:srgbClr val="202031"/>
                </a:solidFill>
                <a:latin typeface="Raleway"/>
              </a:rPr>
              <a:t> </a:t>
            </a:r>
            <a:r>
              <a:rPr sz="830" b="0" dirty="0" err="1">
                <a:solidFill>
                  <a:srgbClr val="202031"/>
                </a:solidFill>
                <a:latin typeface="Raleway"/>
              </a:rPr>
              <a:t>españolas</a:t>
            </a:r>
            <a:r>
              <a:rPr sz="830" b="0" dirty="0">
                <a:solidFill>
                  <a:srgbClr val="202031"/>
                </a:solidFill>
                <a:latin typeface="Raleway"/>
              </a:rPr>
              <a:t>. </a:t>
            </a:r>
            <a:r>
              <a:rPr sz="830" b="0" dirty="0" err="1">
                <a:solidFill>
                  <a:srgbClr val="202031"/>
                </a:solidFill>
                <a:latin typeface="Raleway"/>
              </a:rPr>
              <a:t>Lidera</a:t>
            </a:r>
            <a:r>
              <a:rPr sz="830" b="0" dirty="0">
                <a:solidFill>
                  <a:srgbClr val="202031"/>
                </a:solidFill>
                <a:latin typeface="Raleway"/>
              </a:rPr>
              <a:t> Tessera Finance, </a:t>
            </a:r>
            <a:r>
              <a:rPr sz="830" b="0" dirty="0" err="1">
                <a:solidFill>
                  <a:srgbClr val="202031"/>
                </a:solidFill>
                <a:latin typeface="Raleway"/>
              </a:rPr>
              <a:t>coordinando</a:t>
            </a:r>
            <a:r>
              <a:rPr sz="830" b="0" dirty="0">
                <a:solidFill>
                  <a:srgbClr val="202031"/>
                </a:solidFill>
                <a:latin typeface="Raleway"/>
              </a:rPr>
              <a:t> el </a:t>
            </a:r>
            <a:r>
              <a:rPr sz="830" b="0" dirty="0" err="1">
                <a:solidFill>
                  <a:srgbClr val="202031"/>
                </a:solidFill>
                <a:latin typeface="Raleway"/>
              </a:rPr>
              <a:t>equipo</a:t>
            </a:r>
            <a:r>
              <a:rPr sz="830" b="0" dirty="0">
                <a:solidFill>
                  <a:srgbClr val="202031"/>
                </a:solidFill>
                <a:latin typeface="Raleway"/>
              </a:rPr>
              <a:t> de CFOs, </a:t>
            </a:r>
            <a:r>
              <a:rPr sz="830" b="0" dirty="0" err="1">
                <a:solidFill>
                  <a:srgbClr val="202031"/>
                </a:solidFill>
                <a:latin typeface="Raleway"/>
              </a:rPr>
              <a:t>transacciones</a:t>
            </a:r>
            <a:r>
              <a:rPr sz="830" b="0" dirty="0">
                <a:solidFill>
                  <a:srgbClr val="202031"/>
                </a:solidFill>
                <a:latin typeface="Raleway"/>
              </a:rPr>
              <a:t> y </a:t>
            </a:r>
            <a:r>
              <a:rPr sz="830" b="0" dirty="0" err="1">
                <a:solidFill>
                  <a:srgbClr val="202031"/>
                </a:solidFill>
                <a:latin typeface="Raleway"/>
              </a:rPr>
              <a:t>asesoramiento</a:t>
            </a:r>
            <a:r>
              <a:rPr sz="830" b="0" dirty="0">
                <a:solidFill>
                  <a:srgbClr val="202031"/>
                </a:solidFill>
                <a:latin typeface="Raleway"/>
              </a:rPr>
              <a:t> </a:t>
            </a:r>
            <a:r>
              <a:rPr sz="830" b="0" dirty="0" err="1">
                <a:solidFill>
                  <a:srgbClr val="202031"/>
                </a:solidFill>
                <a:latin typeface="Raleway"/>
              </a:rPr>
              <a:t>financiero</a:t>
            </a:r>
            <a:r>
              <a:rPr sz="830" b="0" dirty="0">
                <a:solidFill>
                  <a:srgbClr val="202031"/>
                </a:solidFill>
                <a:latin typeface="Raleway"/>
              </a:rPr>
              <a:t> </a:t>
            </a:r>
            <a:r>
              <a:rPr sz="830" b="0" dirty="0" err="1">
                <a:solidFill>
                  <a:srgbClr val="202031"/>
                </a:solidFill>
                <a:latin typeface="Raleway"/>
              </a:rPr>
              <a:t>estratégico</a:t>
            </a:r>
            <a:r>
              <a:rPr sz="830" b="0" dirty="0">
                <a:solidFill>
                  <a:srgbClr val="202031"/>
                </a:solidFill>
                <a:latin typeface="Raleway"/>
              </a:rPr>
              <a:t>.</a:t>
            </a:r>
          </a:p>
        </p:txBody>
      </p:sp>
      <p:pic>
        <p:nvPicPr>
          <p:cNvPr id="12" name="Picture 11" descr="team_hcf_eduardo_serrano.png"/>
          <p:cNvPicPr>
            <a:picLocks noChangeAspect="1"/>
          </p:cNvPicPr>
          <p:nvPr/>
        </p:nvPicPr>
        <p:blipFill>
          <a:blip r:embed="rId3"/>
          <a:srcRect t="7994" b="7994"/>
          <a:stretch>
            <a:fillRect/>
          </a:stretch>
        </p:blipFill>
        <p:spPr>
          <a:xfrm>
            <a:off x="3873500" y="2019711"/>
            <a:ext cx="2222500" cy="1714500"/>
          </a:xfrm>
          <a:prstGeom prst="rect">
            <a:avLst/>
          </a:prstGeom>
        </p:spPr>
      </p:pic>
      <p:sp>
        <p:nvSpPr>
          <p:cNvPr id="14" name="TextBox 13"/>
          <p:cNvSpPr txBox="1"/>
          <p:nvPr/>
        </p:nvSpPr>
        <p:spPr>
          <a:xfrm>
            <a:off x="3873500" y="4013611"/>
            <a:ext cx="2222500" cy="228600"/>
          </a:xfrm>
          <a:prstGeom prst="rect">
            <a:avLst/>
          </a:prstGeom>
          <a:noFill/>
        </p:spPr>
        <p:txBody>
          <a:bodyPr wrap="square" lIns="0" tIns="0" rIns="0" bIns="0" anchor="t">
            <a:spAutoFit/>
          </a:bodyPr>
          <a:lstStyle/>
          <a:p>
            <a:pPr algn="l"/>
            <a:r>
              <a:rPr sz="1200" b="0">
                <a:solidFill>
                  <a:srgbClr val="202031"/>
                </a:solidFill>
                <a:latin typeface="Raleway SemiBold"/>
              </a:rPr>
              <a:t>EDUARDO SERRANO</a:t>
            </a:r>
          </a:p>
        </p:txBody>
      </p:sp>
      <p:sp>
        <p:nvSpPr>
          <p:cNvPr id="15" name="TextBox 14"/>
          <p:cNvSpPr txBox="1"/>
          <p:nvPr/>
        </p:nvSpPr>
        <p:spPr>
          <a:xfrm>
            <a:off x="3873500" y="4242211"/>
            <a:ext cx="2222500" cy="203200"/>
          </a:xfrm>
          <a:prstGeom prst="rect">
            <a:avLst/>
          </a:prstGeom>
          <a:noFill/>
        </p:spPr>
        <p:txBody>
          <a:bodyPr wrap="square" lIns="0" tIns="0" rIns="0" bIns="0" anchor="t">
            <a:spAutoFit/>
          </a:bodyPr>
          <a:lstStyle/>
          <a:p>
            <a:pPr algn="l"/>
            <a:r>
              <a:rPr sz="800" b="0" spc="60">
                <a:solidFill>
                  <a:srgbClr val="587579"/>
                </a:solidFill>
                <a:latin typeface="Raleway Medium"/>
              </a:rPr>
              <a:t>PARTNER - FINANCE</a:t>
            </a:r>
          </a:p>
        </p:txBody>
      </p:sp>
      <p:sp>
        <p:nvSpPr>
          <p:cNvPr id="16" name="TextBox 15"/>
          <p:cNvSpPr txBox="1"/>
          <p:nvPr/>
        </p:nvSpPr>
        <p:spPr>
          <a:xfrm>
            <a:off x="3873500" y="4496211"/>
            <a:ext cx="2222500" cy="1905000"/>
          </a:xfrm>
          <a:prstGeom prst="rect">
            <a:avLst/>
          </a:prstGeom>
          <a:noFill/>
        </p:spPr>
        <p:txBody>
          <a:bodyPr wrap="square" lIns="0" tIns="0" rIns="0" bIns="0" anchor="t">
            <a:spAutoFit/>
          </a:bodyPr>
          <a:lstStyle/>
          <a:p>
            <a:pPr algn="l">
              <a:lnSpc>
                <a:spcPct val="115000"/>
              </a:lnSpc>
              <a:spcAft>
                <a:spcPts val="600"/>
              </a:spcAft>
            </a:pPr>
            <a:r>
              <a:rPr sz="830" b="0" dirty="0">
                <a:solidFill>
                  <a:srgbClr val="202031"/>
                </a:solidFill>
                <a:latin typeface="Raleway"/>
              </a:rPr>
              <a:t>17 </a:t>
            </a:r>
            <a:r>
              <a:rPr sz="830" b="0" dirty="0" err="1">
                <a:solidFill>
                  <a:srgbClr val="202031"/>
                </a:solidFill>
                <a:latin typeface="Raleway"/>
              </a:rPr>
              <a:t>años</a:t>
            </a:r>
            <a:r>
              <a:rPr sz="830" b="0" dirty="0">
                <a:solidFill>
                  <a:srgbClr val="202031"/>
                </a:solidFill>
                <a:latin typeface="Raleway"/>
              </a:rPr>
              <a:t> </a:t>
            </a:r>
            <a:r>
              <a:rPr sz="830" b="0" dirty="0" err="1">
                <a:solidFill>
                  <a:srgbClr val="202031"/>
                </a:solidFill>
                <a:latin typeface="Raleway"/>
              </a:rPr>
              <a:t>en</a:t>
            </a:r>
            <a:r>
              <a:rPr sz="830" b="0" dirty="0">
                <a:solidFill>
                  <a:srgbClr val="202031"/>
                </a:solidFill>
                <a:latin typeface="Raleway"/>
              </a:rPr>
              <a:t> el </a:t>
            </a:r>
            <a:r>
              <a:rPr sz="830" b="0" dirty="0" err="1">
                <a:solidFill>
                  <a:srgbClr val="202031"/>
                </a:solidFill>
                <a:latin typeface="Raleway"/>
              </a:rPr>
              <a:t>mundo</a:t>
            </a:r>
            <a:r>
              <a:rPr sz="830" b="0" dirty="0">
                <a:solidFill>
                  <a:srgbClr val="202031"/>
                </a:solidFill>
                <a:latin typeface="Raleway"/>
              </a:rPr>
              <a:t> del </a:t>
            </a:r>
            <a:r>
              <a:rPr sz="830" b="0" dirty="0" err="1">
                <a:solidFill>
                  <a:srgbClr val="202031"/>
                </a:solidFill>
                <a:latin typeface="Raleway"/>
              </a:rPr>
              <a:t>emprendimiento</a:t>
            </a:r>
            <a:r>
              <a:rPr sz="830" b="0" dirty="0">
                <a:solidFill>
                  <a:srgbClr val="202031"/>
                </a:solidFill>
                <a:latin typeface="Raleway"/>
              </a:rPr>
              <a:t> </a:t>
            </a:r>
            <a:r>
              <a:rPr sz="830" b="0" dirty="0" err="1">
                <a:solidFill>
                  <a:srgbClr val="202031"/>
                </a:solidFill>
                <a:latin typeface="Raleway"/>
              </a:rPr>
              <a:t>como</a:t>
            </a:r>
            <a:r>
              <a:rPr sz="830" b="0" dirty="0">
                <a:solidFill>
                  <a:srgbClr val="202031"/>
                </a:solidFill>
                <a:latin typeface="Raleway"/>
              </a:rPr>
              <a:t> CFO de startups </a:t>
            </a:r>
            <a:r>
              <a:rPr sz="830" b="0" dirty="0" err="1">
                <a:solidFill>
                  <a:srgbClr val="202031"/>
                </a:solidFill>
                <a:latin typeface="Raleway"/>
              </a:rPr>
              <a:t>internacionales</a:t>
            </a:r>
            <a:r>
              <a:rPr sz="830" b="0" dirty="0">
                <a:solidFill>
                  <a:srgbClr val="202031"/>
                </a:solidFill>
                <a:latin typeface="Raleway"/>
              </a:rPr>
              <a:t> y de </a:t>
            </a:r>
            <a:r>
              <a:rPr sz="830" b="0" dirty="0" err="1">
                <a:solidFill>
                  <a:srgbClr val="202031"/>
                </a:solidFill>
                <a:latin typeface="Raleway"/>
              </a:rPr>
              <a:t>fondos</a:t>
            </a:r>
            <a:r>
              <a:rPr sz="830" b="0" dirty="0">
                <a:solidFill>
                  <a:srgbClr val="202031"/>
                </a:solidFill>
                <a:latin typeface="Raleway"/>
              </a:rPr>
              <a:t> </a:t>
            </a:r>
            <a:r>
              <a:rPr sz="830" b="0" dirty="0" err="1">
                <a:solidFill>
                  <a:srgbClr val="202031"/>
                </a:solidFill>
                <a:latin typeface="Raleway"/>
              </a:rPr>
              <a:t>líderes</a:t>
            </a:r>
            <a:r>
              <a:rPr sz="830" b="0" dirty="0">
                <a:solidFill>
                  <a:srgbClr val="202031"/>
                </a:solidFill>
                <a:latin typeface="Raleway"/>
              </a:rPr>
              <a:t> de Venture Capital y Venture Builders. </a:t>
            </a:r>
            <a:r>
              <a:rPr sz="830" b="0" dirty="0" err="1">
                <a:solidFill>
                  <a:srgbClr val="202031"/>
                </a:solidFill>
                <a:latin typeface="Raleway"/>
              </a:rPr>
              <a:t>Especializado</a:t>
            </a:r>
            <a:r>
              <a:rPr sz="830" b="0" dirty="0">
                <a:solidFill>
                  <a:srgbClr val="202031"/>
                </a:solidFill>
                <a:latin typeface="Raleway"/>
              </a:rPr>
              <a:t> </a:t>
            </a:r>
            <a:r>
              <a:rPr sz="830" b="0" dirty="0" err="1">
                <a:solidFill>
                  <a:srgbClr val="202031"/>
                </a:solidFill>
                <a:latin typeface="Raleway"/>
              </a:rPr>
              <a:t>en</a:t>
            </a:r>
            <a:r>
              <a:rPr sz="830" b="0" dirty="0">
                <a:solidFill>
                  <a:srgbClr val="202031"/>
                </a:solidFill>
                <a:latin typeface="Raleway"/>
              </a:rPr>
              <a:t> </a:t>
            </a:r>
            <a:r>
              <a:rPr sz="830" b="0" dirty="0" err="1">
                <a:solidFill>
                  <a:srgbClr val="202031"/>
                </a:solidFill>
                <a:latin typeface="Raleway"/>
              </a:rPr>
              <a:t>aportar</a:t>
            </a:r>
            <a:r>
              <a:rPr sz="830" b="0" dirty="0">
                <a:solidFill>
                  <a:srgbClr val="202031"/>
                </a:solidFill>
                <a:latin typeface="Raleway"/>
              </a:rPr>
              <a:t> valor </a:t>
            </a:r>
            <a:r>
              <a:rPr sz="830" b="0" dirty="0" err="1">
                <a:solidFill>
                  <a:srgbClr val="202031"/>
                </a:solidFill>
                <a:latin typeface="Raleway"/>
              </a:rPr>
              <a:t>desde</a:t>
            </a:r>
            <a:r>
              <a:rPr sz="830" b="0" dirty="0">
                <a:solidFill>
                  <a:srgbClr val="202031"/>
                </a:solidFill>
                <a:latin typeface="Raleway"/>
              </a:rPr>
              <a:t> el </a:t>
            </a:r>
            <a:r>
              <a:rPr sz="830" b="0" dirty="0" err="1">
                <a:solidFill>
                  <a:srgbClr val="202031"/>
                </a:solidFill>
                <a:latin typeface="Raleway"/>
              </a:rPr>
              <a:t>área</a:t>
            </a:r>
            <a:r>
              <a:rPr sz="830" b="0" dirty="0">
                <a:solidFill>
                  <a:srgbClr val="202031"/>
                </a:solidFill>
                <a:latin typeface="Raleway"/>
              </a:rPr>
              <a:t> </a:t>
            </a:r>
            <a:r>
              <a:rPr sz="830" b="0" dirty="0" err="1">
                <a:solidFill>
                  <a:srgbClr val="202031"/>
                </a:solidFill>
                <a:latin typeface="Raleway"/>
              </a:rPr>
              <a:t>financiera</a:t>
            </a:r>
            <a:r>
              <a:rPr sz="830" b="0" dirty="0">
                <a:solidFill>
                  <a:srgbClr val="202031"/>
                </a:solidFill>
                <a:latin typeface="Raleway"/>
              </a:rPr>
              <a:t>, la </a:t>
            </a:r>
            <a:r>
              <a:rPr sz="830" b="0" dirty="0" err="1">
                <a:solidFill>
                  <a:srgbClr val="202031"/>
                </a:solidFill>
                <a:latin typeface="Raleway"/>
              </a:rPr>
              <a:t>tesorería</a:t>
            </a:r>
            <a:r>
              <a:rPr sz="830" b="0" dirty="0">
                <a:solidFill>
                  <a:srgbClr val="202031"/>
                </a:solidFill>
                <a:latin typeface="Raleway"/>
              </a:rPr>
              <a:t> y la </a:t>
            </a:r>
            <a:r>
              <a:rPr sz="830" b="0" dirty="0" err="1">
                <a:solidFill>
                  <a:srgbClr val="202031"/>
                </a:solidFill>
                <a:latin typeface="Raleway"/>
              </a:rPr>
              <a:t>consecución</a:t>
            </a:r>
            <a:r>
              <a:rPr sz="830" b="0" dirty="0">
                <a:solidFill>
                  <a:srgbClr val="202031"/>
                </a:solidFill>
                <a:latin typeface="Raleway"/>
              </a:rPr>
              <a:t> de </a:t>
            </a:r>
            <a:r>
              <a:rPr sz="830" b="0" dirty="0" err="1">
                <a:solidFill>
                  <a:srgbClr val="202031"/>
                </a:solidFill>
                <a:latin typeface="Raleway"/>
              </a:rPr>
              <a:t>financiación</a:t>
            </a:r>
            <a:r>
              <a:rPr sz="830" b="0" dirty="0">
                <a:solidFill>
                  <a:srgbClr val="202031"/>
                </a:solidFill>
                <a:latin typeface="Raleway"/>
              </a:rPr>
              <a:t> y capital.</a:t>
            </a:r>
          </a:p>
        </p:txBody>
      </p:sp>
      <p:sp>
        <p:nvSpPr>
          <p:cNvPr id="19" name="TextBox 18"/>
          <p:cNvSpPr txBox="1"/>
          <p:nvPr/>
        </p:nvSpPr>
        <p:spPr>
          <a:xfrm>
            <a:off x="6350000" y="4013611"/>
            <a:ext cx="2222500" cy="228600"/>
          </a:xfrm>
          <a:prstGeom prst="rect">
            <a:avLst/>
          </a:prstGeom>
          <a:noFill/>
        </p:spPr>
        <p:txBody>
          <a:bodyPr wrap="square" lIns="0" tIns="0" rIns="0" bIns="0" anchor="t">
            <a:spAutoFit/>
          </a:bodyPr>
          <a:lstStyle/>
          <a:p>
            <a:pPr algn="l"/>
            <a:r>
              <a:rPr sz="1200" b="0">
                <a:solidFill>
                  <a:srgbClr val="202031"/>
                </a:solidFill>
                <a:latin typeface="Raleway SemiBold"/>
              </a:rPr>
              <a:t>MÓNICA MAYORAL</a:t>
            </a:r>
          </a:p>
        </p:txBody>
      </p:sp>
      <p:sp>
        <p:nvSpPr>
          <p:cNvPr id="20" name="TextBox 19"/>
          <p:cNvSpPr txBox="1"/>
          <p:nvPr/>
        </p:nvSpPr>
        <p:spPr>
          <a:xfrm>
            <a:off x="6350000" y="4242211"/>
            <a:ext cx="2222500" cy="203200"/>
          </a:xfrm>
          <a:prstGeom prst="rect">
            <a:avLst/>
          </a:prstGeom>
          <a:noFill/>
        </p:spPr>
        <p:txBody>
          <a:bodyPr wrap="square" lIns="0" tIns="0" rIns="0" bIns="0" anchor="t">
            <a:spAutoFit/>
          </a:bodyPr>
          <a:lstStyle/>
          <a:p>
            <a:pPr algn="l"/>
            <a:r>
              <a:rPr sz="800" b="0" spc="60">
                <a:solidFill>
                  <a:srgbClr val="587579"/>
                </a:solidFill>
                <a:latin typeface="Raleway Medium"/>
              </a:rPr>
              <a:t>PARTNER - FINANCE</a:t>
            </a:r>
          </a:p>
        </p:txBody>
      </p:sp>
      <p:sp>
        <p:nvSpPr>
          <p:cNvPr id="21" name="TextBox 20"/>
          <p:cNvSpPr txBox="1"/>
          <p:nvPr/>
        </p:nvSpPr>
        <p:spPr>
          <a:xfrm>
            <a:off x="6350000" y="4496211"/>
            <a:ext cx="2222500" cy="1905000"/>
          </a:xfrm>
          <a:prstGeom prst="rect">
            <a:avLst/>
          </a:prstGeom>
          <a:noFill/>
        </p:spPr>
        <p:txBody>
          <a:bodyPr wrap="square" lIns="0" tIns="0" rIns="0" bIns="0" anchor="t">
            <a:spAutoFit/>
          </a:bodyPr>
          <a:lstStyle/>
          <a:p>
            <a:pPr algn="l">
              <a:lnSpc>
                <a:spcPct val="115000"/>
              </a:lnSpc>
              <a:spcAft>
                <a:spcPts val="600"/>
              </a:spcAft>
            </a:pPr>
            <a:r>
              <a:rPr sz="830" b="0" dirty="0">
                <a:solidFill>
                  <a:srgbClr val="202031"/>
                </a:solidFill>
                <a:latin typeface="Raleway"/>
              </a:rPr>
              <a:t>Más de 20 </a:t>
            </a:r>
            <a:r>
              <a:rPr sz="830" b="0" dirty="0" err="1">
                <a:solidFill>
                  <a:srgbClr val="202031"/>
                </a:solidFill>
                <a:latin typeface="Raleway"/>
              </a:rPr>
              <a:t>años</a:t>
            </a:r>
            <a:r>
              <a:rPr sz="830" b="0" dirty="0">
                <a:solidFill>
                  <a:srgbClr val="202031"/>
                </a:solidFill>
                <a:latin typeface="Raleway"/>
              </a:rPr>
              <a:t> </a:t>
            </a:r>
            <a:r>
              <a:rPr sz="830" b="0" dirty="0" err="1">
                <a:solidFill>
                  <a:srgbClr val="202031"/>
                </a:solidFill>
                <a:latin typeface="Raleway"/>
              </a:rPr>
              <a:t>como</a:t>
            </a:r>
            <a:r>
              <a:rPr sz="830" b="0" dirty="0">
                <a:solidFill>
                  <a:srgbClr val="202031"/>
                </a:solidFill>
                <a:latin typeface="Raleway"/>
              </a:rPr>
              <a:t> </a:t>
            </a:r>
            <a:r>
              <a:rPr sz="830" b="0" dirty="0" err="1">
                <a:solidFill>
                  <a:srgbClr val="202031"/>
                </a:solidFill>
                <a:latin typeface="Raleway"/>
              </a:rPr>
              <a:t>Directora</a:t>
            </a:r>
            <a:r>
              <a:rPr sz="830" b="0" dirty="0">
                <a:solidFill>
                  <a:srgbClr val="202031"/>
                </a:solidFill>
                <a:latin typeface="Raleway"/>
              </a:rPr>
              <a:t> Financiera </a:t>
            </a:r>
            <a:r>
              <a:rPr sz="830" b="0" dirty="0" err="1">
                <a:solidFill>
                  <a:srgbClr val="202031"/>
                </a:solidFill>
                <a:latin typeface="Raleway"/>
              </a:rPr>
              <a:t>en</a:t>
            </a:r>
            <a:r>
              <a:rPr sz="830" b="0" dirty="0">
                <a:solidFill>
                  <a:srgbClr val="202031"/>
                </a:solidFill>
                <a:latin typeface="Raleway"/>
              </a:rPr>
              <a:t> </a:t>
            </a:r>
            <a:r>
              <a:rPr sz="830" b="0" dirty="0" err="1">
                <a:solidFill>
                  <a:srgbClr val="202031"/>
                </a:solidFill>
                <a:latin typeface="Raleway"/>
              </a:rPr>
              <a:t>empresa</a:t>
            </a:r>
            <a:r>
              <a:rPr sz="830" b="0" dirty="0">
                <a:solidFill>
                  <a:srgbClr val="202031"/>
                </a:solidFill>
                <a:latin typeface="Raleway"/>
              </a:rPr>
              <a:t> </a:t>
            </a:r>
            <a:r>
              <a:rPr sz="830" b="0" dirty="0" err="1">
                <a:solidFill>
                  <a:srgbClr val="202031"/>
                </a:solidFill>
                <a:latin typeface="Raleway"/>
              </a:rPr>
              <a:t>multinacional</a:t>
            </a:r>
            <a:r>
              <a:rPr sz="830" b="0" dirty="0">
                <a:solidFill>
                  <a:srgbClr val="202031"/>
                </a:solidFill>
                <a:latin typeface="Raleway"/>
              </a:rPr>
              <a:t>, </a:t>
            </a:r>
            <a:r>
              <a:rPr sz="830" b="0" dirty="0" err="1">
                <a:solidFill>
                  <a:srgbClr val="202031"/>
                </a:solidFill>
                <a:latin typeface="Raleway"/>
              </a:rPr>
              <a:t>muy</a:t>
            </a:r>
            <a:r>
              <a:rPr sz="830" b="0" dirty="0">
                <a:solidFill>
                  <a:srgbClr val="202031"/>
                </a:solidFill>
                <a:latin typeface="Raleway"/>
              </a:rPr>
              <a:t> </a:t>
            </a:r>
            <a:r>
              <a:rPr sz="830" b="0" dirty="0" err="1">
                <a:solidFill>
                  <a:srgbClr val="202031"/>
                </a:solidFill>
                <a:latin typeface="Raleway"/>
              </a:rPr>
              <a:t>involucrada</a:t>
            </a:r>
            <a:r>
              <a:rPr sz="830" b="0" dirty="0">
                <a:solidFill>
                  <a:srgbClr val="202031"/>
                </a:solidFill>
                <a:latin typeface="Raleway"/>
              </a:rPr>
              <a:t> </a:t>
            </a:r>
            <a:r>
              <a:rPr sz="830" b="0" dirty="0" err="1">
                <a:solidFill>
                  <a:srgbClr val="202031"/>
                </a:solidFill>
                <a:latin typeface="Raleway"/>
              </a:rPr>
              <a:t>en</a:t>
            </a:r>
            <a:r>
              <a:rPr sz="830" b="0" dirty="0">
                <a:solidFill>
                  <a:srgbClr val="202031"/>
                </a:solidFill>
                <a:latin typeface="Raleway"/>
              </a:rPr>
              <a:t> el día a día de la </a:t>
            </a:r>
            <a:r>
              <a:rPr sz="830" b="0" dirty="0" err="1">
                <a:solidFill>
                  <a:srgbClr val="202031"/>
                </a:solidFill>
                <a:latin typeface="Raleway"/>
              </a:rPr>
              <a:t>compañía</a:t>
            </a:r>
            <a:r>
              <a:rPr sz="830" b="0" dirty="0">
                <a:solidFill>
                  <a:srgbClr val="202031"/>
                </a:solidFill>
                <a:latin typeface="Raleway"/>
              </a:rPr>
              <a:t> con </a:t>
            </a:r>
            <a:r>
              <a:rPr sz="830" b="0" dirty="0" err="1">
                <a:solidFill>
                  <a:srgbClr val="202031"/>
                </a:solidFill>
                <a:latin typeface="Raleway"/>
              </a:rPr>
              <a:t>visión</a:t>
            </a:r>
            <a:r>
              <a:rPr sz="830" b="0" dirty="0">
                <a:solidFill>
                  <a:srgbClr val="202031"/>
                </a:solidFill>
                <a:latin typeface="Raleway"/>
              </a:rPr>
              <a:t> y </a:t>
            </a:r>
            <a:r>
              <a:rPr sz="830" b="0" dirty="0" err="1">
                <a:solidFill>
                  <a:srgbClr val="202031"/>
                </a:solidFill>
                <a:latin typeface="Raleway"/>
              </a:rPr>
              <a:t>estrategia</a:t>
            </a:r>
            <a:r>
              <a:rPr sz="830" b="0" dirty="0">
                <a:solidFill>
                  <a:srgbClr val="202031"/>
                </a:solidFill>
                <a:latin typeface="Raleway"/>
              </a:rPr>
              <a:t> global: </a:t>
            </a:r>
            <a:r>
              <a:rPr sz="830" b="0" dirty="0" err="1">
                <a:solidFill>
                  <a:srgbClr val="202031"/>
                </a:solidFill>
                <a:latin typeface="Raleway"/>
              </a:rPr>
              <a:t>reducción</a:t>
            </a:r>
            <a:r>
              <a:rPr sz="830" b="0" dirty="0">
                <a:solidFill>
                  <a:srgbClr val="202031"/>
                </a:solidFill>
                <a:latin typeface="Raleway"/>
              </a:rPr>
              <a:t> de </a:t>
            </a:r>
            <a:r>
              <a:rPr sz="830" b="0" dirty="0" err="1">
                <a:solidFill>
                  <a:srgbClr val="202031"/>
                </a:solidFill>
                <a:latin typeface="Raleway"/>
              </a:rPr>
              <a:t>riesgos</a:t>
            </a:r>
            <a:r>
              <a:rPr sz="830" b="0" dirty="0">
                <a:solidFill>
                  <a:srgbClr val="202031"/>
                </a:solidFill>
                <a:latin typeface="Raleway"/>
              </a:rPr>
              <a:t> y planes de </a:t>
            </a:r>
            <a:r>
              <a:rPr sz="830" b="0" dirty="0" err="1">
                <a:solidFill>
                  <a:srgbClr val="202031"/>
                </a:solidFill>
                <a:latin typeface="Raleway"/>
              </a:rPr>
              <a:t>crecimiento</a:t>
            </a:r>
            <a:r>
              <a:rPr sz="830" b="0" dirty="0">
                <a:solidFill>
                  <a:srgbClr val="202031"/>
                </a:solidFill>
                <a:latin typeface="Raleway"/>
              </a:rPr>
              <a:t>.</a:t>
            </a:r>
          </a:p>
        </p:txBody>
      </p:sp>
      <p:pic>
        <p:nvPicPr>
          <p:cNvPr id="22" name="Picture 21" descr="team_hcf_edward_manrique.png"/>
          <p:cNvPicPr>
            <a:picLocks noChangeAspect="1"/>
          </p:cNvPicPr>
          <p:nvPr/>
        </p:nvPicPr>
        <p:blipFill>
          <a:blip r:embed="rId4"/>
          <a:srcRect l="3047" r="26283"/>
          <a:stretch>
            <a:fillRect/>
          </a:stretch>
        </p:blipFill>
        <p:spPr>
          <a:xfrm>
            <a:off x="8987708" y="2019711"/>
            <a:ext cx="1900084" cy="1714500"/>
          </a:xfrm>
          <a:prstGeom prst="rect">
            <a:avLst/>
          </a:prstGeom>
        </p:spPr>
      </p:pic>
      <p:sp>
        <p:nvSpPr>
          <p:cNvPr id="24" name="TextBox 23"/>
          <p:cNvSpPr txBox="1"/>
          <p:nvPr/>
        </p:nvSpPr>
        <p:spPr>
          <a:xfrm>
            <a:off x="8826500" y="4013611"/>
            <a:ext cx="2222500" cy="228600"/>
          </a:xfrm>
          <a:prstGeom prst="rect">
            <a:avLst/>
          </a:prstGeom>
          <a:noFill/>
        </p:spPr>
        <p:txBody>
          <a:bodyPr wrap="square" lIns="0" tIns="0" rIns="0" bIns="0" anchor="t">
            <a:spAutoFit/>
          </a:bodyPr>
          <a:lstStyle/>
          <a:p>
            <a:pPr algn="l"/>
            <a:r>
              <a:rPr sz="1200" b="0">
                <a:solidFill>
                  <a:srgbClr val="202031"/>
                </a:solidFill>
                <a:latin typeface="Raleway SemiBold"/>
              </a:rPr>
              <a:t>EDWARD MANRIQUE</a:t>
            </a:r>
          </a:p>
        </p:txBody>
      </p:sp>
      <p:sp>
        <p:nvSpPr>
          <p:cNvPr id="25" name="TextBox 24"/>
          <p:cNvSpPr txBox="1"/>
          <p:nvPr/>
        </p:nvSpPr>
        <p:spPr>
          <a:xfrm>
            <a:off x="8826500" y="4242211"/>
            <a:ext cx="2222500" cy="203200"/>
          </a:xfrm>
          <a:prstGeom prst="rect">
            <a:avLst/>
          </a:prstGeom>
          <a:noFill/>
        </p:spPr>
        <p:txBody>
          <a:bodyPr wrap="square" lIns="0" tIns="0" rIns="0" bIns="0" anchor="t">
            <a:spAutoFit/>
          </a:bodyPr>
          <a:lstStyle/>
          <a:p>
            <a:pPr algn="l"/>
            <a:r>
              <a:rPr sz="800" b="0" spc="60">
                <a:solidFill>
                  <a:srgbClr val="587579"/>
                </a:solidFill>
                <a:latin typeface="Raleway Medium"/>
              </a:rPr>
              <a:t>HEAD OF RECRUITMENT &amp; TALENT OPERATIONS</a:t>
            </a:r>
          </a:p>
        </p:txBody>
      </p:sp>
      <p:sp>
        <p:nvSpPr>
          <p:cNvPr id="26" name="TextBox 25"/>
          <p:cNvSpPr txBox="1"/>
          <p:nvPr/>
        </p:nvSpPr>
        <p:spPr>
          <a:xfrm>
            <a:off x="8826500" y="4496211"/>
            <a:ext cx="2222500" cy="1905000"/>
          </a:xfrm>
          <a:prstGeom prst="rect">
            <a:avLst/>
          </a:prstGeom>
          <a:noFill/>
        </p:spPr>
        <p:txBody>
          <a:bodyPr wrap="square" lIns="0" tIns="0" rIns="0" bIns="0" anchor="t">
            <a:spAutoFit/>
          </a:bodyPr>
          <a:lstStyle/>
          <a:p>
            <a:pPr algn="l">
              <a:lnSpc>
                <a:spcPct val="115000"/>
              </a:lnSpc>
              <a:spcAft>
                <a:spcPts val="600"/>
              </a:spcAft>
            </a:pPr>
            <a:r>
              <a:rPr sz="830" b="0" dirty="0">
                <a:solidFill>
                  <a:srgbClr val="202031"/>
                </a:solidFill>
                <a:latin typeface="Raleway"/>
              </a:rPr>
              <a:t>Más de 8 </a:t>
            </a:r>
            <a:r>
              <a:rPr sz="830" b="0" dirty="0" err="1">
                <a:solidFill>
                  <a:srgbClr val="202031"/>
                </a:solidFill>
                <a:latin typeface="Raleway"/>
              </a:rPr>
              <a:t>años</a:t>
            </a:r>
            <a:r>
              <a:rPr sz="830" b="0" dirty="0">
                <a:solidFill>
                  <a:srgbClr val="202031"/>
                </a:solidFill>
                <a:latin typeface="Raleway"/>
              </a:rPr>
              <a:t> de </a:t>
            </a:r>
            <a:r>
              <a:rPr sz="830" b="0" dirty="0" err="1">
                <a:solidFill>
                  <a:srgbClr val="202031"/>
                </a:solidFill>
                <a:latin typeface="Raleway"/>
              </a:rPr>
              <a:t>experiencia</a:t>
            </a:r>
            <a:r>
              <a:rPr sz="830" b="0" dirty="0">
                <a:solidFill>
                  <a:srgbClr val="202031"/>
                </a:solidFill>
                <a:latin typeface="Raleway"/>
              </a:rPr>
              <a:t> </a:t>
            </a:r>
            <a:r>
              <a:rPr sz="830" b="0" dirty="0" err="1">
                <a:solidFill>
                  <a:srgbClr val="202031"/>
                </a:solidFill>
                <a:latin typeface="Raleway"/>
              </a:rPr>
              <a:t>en</a:t>
            </a:r>
            <a:r>
              <a:rPr sz="830" b="0" dirty="0">
                <a:solidFill>
                  <a:srgbClr val="202031"/>
                </a:solidFill>
                <a:latin typeface="Raleway"/>
              </a:rPr>
              <a:t> </a:t>
            </a:r>
            <a:r>
              <a:rPr sz="830" b="0" dirty="0" err="1">
                <a:solidFill>
                  <a:srgbClr val="202031"/>
                </a:solidFill>
                <a:latin typeface="Raleway"/>
              </a:rPr>
              <a:t>identificación</a:t>
            </a:r>
            <a:r>
              <a:rPr sz="830" b="0" dirty="0">
                <a:solidFill>
                  <a:srgbClr val="202031"/>
                </a:solidFill>
                <a:latin typeface="Raleway"/>
              </a:rPr>
              <a:t> y </a:t>
            </a:r>
            <a:r>
              <a:rPr sz="830" b="0" dirty="0" err="1">
                <a:solidFill>
                  <a:srgbClr val="202031"/>
                </a:solidFill>
                <a:latin typeface="Raleway"/>
              </a:rPr>
              <a:t>evaluación</a:t>
            </a:r>
            <a:r>
              <a:rPr sz="830" b="0" dirty="0">
                <a:solidFill>
                  <a:srgbClr val="202031"/>
                </a:solidFill>
                <a:latin typeface="Raleway"/>
              </a:rPr>
              <a:t> de </a:t>
            </a:r>
            <a:r>
              <a:rPr sz="830" b="0" dirty="0" err="1">
                <a:solidFill>
                  <a:srgbClr val="202031"/>
                </a:solidFill>
                <a:latin typeface="Raleway"/>
              </a:rPr>
              <a:t>talento</a:t>
            </a:r>
            <a:r>
              <a:rPr sz="830" b="0" dirty="0">
                <a:solidFill>
                  <a:srgbClr val="202031"/>
                </a:solidFill>
                <a:latin typeface="Raleway"/>
              </a:rPr>
              <a:t>. En </a:t>
            </a:r>
            <a:r>
              <a:rPr sz="830" b="0" dirty="0" err="1">
                <a:solidFill>
                  <a:srgbClr val="202031"/>
                </a:solidFill>
                <a:latin typeface="Raleway"/>
              </a:rPr>
              <a:t>Seedtag</a:t>
            </a:r>
            <a:r>
              <a:rPr sz="830" b="0" dirty="0">
                <a:solidFill>
                  <a:srgbClr val="202031"/>
                </a:solidFill>
                <a:latin typeface="Raleway"/>
              </a:rPr>
              <a:t> </a:t>
            </a:r>
            <a:r>
              <a:rPr sz="830" b="0" dirty="0" err="1">
                <a:solidFill>
                  <a:srgbClr val="202031"/>
                </a:solidFill>
                <a:latin typeface="Raleway"/>
              </a:rPr>
              <a:t>lideró</a:t>
            </a:r>
            <a:r>
              <a:rPr sz="830" b="0" dirty="0">
                <a:solidFill>
                  <a:srgbClr val="202031"/>
                </a:solidFill>
                <a:latin typeface="Raleway"/>
              </a:rPr>
              <a:t> la </a:t>
            </a:r>
            <a:r>
              <a:rPr sz="830" b="0" dirty="0" err="1">
                <a:solidFill>
                  <a:srgbClr val="202031"/>
                </a:solidFill>
                <a:latin typeface="Raleway"/>
              </a:rPr>
              <a:t>contratación</a:t>
            </a:r>
            <a:r>
              <a:rPr sz="830" b="0" dirty="0">
                <a:solidFill>
                  <a:srgbClr val="202031"/>
                </a:solidFill>
                <a:latin typeface="Raleway"/>
              </a:rPr>
              <a:t> de </a:t>
            </a:r>
            <a:r>
              <a:rPr sz="830" b="0" dirty="0" err="1">
                <a:solidFill>
                  <a:srgbClr val="202031"/>
                </a:solidFill>
                <a:latin typeface="Raleway"/>
              </a:rPr>
              <a:t>más</a:t>
            </a:r>
            <a:r>
              <a:rPr sz="830" b="0" dirty="0">
                <a:solidFill>
                  <a:srgbClr val="202031"/>
                </a:solidFill>
                <a:latin typeface="Raleway"/>
              </a:rPr>
              <a:t> de 200 </a:t>
            </a:r>
            <a:r>
              <a:rPr sz="830" b="0" dirty="0" err="1">
                <a:solidFill>
                  <a:srgbClr val="202031"/>
                </a:solidFill>
                <a:latin typeface="Raleway"/>
              </a:rPr>
              <a:t>profesionales</a:t>
            </a:r>
            <a:r>
              <a:rPr sz="830" b="0" dirty="0">
                <a:solidFill>
                  <a:srgbClr val="202031"/>
                </a:solidFill>
                <a:latin typeface="Raleway"/>
              </a:rPr>
              <a:t> </a:t>
            </a:r>
            <a:r>
              <a:rPr sz="830" b="0" dirty="0" err="1">
                <a:solidFill>
                  <a:srgbClr val="202031"/>
                </a:solidFill>
                <a:latin typeface="Raleway"/>
              </a:rPr>
              <a:t>en</a:t>
            </a:r>
            <a:r>
              <a:rPr sz="830" b="0" dirty="0">
                <a:solidFill>
                  <a:srgbClr val="202031"/>
                </a:solidFill>
                <a:latin typeface="Raleway"/>
              </a:rPr>
              <a:t> 16 </a:t>
            </a:r>
            <a:r>
              <a:rPr sz="830" b="0" dirty="0" err="1">
                <a:solidFill>
                  <a:srgbClr val="202031"/>
                </a:solidFill>
                <a:latin typeface="Raleway"/>
              </a:rPr>
              <a:t>países</a:t>
            </a:r>
            <a:r>
              <a:rPr sz="830" b="0" dirty="0">
                <a:solidFill>
                  <a:srgbClr val="202031"/>
                </a:solidFill>
                <a:latin typeface="Raleway"/>
              </a:rPr>
              <a:t>, y ha </a:t>
            </a:r>
            <a:r>
              <a:rPr sz="830" b="0" dirty="0" err="1">
                <a:solidFill>
                  <a:srgbClr val="202031"/>
                </a:solidFill>
                <a:latin typeface="Raleway"/>
              </a:rPr>
              <a:t>trabajado</a:t>
            </a:r>
            <a:r>
              <a:rPr sz="830" b="0" dirty="0">
                <a:solidFill>
                  <a:srgbClr val="202031"/>
                </a:solidFill>
                <a:latin typeface="Raleway"/>
              </a:rPr>
              <a:t> con </a:t>
            </a:r>
            <a:r>
              <a:rPr sz="830" b="0" dirty="0" err="1">
                <a:solidFill>
                  <a:srgbClr val="202031"/>
                </a:solidFill>
                <a:latin typeface="Raleway"/>
              </a:rPr>
              <a:t>entidades</a:t>
            </a:r>
            <a:r>
              <a:rPr sz="830" b="0" dirty="0">
                <a:solidFill>
                  <a:srgbClr val="202031"/>
                </a:solidFill>
                <a:latin typeface="Raleway"/>
              </a:rPr>
              <a:t> </a:t>
            </a:r>
            <a:r>
              <a:rPr sz="830" b="0" dirty="0" err="1">
                <a:solidFill>
                  <a:srgbClr val="202031"/>
                </a:solidFill>
                <a:latin typeface="Raleway"/>
              </a:rPr>
              <a:t>financieras</a:t>
            </a:r>
            <a:r>
              <a:rPr sz="830" b="0" dirty="0">
                <a:solidFill>
                  <a:srgbClr val="202031"/>
                </a:solidFill>
                <a:latin typeface="Raleway"/>
              </a:rPr>
              <a:t> </a:t>
            </a:r>
            <a:r>
              <a:rPr sz="830" b="0" dirty="0" err="1">
                <a:solidFill>
                  <a:srgbClr val="202031"/>
                </a:solidFill>
                <a:latin typeface="Raleway"/>
              </a:rPr>
              <a:t>como</a:t>
            </a:r>
            <a:r>
              <a:rPr sz="830" b="0" dirty="0">
                <a:solidFill>
                  <a:srgbClr val="202031"/>
                </a:solidFill>
                <a:latin typeface="Raleway"/>
              </a:rPr>
              <a:t> Santander, BNP Paribas y BBVA.</a:t>
            </a:r>
          </a:p>
        </p:txBody>
      </p:sp>
      <p:sp>
        <p:nvSpPr>
          <p:cNvPr id="27" name="TextBox 26"/>
          <p:cNvSpPr txBox="1"/>
          <p:nvPr/>
        </p:nvSpPr>
        <p:spPr>
          <a:xfrm>
            <a:off x="762000" y="6477000"/>
            <a:ext cx="3810000" cy="203200"/>
          </a:xfrm>
          <a:prstGeom prst="rect">
            <a:avLst/>
          </a:prstGeom>
          <a:noFill/>
        </p:spPr>
        <p:txBody>
          <a:bodyPr wrap="square" lIns="0" tIns="0" rIns="0" bIns="0" anchor="t">
            <a:spAutoFit/>
          </a:bodyPr>
          <a:lstStyle/>
          <a:p>
            <a:pPr algn="l"/>
            <a:r>
              <a:rPr sz="900" b="0">
                <a:solidFill>
                  <a:srgbClr val="587579"/>
                </a:solidFill>
                <a:latin typeface="Raleway"/>
              </a:rPr>
              <a:t>tesseraservices.com</a:t>
            </a:r>
          </a:p>
        </p:txBody>
      </p:sp>
      <p:sp>
        <p:nvSpPr>
          <p:cNvPr id="28" name="TextBox 27"/>
          <p:cNvSpPr txBox="1"/>
          <p:nvPr/>
        </p:nvSpPr>
        <p:spPr>
          <a:xfrm>
            <a:off x="10668000" y="6400800"/>
            <a:ext cx="762000" cy="330200"/>
          </a:xfrm>
          <a:prstGeom prst="rect">
            <a:avLst/>
          </a:prstGeom>
          <a:noFill/>
        </p:spPr>
        <p:txBody>
          <a:bodyPr wrap="square" lIns="0" tIns="0" rIns="0" bIns="0" anchor="t">
            <a:spAutoFit/>
          </a:bodyPr>
          <a:lstStyle/>
          <a:p>
            <a:pPr algn="r"/>
            <a:r>
              <a:rPr sz="1600" b="0">
                <a:solidFill>
                  <a:srgbClr val="202031"/>
                </a:solidFill>
                <a:latin typeface="Manrope Medium"/>
              </a:rPr>
              <a:t>03</a:t>
            </a:r>
          </a:p>
        </p:txBody>
      </p:sp>
      <p:pic>
        <p:nvPicPr>
          <p:cNvPr id="30" name="Imagen 20">
            <a:extLst>
              <a:ext uri="{FF2B5EF4-FFF2-40B4-BE49-F238E27FC236}">
                <a16:creationId xmlns:a16="http://schemas.microsoft.com/office/drawing/2014/main" id="{CBE884E1-223E-1ABD-D49F-F5C81245CD37}"/>
              </a:ext>
            </a:extLst>
          </p:cNvPr>
          <p:cNvPicPr>
            <a:picLocks noChangeAspect="1"/>
          </p:cNvPicPr>
          <p:nvPr/>
        </p:nvPicPr>
        <p:blipFill>
          <a:blip r:embed="rId5"/>
          <a:srcRect t="3009"/>
          <a:stretch>
            <a:fillRect/>
          </a:stretch>
        </p:blipFill>
        <p:spPr>
          <a:xfrm>
            <a:off x="1517651" y="1987293"/>
            <a:ext cx="1981198" cy="1734628"/>
          </a:xfrm>
          <a:prstGeom prst="rect">
            <a:avLst/>
          </a:prstGeom>
        </p:spPr>
      </p:pic>
      <p:pic>
        <p:nvPicPr>
          <p:cNvPr id="32" name="Imagen 21">
            <a:extLst>
              <a:ext uri="{FF2B5EF4-FFF2-40B4-BE49-F238E27FC236}">
                <a16:creationId xmlns:a16="http://schemas.microsoft.com/office/drawing/2014/main" id="{6A89FF29-8EA1-9EC3-0D78-1B25BD8CF459}"/>
              </a:ext>
            </a:extLst>
          </p:cNvPr>
          <p:cNvPicPr>
            <a:picLocks noChangeAspect="1"/>
          </p:cNvPicPr>
          <p:nvPr/>
        </p:nvPicPr>
        <p:blipFill>
          <a:blip r:embed="rId6"/>
          <a:srcRect r="288" b="13924"/>
          <a:stretch>
            <a:fillRect/>
          </a:stretch>
        </p:blipFill>
        <p:spPr>
          <a:xfrm>
            <a:off x="6556811" y="1968500"/>
            <a:ext cx="1808877" cy="175342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6EC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spAutoFit/>
          </a:bodyPr>
          <a:lstStyle/>
          <a:p>
            <a:pPr algn="r"/>
            <a:r>
              <a:rPr sz="1000" b="0" spc="120">
                <a:solidFill>
                  <a:srgbClr val="587579"/>
                </a:solidFill>
                <a:latin typeface="Raleway Medium"/>
              </a:rPr>
              <a:t>PARA EL FONDO Y SUS PARTICIPADAS</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889000"/>
            <a:ext cx="9652000" cy="635000"/>
          </a:xfrm>
          <a:prstGeom prst="rect">
            <a:avLst/>
          </a:prstGeom>
          <a:noFill/>
        </p:spPr>
        <p:txBody>
          <a:bodyPr wrap="square" lIns="0" tIns="0" rIns="0" bIns="0" anchor="t">
            <a:spAutoFit/>
          </a:bodyPr>
          <a:lstStyle/>
          <a:p>
            <a:pPr algn="l"/>
            <a:r>
              <a:rPr sz="3200" b="0">
                <a:solidFill>
                  <a:srgbClr val="202031"/>
                </a:solidFill>
                <a:latin typeface="Raleway Light"/>
              </a:rPr>
              <a:t>Un partner para el fondo</a:t>
            </a:r>
          </a:p>
        </p:txBody>
      </p:sp>
      <p:sp>
        <p:nvSpPr>
          <p:cNvPr id="6" name="TextBox 5"/>
          <p:cNvSpPr txBox="1"/>
          <p:nvPr/>
        </p:nvSpPr>
        <p:spPr>
          <a:xfrm>
            <a:off x="762000" y="1498600"/>
            <a:ext cx="9652000" cy="304800"/>
          </a:xfrm>
          <a:prstGeom prst="rect">
            <a:avLst/>
          </a:prstGeom>
          <a:noFill/>
        </p:spPr>
        <p:txBody>
          <a:bodyPr wrap="square" lIns="0" tIns="0" rIns="0" bIns="0" anchor="t">
            <a:spAutoFit/>
          </a:bodyPr>
          <a:lstStyle/>
          <a:p>
            <a:pPr algn="l"/>
            <a:r>
              <a:rPr sz="1100" b="0">
                <a:solidFill>
                  <a:srgbClr val="202031"/>
                </a:solidFill>
                <a:latin typeface="Raleway"/>
              </a:rPr>
              <a:t>Finance y Human Capital en un mismo equipo, en cada fase del ciclo de inversión.</a:t>
            </a:r>
          </a:p>
        </p:txBody>
      </p:sp>
      <p:sp>
        <p:nvSpPr>
          <p:cNvPr id="7" name="Rectangle 6"/>
          <p:cNvSpPr/>
          <p:nvPr/>
        </p:nvSpPr>
        <p:spPr>
          <a:xfrm>
            <a:off x="762000" y="2032000"/>
            <a:ext cx="3378200" cy="292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0600" y="2235200"/>
            <a:ext cx="635000" cy="330200"/>
          </a:xfrm>
          <a:prstGeom prst="rect">
            <a:avLst/>
          </a:prstGeom>
          <a:noFill/>
        </p:spPr>
        <p:txBody>
          <a:bodyPr wrap="square" lIns="0" tIns="0" rIns="0" bIns="0" anchor="t">
            <a:spAutoFit/>
          </a:bodyPr>
          <a:lstStyle/>
          <a:p>
            <a:pPr algn="l"/>
            <a:r>
              <a:rPr sz="1600" b="0">
                <a:solidFill>
                  <a:srgbClr val="587579"/>
                </a:solidFill>
                <a:latin typeface="Manrope Medium"/>
              </a:rPr>
              <a:t>01</a:t>
            </a:r>
          </a:p>
        </p:txBody>
      </p:sp>
      <p:sp>
        <p:nvSpPr>
          <p:cNvPr id="9" name="TextBox 8"/>
          <p:cNvSpPr txBox="1"/>
          <p:nvPr/>
        </p:nvSpPr>
        <p:spPr>
          <a:xfrm>
            <a:off x="990600" y="2590800"/>
            <a:ext cx="2921000" cy="254000"/>
          </a:xfrm>
          <a:prstGeom prst="rect">
            <a:avLst/>
          </a:prstGeom>
          <a:noFill/>
        </p:spPr>
        <p:txBody>
          <a:bodyPr wrap="square" lIns="0" tIns="0" rIns="0" bIns="0" anchor="t">
            <a:spAutoFit/>
          </a:bodyPr>
          <a:lstStyle/>
          <a:p>
            <a:pPr algn="l"/>
            <a:r>
              <a:rPr sz="1200" b="0">
                <a:solidFill>
                  <a:srgbClr val="202031"/>
                </a:solidFill>
                <a:latin typeface="Raleway SemiBold"/>
              </a:rPr>
              <a:t>PRE-INVERSIÓN</a:t>
            </a:r>
          </a:p>
        </p:txBody>
      </p:sp>
      <p:sp>
        <p:nvSpPr>
          <p:cNvPr id="10" name="TextBox 9"/>
          <p:cNvSpPr txBox="1"/>
          <p:nvPr/>
        </p:nvSpPr>
        <p:spPr>
          <a:xfrm>
            <a:off x="990600" y="2844800"/>
            <a:ext cx="2921000" cy="203200"/>
          </a:xfrm>
          <a:prstGeom prst="rect">
            <a:avLst/>
          </a:prstGeom>
          <a:noFill/>
        </p:spPr>
        <p:txBody>
          <a:bodyPr wrap="square" lIns="0" tIns="0" rIns="0" bIns="0" anchor="t">
            <a:spAutoFit/>
          </a:bodyPr>
          <a:lstStyle/>
          <a:p>
            <a:pPr algn="l"/>
            <a:r>
              <a:rPr sz="950" b="0">
                <a:solidFill>
                  <a:srgbClr val="587579"/>
                </a:solidFill>
                <a:latin typeface="Raleway"/>
              </a:rPr>
              <a:t>Antes de firmar</a:t>
            </a:r>
          </a:p>
        </p:txBody>
      </p:sp>
      <p:sp>
        <p:nvSpPr>
          <p:cNvPr id="11" name="TextBox 10"/>
          <p:cNvSpPr txBox="1"/>
          <p:nvPr/>
        </p:nvSpPr>
        <p:spPr>
          <a:xfrm>
            <a:off x="990600" y="3124200"/>
            <a:ext cx="2921000" cy="1778000"/>
          </a:xfrm>
          <a:prstGeom prst="rect">
            <a:avLst/>
          </a:prstGeom>
          <a:noFill/>
        </p:spPr>
        <p:txBody>
          <a:bodyPr wrap="square" lIns="0" tIns="0" rIns="0" bIns="0" anchor="t">
            <a:spAutoFit/>
          </a:bodyPr>
          <a:lstStyle/>
          <a:p>
            <a:pPr algn="l">
              <a:lnSpc>
                <a:spcPct val="120000"/>
              </a:lnSpc>
              <a:spcAft>
                <a:spcPts val="500"/>
              </a:spcAft>
            </a:pPr>
            <a:r>
              <a:rPr sz="900" b="0">
                <a:solidFill>
                  <a:srgbClr val="202031"/>
                </a:solidFill>
                <a:latin typeface="Raleway"/>
              </a:rPr>
              <a:t>-  Due diligence financiera del target</a:t>
            </a:r>
          </a:p>
          <a:p>
            <a:pPr algn="l">
              <a:lnSpc>
                <a:spcPct val="120000"/>
              </a:lnSpc>
              <a:spcAft>
                <a:spcPts val="500"/>
              </a:spcAft>
            </a:pPr>
            <a:r>
              <a:rPr sz="900" b="0">
                <a:solidFill>
                  <a:srgbClr val="202031"/>
                </a:solidFill>
                <a:latin typeface="Raleway"/>
              </a:rPr>
              <a:t>-  Valoración independiente</a:t>
            </a:r>
          </a:p>
          <a:p>
            <a:pPr algn="l">
              <a:lnSpc>
                <a:spcPct val="120000"/>
              </a:lnSpc>
              <a:spcAft>
                <a:spcPts val="500"/>
              </a:spcAft>
            </a:pPr>
            <a:r>
              <a:rPr sz="900" b="0">
                <a:solidFill>
                  <a:srgbClr val="202031"/>
                </a:solidFill>
                <a:latin typeface="Raleway"/>
              </a:rPr>
              <a:t>-  Revisión del business plan</a:t>
            </a:r>
          </a:p>
          <a:p>
            <a:pPr algn="l">
              <a:lnSpc>
                <a:spcPct val="120000"/>
              </a:lnSpc>
              <a:spcAft>
                <a:spcPts val="500"/>
              </a:spcAft>
            </a:pPr>
            <a:r>
              <a:rPr sz="900" b="0">
                <a:solidFill>
                  <a:srgbClr val="202031"/>
                </a:solidFill>
                <a:latin typeface="Raleway"/>
              </a:rPr>
              <a:t>-  Estructura de la operación</a:t>
            </a:r>
          </a:p>
        </p:txBody>
      </p:sp>
      <p:sp>
        <p:nvSpPr>
          <p:cNvPr id="12" name="Rectangle 11"/>
          <p:cNvSpPr/>
          <p:nvPr/>
        </p:nvSpPr>
        <p:spPr>
          <a:xfrm>
            <a:off x="4406900" y="2032000"/>
            <a:ext cx="3378200" cy="292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5500" y="2235200"/>
            <a:ext cx="635000" cy="330200"/>
          </a:xfrm>
          <a:prstGeom prst="rect">
            <a:avLst/>
          </a:prstGeom>
          <a:noFill/>
        </p:spPr>
        <p:txBody>
          <a:bodyPr wrap="square" lIns="0" tIns="0" rIns="0" bIns="0" anchor="t">
            <a:spAutoFit/>
          </a:bodyPr>
          <a:lstStyle/>
          <a:p>
            <a:pPr algn="l"/>
            <a:r>
              <a:rPr sz="1600" b="0">
                <a:solidFill>
                  <a:srgbClr val="587579"/>
                </a:solidFill>
                <a:latin typeface="Manrope Medium"/>
              </a:rPr>
              <a:t>02</a:t>
            </a:r>
          </a:p>
        </p:txBody>
      </p:sp>
      <p:sp>
        <p:nvSpPr>
          <p:cNvPr id="14" name="TextBox 13"/>
          <p:cNvSpPr txBox="1"/>
          <p:nvPr/>
        </p:nvSpPr>
        <p:spPr>
          <a:xfrm>
            <a:off x="4635500" y="2590800"/>
            <a:ext cx="2921000" cy="254000"/>
          </a:xfrm>
          <a:prstGeom prst="rect">
            <a:avLst/>
          </a:prstGeom>
          <a:noFill/>
        </p:spPr>
        <p:txBody>
          <a:bodyPr wrap="square" lIns="0" tIns="0" rIns="0" bIns="0" anchor="t">
            <a:spAutoFit/>
          </a:bodyPr>
          <a:lstStyle/>
          <a:p>
            <a:pPr algn="l"/>
            <a:r>
              <a:rPr sz="1200" b="0">
                <a:solidFill>
                  <a:srgbClr val="202031"/>
                </a:solidFill>
                <a:latin typeface="Raleway SemiBold"/>
              </a:rPr>
              <a:t>ACOMPAÑAMIENTO</a:t>
            </a:r>
          </a:p>
        </p:txBody>
      </p:sp>
      <p:sp>
        <p:nvSpPr>
          <p:cNvPr id="15" name="TextBox 14"/>
          <p:cNvSpPr txBox="1"/>
          <p:nvPr/>
        </p:nvSpPr>
        <p:spPr>
          <a:xfrm>
            <a:off x="4635500" y="2844800"/>
            <a:ext cx="2921000" cy="203200"/>
          </a:xfrm>
          <a:prstGeom prst="rect">
            <a:avLst/>
          </a:prstGeom>
          <a:noFill/>
        </p:spPr>
        <p:txBody>
          <a:bodyPr wrap="square" lIns="0" tIns="0" rIns="0" bIns="0" anchor="t">
            <a:spAutoFit/>
          </a:bodyPr>
          <a:lstStyle/>
          <a:p>
            <a:pPr algn="l"/>
            <a:r>
              <a:rPr sz="950" b="0">
                <a:solidFill>
                  <a:srgbClr val="587579"/>
                </a:solidFill>
                <a:latin typeface="Raleway"/>
              </a:rPr>
              <a:t>Durante la inversión</a:t>
            </a:r>
          </a:p>
        </p:txBody>
      </p:sp>
      <p:sp>
        <p:nvSpPr>
          <p:cNvPr id="16" name="TextBox 15"/>
          <p:cNvSpPr txBox="1"/>
          <p:nvPr/>
        </p:nvSpPr>
        <p:spPr>
          <a:xfrm>
            <a:off x="4635500" y="3124200"/>
            <a:ext cx="2921000" cy="1778000"/>
          </a:xfrm>
          <a:prstGeom prst="rect">
            <a:avLst/>
          </a:prstGeom>
          <a:noFill/>
        </p:spPr>
        <p:txBody>
          <a:bodyPr wrap="square" lIns="0" tIns="0" rIns="0" bIns="0" anchor="t">
            <a:spAutoFit/>
          </a:bodyPr>
          <a:lstStyle/>
          <a:p>
            <a:pPr algn="l">
              <a:lnSpc>
                <a:spcPct val="120000"/>
              </a:lnSpc>
              <a:spcAft>
                <a:spcPts val="500"/>
              </a:spcAft>
            </a:pPr>
            <a:r>
              <a:rPr sz="900" b="0">
                <a:solidFill>
                  <a:srgbClr val="202031"/>
                </a:solidFill>
                <a:latin typeface="Raleway"/>
              </a:rPr>
              <a:t>-  CFO part-time y reporting al fondo</a:t>
            </a:r>
          </a:p>
          <a:p>
            <a:pPr algn="l">
              <a:lnSpc>
                <a:spcPct val="120000"/>
              </a:lnSpc>
              <a:spcAft>
                <a:spcPts val="500"/>
              </a:spcAft>
            </a:pPr>
            <a:r>
              <a:rPr sz="900" b="0">
                <a:solidFill>
                  <a:srgbClr val="202031"/>
                </a:solidFill>
                <a:latin typeface="Raleway"/>
              </a:rPr>
              <a:t>-  Financiación y ahorro de costes</a:t>
            </a:r>
          </a:p>
          <a:p>
            <a:pPr algn="l">
              <a:lnSpc>
                <a:spcPct val="120000"/>
              </a:lnSpc>
              <a:spcAft>
                <a:spcPts val="500"/>
              </a:spcAft>
            </a:pPr>
            <a:r>
              <a:rPr sz="900" b="0">
                <a:solidFill>
                  <a:srgbClr val="202031"/>
                </a:solidFill>
                <a:latin typeface="Raleway"/>
              </a:rPr>
              <a:t>-  Headhunting de equipos directivos</a:t>
            </a:r>
          </a:p>
          <a:p>
            <a:pPr algn="l">
              <a:lnSpc>
                <a:spcPct val="120000"/>
              </a:lnSpc>
              <a:spcAft>
                <a:spcPts val="500"/>
              </a:spcAft>
            </a:pPr>
            <a:r>
              <a:rPr sz="900" b="0">
                <a:solidFill>
                  <a:srgbClr val="202031"/>
                </a:solidFill>
                <a:latin typeface="Raleway"/>
              </a:rPr>
              <a:t>-  Outsourcing y consultoría salarial</a:t>
            </a:r>
          </a:p>
        </p:txBody>
      </p:sp>
      <p:sp>
        <p:nvSpPr>
          <p:cNvPr id="17" name="Rectangle 16"/>
          <p:cNvSpPr/>
          <p:nvPr/>
        </p:nvSpPr>
        <p:spPr>
          <a:xfrm>
            <a:off x="8051800" y="2032000"/>
            <a:ext cx="3378200" cy="292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80400" y="2235200"/>
            <a:ext cx="635000" cy="330200"/>
          </a:xfrm>
          <a:prstGeom prst="rect">
            <a:avLst/>
          </a:prstGeom>
          <a:noFill/>
        </p:spPr>
        <p:txBody>
          <a:bodyPr wrap="square" lIns="0" tIns="0" rIns="0" bIns="0" anchor="t">
            <a:spAutoFit/>
          </a:bodyPr>
          <a:lstStyle/>
          <a:p>
            <a:pPr algn="l"/>
            <a:r>
              <a:rPr sz="1600" b="0">
                <a:solidFill>
                  <a:srgbClr val="587579"/>
                </a:solidFill>
                <a:latin typeface="Manrope Medium"/>
              </a:rPr>
              <a:t>03</a:t>
            </a:r>
          </a:p>
        </p:txBody>
      </p:sp>
      <p:sp>
        <p:nvSpPr>
          <p:cNvPr id="19" name="TextBox 18"/>
          <p:cNvSpPr txBox="1"/>
          <p:nvPr/>
        </p:nvSpPr>
        <p:spPr>
          <a:xfrm>
            <a:off x="8280400" y="2590800"/>
            <a:ext cx="2921000" cy="254000"/>
          </a:xfrm>
          <a:prstGeom prst="rect">
            <a:avLst/>
          </a:prstGeom>
          <a:noFill/>
        </p:spPr>
        <p:txBody>
          <a:bodyPr wrap="square" lIns="0" tIns="0" rIns="0" bIns="0" anchor="t">
            <a:spAutoFit/>
          </a:bodyPr>
          <a:lstStyle/>
          <a:p>
            <a:pPr algn="l"/>
            <a:r>
              <a:rPr sz="1200" b="0">
                <a:solidFill>
                  <a:srgbClr val="202031"/>
                </a:solidFill>
                <a:latin typeface="Raleway SemiBold"/>
              </a:rPr>
              <a:t>SALIDA</a:t>
            </a:r>
          </a:p>
        </p:txBody>
      </p:sp>
      <p:sp>
        <p:nvSpPr>
          <p:cNvPr id="20" name="TextBox 19"/>
          <p:cNvSpPr txBox="1"/>
          <p:nvPr/>
        </p:nvSpPr>
        <p:spPr>
          <a:xfrm>
            <a:off x="8280400" y="2844800"/>
            <a:ext cx="2921000" cy="203200"/>
          </a:xfrm>
          <a:prstGeom prst="rect">
            <a:avLst/>
          </a:prstGeom>
          <a:noFill/>
        </p:spPr>
        <p:txBody>
          <a:bodyPr wrap="square" lIns="0" tIns="0" rIns="0" bIns="0" anchor="t">
            <a:spAutoFit/>
          </a:bodyPr>
          <a:lstStyle/>
          <a:p>
            <a:pPr algn="l"/>
            <a:r>
              <a:rPr sz="950" b="0">
                <a:solidFill>
                  <a:srgbClr val="587579"/>
                </a:solidFill>
                <a:latin typeface="Raleway"/>
              </a:rPr>
              <a:t>Al preparar la venta</a:t>
            </a:r>
          </a:p>
        </p:txBody>
      </p:sp>
      <p:sp>
        <p:nvSpPr>
          <p:cNvPr id="21" name="TextBox 20"/>
          <p:cNvSpPr txBox="1"/>
          <p:nvPr/>
        </p:nvSpPr>
        <p:spPr>
          <a:xfrm>
            <a:off x="8280400" y="3124200"/>
            <a:ext cx="2921000" cy="1778000"/>
          </a:xfrm>
          <a:prstGeom prst="rect">
            <a:avLst/>
          </a:prstGeom>
          <a:noFill/>
        </p:spPr>
        <p:txBody>
          <a:bodyPr wrap="square" lIns="0" tIns="0" rIns="0" bIns="0" anchor="t">
            <a:spAutoFit/>
          </a:bodyPr>
          <a:lstStyle/>
          <a:p>
            <a:pPr algn="l">
              <a:lnSpc>
                <a:spcPct val="120000"/>
              </a:lnSpc>
              <a:spcAft>
                <a:spcPts val="500"/>
              </a:spcAft>
            </a:pPr>
            <a:r>
              <a:rPr sz="900" b="0">
                <a:solidFill>
                  <a:srgbClr val="202031"/>
                </a:solidFill>
                <a:latin typeface="Raleway"/>
              </a:rPr>
              <a:t>-  Compañía preparada para la venta</a:t>
            </a:r>
          </a:p>
          <a:p>
            <a:pPr algn="l">
              <a:lnSpc>
                <a:spcPct val="120000"/>
              </a:lnSpc>
              <a:spcAft>
                <a:spcPts val="500"/>
              </a:spcAft>
            </a:pPr>
            <a:r>
              <a:rPr sz="900" b="0">
                <a:solidFill>
                  <a:srgbClr val="202031"/>
                </a:solidFill>
                <a:latin typeface="Raleway"/>
              </a:rPr>
              <a:t>-  Vendor due diligence y valoración</a:t>
            </a:r>
          </a:p>
          <a:p>
            <a:pPr algn="l">
              <a:lnSpc>
                <a:spcPct val="120000"/>
              </a:lnSpc>
              <a:spcAft>
                <a:spcPts val="500"/>
              </a:spcAft>
            </a:pPr>
            <a:r>
              <a:rPr sz="900" b="0">
                <a:solidFill>
                  <a:srgbClr val="202031"/>
                </a:solidFill>
                <a:latin typeface="Raleway"/>
              </a:rPr>
              <a:t>-  Proceso de M&amp;A hasta el cierre</a:t>
            </a:r>
          </a:p>
          <a:p>
            <a:pPr algn="l">
              <a:lnSpc>
                <a:spcPct val="120000"/>
              </a:lnSpc>
              <a:spcAft>
                <a:spcPts val="500"/>
              </a:spcAft>
            </a:pPr>
            <a:r>
              <a:rPr sz="900" b="0">
                <a:solidFill>
                  <a:srgbClr val="202031"/>
                </a:solidFill>
                <a:latin typeface="Raleway"/>
              </a:rPr>
              <a:t>-  Búsqueda del comprador o socio</a:t>
            </a:r>
          </a:p>
        </p:txBody>
      </p:sp>
      <p:sp>
        <p:nvSpPr>
          <p:cNvPr id="22" name="Rectangle 21"/>
          <p:cNvSpPr/>
          <p:nvPr/>
        </p:nvSpPr>
        <p:spPr>
          <a:xfrm>
            <a:off x="762000" y="5232400"/>
            <a:ext cx="9652000" cy="1092200"/>
          </a:xfrm>
          <a:prstGeom prst="rect">
            <a:avLst/>
          </a:prstGeom>
          <a:solidFill>
            <a:srgbClr val="202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16000" y="5486400"/>
            <a:ext cx="6604000" cy="635000"/>
          </a:xfrm>
          <a:prstGeom prst="rect">
            <a:avLst/>
          </a:prstGeom>
          <a:noFill/>
        </p:spPr>
        <p:txBody>
          <a:bodyPr wrap="square" lIns="0" tIns="0" rIns="0" bIns="0" anchor="t">
            <a:spAutoFit/>
          </a:bodyPr>
          <a:lstStyle/>
          <a:p>
            <a:pPr algn="l">
              <a:lnSpc>
                <a:spcPct val="125000"/>
              </a:lnSpc>
            </a:pPr>
            <a:r>
              <a:rPr sz="1100" b="0">
                <a:solidFill>
                  <a:srgbClr val="FFFFFF"/>
                </a:solidFill>
                <a:latin typeface="Raleway"/>
              </a:rPr>
              <a:t>Un único interlocutor para todo el ciclo de inversión, con visibilidad financiera homogénea entre participadas.</a:t>
            </a:r>
          </a:p>
        </p:txBody>
      </p:sp>
      <p:sp>
        <p:nvSpPr>
          <p:cNvPr id="24" name="TextBox 23"/>
          <p:cNvSpPr txBox="1"/>
          <p:nvPr/>
        </p:nvSpPr>
        <p:spPr>
          <a:xfrm>
            <a:off x="8382000" y="5410200"/>
            <a:ext cx="1143000" cy="457200"/>
          </a:xfrm>
          <a:prstGeom prst="rect">
            <a:avLst/>
          </a:prstGeom>
          <a:noFill/>
        </p:spPr>
        <p:txBody>
          <a:bodyPr wrap="square" lIns="0" tIns="0" rIns="0" bIns="0" anchor="t">
            <a:spAutoFit/>
          </a:bodyPr>
          <a:lstStyle/>
          <a:p>
            <a:pPr algn="l"/>
            <a:r>
              <a:rPr sz="2400" b="0">
                <a:solidFill>
                  <a:srgbClr val="FFFFFF"/>
                </a:solidFill>
                <a:latin typeface="Manrope ExtraLight"/>
              </a:rPr>
              <a:t>360º</a:t>
            </a:r>
          </a:p>
        </p:txBody>
      </p:sp>
      <p:sp>
        <p:nvSpPr>
          <p:cNvPr id="25" name="TextBox 24"/>
          <p:cNvSpPr txBox="1"/>
          <p:nvPr/>
        </p:nvSpPr>
        <p:spPr>
          <a:xfrm>
            <a:off x="8382000" y="5867400"/>
            <a:ext cx="1905000" cy="266483"/>
          </a:xfrm>
          <a:prstGeom prst="rect">
            <a:avLst/>
          </a:prstGeom>
          <a:noFill/>
        </p:spPr>
        <p:txBody>
          <a:bodyPr wrap="square" lIns="0" tIns="0" rIns="0" bIns="0" anchor="t">
            <a:spAutoFit/>
          </a:bodyPr>
          <a:lstStyle/>
          <a:p>
            <a:pPr algn="l">
              <a:lnSpc>
                <a:spcPct val="105000"/>
              </a:lnSpc>
            </a:pPr>
            <a:r>
              <a:rPr sz="850" b="0" dirty="0" err="1">
                <a:solidFill>
                  <a:schemeClr val="bg1"/>
                </a:solidFill>
                <a:latin typeface="Raleway"/>
              </a:rPr>
              <a:t>Cobertura</a:t>
            </a:r>
            <a:r>
              <a:rPr sz="850" b="0" dirty="0">
                <a:solidFill>
                  <a:schemeClr val="bg1"/>
                </a:solidFill>
                <a:latin typeface="Raleway"/>
              </a:rPr>
              <a:t> del </a:t>
            </a:r>
            <a:r>
              <a:rPr sz="850" b="0" dirty="0" err="1">
                <a:solidFill>
                  <a:schemeClr val="bg1"/>
                </a:solidFill>
                <a:latin typeface="Raleway"/>
              </a:rPr>
              <a:t>ciclo</a:t>
            </a:r>
            <a:r>
              <a:rPr sz="850" b="0" dirty="0">
                <a:solidFill>
                  <a:schemeClr val="bg1"/>
                </a:solidFill>
                <a:latin typeface="Raleway"/>
              </a:rPr>
              <a:t>
de </a:t>
            </a:r>
            <a:r>
              <a:rPr sz="850" b="0" dirty="0" err="1">
                <a:solidFill>
                  <a:schemeClr val="bg1"/>
                </a:solidFill>
                <a:latin typeface="Raleway"/>
              </a:rPr>
              <a:t>inversión</a:t>
            </a:r>
            <a:endParaRPr sz="850" b="0" dirty="0">
              <a:solidFill>
                <a:schemeClr val="bg1"/>
              </a:solidFill>
              <a:latin typeface="Raleway"/>
            </a:endParaRPr>
          </a:p>
        </p:txBody>
      </p:sp>
      <p:sp>
        <p:nvSpPr>
          <p:cNvPr id="26" name="TextBox 25"/>
          <p:cNvSpPr txBox="1"/>
          <p:nvPr/>
        </p:nvSpPr>
        <p:spPr>
          <a:xfrm>
            <a:off x="762000" y="6477000"/>
            <a:ext cx="3810000" cy="203200"/>
          </a:xfrm>
          <a:prstGeom prst="rect">
            <a:avLst/>
          </a:prstGeom>
          <a:noFill/>
        </p:spPr>
        <p:txBody>
          <a:bodyPr wrap="square" lIns="0" tIns="0" rIns="0" bIns="0" anchor="t">
            <a:spAutoFit/>
          </a:bodyPr>
          <a:lstStyle/>
          <a:p>
            <a:pPr algn="l"/>
            <a:r>
              <a:rPr sz="900" b="0">
                <a:solidFill>
                  <a:srgbClr val="587579"/>
                </a:solidFill>
                <a:latin typeface="Raleway"/>
              </a:rPr>
              <a:t>tesseraservices.com</a:t>
            </a:r>
          </a:p>
        </p:txBody>
      </p:sp>
      <p:sp>
        <p:nvSpPr>
          <p:cNvPr id="27" name="TextBox 26"/>
          <p:cNvSpPr txBox="1"/>
          <p:nvPr/>
        </p:nvSpPr>
        <p:spPr>
          <a:xfrm>
            <a:off x="10668000" y="6400800"/>
            <a:ext cx="762000" cy="330200"/>
          </a:xfrm>
          <a:prstGeom prst="rect">
            <a:avLst/>
          </a:prstGeom>
          <a:noFill/>
        </p:spPr>
        <p:txBody>
          <a:bodyPr wrap="square" lIns="0" tIns="0" rIns="0" bIns="0" anchor="t">
            <a:spAutoFit/>
          </a:bodyPr>
          <a:lstStyle/>
          <a:p>
            <a:pPr algn="r"/>
            <a:r>
              <a:rPr sz="1600" b="0">
                <a:solidFill>
                  <a:srgbClr val="202031"/>
                </a:solidFill>
                <a:latin typeface="Manrope Medium"/>
              </a:rPr>
              <a:t>04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spAutoFit/>
          </a:bodyPr>
          <a:lstStyle/>
          <a:p>
            <a:pPr algn="r"/>
            <a:r>
              <a:rPr sz="1000" b="0" spc="120">
                <a:solidFill>
                  <a:srgbClr val="587579"/>
                </a:solidFill>
                <a:latin typeface="Raleway Medium"/>
              </a:rPr>
              <a:t>SERVICIOS</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889000"/>
            <a:ext cx="8890000" cy="635000"/>
          </a:xfrm>
          <a:prstGeom prst="rect">
            <a:avLst/>
          </a:prstGeom>
          <a:noFill/>
        </p:spPr>
        <p:txBody>
          <a:bodyPr wrap="square" lIns="0" tIns="0" rIns="0" bIns="0" anchor="t">
            <a:spAutoFit/>
          </a:bodyPr>
          <a:lstStyle/>
          <a:p>
            <a:pPr algn="l"/>
            <a:r>
              <a:rPr sz="3600" b="0">
                <a:solidFill>
                  <a:srgbClr val="202031"/>
                </a:solidFill>
                <a:latin typeface="Raleway Light"/>
              </a:rPr>
              <a:t>Finance</a:t>
            </a:r>
          </a:p>
        </p:txBody>
      </p:sp>
      <p:sp>
        <p:nvSpPr>
          <p:cNvPr id="6" name="TextBox 5"/>
          <p:cNvSpPr txBox="1"/>
          <p:nvPr/>
        </p:nvSpPr>
        <p:spPr>
          <a:xfrm>
            <a:off x="762000" y="1498600"/>
            <a:ext cx="9652000" cy="254000"/>
          </a:xfrm>
          <a:prstGeom prst="rect">
            <a:avLst/>
          </a:prstGeom>
          <a:noFill/>
        </p:spPr>
        <p:txBody>
          <a:bodyPr wrap="square" lIns="0" tIns="0" rIns="0" bIns="0" anchor="t">
            <a:spAutoFit/>
          </a:bodyPr>
          <a:lstStyle/>
          <a:p>
            <a:pPr algn="l"/>
            <a:r>
              <a:rPr sz="1100" b="0" dirty="0">
                <a:solidFill>
                  <a:srgbClr val="202031"/>
                </a:solidFill>
                <a:latin typeface="Raleway"/>
              </a:rPr>
              <a:t>Todo el </a:t>
            </a:r>
            <a:r>
              <a:rPr sz="1100" b="0" dirty="0" err="1">
                <a:solidFill>
                  <a:srgbClr val="202031"/>
                </a:solidFill>
                <a:latin typeface="Raleway"/>
              </a:rPr>
              <a:t>ciclo</a:t>
            </a:r>
            <a:r>
              <a:rPr sz="1100" b="0" dirty="0">
                <a:solidFill>
                  <a:srgbClr val="202031"/>
                </a:solidFill>
                <a:latin typeface="Raleway"/>
              </a:rPr>
              <a:t> </a:t>
            </a:r>
            <a:r>
              <a:rPr sz="1100" b="0" dirty="0" err="1">
                <a:solidFill>
                  <a:srgbClr val="202031"/>
                </a:solidFill>
                <a:latin typeface="Raleway"/>
              </a:rPr>
              <a:t>financiero</a:t>
            </a:r>
            <a:r>
              <a:rPr sz="1100" b="0" dirty="0">
                <a:solidFill>
                  <a:srgbClr val="202031"/>
                </a:solidFill>
                <a:latin typeface="Raleway"/>
              </a:rPr>
              <a:t> de </a:t>
            </a:r>
            <a:r>
              <a:rPr sz="1100" b="0" dirty="0" err="1">
                <a:solidFill>
                  <a:srgbClr val="202031"/>
                </a:solidFill>
                <a:latin typeface="Raleway"/>
              </a:rPr>
              <a:t>una</a:t>
            </a:r>
            <a:r>
              <a:rPr sz="1100" b="0" dirty="0">
                <a:solidFill>
                  <a:srgbClr val="202031"/>
                </a:solidFill>
                <a:latin typeface="Raleway"/>
              </a:rPr>
              <a:t> </a:t>
            </a:r>
            <a:r>
              <a:rPr sz="1100" b="0" dirty="0" err="1">
                <a:solidFill>
                  <a:srgbClr val="202031"/>
                </a:solidFill>
                <a:latin typeface="Raleway"/>
              </a:rPr>
              <a:t>participada</a:t>
            </a:r>
            <a:r>
              <a:rPr sz="1100" b="0" dirty="0">
                <a:solidFill>
                  <a:srgbClr val="202031"/>
                </a:solidFill>
                <a:latin typeface="Raleway"/>
              </a:rPr>
              <a:t>, </a:t>
            </a:r>
            <a:r>
              <a:rPr sz="1100" b="0" dirty="0" err="1">
                <a:solidFill>
                  <a:srgbClr val="202031"/>
                </a:solidFill>
                <a:latin typeface="Raleway"/>
              </a:rPr>
              <a:t>desde</a:t>
            </a:r>
            <a:r>
              <a:rPr sz="1100" b="0" dirty="0">
                <a:solidFill>
                  <a:srgbClr val="202031"/>
                </a:solidFill>
                <a:latin typeface="Raleway"/>
              </a:rPr>
              <a:t> la due diligence hasta la salida.</a:t>
            </a:r>
          </a:p>
        </p:txBody>
      </p:sp>
      <p:sp>
        <p:nvSpPr>
          <p:cNvPr id="7" name="Rectangle 6"/>
          <p:cNvSpPr/>
          <p:nvPr/>
        </p:nvSpPr>
        <p:spPr>
          <a:xfrm>
            <a:off x="762000" y="1981200"/>
            <a:ext cx="2336800" cy="17272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9800" y="2260600"/>
            <a:ext cx="1981200" cy="406400"/>
          </a:xfrm>
          <a:prstGeom prst="rect">
            <a:avLst/>
          </a:prstGeom>
          <a:noFill/>
        </p:spPr>
        <p:txBody>
          <a:bodyPr wrap="square" lIns="0" tIns="0" rIns="0" bIns="0" anchor="t">
            <a:spAutoFit/>
          </a:bodyPr>
          <a:lstStyle/>
          <a:p>
            <a:pPr algn="l">
              <a:lnSpc>
                <a:spcPct val="105000"/>
              </a:lnSpc>
            </a:pPr>
            <a:r>
              <a:rPr sz="1000" b="0" dirty="0">
                <a:solidFill>
                  <a:srgbClr val="202031"/>
                </a:solidFill>
                <a:latin typeface="Raleway SemiBold"/>
              </a:rPr>
              <a:t>Due Diligence Financiera</a:t>
            </a:r>
          </a:p>
        </p:txBody>
      </p:sp>
      <p:sp>
        <p:nvSpPr>
          <p:cNvPr id="10" name="TextBox 9"/>
          <p:cNvSpPr txBox="1"/>
          <p:nvPr/>
        </p:nvSpPr>
        <p:spPr>
          <a:xfrm>
            <a:off x="939800" y="2768600"/>
            <a:ext cx="1981200" cy="863600"/>
          </a:xfrm>
          <a:prstGeom prst="rect">
            <a:avLst/>
          </a:prstGeom>
          <a:noFill/>
        </p:spPr>
        <p:txBody>
          <a:bodyPr wrap="square" lIns="0" tIns="0" rIns="0" bIns="0" anchor="t">
            <a:spAutoFit/>
          </a:bodyPr>
          <a:lstStyle/>
          <a:p>
            <a:pPr algn="l">
              <a:lnSpc>
                <a:spcPct val="115000"/>
              </a:lnSpc>
            </a:pPr>
            <a:r>
              <a:rPr sz="780" b="0">
                <a:solidFill>
                  <a:srgbClr val="202031"/>
                </a:solidFill>
                <a:latin typeface="Raleway"/>
              </a:rPr>
              <a:t>Calidad de ingresos, EBITDA ajustado, deuda neta, circulante y red flags antes de invertir.</a:t>
            </a:r>
          </a:p>
        </p:txBody>
      </p:sp>
      <p:sp>
        <p:nvSpPr>
          <p:cNvPr id="11" name="Rectangle 10"/>
          <p:cNvSpPr/>
          <p:nvPr/>
        </p:nvSpPr>
        <p:spPr>
          <a:xfrm>
            <a:off x="3251200" y="1981200"/>
            <a:ext cx="2336800" cy="17272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29000" y="2260600"/>
            <a:ext cx="1981200" cy="406400"/>
          </a:xfrm>
          <a:prstGeom prst="rect">
            <a:avLst/>
          </a:prstGeom>
          <a:noFill/>
        </p:spPr>
        <p:txBody>
          <a:bodyPr wrap="square" lIns="0" tIns="0" rIns="0" bIns="0" anchor="t">
            <a:spAutoFit/>
          </a:bodyPr>
          <a:lstStyle/>
          <a:p>
            <a:pPr algn="l">
              <a:lnSpc>
                <a:spcPct val="105000"/>
              </a:lnSpc>
            </a:pPr>
            <a:r>
              <a:rPr sz="1000" b="0">
                <a:solidFill>
                  <a:srgbClr val="202031"/>
                </a:solidFill>
                <a:latin typeface="Raleway SemiBold"/>
              </a:rPr>
              <a:t>Valoraciones</a:t>
            </a:r>
          </a:p>
        </p:txBody>
      </p:sp>
      <p:sp>
        <p:nvSpPr>
          <p:cNvPr id="14" name="TextBox 13"/>
          <p:cNvSpPr txBox="1"/>
          <p:nvPr/>
        </p:nvSpPr>
        <p:spPr>
          <a:xfrm>
            <a:off x="3429000" y="2768600"/>
            <a:ext cx="1981200" cy="863600"/>
          </a:xfrm>
          <a:prstGeom prst="rect">
            <a:avLst/>
          </a:prstGeom>
          <a:noFill/>
        </p:spPr>
        <p:txBody>
          <a:bodyPr wrap="square" lIns="0" tIns="0" rIns="0" bIns="0" anchor="t">
            <a:spAutoFit/>
          </a:bodyPr>
          <a:lstStyle/>
          <a:p>
            <a:pPr algn="l">
              <a:lnSpc>
                <a:spcPct val="115000"/>
              </a:lnSpc>
            </a:pPr>
            <a:r>
              <a:rPr sz="780" b="0">
                <a:solidFill>
                  <a:srgbClr val="202031"/>
                </a:solidFill>
                <a:latin typeface="Raleway"/>
              </a:rPr>
              <a:t>DCF y múltiplos de mercado, con informe defendible ante compradores, inversores y auditores.</a:t>
            </a:r>
          </a:p>
        </p:txBody>
      </p:sp>
      <p:sp>
        <p:nvSpPr>
          <p:cNvPr id="15" name="Rectangle 14"/>
          <p:cNvSpPr/>
          <p:nvPr/>
        </p:nvSpPr>
        <p:spPr>
          <a:xfrm>
            <a:off x="5740400" y="1981200"/>
            <a:ext cx="2336800" cy="17272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18200" y="2260600"/>
            <a:ext cx="1981200" cy="406400"/>
          </a:xfrm>
          <a:prstGeom prst="rect">
            <a:avLst/>
          </a:prstGeom>
          <a:noFill/>
        </p:spPr>
        <p:txBody>
          <a:bodyPr wrap="square" lIns="0" tIns="0" rIns="0" bIns="0" anchor="t">
            <a:spAutoFit/>
          </a:bodyPr>
          <a:lstStyle/>
          <a:p>
            <a:pPr algn="l">
              <a:lnSpc>
                <a:spcPct val="105000"/>
              </a:lnSpc>
            </a:pPr>
            <a:r>
              <a:rPr sz="1000" b="0">
                <a:solidFill>
                  <a:srgbClr val="202031"/>
                </a:solidFill>
                <a:latin typeface="Raleway SemiBold"/>
              </a:rPr>
              <a:t>Business Plan</a:t>
            </a:r>
          </a:p>
        </p:txBody>
      </p:sp>
      <p:sp>
        <p:nvSpPr>
          <p:cNvPr id="18" name="TextBox 17"/>
          <p:cNvSpPr txBox="1"/>
          <p:nvPr/>
        </p:nvSpPr>
        <p:spPr>
          <a:xfrm>
            <a:off x="5918200" y="2768600"/>
            <a:ext cx="1981200" cy="863600"/>
          </a:xfrm>
          <a:prstGeom prst="rect">
            <a:avLst/>
          </a:prstGeom>
          <a:noFill/>
        </p:spPr>
        <p:txBody>
          <a:bodyPr wrap="square" lIns="0" tIns="0" rIns="0" bIns="0" anchor="t">
            <a:spAutoFit/>
          </a:bodyPr>
          <a:lstStyle/>
          <a:p>
            <a:pPr algn="l">
              <a:lnSpc>
                <a:spcPct val="115000"/>
              </a:lnSpc>
            </a:pPr>
            <a:r>
              <a:rPr sz="780" b="0">
                <a:solidFill>
                  <a:srgbClr val="202031"/>
                </a:solidFill>
                <a:latin typeface="Raleway"/>
              </a:rPr>
              <a:t>Estrategia y proyecciones financieras completas, con escenarios y sensibilidad.</a:t>
            </a:r>
          </a:p>
        </p:txBody>
      </p:sp>
      <p:sp>
        <p:nvSpPr>
          <p:cNvPr id="19" name="Rectangle 18"/>
          <p:cNvSpPr/>
          <p:nvPr/>
        </p:nvSpPr>
        <p:spPr>
          <a:xfrm>
            <a:off x="8229600" y="1981200"/>
            <a:ext cx="2336800" cy="17272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07400" y="2260600"/>
            <a:ext cx="1981200" cy="406400"/>
          </a:xfrm>
          <a:prstGeom prst="rect">
            <a:avLst/>
          </a:prstGeom>
          <a:noFill/>
        </p:spPr>
        <p:txBody>
          <a:bodyPr wrap="square" lIns="0" tIns="0" rIns="0" bIns="0" anchor="t">
            <a:spAutoFit/>
          </a:bodyPr>
          <a:lstStyle/>
          <a:p>
            <a:pPr algn="l">
              <a:lnSpc>
                <a:spcPct val="105000"/>
              </a:lnSpc>
            </a:pPr>
            <a:r>
              <a:rPr sz="1000" b="0">
                <a:solidFill>
                  <a:srgbClr val="202031"/>
                </a:solidFill>
                <a:latin typeface="Raleway SemiBold"/>
              </a:rPr>
              <a:t>M&amp;A</a:t>
            </a:r>
          </a:p>
        </p:txBody>
      </p:sp>
      <p:sp>
        <p:nvSpPr>
          <p:cNvPr id="22" name="TextBox 21"/>
          <p:cNvSpPr txBox="1"/>
          <p:nvPr/>
        </p:nvSpPr>
        <p:spPr>
          <a:xfrm>
            <a:off x="8407400" y="2768600"/>
            <a:ext cx="1981200" cy="863600"/>
          </a:xfrm>
          <a:prstGeom prst="rect">
            <a:avLst/>
          </a:prstGeom>
          <a:noFill/>
        </p:spPr>
        <p:txBody>
          <a:bodyPr wrap="square" lIns="0" tIns="0" rIns="0" bIns="0" anchor="t">
            <a:spAutoFit/>
          </a:bodyPr>
          <a:lstStyle/>
          <a:p>
            <a:pPr algn="l">
              <a:lnSpc>
                <a:spcPct val="115000"/>
              </a:lnSpc>
            </a:pPr>
            <a:r>
              <a:rPr sz="780" b="0">
                <a:solidFill>
                  <a:srgbClr val="202031"/>
                </a:solidFill>
                <a:latin typeface="Raleway"/>
              </a:rPr>
              <a:t>Compra, venta y búsqueda de socios: del primer contacto al cierre, con red internacional.</a:t>
            </a:r>
          </a:p>
        </p:txBody>
      </p:sp>
      <p:sp>
        <p:nvSpPr>
          <p:cNvPr id="23" name="Rectangle 22"/>
          <p:cNvSpPr/>
          <p:nvPr/>
        </p:nvSpPr>
        <p:spPr>
          <a:xfrm>
            <a:off x="762000" y="3886200"/>
            <a:ext cx="2336800" cy="17272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9800" y="4165600"/>
            <a:ext cx="1981200" cy="406400"/>
          </a:xfrm>
          <a:prstGeom prst="rect">
            <a:avLst/>
          </a:prstGeom>
          <a:noFill/>
        </p:spPr>
        <p:txBody>
          <a:bodyPr wrap="square" lIns="0" tIns="0" rIns="0" bIns="0" anchor="t">
            <a:spAutoFit/>
          </a:bodyPr>
          <a:lstStyle/>
          <a:p>
            <a:pPr algn="l">
              <a:lnSpc>
                <a:spcPct val="105000"/>
              </a:lnSpc>
            </a:pPr>
            <a:r>
              <a:rPr sz="1000" b="0">
                <a:solidFill>
                  <a:srgbClr val="202031"/>
                </a:solidFill>
                <a:latin typeface="Raleway SemiBold"/>
              </a:rPr>
              <a:t>CFO part-time</a:t>
            </a:r>
          </a:p>
        </p:txBody>
      </p:sp>
      <p:sp>
        <p:nvSpPr>
          <p:cNvPr id="26" name="TextBox 25"/>
          <p:cNvSpPr txBox="1"/>
          <p:nvPr/>
        </p:nvSpPr>
        <p:spPr>
          <a:xfrm>
            <a:off x="939800" y="4673600"/>
            <a:ext cx="1981200" cy="863600"/>
          </a:xfrm>
          <a:prstGeom prst="rect">
            <a:avLst/>
          </a:prstGeom>
          <a:noFill/>
        </p:spPr>
        <p:txBody>
          <a:bodyPr wrap="square" lIns="0" tIns="0" rIns="0" bIns="0" anchor="t">
            <a:spAutoFit/>
          </a:bodyPr>
          <a:lstStyle/>
          <a:p>
            <a:pPr algn="l">
              <a:lnSpc>
                <a:spcPct val="115000"/>
              </a:lnSpc>
            </a:pPr>
            <a:r>
              <a:rPr sz="780" b="0">
                <a:solidFill>
                  <a:srgbClr val="202031"/>
                </a:solidFill>
                <a:latin typeface="Raleway"/>
              </a:rPr>
              <a:t>Dirección financiera senior para la participada y reporting homogéneo para el fondo.</a:t>
            </a:r>
          </a:p>
        </p:txBody>
      </p:sp>
      <p:sp>
        <p:nvSpPr>
          <p:cNvPr id="27" name="Rectangle 26"/>
          <p:cNvSpPr/>
          <p:nvPr/>
        </p:nvSpPr>
        <p:spPr>
          <a:xfrm>
            <a:off x="3251200" y="3886200"/>
            <a:ext cx="2336800" cy="17272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429000" y="4165600"/>
            <a:ext cx="1981200" cy="406400"/>
          </a:xfrm>
          <a:prstGeom prst="rect">
            <a:avLst/>
          </a:prstGeom>
          <a:noFill/>
        </p:spPr>
        <p:txBody>
          <a:bodyPr wrap="square" lIns="0" tIns="0" rIns="0" bIns="0" anchor="t">
            <a:spAutoFit/>
          </a:bodyPr>
          <a:lstStyle/>
          <a:p>
            <a:pPr algn="l">
              <a:lnSpc>
                <a:spcPct val="105000"/>
              </a:lnSpc>
            </a:pPr>
            <a:r>
              <a:rPr sz="1000" b="0">
                <a:solidFill>
                  <a:srgbClr val="202031"/>
                </a:solidFill>
                <a:latin typeface="Raleway SemiBold"/>
              </a:rPr>
              <a:t>Financiación</a:t>
            </a:r>
          </a:p>
        </p:txBody>
      </p:sp>
      <p:sp>
        <p:nvSpPr>
          <p:cNvPr id="30" name="TextBox 29"/>
          <p:cNvSpPr txBox="1"/>
          <p:nvPr/>
        </p:nvSpPr>
        <p:spPr>
          <a:xfrm>
            <a:off x="3429000" y="4673600"/>
            <a:ext cx="1981200" cy="863600"/>
          </a:xfrm>
          <a:prstGeom prst="rect">
            <a:avLst/>
          </a:prstGeom>
          <a:noFill/>
        </p:spPr>
        <p:txBody>
          <a:bodyPr wrap="square" lIns="0" tIns="0" rIns="0" bIns="0" anchor="t">
            <a:spAutoFit/>
          </a:bodyPr>
          <a:lstStyle/>
          <a:p>
            <a:pPr algn="l">
              <a:lnSpc>
                <a:spcPct val="115000"/>
              </a:lnSpc>
            </a:pPr>
            <a:r>
              <a:rPr sz="780" b="0">
                <a:solidFill>
                  <a:srgbClr val="202031"/>
                </a:solidFill>
                <a:latin typeface="Raleway"/>
              </a:rPr>
              <a:t>Capital, deuda bancaria y privada, circulante y financiación pública (93% de éxito en ENISA).</a:t>
            </a:r>
          </a:p>
        </p:txBody>
      </p:sp>
      <p:sp>
        <p:nvSpPr>
          <p:cNvPr id="31" name="Rectangle 30"/>
          <p:cNvSpPr/>
          <p:nvPr/>
        </p:nvSpPr>
        <p:spPr>
          <a:xfrm>
            <a:off x="5740400" y="3886200"/>
            <a:ext cx="2336800" cy="17272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918200" y="4165600"/>
            <a:ext cx="1981200" cy="406400"/>
          </a:xfrm>
          <a:prstGeom prst="rect">
            <a:avLst/>
          </a:prstGeom>
          <a:noFill/>
        </p:spPr>
        <p:txBody>
          <a:bodyPr wrap="square" lIns="0" tIns="0" rIns="0" bIns="0" anchor="t">
            <a:spAutoFit/>
          </a:bodyPr>
          <a:lstStyle/>
          <a:p>
            <a:pPr algn="l">
              <a:lnSpc>
                <a:spcPct val="105000"/>
              </a:lnSpc>
            </a:pPr>
            <a:r>
              <a:rPr sz="1000" b="0">
                <a:solidFill>
                  <a:srgbClr val="202031"/>
                </a:solidFill>
                <a:latin typeface="Raleway SemiBold"/>
              </a:rPr>
              <a:t>Cost Down</a:t>
            </a:r>
          </a:p>
        </p:txBody>
      </p:sp>
      <p:sp>
        <p:nvSpPr>
          <p:cNvPr id="34" name="TextBox 33"/>
          <p:cNvSpPr txBox="1"/>
          <p:nvPr/>
        </p:nvSpPr>
        <p:spPr>
          <a:xfrm>
            <a:off x="5918200" y="4673600"/>
            <a:ext cx="1981200" cy="863600"/>
          </a:xfrm>
          <a:prstGeom prst="rect">
            <a:avLst/>
          </a:prstGeom>
          <a:noFill/>
        </p:spPr>
        <p:txBody>
          <a:bodyPr wrap="square" lIns="0" tIns="0" rIns="0" bIns="0" anchor="t">
            <a:spAutoFit/>
          </a:bodyPr>
          <a:lstStyle/>
          <a:p>
            <a:pPr algn="l">
              <a:lnSpc>
                <a:spcPct val="115000"/>
              </a:lnSpc>
            </a:pPr>
            <a:r>
              <a:rPr sz="780" b="0">
                <a:solidFill>
                  <a:srgbClr val="202031"/>
                </a:solidFill>
                <a:latin typeface="Raleway"/>
              </a:rPr>
              <a:t>Ahorro de costes a éxito: si no ahorramos, no cobramos. Media del 30% en los costes analizados.</a:t>
            </a:r>
          </a:p>
        </p:txBody>
      </p:sp>
      <p:sp>
        <p:nvSpPr>
          <p:cNvPr id="35" name="Rectangle 34"/>
          <p:cNvSpPr/>
          <p:nvPr/>
        </p:nvSpPr>
        <p:spPr>
          <a:xfrm>
            <a:off x="8229600" y="3886200"/>
            <a:ext cx="2336800" cy="17272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407400" y="4165600"/>
            <a:ext cx="1981200" cy="406400"/>
          </a:xfrm>
          <a:prstGeom prst="rect">
            <a:avLst/>
          </a:prstGeom>
          <a:noFill/>
        </p:spPr>
        <p:txBody>
          <a:bodyPr wrap="square" lIns="0" tIns="0" rIns="0" bIns="0" anchor="t">
            <a:spAutoFit/>
          </a:bodyPr>
          <a:lstStyle/>
          <a:p>
            <a:pPr algn="l">
              <a:lnSpc>
                <a:spcPct val="105000"/>
              </a:lnSpc>
            </a:pPr>
            <a:r>
              <a:rPr sz="1000" b="0">
                <a:solidFill>
                  <a:srgbClr val="202031"/>
                </a:solidFill>
                <a:latin typeface="Raleway SemiBold"/>
              </a:rPr>
              <a:t>Otros servicios</a:t>
            </a:r>
          </a:p>
        </p:txBody>
      </p:sp>
      <p:sp>
        <p:nvSpPr>
          <p:cNvPr id="38" name="TextBox 37"/>
          <p:cNvSpPr txBox="1"/>
          <p:nvPr/>
        </p:nvSpPr>
        <p:spPr>
          <a:xfrm>
            <a:off x="8407400" y="4673600"/>
            <a:ext cx="1981200" cy="863600"/>
          </a:xfrm>
          <a:prstGeom prst="rect">
            <a:avLst/>
          </a:prstGeom>
          <a:noFill/>
        </p:spPr>
        <p:txBody>
          <a:bodyPr wrap="square" lIns="0" tIns="0" rIns="0" bIns="0" anchor="t">
            <a:spAutoFit/>
          </a:bodyPr>
          <a:lstStyle/>
          <a:p>
            <a:pPr algn="l">
              <a:lnSpc>
                <a:spcPct val="115000"/>
              </a:lnSpc>
            </a:pPr>
            <a:r>
              <a:rPr sz="780" b="0">
                <a:solidFill>
                  <a:srgbClr val="202031"/>
                </a:solidFill>
                <a:latin typeface="Raleway"/>
              </a:rPr>
              <a:t>Restructuring, tesorería, recobros, interim team, integraciones contables y soporte a auditoría.</a:t>
            </a:r>
          </a:p>
        </p:txBody>
      </p:sp>
      <p:sp>
        <p:nvSpPr>
          <p:cNvPr id="39" name="TextBox 38"/>
          <p:cNvSpPr txBox="1"/>
          <p:nvPr/>
        </p:nvSpPr>
        <p:spPr>
          <a:xfrm>
            <a:off x="762000" y="5918200"/>
            <a:ext cx="9652000" cy="254000"/>
          </a:xfrm>
          <a:prstGeom prst="rect">
            <a:avLst/>
          </a:prstGeom>
          <a:noFill/>
        </p:spPr>
        <p:txBody>
          <a:bodyPr wrap="square" lIns="0" tIns="0" rIns="0" bIns="0" anchor="t">
            <a:spAutoFit/>
          </a:bodyPr>
          <a:lstStyle/>
          <a:p>
            <a:pPr algn="l"/>
            <a:r>
              <a:rPr sz="1050" b="0">
                <a:solidFill>
                  <a:srgbClr val="587579"/>
                </a:solidFill>
                <a:latin typeface="Raleway SemiBold"/>
              </a:rPr>
              <a:t>Un solo equipo para el fondo y para cada compañía: menos interlocutores, más control.</a:t>
            </a:r>
          </a:p>
        </p:txBody>
      </p:sp>
      <p:sp>
        <p:nvSpPr>
          <p:cNvPr id="40" name="TextBox 39"/>
          <p:cNvSpPr txBox="1"/>
          <p:nvPr/>
        </p:nvSpPr>
        <p:spPr>
          <a:xfrm>
            <a:off x="762000" y="6477000"/>
            <a:ext cx="3810000" cy="203200"/>
          </a:xfrm>
          <a:prstGeom prst="rect">
            <a:avLst/>
          </a:prstGeom>
          <a:noFill/>
        </p:spPr>
        <p:txBody>
          <a:bodyPr wrap="square" lIns="0" tIns="0" rIns="0" bIns="0" anchor="t">
            <a:spAutoFit/>
          </a:bodyPr>
          <a:lstStyle/>
          <a:p>
            <a:pPr algn="l"/>
            <a:r>
              <a:rPr sz="900" b="0">
                <a:solidFill>
                  <a:srgbClr val="587579"/>
                </a:solidFill>
                <a:latin typeface="Raleway"/>
              </a:rPr>
              <a:t>tesseraservices.com</a:t>
            </a:r>
          </a:p>
        </p:txBody>
      </p:sp>
      <p:sp>
        <p:nvSpPr>
          <p:cNvPr id="41" name="TextBox 40"/>
          <p:cNvSpPr txBox="1"/>
          <p:nvPr/>
        </p:nvSpPr>
        <p:spPr>
          <a:xfrm>
            <a:off x="10668000" y="6400800"/>
            <a:ext cx="762000" cy="330200"/>
          </a:xfrm>
          <a:prstGeom prst="rect">
            <a:avLst/>
          </a:prstGeom>
          <a:noFill/>
        </p:spPr>
        <p:txBody>
          <a:bodyPr wrap="square" lIns="0" tIns="0" rIns="0" bIns="0" anchor="t">
            <a:spAutoFit/>
          </a:bodyPr>
          <a:lstStyle/>
          <a:p>
            <a:pPr algn="r"/>
            <a:r>
              <a:rPr sz="1600" b="0">
                <a:solidFill>
                  <a:srgbClr val="202031"/>
                </a:solidFill>
                <a:latin typeface="Manrope Medium"/>
              </a:rPr>
              <a:t>05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spAutoFit/>
          </a:bodyPr>
          <a:lstStyle/>
          <a:p>
            <a:pPr algn="r"/>
            <a:r>
              <a:rPr sz="1000" b="0" spc="120">
                <a:solidFill>
                  <a:srgbClr val="587579"/>
                </a:solidFill>
                <a:latin typeface="Raleway Medium"/>
              </a:rPr>
              <a:t>SERVICIOS</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889000"/>
            <a:ext cx="8890000" cy="635000"/>
          </a:xfrm>
          <a:prstGeom prst="rect">
            <a:avLst/>
          </a:prstGeom>
          <a:noFill/>
        </p:spPr>
        <p:txBody>
          <a:bodyPr wrap="square" lIns="0" tIns="0" rIns="0" bIns="0" anchor="t">
            <a:spAutoFit/>
          </a:bodyPr>
          <a:lstStyle/>
          <a:p>
            <a:pPr algn="l"/>
            <a:r>
              <a:rPr sz="3600" b="0">
                <a:solidFill>
                  <a:srgbClr val="202031"/>
                </a:solidFill>
                <a:latin typeface="Raleway Light"/>
              </a:rPr>
              <a:t>Human Capital</a:t>
            </a:r>
          </a:p>
        </p:txBody>
      </p:sp>
      <p:sp>
        <p:nvSpPr>
          <p:cNvPr id="6" name="TextBox 5"/>
          <p:cNvSpPr txBox="1"/>
          <p:nvPr/>
        </p:nvSpPr>
        <p:spPr>
          <a:xfrm>
            <a:off x="762000" y="1498600"/>
            <a:ext cx="9652000" cy="254000"/>
          </a:xfrm>
          <a:prstGeom prst="rect">
            <a:avLst/>
          </a:prstGeom>
          <a:noFill/>
        </p:spPr>
        <p:txBody>
          <a:bodyPr wrap="square" lIns="0" tIns="0" rIns="0" bIns="0" anchor="t">
            <a:spAutoFit/>
          </a:bodyPr>
          <a:lstStyle/>
          <a:p>
            <a:pPr algn="l"/>
            <a:r>
              <a:rPr sz="1100" b="0">
                <a:solidFill>
                  <a:srgbClr val="202031"/>
                </a:solidFill>
                <a:latin typeface="Raleway"/>
              </a:rPr>
              <a:t>Expertos en el flujo de talento: procesos claros y compromisos que se cumplen.</a:t>
            </a:r>
          </a:p>
        </p:txBody>
      </p:sp>
      <p:sp>
        <p:nvSpPr>
          <p:cNvPr id="7" name="Rectangle 6"/>
          <p:cNvSpPr/>
          <p:nvPr/>
        </p:nvSpPr>
        <p:spPr>
          <a:xfrm>
            <a:off x="762000" y="1981200"/>
            <a:ext cx="3378200" cy="14224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90600" y="2247900"/>
            <a:ext cx="2921000" cy="228600"/>
          </a:xfrm>
          <a:prstGeom prst="rect">
            <a:avLst/>
          </a:prstGeom>
          <a:noFill/>
        </p:spPr>
        <p:txBody>
          <a:bodyPr wrap="square" lIns="0" tIns="0" rIns="0" bIns="0" anchor="t">
            <a:spAutoFit/>
          </a:bodyPr>
          <a:lstStyle/>
          <a:p>
            <a:pPr algn="l"/>
            <a:r>
              <a:rPr sz="1200" b="0">
                <a:solidFill>
                  <a:srgbClr val="202031"/>
                </a:solidFill>
                <a:latin typeface="Raleway SemiBold"/>
              </a:rPr>
              <a:t>Headhunting</a:t>
            </a:r>
          </a:p>
        </p:txBody>
      </p:sp>
      <p:sp>
        <p:nvSpPr>
          <p:cNvPr id="10" name="TextBox 9"/>
          <p:cNvSpPr txBox="1"/>
          <p:nvPr/>
        </p:nvSpPr>
        <p:spPr>
          <a:xfrm>
            <a:off x="990600" y="2616200"/>
            <a:ext cx="2921000" cy="711200"/>
          </a:xfrm>
          <a:prstGeom prst="rect">
            <a:avLst/>
          </a:prstGeom>
          <a:noFill/>
        </p:spPr>
        <p:txBody>
          <a:bodyPr wrap="square" lIns="0" tIns="0" rIns="0" bIns="0" anchor="t">
            <a:spAutoFit/>
          </a:bodyPr>
          <a:lstStyle/>
          <a:p>
            <a:pPr algn="l">
              <a:lnSpc>
                <a:spcPct val="115000"/>
              </a:lnSpc>
            </a:pPr>
            <a:r>
              <a:rPr sz="850" b="0">
                <a:solidFill>
                  <a:srgbClr val="202031"/>
                </a:solidFill>
                <a:latin typeface="Raleway"/>
              </a:rPr>
              <a:t>Equipo senior en cada búsqueda y metodología propia apoyada en nuestra IA de selección (TESSA). Primera shortlist en 72 horas y acompañamiento tras la incorporación.</a:t>
            </a:r>
          </a:p>
        </p:txBody>
      </p:sp>
      <p:sp>
        <p:nvSpPr>
          <p:cNvPr id="11" name="Rectangle 10"/>
          <p:cNvSpPr/>
          <p:nvPr/>
        </p:nvSpPr>
        <p:spPr>
          <a:xfrm>
            <a:off x="4406900" y="1981200"/>
            <a:ext cx="3378200" cy="14224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5500" y="2247900"/>
            <a:ext cx="2921000" cy="228600"/>
          </a:xfrm>
          <a:prstGeom prst="rect">
            <a:avLst/>
          </a:prstGeom>
          <a:noFill/>
        </p:spPr>
        <p:txBody>
          <a:bodyPr wrap="square" lIns="0" tIns="0" rIns="0" bIns="0" anchor="t">
            <a:spAutoFit/>
          </a:bodyPr>
          <a:lstStyle/>
          <a:p>
            <a:pPr algn="l"/>
            <a:r>
              <a:rPr sz="1200" b="0">
                <a:solidFill>
                  <a:srgbClr val="202031"/>
                </a:solidFill>
                <a:latin typeface="Raleway SemiBold"/>
              </a:rPr>
              <a:t>Outsourcing</a:t>
            </a:r>
          </a:p>
        </p:txBody>
      </p:sp>
      <p:sp>
        <p:nvSpPr>
          <p:cNvPr id="14" name="TextBox 13"/>
          <p:cNvSpPr txBox="1"/>
          <p:nvPr/>
        </p:nvSpPr>
        <p:spPr>
          <a:xfrm>
            <a:off x="4635500" y="2616200"/>
            <a:ext cx="2921000" cy="711200"/>
          </a:xfrm>
          <a:prstGeom prst="rect">
            <a:avLst/>
          </a:prstGeom>
          <a:noFill/>
        </p:spPr>
        <p:txBody>
          <a:bodyPr wrap="square" lIns="0" tIns="0" rIns="0" bIns="0" anchor="t">
            <a:spAutoFit/>
          </a:bodyPr>
          <a:lstStyle/>
          <a:p>
            <a:pPr algn="l">
              <a:lnSpc>
                <a:spcPct val="115000"/>
              </a:lnSpc>
            </a:pPr>
            <a:r>
              <a:rPr sz="850" b="0">
                <a:solidFill>
                  <a:srgbClr val="202031"/>
                </a:solidFill>
                <a:latin typeface="Raleway"/>
              </a:rPr>
              <a:t>Equipos que se ajustan a la actividad real: pagas por horas trabajadas, cubrimos bajas y vacaciones y nos ocupamos de nóminas y trámites.</a:t>
            </a:r>
          </a:p>
        </p:txBody>
      </p:sp>
      <p:sp>
        <p:nvSpPr>
          <p:cNvPr id="15" name="Rectangle 14"/>
          <p:cNvSpPr/>
          <p:nvPr/>
        </p:nvSpPr>
        <p:spPr>
          <a:xfrm>
            <a:off x="762000" y="3632200"/>
            <a:ext cx="3378200" cy="14224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90600" y="3898900"/>
            <a:ext cx="2921000" cy="228600"/>
          </a:xfrm>
          <a:prstGeom prst="rect">
            <a:avLst/>
          </a:prstGeom>
          <a:noFill/>
        </p:spPr>
        <p:txBody>
          <a:bodyPr wrap="square" lIns="0" tIns="0" rIns="0" bIns="0" anchor="t">
            <a:spAutoFit/>
          </a:bodyPr>
          <a:lstStyle/>
          <a:p>
            <a:pPr algn="l"/>
            <a:r>
              <a:rPr sz="1200" b="0" dirty="0" err="1">
                <a:solidFill>
                  <a:srgbClr val="202031"/>
                </a:solidFill>
                <a:latin typeface="Raleway SemiBold"/>
              </a:rPr>
              <a:t>Consultoría</a:t>
            </a:r>
            <a:r>
              <a:rPr sz="1200" b="0" dirty="0">
                <a:solidFill>
                  <a:srgbClr val="202031"/>
                </a:solidFill>
                <a:latin typeface="Raleway SemiBold"/>
              </a:rPr>
              <a:t> </a:t>
            </a:r>
            <a:r>
              <a:rPr sz="1200" b="0" dirty="0" err="1">
                <a:solidFill>
                  <a:srgbClr val="202031"/>
                </a:solidFill>
                <a:latin typeface="Raleway SemiBold"/>
              </a:rPr>
              <a:t>salarial</a:t>
            </a:r>
            <a:endParaRPr sz="1200" b="0" dirty="0">
              <a:solidFill>
                <a:srgbClr val="202031"/>
              </a:solidFill>
              <a:latin typeface="Raleway SemiBold"/>
            </a:endParaRPr>
          </a:p>
        </p:txBody>
      </p:sp>
      <p:sp>
        <p:nvSpPr>
          <p:cNvPr id="18" name="TextBox 17"/>
          <p:cNvSpPr txBox="1"/>
          <p:nvPr/>
        </p:nvSpPr>
        <p:spPr>
          <a:xfrm>
            <a:off x="990600" y="4267200"/>
            <a:ext cx="2921000" cy="711200"/>
          </a:xfrm>
          <a:prstGeom prst="rect">
            <a:avLst/>
          </a:prstGeom>
          <a:noFill/>
        </p:spPr>
        <p:txBody>
          <a:bodyPr wrap="square" lIns="0" tIns="0" rIns="0" bIns="0" anchor="t">
            <a:spAutoFit/>
          </a:bodyPr>
          <a:lstStyle/>
          <a:p>
            <a:pPr algn="l">
              <a:lnSpc>
                <a:spcPct val="115000"/>
              </a:lnSpc>
            </a:pPr>
            <a:r>
              <a:rPr sz="850" b="0">
                <a:solidFill>
                  <a:srgbClr val="202031"/>
                </a:solidFill>
                <a:latin typeface="Raleway"/>
              </a:rPr>
              <a:t>Benchmarking, diseño de bandas y transparencia retributiva alineada con la Directiva EU 2023/970. Apoyo en ofertas, revisiones y retención.</a:t>
            </a:r>
          </a:p>
        </p:txBody>
      </p:sp>
      <p:sp>
        <p:nvSpPr>
          <p:cNvPr id="19" name="Rectangle 18"/>
          <p:cNvSpPr/>
          <p:nvPr/>
        </p:nvSpPr>
        <p:spPr>
          <a:xfrm>
            <a:off x="4406900" y="3632200"/>
            <a:ext cx="3378200" cy="14224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635500" y="3898900"/>
            <a:ext cx="2921000" cy="228600"/>
          </a:xfrm>
          <a:prstGeom prst="rect">
            <a:avLst/>
          </a:prstGeom>
          <a:noFill/>
        </p:spPr>
        <p:txBody>
          <a:bodyPr wrap="square" lIns="0" tIns="0" rIns="0" bIns="0" anchor="t">
            <a:spAutoFit/>
          </a:bodyPr>
          <a:lstStyle/>
          <a:p>
            <a:pPr algn="l"/>
            <a:r>
              <a:rPr sz="1200" b="0">
                <a:solidFill>
                  <a:srgbClr val="202031"/>
                </a:solidFill>
                <a:latin typeface="Raleway SemiBold"/>
              </a:rPr>
              <a:t>Formación</a:t>
            </a:r>
          </a:p>
        </p:txBody>
      </p:sp>
      <p:sp>
        <p:nvSpPr>
          <p:cNvPr id="22" name="TextBox 21"/>
          <p:cNvSpPr txBox="1"/>
          <p:nvPr/>
        </p:nvSpPr>
        <p:spPr>
          <a:xfrm>
            <a:off x="4635500" y="4267200"/>
            <a:ext cx="2921000" cy="711200"/>
          </a:xfrm>
          <a:prstGeom prst="rect">
            <a:avLst/>
          </a:prstGeom>
          <a:noFill/>
        </p:spPr>
        <p:txBody>
          <a:bodyPr wrap="square" lIns="0" tIns="0" rIns="0" bIns="0" anchor="t">
            <a:spAutoFit/>
          </a:bodyPr>
          <a:lstStyle/>
          <a:p>
            <a:pPr algn="l">
              <a:lnSpc>
                <a:spcPct val="115000"/>
              </a:lnSpc>
            </a:pPr>
            <a:r>
              <a:rPr sz="850" b="0">
                <a:solidFill>
                  <a:srgbClr val="202031"/>
                </a:solidFill>
                <a:latin typeface="Raleway"/>
              </a:rPr>
              <a:t>Programas a medida con metodología ágil: gestión del talento, employee experience, procesos de RRHH e IA aplicada a HR. Se mide en resultados.</a:t>
            </a:r>
          </a:p>
        </p:txBody>
      </p:sp>
      <p:sp>
        <p:nvSpPr>
          <p:cNvPr id="23" name="Rectangle 22"/>
          <p:cNvSpPr/>
          <p:nvPr/>
        </p:nvSpPr>
        <p:spPr>
          <a:xfrm>
            <a:off x="8051800" y="1981200"/>
            <a:ext cx="3378200" cy="3073400"/>
          </a:xfrm>
          <a:prstGeom prst="rect">
            <a:avLst/>
          </a:prstGeom>
          <a:solidFill>
            <a:srgbClr val="202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80400" y="2209800"/>
            <a:ext cx="2921000" cy="889000"/>
          </a:xfrm>
          <a:prstGeom prst="rect">
            <a:avLst/>
          </a:prstGeom>
          <a:noFill/>
        </p:spPr>
        <p:txBody>
          <a:bodyPr wrap="square" lIns="0" tIns="0" rIns="0" bIns="0" anchor="t">
            <a:spAutoFit/>
          </a:bodyPr>
          <a:lstStyle/>
          <a:p>
            <a:pPr algn="l">
              <a:lnSpc>
                <a:spcPct val="125000"/>
              </a:lnSpc>
            </a:pPr>
            <a:r>
              <a:rPr sz="950" b="0">
                <a:solidFill>
                  <a:srgbClr val="FFFFFF"/>
                </a:solidFill>
                <a:latin typeface="Raleway"/>
              </a:rPr>
              <a:t>Para un fondo: equipos directivos para las participadas, cobertura de vacantes críticas sin pausas y estructuras salariales que retienen al talento clave.</a:t>
            </a:r>
          </a:p>
        </p:txBody>
      </p:sp>
      <p:sp>
        <p:nvSpPr>
          <p:cNvPr id="25" name="TextBox 24"/>
          <p:cNvSpPr txBox="1"/>
          <p:nvPr/>
        </p:nvSpPr>
        <p:spPr>
          <a:xfrm>
            <a:off x="8280400" y="3302000"/>
            <a:ext cx="1143000" cy="381000"/>
          </a:xfrm>
          <a:prstGeom prst="rect">
            <a:avLst/>
          </a:prstGeom>
          <a:noFill/>
        </p:spPr>
        <p:txBody>
          <a:bodyPr wrap="square" lIns="0" tIns="0" rIns="0" bIns="0" anchor="t">
            <a:spAutoFit/>
          </a:bodyPr>
          <a:lstStyle/>
          <a:p>
            <a:pPr algn="l"/>
            <a:r>
              <a:rPr sz="2000" b="0">
                <a:solidFill>
                  <a:srgbClr val="FFFFFF"/>
                </a:solidFill>
                <a:latin typeface="Manrope ExtraLight"/>
              </a:rPr>
              <a:t>72h</a:t>
            </a:r>
          </a:p>
        </p:txBody>
      </p:sp>
      <p:sp>
        <p:nvSpPr>
          <p:cNvPr id="26" name="TextBox 25"/>
          <p:cNvSpPr txBox="1"/>
          <p:nvPr/>
        </p:nvSpPr>
        <p:spPr>
          <a:xfrm>
            <a:off x="8280400" y="3708400"/>
            <a:ext cx="2921000" cy="126060"/>
          </a:xfrm>
          <a:prstGeom prst="rect">
            <a:avLst/>
          </a:prstGeom>
          <a:noFill/>
        </p:spPr>
        <p:txBody>
          <a:bodyPr wrap="square" lIns="0" tIns="0" rIns="0" bIns="0" anchor="t">
            <a:spAutoFit/>
          </a:bodyPr>
          <a:lstStyle/>
          <a:p>
            <a:pPr algn="l">
              <a:lnSpc>
                <a:spcPct val="110000"/>
              </a:lnSpc>
            </a:pPr>
            <a:r>
              <a:rPr sz="800" b="0" dirty="0">
                <a:solidFill>
                  <a:schemeClr val="bg1"/>
                </a:solidFill>
                <a:latin typeface="Raleway"/>
              </a:rPr>
              <a:t>Primera shortlist </a:t>
            </a:r>
            <a:r>
              <a:rPr sz="800" b="0" dirty="0" err="1">
                <a:solidFill>
                  <a:schemeClr val="bg1"/>
                </a:solidFill>
                <a:latin typeface="Raleway"/>
              </a:rPr>
              <a:t>sobre</a:t>
            </a:r>
            <a:r>
              <a:rPr sz="800" b="0" dirty="0">
                <a:solidFill>
                  <a:schemeClr val="bg1"/>
                </a:solidFill>
                <a:latin typeface="Raleway"/>
              </a:rPr>
              <a:t> </a:t>
            </a:r>
            <a:r>
              <a:rPr sz="800" b="0" dirty="0" err="1">
                <a:solidFill>
                  <a:schemeClr val="bg1"/>
                </a:solidFill>
                <a:latin typeface="Raleway"/>
              </a:rPr>
              <a:t>tu</a:t>
            </a:r>
            <a:r>
              <a:rPr sz="800" b="0" dirty="0">
                <a:solidFill>
                  <a:schemeClr val="bg1"/>
                </a:solidFill>
                <a:latin typeface="Raleway"/>
              </a:rPr>
              <a:t> mesa</a:t>
            </a:r>
          </a:p>
        </p:txBody>
      </p:sp>
      <p:sp>
        <p:nvSpPr>
          <p:cNvPr id="27" name="TextBox 26"/>
          <p:cNvSpPr txBox="1"/>
          <p:nvPr/>
        </p:nvSpPr>
        <p:spPr>
          <a:xfrm>
            <a:off x="8280400" y="4191000"/>
            <a:ext cx="1143000" cy="381000"/>
          </a:xfrm>
          <a:prstGeom prst="rect">
            <a:avLst/>
          </a:prstGeom>
          <a:noFill/>
        </p:spPr>
        <p:txBody>
          <a:bodyPr wrap="square" lIns="0" tIns="0" rIns="0" bIns="0" anchor="t">
            <a:spAutoFit/>
          </a:bodyPr>
          <a:lstStyle/>
          <a:p>
            <a:pPr algn="l"/>
            <a:r>
              <a:rPr sz="2000" b="0">
                <a:solidFill>
                  <a:srgbClr val="FFFFFF"/>
                </a:solidFill>
                <a:latin typeface="Manrope ExtraLight"/>
              </a:rPr>
              <a:t>+200</a:t>
            </a:r>
          </a:p>
        </p:txBody>
      </p:sp>
      <p:sp>
        <p:nvSpPr>
          <p:cNvPr id="28" name="TextBox 27"/>
          <p:cNvSpPr txBox="1"/>
          <p:nvPr/>
        </p:nvSpPr>
        <p:spPr>
          <a:xfrm>
            <a:off x="8280400" y="4597400"/>
            <a:ext cx="2921000" cy="126060"/>
          </a:xfrm>
          <a:prstGeom prst="rect">
            <a:avLst/>
          </a:prstGeom>
          <a:noFill/>
        </p:spPr>
        <p:txBody>
          <a:bodyPr wrap="square" lIns="0" tIns="0" rIns="0" bIns="0" anchor="t">
            <a:spAutoFit/>
          </a:bodyPr>
          <a:lstStyle/>
          <a:p>
            <a:pPr algn="l">
              <a:lnSpc>
                <a:spcPct val="110000"/>
              </a:lnSpc>
            </a:pPr>
            <a:r>
              <a:rPr sz="800" b="0" dirty="0" err="1">
                <a:solidFill>
                  <a:schemeClr val="bg1"/>
                </a:solidFill>
                <a:latin typeface="Raleway"/>
              </a:rPr>
              <a:t>Contrataciones</a:t>
            </a:r>
            <a:r>
              <a:rPr sz="800" b="0" dirty="0">
                <a:solidFill>
                  <a:schemeClr val="bg1"/>
                </a:solidFill>
                <a:latin typeface="Raleway"/>
              </a:rPr>
              <a:t> </a:t>
            </a:r>
            <a:r>
              <a:rPr sz="800" b="0" dirty="0" err="1">
                <a:solidFill>
                  <a:schemeClr val="bg1"/>
                </a:solidFill>
                <a:latin typeface="Raleway"/>
              </a:rPr>
              <a:t>lideradas</a:t>
            </a:r>
            <a:r>
              <a:rPr sz="800" b="0" dirty="0">
                <a:solidFill>
                  <a:schemeClr val="bg1"/>
                </a:solidFill>
                <a:latin typeface="Raleway"/>
              </a:rPr>
              <a:t> </a:t>
            </a:r>
            <a:r>
              <a:rPr sz="800" b="0" dirty="0" err="1">
                <a:solidFill>
                  <a:schemeClr val="bg1"/>
                </a:solidFill>
                <a:latin typeface="Raleway"/>
              </a:rPr>
              <a:t>en</a:t>
            </a:r>
            <a:r>
              <a:rPr sz="800" b="0" dirty="0">
                <a:solidFill>
                  <a:schemeClr val="bg1"/>
                </a:solidFill>
                <a:latin typeface="Raleway"/>
              </a:rPr>
              <a:t> 16 </a:t>
            </a:r>
            <a:r>
              <a:rPr sz="800" b="0" dirty="0" err="1">
                <a:solidFill>
                  <a:schemeClr val="bg1"/>
                </a:solidFill>
                <a:latin typeface="Raleway"/>
              </a:rPr>
              <a:t>países</a:t>
            </a:r>
            <a:endParaRPr sz="800" b="0" dirty="0">
              <a:solidFill>
                <a:schemeClr val="bg1"/>
              </a:solidFill>
              <a:latin typeface="Raleway"/>
            </a:endParaRPr>
          </a:p>
        </p:txBody>
      </p:sp>
      <p:sp>
        <p:nvSpPr>
          <p:cNvPr id="29" name="TextBox 28"/>
          <p:cNvSpPr txBox="1"/>
          <p:nvPr/>
        </p:nvSpPr>
        <p:spPr>
          <a:xfrm>
            <a:off x="762000" y="6477000"/>
            <a:ext cx="3810000" cy="203200"/>
          </a:xfrm>
          <a:prstGeom prst="rect">
            <a:avLst/>
          </a:prstGeom>
          <a:noFill/>
        </p:spPr>
        <p:txBody>
          <a:bodyPr wrap="square" lIns="0" tIns="0" rIns="0" bIns="0" anchor="t">
            <a:spAutoFit/>
          </a:bodyPr>
          <a:lstStyle/>
          <a:p>
            <a:pPr algn="l"/>
            <a:r>
              <a:rPr sz="900" b="0">
                <a:solidFill>
                  <a:srgbClr val="587579"/>
                </a:solidFill>
                <a:latin typeface="Raleway"/>
              </a:rPr>
              <a:t>tesseraservices.com</a:t>
            </a:r>
          </a:p>
        </p:txBody>
      </p:sp>
      <p:sp>
        <p:nvSpPr>
          <p:cNvPr id="30" name="TextBox 29"/>
          <p:cNvSpPr txBox="1"/>
          <p:nvPr/>
        </p:nvSpPr>
        <p:spPr>
          <a:xfrm>
            <a:off x="10668000" y="6400800"/>
            <a:ext cx="762000" cy="330200"/>
          </a:xfrm>
          <a:prstGeom prst="rect">
            <a:avLst/>
          </a:prstGeom>
          <a:noFill/>
        </p:spPr>
        <p:txBody>
          <a:bodyPr wrap="square" lIns="0" tIns="0" rIns="0" bIns="0" anchor="t">
            <a:spAutoFit/>
          </a:bodyPr>
          <a:lstStyle/>
          <a:p>
            <a:pPr algn="r"/>
            <a:r>
              <a:rPr sz="1600" b="0">
                <a:solidFill>
                  <a:srgbClr val="202031"/>
                </a:solidFill>
                <a:latin typeface="Manrope Medium"/>
              </a:rPr>
              <a:t>06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6EC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spAutoFit/>
          </a:bodyPr>
          <a:lstStyle/>
          <a:p>
            <a:pPr algn="r"/>
            <a:r>
              <a:rPr sz="1000" b="0" spc="120">
                <a:solidFill>
                  <a:srgbClr val="587579"/>
                </a:solidFill>
                <a:latin typeface="Raleway Medium"/>
              </a:rPr>
              <a:t>POR QUÉ TESSERA</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889000"/>
            <a:ext cx="9652000" cy="762000"/>
          </a:xfrm>
          <a:prstGeom prst="rect">
            <a:avLst/>
          </a:prstGeom>
          <a:noFill/>
        </p:spPr>
        <p:txBody>
          <a:bodyPr wrap="square" lIns="0" tIns="0" rIns="0" bIns="0" anchor="t">
            <a:spAutoFit/>
          </a:bodyPr>
          <a:lstStyle/>
          <a:p>
            <a:pPr algn="l"/>
            <a:r>
              <a:rPr sz="4000" b="0">
                <a:solidFill>
                  <a:srgbClr val="202031"/>
                </a:solidFill>
                <a:latin typeface="Raleway Light"/>
              </a:rPr>
              <a:t>Por qué Tessera</a:t>
            </a:r>
          </a:p>
        </p:txBody>
      </p:sp>
      <p:sp>
        <p:nvSpPr>
          <p:cNvPr id="6" name="TextBox 5"/>
          <p:cNvSpPr txBox="1"/>
          <p:nvPr/>
        </p:nvSpPr>
        <p:spPr>
          <a:xfrm>
            <a:off x="762000" y="1625600"/>
            <a:ext cx="9652000" cy="304800"/>
          </a:xfrm>
          <a:prstGeom prst="rect">
            <a:avLst/>
          </a:prstGeom>
          <a:noFill/>
        </p:spPr>
        <p:txBody>
          <a:bodyPr wrap="square" lIns="0" tIns="0" rIns="0" bIns="0" anchor="t">
            <a:spAutoFit/>
          </a:bodyPr>
          <a:lstStyle/>
          <a:p>
            <a:pPr algn="l"/>
            <a:r>
              <a:rPr sz="1200" b="0">
                <a:solidFill>
                  <a:srgbClr val="202031"/>
                </a:solidFill>
                <a:latin typeface="Raleway"/>
              </a:rPr>
              <a:t>Control, rigor financiero y talento al servicio de la tesis de inversión.</a:t>
            </a:r>
          </a:p>
        </p:txBody>
      </p:sp>
      <p:sp>
        <p:nvSpPr>
          <p:cNvPr id="7" name="Rectangle 6"/>
          <p:cNvSpPr/>
          <p:nvPr/>
        </p:nvSpPr>
        <p:spPr>
          <a:xfrm>
            <a:off x="762000" y="2184400"/>
            <a:ext cx="3378200" cy="241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6000" y="2590800"/>
            <a:ext cx="2870200" cy="1778000"/>
          </a:xfrm>
          <a:prstGeom prst="rect">
            <a:avLst/>
          </a:prstGeom>
          <a:noFill/>
        </p:spPr>
        <p:txBody>
          <a:bodyPr wrap="square" lIns="0" tIns="0" rIns="0" bIns="0" anchor="t">
            <a:spAutoFit/>
          </a:bodyPr>
          <a:lstStyle/>
          <a:p>
            <a:pPr algn="l">
              <a:spcAft>
                <a:spcPts val="600"/>
              </a:spcAft>
            </a:pPr>
            <a:r>
              <a:rPr sz="1400" b="0">
                <a:solidFill>
                  <a:srgbClr val="202031"/>
                </a:solidFill>
                <a:latin typeface="Raleway SemiBold"/>
              </a:rPr>
              <a:t>Control</a:t>
            </a:r>
          </a:p>
          <a:p>
            <a:pPr>
              <a:lnSpc>
                <a:spcPct val="120000"/>
              </a:lnSpc>
            </a:pPr>
            <a:r>
              <a:rPr sz="1050" b="0">
                <a:solidFill>
                  <a:srgbClr val="202031"/>
                </a:solidFill>
                <a:latin typeface="Raleway"/>
              </a:rPr>
              <a:t>Visibilidad real del fondo sobre cada participada: reporting homogéneo, cuadro de mando y seguimiento de caja.</a:t>
            </a:r>
          </a:p>
        </p:txBody>
      </p:sp>
      <p:sp>
        <p:nvSpPr>
          <p:cNvPr id="10" name="Rectangle 9"/>
          <p:cNvSpPr/>
          <p:nvPr/>
        </p:nvSpPr>
        <p:spPr>
          <a:xfrm>
            <a:off x="4406900" y="2184400"/>
            <a:ext cx="3378200" cy="241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0900" y="2590800"/>
            <a:ext cx="2870200" cy="1778000"/>
          </a:xfrm>
          <a:prstGeom prst="rect">
            <a:avLst/>
          </a:prstGeom>
          <a:noFill/>
        </p:spPr>
        <p:txBody>
          <a:bodyPr wrap="square" lIns="0" tIns="0" rIns="0" bIns="0" anchor="t">
            <a:spAutoFit/>
          </a:bodyPr>
          <a:lstStyle/>
          <a:p>
            <a:pPr algn="l">
              <a:spcAft>
                <a:spcPts val="600"/>
              </a:spcAft>
            </a:pPr>
            <a:r>
              <a:rPr sz="1400" b="0">
                <a:solidFill>
                  <a:srgbClr val="202031"/>
                </a:solidFill>
                <a:latin typeface="Raleway SemiBold"/>
              </a:rPr>
              <a:t>Rigor financiero</a:t>
            </a:r>
          </a:p>
          <a:p>
            <a:pPr>
              <a:lnSpc>
                <a:spcPct val="120000"/>
              </a:lnSpc>
            </a:pPr>
            <a:r>
              <a:rPr sz="1050" b="0">
                <a:solidFill>
                  <a:srgbClr val="202031"/>
                </a:solidFill>
                <a:latin typeface="Raleway"/>
              </a:rPr>
              <a:t>Metodología de Big Four y de CFOs en activo: información validada y decisiones basadas en datos.</a:t>
            </a:r>
          </a:p>
        </p:txBody>
      </p:sp>
      <p:sp>
        <p:nvSpPr>
          <p:cNvPr id="13" name="Rectangle 12"/>
          <p:cNvSpPr/>
          <p:nvPr/>
        </p:nvSpPr>
        <p:spPr>
          <a:xfrm>
            <a:off x="8051800" y="2184400"/>
            <a:ext cx="3378200" cy="241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05800" y="2590800"/>
            <a:ext cx="2870200" cy="1778000"/>
          </a:xfrm>
          <a:prstGeom prst="rect">
            <a:avLst/>
          </a:prstGeom>
          <a:noFill/>
        </p:spPr>
        <p:txBody>
          <a:bodyPr wrap="square" lIns="0" tIns="0" rIns="0" bIns="0" anchor="t">
            <a:spAutoFit/>
          </a:bodyPr>
          <a:lstStyle/>
          <a:p>
            <a:pPr algn="l">
              <a:spcAft>
                <a:spcPts val="600"/>
              </a:spcAft>
            </a:pPr>
            <a:r>
              <a:rPr sz="1400" b="0" dirty="0" err="1">
                <a:solidFill>
                  <a:srgbClr val="202031"/>
                </a:solidFill>
                <a:latin typeface="Raleway SemiBold"/>
              </a:rPr>
              <a:t>Ejecución</a:t>
            </a:r>
            <a:endParaRPr sz="1400" b="0" dirty="0">
              <a:solidFill>
                <a:srgbClr val="202031"/>
              </a:solidFill>
              <a:latin typeface="Raleway SemiBold"/>
            </a:endParaRPr>
          </a:p>
          <a:p>
            <a:pPr>
              <a:lnSpc>
                <a:spcPct val="120000"/>
              </a:lnSpc>
            </a:pPr>
            <a:r>
              <a:rPr sz="1050" b="0" dirty="0">
                <a:solidFill>
                  <a:srgbClr val="202031"/>
                </a:solidFill>
                <a:latin typeface="Raleway"/>
              </a:rPr>
              <a:t>No </a:t>
            </a:r>
            <a:r>
              <a:rPr sz="1050" b="0" dirty="0" err="1">
                <a:solidFill>
                  <a:srgbClr val="202031"/>
                </a:solidFill>
                <a:latin typeface="Raleway"/>
              </a:rPr>
              <a:t>nos</a:t>
            </a:r>
            <a:r>
              <a:rPr sz="1050" b="0" dirty="0">
                <a:solidFill>
                  <a:srgbClr val="202031"/>
                </a:solidFill>
                <a:latin typeface="Raleway"/>
              </a:rPr>
              <a:t> </a:t>
            </a:r>
            <a:r>
              <a:rPr sz="1050" b="0" dirty="0" err="1">
                <a:solidFill>
                  <a:srgbClr val="202031"/>
                </a:solidFill>
                <a:latin typeface="Raleway"/>
              </a:rPr>
              <a:t>quedamos</a:t>
            </a:r>
            <a:r>
              <a:rPr sz="1050" b="0" dirty="0">
                <a:solidFill>
                  <a:srgbClr val="202031"/>
                </a:solidFill>
                <a:latin typeface="Raleway"/>
              </a:rPr>
              <a:t> </a:t>
            </a:r>
            <a:r>
              <a:rPr sz="1050" b="0" dirty="0" err="1">
                <a:solidFill>
                  <a:srgbClr val="202031"/>
                </a:solidFill>
                <a:latin typeface="Raleway"/>
              </a:rPr>
              <a:t>en</a:t>
            </a:r>
            <a:r>
              <a:rPr sz="1050" b="0" dirty="0">
                <a:solidFill>
                  <a:srgbClr val="202031"/>
                </a:solidFill>
                <a:latin typeface="Raleway"/>
              </a:rPr>
              <a:t> el </a:t>
            </a:r>
            <a:r>
              <a:rPr sz="1050" b="0" dirty="0" err="1">
                <a:solidFill>
                  <a:srgbClr val="202031"/>
                </a:solidFill>
                <a:latin typeface="Raleway"/>
              </a:rPr>
              <a:t>diagnóstico</a:t>
            </a:r>
            <a:r>
              <a:rPr sz="1050" b="0" dirty="0">
                <a:solidFill>
                  <a:srgbClr val="202031"/>
                </a:solidFill>
                <a:latin typeface="Raleway"/>
              </a:rPr>
              <a:t>: </a:t>
            </a:r>
            <a:r>
              <a:rPr sz="1050" b="0" dirty="0" err="1">
                <a:solidFill>
                  <a:srgbClr val="202031"/>
                </a:solidFill>
                <a:latin typeface="Raleway"/>
              </a:rPr>
              <a:t>implantamos</a:t>
            </a:r>
            <a:r>
              <a:rPr sz="1050" b="0" dirty="0">
                <a:solidFill>
                  <a:srgbClr val="202031"/>
                </a:solidFill>
                <a:latin typeface="Raleway"/>
              </a:rPr>
              <a:t>, </a:t>
            </a:r>
            <a:r>
              <a:rPr sz="1050" b="0" dirty="0" err="1">
                <a:solidFill>
                  <a:srgbClr val="202031"/>
                </a:solidFill>
                <a:latin typeface="Raleway"/>
              </a:rPr>
              <a:t>acompañamos</a:t>
            </a:r>
            <a:r>
              <a:rPr sz="1050" b="0" dirty="0">
                <a:solidFill>
                  <a:srgbClr val="202031"/>
                </a:solidFill>
                <a:latin typeface="Raleway"/>
              </a:rPr>
              <a:t> al </a:t>
            </a:r>
            <a:r>
              <a:rPr sz="1050" b="0" dirty="0" err="1">
                <a:solidFill>
                  <a:srgbClr val="202031"/>
                </a:solidFill>
                <a:latin typeface="Raleway"/>
              </a:rPr>
              <a:t>equipo</a:t>
            </a:r>
            <a:r>
              <a:rPr sz="1050" b="0" dirty="0">
                <a:solidFill>
                  <a:srgbClr val="202031"/>
                </a:solidFill>
                <a:latin typeface="Raleway"/>
              </a:rPr>
              <a:t> </a:t>
            </a:r>
            <a:r>
              <a:rPr sz="1050" b="0" dirty="0" err="1">
                <a:solidFill>
                  <a:srgbClr val="202031"/>
                </a:solidFill>
                <a:latin typeface="Raleway"/>
              </a:rPr>
              <a:t>directivo</a:t>
            </a:r>
            <a:r>
              <a:rPr sz="1050" b="0" dirty="0">
                <a:solidFill>
                  <a:srgbClr val="202031"/>
                </a:solidFill>
                <a:latin typeface="Raleway"/>
              </a:rPr>
              <a:t> y </a:t>
            </a:r>
            <a:r>
              <a:rPr sz="1050" b="0" dirty="0" err="1">
                <a:solidFill>
                  <a:srgbClr val="202031"/>
                </a:solidFill>
                <a:latin typeface="Raleway"/>
              </a:rPr>
              <a:t>medimos</a:t>
            </a:r>
            <a:r>
              <a:rPr sz="1050" b="0" dirty="0">
                <a:solidFill>
                  <a:srgbClr val="202031"/>
                </a:solidFill>
                <a:latin typeface="Raleway"/>
              </a:rPr>
              <a:t> el </a:t>
            </a:r>
            <a:r>
              <a:rPr sz="1050" b="0" dirty="0" err="1">
                <a:solidFill>
                  <a:srgbClr val="202031"/>
                </a:solidFill>
                <a:latin typeface="Raleway"/>
              </a:rPr>
              <a:t>resultado</a:t>
            </a:r>
            <a:r>
              <a:rPr sz="1050" b="0" dirty="0">
                <a:solidFill>
                  <a:srgbClr val="202031"/>
                </a:solidFill>
                <a:latin typeface="Raleway"/>
              </a:rPr>
              <a:t>.</a:t>
            </a:r>
          </a:p>
        </p:txBody>
      </p:sp>
      <p:sp>
        <p:nvSpPr>
          <p:cNvPr id="16" name="Rectangle 15"/>
          <p:cNvSpPr/>
          <p:nvPr/>
        </p:nvSpPr>
        <p:spPr>
          <a:xfrm>
            <a:off x="762000" y="4978400"/>
            <a:ext cx="3081866" cy="889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5200" y="5156200"/>
            <a:ext cx="2675466" cy="203200"/>
          </a:xfrm>
          <a:prstGeom prst="rect">
            <a:avLst/>
          </a:prstGeom>
          <a:noFill/>
        </p:spPr>
        <p:txBody>
          <a:bodyPr wrap="square" lIns="0" tIns="0" rIns="0" bIns="0" anchor="t">
            <a:spAutoFit/>
          </a:bodyPr>
          <a:lstStyle/>
          <a:p>
            <a:pPr algn="l"/>
            <a:r>
              <a:rPr sz="900" b="0" spc="80">
                <a:solidFill>
                  <a:srgbClr val="587579"/>
                </a:solidFill>
                <a:latin typeface="Raleway Medium"/>
              </a:rPr>
              <a:t>UN SOLO EQUIPO</a:t>
            </a:r>
          </a:p>
        </p:txBody>
      </p:sp>
      <p:sp>
        <p:nvSpPr>
          <p:cNvPr id="18" name="TextBox 17"/>
          <p:cNvSpPr txBox="1"/>
          <p:nvPr/>
        </p:nvSpPr>
        <p:spPr>
          <a:xfrm>
            <a:off x="965200" y="5410200"/>
            <a:ext cx="2675466" cy="355600"/>
          </a:xfrm>
          <a:prstGeom prst="rect">
            <a:avLst/>
          </a:prstGeom>
          <a:noFill/>
        </p:spPr>
        <p:txBody>
          <a:bodyPr wrap="square" lIns="0" tIns="0" rIns="0" bIns="0" anchor="t">
            <a:spAutoFit/>
          </a:bodyPr>
          <a:lstStyle/>
          <a:p>
            <a:pPr algn="l"/>
            <a:r>
              <a:rPr sz="1000" b="0">
                <a:solidFill>
                  <a:srgbClr val="202031"/>
                </a:solidFill>
                <a:latin typeface="Raleway"/>
              </a:rPr>
              <a:t>Finance y talento, un interlocutor.</a:t>
            </a:r>
          </a:p>
        </p:txBody>
      </p:sp>
      <p:sp>
        <p:nvSpPr>
          <p:cNvPr id="19" name="Rectangle 18"/>
          <p:cNvSpPr/>
          <p:nvPr/>
        </p:nvSpPr>
        <p:spPr>
          <a:xfrm>
            <a:off x="4047066" y="4978400"/>
            <a:ext cx="3081866" cy="889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50266" y="5156200"/>
            <a:ext cx="2675466" cy="203200"/>
          </a:xfrm>
          <a:prstGeom prst="rect">
            <a:avLst/>
          </a:prstGeom>
          <a:noFill/>
        </p:spPr>
        <p:txBody>
          <a:bodyPr wrap="square" lIns="0" tIns="0" rIns="0" bIns="0" anchor="t">
            <a:spAutoFit/>
          </a:bodyPr>
          <a:lstStyle/>
          <a:p>
            <a:pPr algn="l"/>
            <a:r>
              <a:rPr sz="900" b="0" spc="80">
                <a:solidFill>
                  <a:srgbClr val="587579"/>
                </a:solidFill>
                <a:latin typeface="Raleway Medium"/>
              </a:rPr>
              <a:t>SOCIOS DENTRO</a:t>
            </a:r>
          </a:p>
        </p:txBody>
      </p:sp>
      <p:sp>
        <p:nvSpPr>
          <p:cNvPr id="21" name="TextBox 20"/>
          <p:cNvSpPr txBox="1"/>
          <p:nvPr/>
        </p:nvSpPr>
        <p:spPr>
          <a:xfrm>
            <a:off x="4250266" y="5410200"/>
            <a:ext cx="2675466" cy="355600"/>
          </a:xfrm>
          <a:prstGeom prst="rect">
            <a:avLst/>
          </a:prstGeom>
          <a:noFill/>
        </p:spPr>
        <p:txBody>
          <a:bodyPr wrap="square" lIns="0" tIns="0" rIns="0" bIns="0" anchor="t">
            <a:spAutoFit/>
          </a:bodyPr>
          <a:lstStyle/>
          <a:p>
            <a:pPr algn="l"/>
            <a:r>
              <a:rPr sz="1000" b="0">
                <a:solidFill>
                  <a:srgbClr val="202031"/>
                </a:solidFill>
                <a:latin typeface="Raleway"/>
              </a:rPr>
              <a:t>Los socios ejecutan el proyecto.</a:t>
            </a:r>
          </a:p>
        </p:txBody>
      </p:sp>
      <p:sp>
        <p:nvSpPr>
          <p:cNvPr id="22" name="Rectangle 21"/>
          <p:cNvSpPr/>
          <p:nvPr/>
        </p:nvSpPr>
        <p:spPr>
          <a:xfrm>
            <a:off x="7332133" y="4978400"/>
            <a:ext cx="3081866" cy="889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535333" y="5156200"/>
            <a:ext cx="2675466" cy="203200"/>
          </a:xfrm>
          <a:prstGeom prst="rect">
            <a:avLst/>
          </a:prstGeom>
          <a:noFill/>
        </p:spPr>
        <p:txBody>
          <a:bodyPr wrap="square" lIns="0" tIns="0" rIns="0" bIns="0" anchor="t">
            <a:spAutoFit/>
          </a:bodyPr>
          <a:lstStyle/>
          <a:p>
            <a:pPr algn="l"/>
            <a:r>
              <a:rPr sz="900" b="0" spc="80">
                <a:solidFill>
                  <a:srgbClr val="587579"/>
                </a:solidFill>
                <a:latin typeface="Raleway Medium"/>
              </a:rPr>
              <a:t>INDEPENDENCIA</a:t>
            </a:r>
          </a:p>
        </p:txBody>
      </p:sp>
      <p:sp>
        <p:nvSpPr>
          <p:cNvPr id="24" name="TextBox 23"/>
          <p:cNvSpPr txBox="1"/>
          <p:nvPr/>
        </p:nvSpPr>
        <p:spPr>
          <a:xfrm>
            <a:off x="7535333" y="5410200"/>
            <a:ext cx="2675466" cy="355600"/>
          </a:xfrm>
          <a:prstGeom prst="rect">
            <a:avLst/>
          </a:prstGeom>
          <a:noFill/>
        </p:spPr>
        <p:txBody>
          <a:bodyPr wrap="square" lIns="0" tIns="0" rIns="0" bIns="0" anchor="t">
            <a:spAutoFit/>
          </a:bodyPr>
          <a:lstStyle/>
          <a:p>
            <a:pPr algn="l"/>
            <a:r>
              <a:rPr sz="1000" b="0">
                <a:solidFill>
                  <a:srgbClr val="202031"/>
                </a:solidFill>
                <a:latin typeface="Raleway"/>
              </a:rPr>
              <a:t>Decimos lo que vemos.</a:t>
            </a:r>
          </a:p>
        </p:txBody>
      </p:sp>
      <p:sp>
        <p:nvSpPr>
          <p:cNvPr id="25" name="TextBox 24"/>
          <p:cNvSpPr txBox="1"/>
          <p:nvPr/>
        </p:nvSpPr>
        <p:spPr>
          <a:xfrm>
            <a:off x="762000" y="6477000"/>
            <a:ext cx="3810000" cy="203200"/>
          </a:xfrm>
          <a:prstGeom prst="rect">
            <a:avLst/>
          </a:prstGeom>
          <a:noFill/>
        </p:spPr>
        <p:txBody>
          <a:bodyPr wrap="square" lIns="0" tIns="0" rIns="0" bIns="0" anchor="t">
            <a:spAutoFit/>
          </a:bodyPr>
          <a:lstStyle/>
          <a:p>
            <a:pPr algn="l"/>
            <a:r>
              <a:rPr sz="900" b="0">
                <a:solidFill>
                  <a:srgbClr val="587579"/>
                </a:solidFill>
                <a:latin typeface="Raleway"/>
              </a:rPr>
              <a:t>tesseraservices.com</a:t>
            </a:r>
          </a:p>
        </p:txBody>
      </p:sp>
      <p:sp>
        <p:nvSpPr>
          <p:cNvPr id="26" name="TextBox 25"/>
          <p:cNvSpPr txBox="1"/>
          <p:nvPr/>
        </p:nvSpPr>
        <p:spPr>
          <a:xfrm>
            <a:off x="10668000" y="6400800"/>
            <a:ext cx="762000" cy="330200"/>
          </a:xfrm>
          <a:prstGeom prst="rect">
            <a:avLst/>
          </a:prstGeom>
          <a:noFill/>
        </p:spPr>
        <p:txBody>
          <a:bodyPr wrap="square" lIns="0" tIns="0" rIns="0" bIns="0" anchor="t">
            <a:spAutoFit/>
          </a:bodyPr>
          <a:lstStyle/>
          <a:p>
            <a:pPr algn="r"/>
            <a:r>
              <a:rPr sz="1600" b="0">
                <a:solidFill>
                  <a:srgbClr val="202031"/>
                </a:solidFill>
                <a:latin typeface="Manrope Medium"/>
              </a:rPr>
              <a:t>07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spAutoFit/>
          </a:bodyPr>
          <a:lstStyle/>
          <a:p>
            <a:pPr algn="r"/>
            <a:r>
              <a:rPr sz="1000" b="0" spc="120">
                <a:solidFill>
                  <a:srgbClr val="587579"/>
                </a:solidFill>
                <a:latin typeface="Raleway Medium"/>
              </a:rPr>
              <a:t>TÉRMINOS Y CONDICIONES</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889000"/>
            <a:ext cx="8890000" cy="508000"/>
          </a:xfrm>
          <a:prstGeom prst="rect">
            <a:avLst/>
          </a:prstGeom>
          <a:noFill/>
        </p:spPr>
        <p:txBody>
          <a:bodyPr wrap="square" lIns="0" tIns="0" rIns="0" bIns="0" anchor="t">
            <a:spAutoFit/>
          </a:bodyPr>
          <a:lstStyle/>
          <a:p>
            <a:pPr algn="l"/>
            <a:r>
              <a:rPr sz="2800" b="0">
                <a:solidFill>
                  <a:srgbClr val="202031"/>
                </a:solidFill>
                <a:latin typeface="Raleway Light"/>
              </a:rPr>
              <a:t>Términos y condiciones</a:t>
            </a:r>
          </a:p>
        </p:txBody>
      </p:sp>
      <p:sp>
        <p:nvSpPr>
          <p:cNvPr id="6" name="TextBox 5"/>
          <p:cNvSpPr txBox="1"/>
          <p:nvPr/>
        </p:nvSpPr>
        <p:spPr>
          <a:xfrm>
            <a:off x="762000" y="6477000"/>
            <a:ext cx="3810000" cy="203200"/>
          </a:xfrm>
          <a:prstGeom prst="rect">
            <a:avLst/>
          </a:prstGeom>
          <a:noFill/>
        </p:spPr>
        <p:txBody>
          <a:bodyPr wrap="square" lIns="0" tIns="0" rIns="0" bIns="0" anchor="t">
            <a:spAutoFit/>
          </a:bodyPr>
          <a:lstStyle/>
          <a:p>
            <a:pPr algn="l"/>
            <a:r>
              <a:rPr sz="900" b="0">
                <a:solidFill>
                  <a:srgbClr val="587579"/>
                </a:solidFill>
                <a:latin typeface="Raleway"/>
              </a:rPr>
              <a:t>tesseraservices.com</a:t>
            </a:r>
          </a:p>
        </p:txBody>
      </p:sp>
      <p:sp>
        <p:nvSpPr>
          <p:cNvPr id="7" name="TextBox 6"/>
          <p:cNvSpPr txBox="1"/>
          <p:nvPr/>
        </p:nvSpPr>
        <p:spPr>
          <a:xfrm>
            <a:off x="10668000" y="6400800"/>
            <a:ext cx="762000" cy="330200"/>
          </a:xfrm>
          <a:prstGeom prst="rect">
            <a:avLst/>
          </a:prstGeom>
          <a:noFill/>
        </p:spPr>
        <p:txBody>
          <a:bodyPr wrap="square" lIns="0" tIns="0" rIns="0" bIns="0" anchor="t">
            <a:spAutoFit/>
          </a:bodyPr>
          <a:lstStyle/>
          <a:p>
            <a:pPr algn="r"/>
            <a:r>
              <a:rPr sz="1600" b="0">
                <a:solidFill>
                  <a:srgbClr val="202031"/>
                </a:solidFill>
                <a:latin typeface="Manrope Medium"/>
              </a:rPr>
              <a:t>10</a:t>
            </a:r>
          </a:p>
        </p:txBody>
      </p:sp>
      <p:sp>
        <p:nvSpPr>
          <p:cNvPr id="8" name="TextBox 7"/>
          <p:cNvSpPr txBox="1"/>
          <p:nvPr/>
        </p:nvSpPr>
        <p:spPr>
          <a:xfrm>
            <a:off x="762000" y="1422400"/>
            <a:ext cx="8890000" cy="203200"/>
          </a:xfrm>
          <a:prstGeom prst="rect">
            <a:avLst/>
          </a:prstGeom>
          <a:noFill/>
        </p:spPr>
        <p:txBody>
          <a:bodyPr wrap="square" lIns="0" tIns="0" rIns="0" bIns="0" anchor="t">
            <a:spAutoFit/>
          </a:bodyPr>
          <a:lstStyle/>
          <a:p>
            <a:pPr algn="l"/>
            <a:r>
              <a:rPr sz="950" b="0" spc="80">
                <a:solidFill>
                  <a:srgbClr val="587579"/>
                </a:solidFill>
                <a:latin typeface="Raleway Medium"/>
              </a:rPr>
              <a:t>CONDICIONES SUBYACENTES DE LA PROPUESTA</a:t>
            </a:r>
          </a:p>
        </p:txBody>
      </p:sp>
      <p:sp>
        <p:nvSpPr>
          <p:cNvPr id="9" name="TextBox 8"/>
          <p:cNvSpPr txBox="1"/>
          <p:nvPr/>
        </p:nvSpPr>
        <p:spPr>
          <a:xfrm>
            <a:off x="762000" y="1778000"/>
            <a:ext cx="4572000" cy="4445000"/>
          </a:xfrm>
          <a:prstGeom prst="rect">
            <a:avLst/>
          </a:prstGeom>
          <a:noFill/>
        </p:spPr>
        <p:txBody>
          <a:bodyPr wrap="square" lIns="0" tIns="0" rIns="0" bIns="0" anchor="t">
            <a:spAutoFit/>
          </a:bodyPr>
          <a:lstStyle/>
          <a:p>
            <a:pPr algn="l">
              <a:lnSpc>
                <a:spcPct val="108000"/>
              </a:lnSpc>
              <a:spcAft>
                <a:spcPts val="400"/>
              </a:spcAft>
            </a:pPr>
            <a:r>
              <a:rPr sz="730" b="0">
                <a:solidFill>
                  <a:srgbClr val="202031"/>
                </a:solidFill>
                <a:latin typeface="Raleway"/>
              </a:rPr>
              <a:t>Las presentes condiciones generales se aplican a cualquier servicio profesional prestado entre las partes y son adicionales a cualquier acuerdo específico suscrito, el cual prevalecerá sobre estas en caso de discrepancia. En este documento: (i) «Tessera» significa Tessera Human Capital, S.L.; (ii) «Cliente» es el destinatario de la Propuesta y (iii) «Servicios» son los servicios profesionales cubiertos por la Propuesta.</a:t>
            </a:r>
          </a:p>
          <a:p>
            <a:pPr>
              <a:lnSpc>
                <a:spcPct val="108000"/>
              </a:lnSpc>
              <a:spcAft>
                <a:spcPts val="400"/>
              </a:spcAft>
            </a:pPr>
            <a:r>
              <a:rPr sz="900" b="0">
                <a:solidFill>
                  <a:srgbClr val="587579"/>
                </a:solidFill>
                <a:latin typeface="Raleway SemiBold"/>
              </a:rPr>
              <a:t>1. CONFIDENCIALIDAD</a:t>
            </a:r>
          </a:p>
          <a:p>
            <a:pPr>
              <a:lnSpc>
                <a:spcPct val="108000"/>
              </a:lnSpc>
              <a:spcAft>
                <a:spcPts val="400"/>
              </a:spcAft>
            </a:pPr>
            <a:r>
              <a:rPr sz="730" b="0">
                <a:solidFill>
                  <a:srgbClr val="202031"/>
                </a:solidFill>
                <a:latin typeface="Raleway"/>
              </a:rPr>
              <a:t>Toda la información relativa a la empresa cliente, sus miembros y los candidatos presentados o contactados será tratada por ambas partes con la máxima confidencialidad, manteniendo la obligación de secreto profesional sobre toda dicha información y, en particular, sobre los datos personales de los candidatos, incluso una vez finalizado este acuerdo, todo ello de conformidad con la legislación española.</a:t>
            </a:r>
          </a:p>
          <a:p>
            <a:pPr>
              <a:lnSpc>
                <a:spcPct val="108000"/>
              </a:lnSpc>
              <a:spcAft>
                <a:spcPts val="400"/>
              </a:spcAft>
            </a:pPr>
            <a:r>
              <a:rPr sz="730" b="0">
                <a:solidFill>
                  <a:srgbClr val="202031"/>
                </a:solidFill>
                <a:latin typeface="Raleway"/>
              </a:rPr>
              <a:t>Ambas partes se comprometen mutuamente a mantener la confidencialidad y a no revelar a terceros ninguna información confidencial facilitada por la otra parte, durante la vigencia de este acuerdo y con posterioridad al mismo. Este compromiso no impedirá a Tessera Human Capital hacer referencia a los servicios prestados al Cliente y al propio Cliente como parte de su cartera de clientes, con fines publicitarios y de marketing.</a:t>
            </a:r>
          </a:p>
          <a:p>
            <a:pPr>
              <a:lnSpc>
                <a:spcPct val="108000"/>
              </a:lnSpc>
              <a:spcAft>
                <a:spcPts val="400"/>
              </a:spcAft>
            </a:pPr>
            <a:r>
              <a:rPr sz="900" b="0">
                <a:solidFill>
                  <a:srgbClr val="587579"/>
                </a:solidFill>
                <a:latin typeface="Raleway SemiBold"/>
              </a:rPr>
              <a:t>2. CANDIDATURAS</a:t>
            </a:r>
          </a:p>
          <a:p>
            <a:pPr>
              <a:lnSpc>
                <a:spcPct val="108000"/>
              </a:lnSpc>
              <a:spcAft>
                <a:spcPts val="400"/>
              </a:spcAft>
            </a:pPr>
            <a:r>
              <a:rPr sz="900" b="0">
                <a:solidFill>
                  <a:srgbClr val="587579"/>
                </a:solidFill>
                <a:latin typeface="Raleway SemiBold"/>
              </a:rPr>
              <a:t>2.1 Todos los candidatos identificados y presentados por Tessera Human Capital al cliente quedarán reservados exclusivamente para la presente selección. Si alguno de dichos candidatos fuera contratado por el cliente en un puesto correspondiente al encargo, o en otro puesto, o en otra empresa del grupo, dentro de un plazo de 12 meses tras la presentación del candidato, el cliente deberá abonar a Tessera Human Capital el importe previsto para la contratación inicial, o la totalidad de los honorarios calculados sobre la retribución bruta anual, incluidas las retribuciones en especie.</a:t>
            </a:r>
          </a:p>
          <a:p>
            <a:pPr>
              <a:lnSpc>
                <a:spcPct val="108000"/>
              </a:lnSpc>
              <a:spcAft>
                <a:spcPts val="400"/>
              </a:spcAft>
            </a:pPr>
            <a:r>
              <a:rPr sz="900" b="0">
                <a:solidFill>
                  <a:srgbClr val="587579"/>
                </a:solidFill>
                <a:latin typeface="Raleway SemiBold"/>
              </a:rPr>
              <a:t>2.2 Esta cláusula se aplica en los mismos términos si el cliente presenta a alguno de estos candidatos a otra persona física o jurídica y si el candidato se compromete con dicha persona.</a:t>
            </a:r>
          </a:p>
        </p:txBody>
      </p:sp>
      <p:sp>
        <p:nvSpPr>
          <p:cNvPr id="10" name="TextBox 9"/>
          <p:cNvSpPr txBox="1"/>
          <p:nvPr/>
        </p:nvSpPr>
        <p:spPr>
          <a:xfrm>
            <a:off x="5842000" y="1778000"/>
            <a:ext cx="4572000" cy="4445000"/>
          </a:xfrm>
          <a:prstGeom prst="rect">
            <a:avLst/>
          </a:prstGeom>
          <a:noFill/>
        </p:spPr>
        <p:txBody>
          <a:bodyPr wrap="square" lIns="0" tIns="0" rIns="0" bIns="0" anchor="t">
            <a:spAutoFit/>
          </a:bodyPr>
          <a:lstStyle/>
          <a:p>
            <a:pPr algn="l">
              <a:lnSpc>
                <a:spcPct val="108000"/>
              </a:lnSpc>
              <a:spcAft>
                <a:spcPts val="400"/>
              </a:spcAft>
            </a:pPr>
            <a:r>
              <a:rPr sz="900" b="0">
                <a:solidFill>
                  <a:srgbClr val="587579"/>
                </a:solidFill>
                <a:latin typeface="Raleway SemiBold"/>
              </a:rPr>
              <a:t>3. GARANTÍA</a:t>
            </a:r>
          </a:p>
          <a:p>
            <a:pPr>
              <a:lnSpc>
                <a:spcPct val="108000"/>
              </a:lnSpc>
              <a:spcAft>
                <a:spcPts val="400"/>
              </a:spcAft>
            </a:pPr>
            <a:r>
              <a:rPr sz="730" b="0">
                <a:solidFill>
                  <a:srgbClr val="202031"/>
                </a:solidFill>
                <a:latin typeface="Raleway"/>
              </a:rPr>
              <a:t>Si el candidato o el cliente rescinde el contrato de trabajo dentro de los 3 meses siguientes a la fecha de contratación, Tessera Human Capital se compromete a proporcionar otro candidato y/o a activar otro proceso de selección, a elección del cliente, con el fin de sustituir al candidato sin coste adicional.</a:t>
            </a:r>
          </a:p>
          <a:p>
            <a:pPr>
              <a:lnSpc>
                <a:spcPct val="108000"/>
              </a:lnSpc>
              <a:spcAft>
                <a:spcPts val="400"/>
              </a:spcAft>
            </a:pPr>
            <a:r>
              <a:rPr sz="730" b="0">
                <a:solidFill>
                  <a:srgbClr val="202031"/>
                </a:solidFill>
                <a:latin typeface="Raleway"/>
              </a:rPr>
              <a:t>Esta garantía podrá aplicarse salvo en los siguientes casos:</a:t>
            </a:r>
          </a:p>
          <a:p>
            <a:pPr>
              <a:lnSpc>
                <a:spcPct val="108000"/>
              </a:lnSpc>
              <a:spcAft>
                <a:spcPts val="400"/>
              </a:spcAft>
            </a:pPr>
            <a:r>
              <a:rPr sz="900" b="0">
                <a:solidFill>
                  <a:srgbClr val="587579"/>
                </a:solidFill>
                <a:latin typeface="Raleway SemiBold"/>
              </a:rPr>
              <a:t>3.1 Si la rescisión del contrato de trabajo se debe a un exceso de plantilla o a un cambio geográfico inicialmente no previsto.</a:t>
            </a:r>
          </a:p>
          <a:p>
            <a:pPr>
              <a:lnSpc>
                <a:spcPct val="108000"/>
              </a:lnSpc>
              <a:spcAft>
                <a:spcPts val="400"/>
              </a:spcAft>
            </a:pPr>
            <a:r>
              <a:rPr sz="900" b="0">
                <a:solidFill>
                  <a:srgbClr val="587579"/>
                </a:solidFill>
                <a:latin typeface="Raleway SemiBold"/>
              </a:rPr>
              <a:t>3.2 Si las condiciones laborales del candidato contratado difieren significativamente de las inicialmente definidas en el contrato de trabajo.</a:t>
            </a:r>
          </a:p>
          <a:p>
            <a:pPr>
              <a:lnSpc>
                <a:spcPct val="108000"/>
              </a:lnSpc>
              <a:spcAft>
                <a:spcPts val="400"/>
              </a:spcAft>
            </a:pPr>
            <a:r>
              <a:rPr sz="900" b="0">
                <a:solidFill>
                  <a:srgbClr val="587579"/>
                </a:solidFill>
                <a:latin typeface="Raleway SemiBold"/>
              </a:rPr>
              <a:t>3.3 Si la rescisión del contrato de trabajo se debe a una falta grave por parte de la empresa contratante.</a:t>
            </a:r>
          </a:p>
          <a:p>
            <a:pPr>
              <a:lnSpc>
                <a:spcPct val="108000"/>
              </a:lnSpc>
              <a:spcAft>
                <a:spcPts val="400"/>
              </a:spcAft>
            </a:pPr>
            <a:r>
              <a:rPr sz="900" b="0">
                <a:solidFill>
                  <a:srgbClr val="587579"/>
                </a:solidFill>
                <a:latin typeface="Raleway SemiBold"/>
              </a:rPr>
              <a:t>3.4 Si no se han abonado todas las facturas adeudadas por el cliente dentro de los plazos establecidos y conforme a las condiciones generales.</a:t>
            </a:r>
          </a:p>
          <a:p>
            <a:pPr>
              <a:lnSpc>
                <a:spcPct val="108000"/>
              </a:lnSpc>
              <a:spcAft>
                <a:spcPts val="400"/>
              </a:spcAft>
            </a:pPr>
            <a:r>
              <a:rPr sz="730" b="0">
                <a:solidFill>
                  <a:srgbClr val="202031"/>
                </a:solidFill>
                <a:latin typeface="Raleway"/>
              </a:rPr>
              <a:t>Si el candidato abandona la empresa transcurridos 6 meses desde la fecha de contratación (periodo de prueba), Tessera Human Capital no se hace responsable y, por tanto, no tiene obligación de cubrir el puesto.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spAutoFit/>
          </a:bodyPr>
          <a:lstStyle/>
          <a:p>
            <a:pPr algn="r"/>
            <a:r>
              <a:rPr sz="1000" b="0" spc="120">
                <a:solidFill>
                  <a:srgbClr val="587579"/>
                </a:solidFill>
                <a:latin typeface="Raleway Medium"/>
              </a:rPr>
              <a:t>TÉRMINOS Y CONDICIONES</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889000"/>
            <a:ext cx="8890000" cy="508000"/>
          </a:xfrm>
          <a:prstGeom prst="rect">
            <a:avLst/>
          </a:prstGeom>
          <a:noFill/>
        </p:spPr>
        <p:txBody>
          <a:bodyPr wrap="square" lIns="0" tIns="0" rIns="0" bIns="0" anchor="t">
            <a:spAutoFit/>
          </a:bodyPr>
          <a:lstStyle/>
          <a:p>
            <a:pPr algn="l"/>
            <a:r>
              <a:rPr sz="2800" b="0">
                <a:solidFill>
                  <a:srgbClr val="202031"/>
                </a:solidFill>
                <a:latin typeface="Raleway Light"/>
              </a:rPr>
              <a:t>Términos y condiciones</a:t>
            </a:r>
          </a:p>
        </p:txBody>
      </p:sp>
      <p:sp>
        <p:nvSpPr>
          <p:cNvPr id="6" name="TextBox 5"/>
          <p:cNvSpPr txBox="1"/>
          <p:nvPr/>
        </p:nvSpPr>
        <p:spPr>
          <a:xfrm>
            <a:off x="762000" y="6477000"/>
            <a:ext cx="3810000" cy="203200"/>
          </a:xfrm>
          <a:prstGeom prst="rect">
            <a:avLst/>
          </a:prstGeom>
          <a:noFill/>
        </p:spPr>
        <p:txBody>
          <a:bodyPr wrap="square" lIns="0" tIns="0" rIns="0" bIns="0" anchor="t">
            <a:spAutoFit/>
          </a:bodyPr>
          <a:lstStyle/>
          <a:p>
            <a:pPr algn="l"/>
            <a:r>
              <a:rPr sz="900" b="0">
                <a:solidFill>
                  <a:srgbClr val="587579"/>
                </a:solidFill>
                <a:latin typeface="Raleway"/>
              </a:rPr>
              <a:t>tesseraservices.com</a:t>
            </a:r>
          </a:p>
        </p:txBody>
      </p:sp>
      <p:sp>
        <p:nvSpPr>
          <p:cNvPr id="7" name="TextBox 6"/>
          <p:cNvSpPr txBox="1"/>
          <p:nvPr/>
        </p:nvSpPr>
        <p:spPr>
          <a:xfrm>
            <a:off x="10668000" y="6400800"/>
            <a:ext cx="762000" cy="330200"/>
          </a:xfrm>
          <a:prstGeom prst="rect">
            <a:avLst/>
          </a:prstGeom>
          <a:noFill/>
        </p:spPr>
        <p:txBody>
          <a:bodyPr wrap="square" lIns="0" tIns="0" rIns="0" bIns="0" anchor="t">
            <a:spAutoFit/>
          </a:bodyPr>
          <a:lstStyle/>
          <a:p>
            <a:pPr algn="r"/>
            <a:r>
              <a:rPr sz="1600" b="0">
                <a:solidFill>
                  <a:srgbClr val="202031"/>
                </a:solidFill>
                <a:latin typeface="Manrope Medium"/>
              </a:rPr>
              <a:t>11</a:t>
            </a:r>
          </a:p>
        </p:txBody>
      </p:sp>
      <p:sp>
        <p:nvSpPr>
          <p:cNvPr id="8" name="TextBox 7"/>
          <p:cNvSpPr txBox="1"/>
          <p:nvPr/>
        </p:nvSpPr>
        <p:spPr>
          <a:xfrm>
            <a:off x="762000" y="1778000"/>
            <a:ext cx="4572000" cy="4445000"/>
          </a:xfrm>
          <a:prstGeom prst="rect">
            <a:avLst/>
          </a:prstGeom>
          <a:noFill/>
        </p:spPr>
        <p:txBody>
          <a:bodyPr wrap="square" lIns="0" tIns="0" rIns="0" bIns="0" anchor="t">
            <a:spAutoFit/>
          </a:bodyPr>
          <a:lstStyle/>
          <a:p>
            <a:pPr algn="l">
              <a:lnSpc>
                <a:spcPct val="108000"/>
              </a:lnSpc>
              <a:spcAft>
                <a:spcPts val="400"/>
              </a:spcAft>
            </a:pPr>
            <a:r>
              <a:rPr sz="900" b="0">
                <a:solidFill>
                  <a:srgbClr val="587579"/>
                </a:solidFill>
                <a:latin typeface="Raleway SemiBold"/>
              </a:rPr>
              <a:t>.4. RESPONSABILIDAD</a:t>
            </a:r>
          </a:p>
          <a:p>
            <a:pPr>
              <a:lnSpc>
                <a:spcPct val="108000"/>
              </a:lnSpc>
              <a:spcAft>
                <a:spcPts val="400"/>
              </a:spcAft>
            </a:pPr>
            <a:r>
              <a:rPr sz="730" b="0">
                <a:solidFill>
                  <a:srgbClr val="202031"/>
                </a:solidFill>
                <a:latin typeface="Raleway"/>
              </a:rPr>
              <a:t>Las siguientes aclaraciones legales no excluyen nuestras condiciones de garantía, que permanecen válidas conforme a los términos definidos en el apartado 3.</a:t>
            </a:r>
          </a:p>
          <a:p>
            <a:pPr>
              <a:lnSpc>
                <a:spcPct val="108000"/>
              </a:lnSpc>
              <a:spcAft>
                <a:spcPts val="400"/>
              </a:spcAft>
            </a:pPr>
            <a:r>
              <a:rPr sz="730" b="0">
                <a:solidFill>
                  <a:srgbClr val="202031"/>
                </a:solidFill>
                <a:latin typeface="Raleway"/>
              </a:rPr>
              <a:t>4.1 Tessera Human Capital se compromete a prestar un servicio de calidad y garantiza, como mínimo, la devolución de las cantidades abonadas en aquellos casos en los que hubiera advertido al cliente de un incumplimiento grave y directo de sus obligaciones.</a:t>
            </a:r>
          </a:p>
          <a:p>
            <a:pPr>
              <a:lnSpc>
                <a:spcPct val="108000"/>
              </a:lnSpc>
              <a:spcAft>
                <a:spcPts val="400"/>
              </a:spcAft>
            </a:pPr>
            <a:r>
              <a:rPr sz="730" b="0">
                <a:solidFill>
                  <a:srgbClr val="202031"/>
                </a:solidFill>
                <a:latin typeface="Raleway"/>
              </a:rPr>
              <a:t>4.2 Sin perjuicio de lo anterior, salvo en caso de dolo, Tessera Human Capital no asume responsabilidad alguna, ni tampoco su personal, por cualquier negligencia o incapacidad, mala conducta o práctica inadecuada o cualquier otra reclamación atribuida a los candidatos presentados.</a:t>
            </a:r>
          </a:p>
          <a:p>
            <a:pPr>
              <a:lnSpc>
                <a:spcPct val="108000"/>
              </a:lnSpc>
              <a:spcAft>
                <a:spcPts val="400"/>
              </a:spcAft>
            </a:pPr>
            <a:r>
              <a:rPr sz="900" b="0">
                <a:solidFill>
                  <a:srgbClr val="587579"/>
                </a:solidFill>
                <a:latin typeface="Raleway SemiBold"/>
              </a:rPr>
              <a:t>.5. PROTECCIÓN DE DATOS</a:t>
            </a:r>
          </a:p>
          <a:p>
            <a:pPr>
              <a:lnSpc>
                <a:spcPct val="108000"/>
              </a:lnSpc>
              <a:spcAft>
                <a:spcPts val="400"/>
              </a:spcAft>
            </a:pPr>
            <a:r>
              <a:rPr sz="730" b="0">
                <a:solidFill>
                  <a:srgbClr val="202031"/>
                </a:solidFill>
                <a:latin typeface="Raleway"/>
              </a:rPr>
              <a:t>Ambas partes reconocen que cumplen con la normativa de protección de datos personales y han sido informadas de las finalidades del tratamiento de los datos facilitados en esta oferta comercial, basadas en el interés legítimo de ambas partes. Cualquier cuestión relativa al tratamiento de datos podrá dirigirse a Tessera Human Capital.</a:t>
            </a:r>
          </a:p>
          <a:p>
            <a:pPr>
              <a:lnSpc>
                <a:spcPct val="108000"/>
              </a:lnSpc>
              <a:spcAft>
                <a:spcPts val="400"/>
              </a:spcAft>
            </a:pPr>
            <a:r>
              <a:rPr sz="730" b="0">
                <a:solidFill>
                  <a:srgbClr val="202031"/>
                </a:solidFill>
                <a:latin typeface="Raleway"/>
              </a:rPr>
              <a:t>La cesión de los CV se realiza exclusivamente en el marco de la selección contratada; una vez finalizada, el cliente se compromete a devolverlos o destruirlos, a la confidencialidad de los datos personales facilitados, a su no utilización fuera de la relación contractual y al cumplimiento del RGPD, siendo el único responsable de cualquier incumplimiento de dicha normativa.</a:t>
            </a:r>
          </a:p>
          <a:p>
            <a:pPr>
              <a:lnSpc>
                <a:spcPct val="108000"/>
              </a:lnSpc>
              <a:spcAft>
                <a:spcPts val="400"/>
              </a:spcAft>
            </a:pPr>
            <a:r>
              <a:rPr sz="730" b="0">
                <a:solidFill>
                  <a:srgbClr val="202031"/>
                </a:solidFill>
                <a:latin typeface="Raleway"/>
              </a:rPr>
              <a:t>Tessera Human Capital, por su parte, garantiza que cuenta con el consentimiento de los candidatos para la cesión de sus datos a sus clientes durante los procesos de selección de personal.</a:t>
            </a:r>
          </a:p>
        </p:txBody>
      </p:sp>
      <p:sp>
        <p:nvSpPr>
          <p:cNvPr id="9" name="TextBox 8"/>
          <p:cNvSpPr txBox="1"/>
          <p:nvPr/>
        </p:nvSpPr>
        <p:spPr>
          <a:xfrm>
            <a:off x="5842000" y="1778000"/>
            <a:ext cx="4572000" cy="2159000"/>
          </a:xfrm>
          <a:prstGeom prst="rect">
            <a:avLst/>
          </a:prstGeom>
          <a:noFill/>
        </p:spPr>
        <p:txBody>
          <a:bodyPr wrap="square" lIns="0" tIns="0" rIns="0" bIns="0" anchor="t">
            <a:spAutoFit/>
          </a:bodyPr>
          <a:lstStyle/>
          <a:p>
            <a:pPr algn="l">
              <a:lnSpc>
                <a:spcPct val="108000"/>
              </a:lnSpc>
              <a:spcAft>
                <a:spcPts val="400"/>
              </a:spcAft>
            </a:pPr>
            <a:r>
              <a:rPr sz="900" b="0">
                <a:solidFill>
                  <a:srgbClr val="587579"/>
                </a:solidFill>
                <a:latin typeface="Raleway SemiBold"/>
              </a:rPr>
              <a:t>6. LEY APLICABLE Y JURISDICCIÓN</a:t>
            </a:r>
          </a:p>
          <a:p>
            <a:pPr>
              <a:lnSpc>
                <a:spcPct val="108000"/>
              </a:lnSpc>
              <a:spcAft>
                <a:spcPts val="400"/>
              </a:spcAft>
            </a:pPr>
            <a:r>
              <a:rPr sz="730" b="0">
                <a:solidFill>
                  <a:srgbClr val="202031"/>
                </a:solidFill>
                <a:latin typeface="Raleway"/>
              </a:rPr>
              <a:t>Este acuerdo se regirá e interpretará de conformidad con la legislación española. Para la resolución de cualquier controversia derivada de la interpretación o ejecución de este acuerdo, las partes acuerdan someterse a la jurisdicción de los Juzgados y Tribunales de Madrid, renunciando expresamente a cualquier otro fuero que pudiera corresponderles.</a:t>
            </a:r>
          </a:p>
          <a:p>
            <a:pPr>
              <a:lnSpc>
                <a:spcPct val="108000"/>
              </a:lnSpc>
              <a:spcAft>
                <a:spcPts val="400"/>
              </a:spcAft>
            </a:pPr>
            <a:r>
              <a:rPr sz="900" b="0">
                <a:solidFill>
                  <a:srgbClr val="587579"/>
                </a:solidFill>
                <a:latin typeface="Raleway SemiBold"/>
              </a:rPr>
              <a:t>7. VIGENCIA DE ESTE ACUERDO</a:t>
            </a:r>
          </a:p>
          <a:p>
            <a:pPr>
              <a:lnSpc>
                <a:spcPct val="108000"/>
              </a:lnSpc>
              <a:spcAft>
                <a:spcPts val="400"/>
              </a:spcAft>
            </a:pPr>
            <a:r>
              <a:rPr sz="730" b="0">
                <a:solidFill>
                  <a:srgbClr val="202031"/>
                </a:solidFill>
                <a:latin typeface="Raleway"/>
              </a:rPr>
              <a:t>Este acuerdo entrará en vigor desde la fecha de su firma, con fecha de finalización en mayo de 2026.</a:t>
            </a:r>
          </a:p>
          <a:p>
            <a:pPr>
              <a:lnSpc>
                <a:spcPct val="108000"/>
              </a:lnSpc>
              <a:spcAft>
                <a:spcPts val="400"/>
              </a:spcAft>
            </a:pPr>
            <a:r>
              <a:rPr sz="900" b="0">
                <a:solidFill>
                  <a:srgbClr val="587579"/>
                </a:solidFill>
                <a:latin typeface="Raleway SemiBold"/>
              </a:rPr>
              <a:t>8. FIRMA DEL ACUERDO DE COLABORACIÓN</a:t>
            </a:r>
          </a:p>
          <a:p>
            <a:pPr>
              <a:lnSpc>
                <a:spcPct val="108000"/>
              </a:lnSpc>
              <a:spcAft>
                <a:spcPts val="400"/>
              </a:spcAft>
            </a:pPr>
            <a:r>
              <a:rPr sz="730" b="0">
                <a:solidFill>
                  <a:srgbClr val="202031"/>
                </a:solidFill>
                <a:latin typeface="Raleway"/>
              </a:rPr>
              <a:t>En Madrid, a {dd/mm/aaaa}</a:t>
            </a:r>
          </a:p>
        </p:txBody>
      </p:sp>
      <p:sp>
        <p:nvSpPr>
          <p:cNvPr id="10" name="Rectangle 9"/>
          <p:cNvSpPr/>
          <p:nvPr/>
        </p:nvSpPr>
        <p:spPr>
          <a:xfrm>
            <a:off x="5842000" y="4191000"/>
            <a:ext cx="4572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842000" y="4343400"/>
            <a:ext cx="2540000" cy="203200"/>
          </a:xfrm>
          <a:prstGeom prst="rect">
            <a:avLst/>
          </a:prstGeom>
          <a:noFill/>
        </p:spPr>
        <p:txBody>
          <a:bodyPr wrap="square" lIns="0" tIns="0" rIns="0" bIns="0" anchor="t">
            <a:spAutoFit/>
          </a:bodyPr>
          <a:lstStyle/>
          <a:p>
            <a:pPr algn="l"/>
            <a:r>
              <a:rPr sz="950" b="0" spc="80">
                <a:solidFill>
                  <a:srgbClr val="587579"/>
                </a:solidFill>
                <a:latin typeface="Raleway Medium"/>
              </a:rPr>
              <a:t>FIRMA DE TESSERA</a:t>
            </a:r>
          </a:p>
        </p:txBody>
      </p:sp>
      <p:sp>
        <p:nvSpPr>
          <p:cNvPr id="12" name="TextBox 11"/>
          <p:cNvSpPr txBox="1"/>
          <p:nvPr/>
        </p:nvSpPr>
        <p:spPr>
          <a:xfrm>
            <a:off x="5842000" y="4622800"/>
            <a:ext cx="4572000" cy="889000"/>
          </a:xfrm>
          <a:prstGeom prst="rect">
            <a:avLst/>
          </a:prstGeom>
          <a:noFill/>
        </p:spPr>
        <p:txBody>
          <a:bodyPr wrap="square" lIns="0" tIns="0" rIns="0" bIns="0" anchor="t">
            <a:spAutoFit/>
          </a:bodyPr>
          <a:lstStyle/>
          <a:p>
            <a:pPr algn="l">
              <a:lnSpc>
                <a:spcPct val="130000"/>
              </a:lnSpc>
              <a:spcAft>
                <a:spcPts val="400"/>
              </a:spcAft>
            </a:pPr>
            <a:r>
              <a:rPr sz="950" b="0">
                <a:solidFill>
                  <a:srgbClr val="202031"/>
                </a:solidFill>
                <a:latin typeface="Raleway"/>
              </a:rPr>
              <a:t>Nombre: Manuel García Pina</a:t>
            </a:r>
          </a:p>
          <a:p>
            <a:pPr algn="l">
              <a:lnSpc>
                <a:spcPct val="130000"/>
              </a:lnSpc>
              <a:spcAft>
                <a:spcPts val="400"/>
              </a:spcAft>
            </a:pPr>
            <a:r>
              <a:rPr sz="950" b="0">
                <a:solidFill>
                  <a:srgbClr val="202031"/>
                </a:solidFill>
                <a:latin typeface="Raleway"/>
              </a:rPr>
              <a:t>Fecha: {dd/mm/aaaa}</a:t>
            </a:r>
          </a:p>
          <a:p>
            <a:pPr algn="l">
              <a:lnSpc>
                <a:spcPct val="130000"/>
              </a:lnSpc>
              <a:spcAft>
                <a:spcPts val="400"/>
              </a:spcAft>
            </a:pPr>
            <a:r>
              <a:rPr sz="950" b="0">
                <a:solidFill>
                  <a:srgbClr val="202031"/>
                </a:solidFill>
                <a:latin typeface="Raleway"/>
              </a:rPr>
              <a:t>Firma:</a:t>
            </a:r>
          </a:p>
        </p:txBody>
      </p:sp>
      <p:sp>
        <p:nvSpPr>
          <p:cNvPr id="13" name="TextBox 12"/>
          <p:cNvSpPr txBox="1"/>
          <p:nvPr/>
        </p:nvSpPr>
        <p:spPr>
          <a:xfrm>
            <a:off x="5842000" y="5715000"/>
            <a:ext cx="2540000" cy="203200"/>
          </a:xfrm>
          <a:prstGeom prst="rect">
            <a:avLst/>
          </a:prstGeom>
          <a:noFill/>
        </p:spPr>
        <p:txBody>
          <a:bodyPr wrap="square" lIns="0" tIns="0" rIns="0" bIns="0" anchor="t">
            <a:spAutoFit/>
          </a:bodyPr>
          <a:lstStyle/>
          <a:p>
            <a:pPr algn="l"/>
            <a:r>
              <a:rPr sz="950" b="0" spc="80">
                <a:solidFill>
                  <a:srgbClr val="587579"/>
                </a:solidFill>
                <a:latin typeface="Raleway Medium"/>
              </a:rPr>
              <a:t>FIRMA DEL CLIENTE</a:t>
            </a:r>
          </a:p>
        </p:txBody>
      </p:sp>
      <p:sp>
        <p:nvSpPr>
          <p:cNvPr id="14" name="Rectangle 13"/>
          <p:cNvSpPr/>
          <p:nvPr/>
        </p:nvSpPr>
        <p:spPr>
          <a:xfrm>
            <a:off x="5842000" y="6350000"/>
            <a:ext cx="4572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spAutoFit/>
          </a:bodyPr>
          <a:lstStyle/>
          <a:p>
            <a:pPr algn="r"/>
            <a:r>
              <a:rPr sz="1000" b="0" spc="120">
                <a:solidFill>
                  <a:srgbClr val="587579"/>
                </a:solidFill>
                <a:latin typeface="Raleway Medium"/>
              </a:rPr>
              <a:t>HONORARIOS</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889000"/>
            <a:ext cx="9652000" cy="508000"/>
          </a:xfrm>
          <a:prstGeom prst="rect">
            <a:avLst/>
          </a:prstGeom>
          <a:noFill/>
        </p:spPr>
        <p:txBody>
          <a:bodyPr wrap="square" lIns="0" tIns="0" rIns="0" bIns="0" anchor="t">
            <a:spAutoFit/>
          </a:bodyPr>
          <a:lstStyle/>
          <a:p>
            <a:pPr algn="l"/>
            <a:r>
              <a:rPr sz="2400" b="0">
                <a:solidFill>
                  <a:srgbClr val="202031"/>
                </a:solidFill>
                <a:latin typeface="Raleway Light"/>
              </a:rPr>
              <a:t>El valor que aportamos a tu proyecto</a:t>
            </a:r>
          </a:p>
        </p:txBody>
      </p:sp>
      <p:sp>
        <p:nvSpPr>
          <p:cNvPr id="6" name="Rectangle 5"/>
          <p:cNvSpPr/>
          <p:nvPr/>
        </p:nvSpPr>
        <p:spPr>
          <a:xfrm>
            <a:off x="762000" y="1651000"/>
            <a:ext cx="3124200" cy="19050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90600" y="1803400"/>
            <a:ext cx="762000" cy="381000"/>
          </a:xfrm>
          <a:prstGeom prst="rect">
            <a:avLst/>
          </a:prstGeom>
          <a:noFill/>
        </p:spPr>
        <p:txBody>
          <a:bodyPr wrap="square" lIns="0" tIns="0" rIns="0" bIns="0" anchor="t">
            <a:spAutoFit/>
          </a:bodyPr>
          <a:lstStyle/>
          <a:p>
            <a:pPr algn="l"/>
            <a:r>
              <a:rPr sz="2000" b="0">
                <a:solidFill>
                  <a:srgbClr val="587579"/>
                </a:solidFill>
                <a:latin typeface="Manrope Medium"/>
              </a:rPr>
              <a:t>01</a:t>
            </a:r>
          </a:p>
        </p:txBody>
      </p:sp>
      <p:sp>
        <p:nvSpPr>
          <p:cNvPr id="8" name="TextBox 7"/>
          <p:cNvSpPr txBox="1"/>
          <p:nvPr/>
        </p:nvSpPr>
        <p:spPr>
          <a:xfrm>
            <a:off x="990600" y="2235200"/>
            <a:ext cx="2667000" cy="254000"/>
          </a:xfrm>
          <a:prstGeom prst="rect">
            <a:avLst/>
          </a:prstGeom>
          <a:noFill/>
        </p:spPr>
        <p:txBody>
          <a:bodyPr wrap="square" lIns="0" tIns="0" rIns="0" bIns="0" anchor="t">
            <a:spAutoFit/>
          </a:bodyPr>
          <a:lstStyle/>
          <a:p>
            <a:pPr algn="l"/>
            <a:r>
              <a:rPr sz="1200" b="0">
                <a:solidFill>
                  <a:srgbClr val="202031"/>
                </a:solidFill>
                <a:latin typeface="Raleway SemiBold"/>
              </a:rPr>
              <a:t>Experiencia Directa</a:t>
            </a:r>
          </a:p>
        </p:txBody>
      </p:sp>
      <p:sp>
        <p:nvSpPr>
          <p:cNvPr id="9" name="TextBox 8"/>
          <p:cNvSpPr txBox="1"/>
          <p:nvPr/>
        </p:nvSpPr>
        <p:spPr>
          <a:xfrm>
            <a:off x="990600" y="2514600"/>
            <a:ext cx="2667000" cy="914400"/>
          </a:xfrm>
          <a:prstGeom prst="rect">
            <a:avLst/>
          </a:prstGeom>
          <a:noFill/>
        </p:spPr>
        <p:txBody>
          <a:bodyPr wrap="square" lIns="0" tIns="0" rIns="0" bIns="0" anchor="t">
            <a:spAutoFit/>
          </a:bodyPr>
          <a:lstStyle/>
          <a:p>
            <a:pPr algn="l">
              <a:lnSpc>
                <a:spcPct val="120000"/>
              </a:lnSpc>
            </a:pPr>
            <a:r>
              <a:rPr sz="900" b="0">
                <a:solidFill>
                  <a:srgbClr val="202031"/>
                </a:solidFill>
                <a:latin typeface="Raleway"/>
              </a:rPr>
              <a:t>Entendemos tu entorno, lo que nos permite analizar con precisión las dinámicas de negocio y los aspectos críticos que impactan en tu crecimiento.</a:t>
            </a:r>
          </a:p>
        </p:txBody>
      </p:sp>
      <p:sp>
        <p:nvSpPr>
          <p:cNvPr id="10" name="Rectangle 9"/>
          <p:cNvSpPr/>
          <p:nvPr/>
        </p:nvSpPr>
        <p:spPr>
          <a:xfrm>
            <a:off x="4089400" y="1651000"/>
            <a:ext cx="3124200" cy="19050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18000" y="1803400"/>
            <a:ext cx="762000" cy="381000"/>
          </a:xfrm>
          <a:prstGeom prst="rect">
            <a:avLst/>
          </a:prstGeom>
          <a:noFill/>
        </p:spPr>
        <p:txBody>
          <a:bodyPr wrap="square" lIns="0" tIns="0" rIns="0" bIns="0" anchor="t">
            <a:spAutoFit/>
          </a:bodyPr>
          <a:lstStyle/>
          <a:p>
            <a:pPr algn="l"/>
            <a:r>
              <a:rPr sz="2000" b="0">
                <a:solidFill>
                  <a:srgbClr val="587579"/>
                </a:solidFill>
                <a:latin typeface="Manrope Medium"/>
              </a:rPr>
              <a:t>02</a:t>
            </a:r>
          </a:p>
        </p:txBody>
      </p:sp>
      <p:sp>
        <p:nvSpPr>
          <p:cNvPr id="12" name="TextBox 11"/>
          <p:cNvSpPr txBox="1"/>
          <p:nvPr/>
        </p:nvSpPr>
        <p:spPr>
          <a:xfrm>
            <a:off x="4318000" y="2235200"/>
            <a:ext cx="2667000" cy="254000"/>
          </a:xfrm>
          <a:prstGeom prst="rect">
            <a:avLst/>
          </a:prstGeom>
          <a:noFill/>
        </p:spPr>
        <p:txBody>
          <a:bodyPr wrap="square" lIns="0" tIns="0" rIns="0" bIns="0" anchor="t">
            <a:spAutoFit/>
          </a:bodyPr>
          <a:lstStyle/>
          <a:p>
            <a:pPr algn="l"/>
            <a:r>
              <a:rPr sz="1200" b="0">
                <a:solidFill>
                  <a:srgbClr val="202031"/>
                </a:solidFill>
                <a:latin typeface="Raleway SemiBold"/>
              </a:rPr>
              <a:t>Enfoque Práctico</a:t>
            </a:r>
          </a:p>
        </p:txBody>
      </p:sp>
      <p:sp>
        <p:nvSpPr>
          <p:cNvPr id="13" name="TextBox 12"/>
          <p:cNvSpPr txBox="1"/>
          <p:nvPr/>
        </p:nvSpPr>
        <p:spPr>
          <a:xfrm>
            <a:off x="4318000" y="2514600"/>
            <a:ext cx="2667000" cy="914400"/>
          </a:xfrm>
          <a:prstGeom prst="rect">
            <a:avLst/>
          </a:prstGeom>
          <a:noFill/>
        </p:spPr>
        <p:txBody>
          <a:bodyPr wrap="square" lIns="0" tIns="0" rIns="0" bIns="0" anchor="t">
            <a:spAutoFit/>
          </a:bodyPr>
          <a:lstStyle/>
          <a:p>
            <a:pPr algn="l">
              <a:lnSpc>
                <a:spcPct val="120000"/>
              </a:lnSpc>
            </a:pPr>
            <a:r>
              <a:rPr sz="900" b="0">
                <a:solidFill>
                  <a:srgbClr val="202031"/>
                </a:solidFill>
                <a:latin typeface="Raleway"/>
              </a:rPr>
              <a:t>Orientados a resultados, facilitando decisiones claras y ejecutables que optimizan procesos.</a:t>
            </a:r>
          </a:p>
        </p:txBody>
      </p:sp>
      <p:sp>
        <p:nvSpPr>
          <p:cNvPr id="14" name="Rectangle 13"/>
          <p:cNvSpPr/>
          <p:nvPr/>
        </p:nvSpPr>
        <p:spPr>
          <a:xfrm>
            <a:off x="7416800" y="1651000"/>
            <a:ext cx="3124200" cy="19050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45400" y="1803400"/>
            <a:ext cx="762000" cy="381000"/>
          </a:xfrm>
          <a:prstGeom prst="rect">
            <a:avLst/>
          </a:prstGeom>
          <a:noFill/>
        </p:spPr>
        <p:txBody>
          <a:bodyPr wrap="square" lIns="0" tIns="0" rIns="0" bIns="0" anchor="t">
            <a:spAutoFit/>
          </a:bodyPr>
          <a:lstStyle/>
          <a:p>
            <a:pPr algn="l"/>
            <a:r>
              <a:rPr sz="2000" b="0">
                <a:solidFill>
                  <a:srgbClr val="587579"/>
                </a:solidFill>
                <a:latin typeface="Manrope Medium"/>
              </a:rPr>
              <a:t>03</a:t>
            </a:r>
          </a:p>
        </p:txBody>
      </p:sp>
      <p:sp>
        <p:nvSpPr>
          <p:cNvPr id="16" name="TextBox 15"/>
          <p:cNvSpPr txBox="1"/>
          <p:nvPr/>
        </p:nvSpPr>
        <p:spPr>
          <a:xfrm>
            <a:off x="7645400" y="2235200"/>
            <a:ext cx="2667000" cy="254000"/>
          </a:xfrm>
          <a:prstGeom prst="rect">
            <a:avLst/>
          </a:prstGeom>
          <a:noFill/>
        </p:spPr>
        <p:txBody>
          <a:bodyPr wrap="square" lIns="0" tIns="0" rIns="0" bIns="0" anchor="t">
            <a:spAutoFit/>
          </a:bodyPr>
          <a:lstStyle/>
          <a:p>
            <a:pPr algn="l"/>
            <a:r>
              <a:rPr sz="1200" b="0">
                <a:solidFill>
                  <a:srgbClr val="202031"/>
                </a:solidFill>
                <a:latin typeface="Raleway SemiBold"/>
              </a:rPr>
              <a:t>Impacto Real</a:t>
            </a:r>
          </a:p>
        </p:txBody>
      </p:sp>
      <p:sp>
        <p:nvSpPr>
          <p:cNvPr id="17" name="TextBox 16"/>
          <p:cNvSpPr txBox="1"/>
          <p:nvPr/>
        </p:nvSpPr>
        <p:spPr>
          <a:xfrm>
            <a:off x="7645400" y="2514600"/>
            <a:ext cx="2667000" cy="914400"/>
          </a:xfrm>
          <a:prstGeom prst="rect">
            <a:avLst/>
          </a:prstGeom>
          <a:noFill/>
        </p:spPr>
        <p:txBody>
          <a:bodyPr wrap="square" lIns="0" tIns="0" rIns="0" bIns="0" anchor="t">
            <a:spAutoFit/>
          </a:bodyPr>
          <a:lstStyle/>
          <a:p>
            <a:pPr algn="l">
              <a:lnSpc>
                <a:spcPct val="120000"/>
              </a:lnSpc>
            </a:pPr>
            <a:r>
              <a:rPr sz="900" b="0">
                <a:solidFill>
                  <a:srgbClr val="202031"/>
                </a:solidFill>
                <a:latin typeface="Raleway"/>
              </a:rPr>
              <a:t>Soluciones que impulsan eficiencias y mejoras sostenibles en el negocio de nuestros clientes.</a:t>
            </a:r>
          </a:p>
        </p:txBody>
      </p:sp>
      <p:sp>
        <p:nvSpPr>
          <p:cNvPr id="18" name="Rectangle 17"/>
          <p:cNvSpPr/>
          <p:nvPr/>
        </p:nvSpPr>
        <p:spPr>
          <a:xfrm>
            <a:off x="762000" y="3937000"/>
            <a:ext cx="9652000" cy="1524000"/>
          </a:xfrm>
          <a:prstGeom prst="rect">
            <a:avLst/>
          </a:prstGeom>
          <a:solidFill>
            <a:srgbClr val="202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66800" y="4191000"/>
            <a:ext cx="3810000" cy="203200"/>
          </a:xfrm>
          <a:prstGeom prst="rect">
            <a:avLst/>
          </a:prstGeom>
          <a:noFill/>
        </p:spPr>
        <p:txBody>
          <a:bodyPr wrap="square" lIns="0" tIns="0" rIns="0" bIns="0" anchor="t">
            <a:spAutoFit/>
          </a:bodyPr>
          <a:lstStyle/>
          <a:p>
            <a:pPr algn="l"/>
            <a:r>
              <a:rPr sz="950" b="0" spc="80">
                <a:solidFill>
                  <a:srgbClr val="8AA3A5"/>
                </a:solidFill>
                <a:latin typeface="Raleway Medium"/>
              </a:rPr>
              <a:t>HONORARIOS</a:t>
            </a:r>
          </a:p>
        </p:txBody>
      </p:sp>
      <p:sp>
        <p:nvSpPr>
          <p:cNvPr id="20" name="TextBox 19"/>
          <p:cNvSpPr txBox="1"/>
          <p:nvPr/>
        </p:nvSpPr>
        <p:spPr>
          <a:xfrm>
            <a:off x="1066800" y="4470400"/>
            <a:ext cx="5080000" cy="304800"/>
          </a:xfrm>
          <a:prstGeom prst="rect">
            <a:avLst/>
          </a:prstGeom>
          <a:noFill/>
        </p:spPr>
        <p:txBody>
          <a:bodyPr wrap="square" lIns="0" tIns="0" rIns="0" bIns="0" anchor="t">
            <a:spAutoFit/>
          </a:bodyPr>
          <a:lstStyle/>
          <a:p>
            <a:pPr algn="l"/>
            <a:r>
              <a:rPr sz="1300" b="0">
                <a:solidFill>
                  <a:srgbClr val="FFFFFF"/>
                </a:solidFill>
                <a:latin typeface="Raleway SemiBold"/>
              </a:rPr>
              <a:t>Modalidad a éxito en Headhunting</a:t>
            </a:r>
          </a:p>
        </p:txBody>
      </p:sp>
      <p:sp>
        <p:nvSpPr>
          <p:cNvPr id="21" name="TextBox 20"/>
          <p:cNvSpPr txBox="1"/>
          <p:nvPr/>
        </p:nvSpPr>
        <p:spPr>
          <a:xfrm>
            <a:off x="1066800" y="4851400"/>
            <a:ext cx="3810000" cy="228600"/>
          </a:xfrm>
          <a:prstGeom prst="rect">
            <a:avLst/>
          </a:prstGeom>
          <a:noFill/>
        </p:spPr>
        <p:txBody>
          <a:bodyPr wrap="square" lIns="0" tIns="0" rIns="0" bIns="0" anchor="t">
            <a:spAutoFit/>
          </a:bodyPr>
          <a:lstStyle/>
          <a:p>
            <a:pPr algn="l"/>
            <a:r>
              <a:rPr sz="1000" b="0">
                <a:solidFill>
                  <a:srgbClr val="8AA3A5"/>
                </a:solidFill>
                <a:latin typeface="Raleway"/>
              </a:rPr>
              <a:t>Salario Bruto Anual</a:t>
            </a:r>
          </a:p>
        </p:txBody>
      </p:sp>
      <p:sp>
        <p:nvSpPr>
          <p:cNvPr id="22" name="TextBox 21"/>
          <p:cNvSpPr txBox="1"/>
          <p:nvPr/>
        </p:nvSpPr>
        <p:spPr>
          <a:xfrm>
            <a:off x="8890000" y="4318000"/>
            <a:ext cx="1143000" cy="635000"/>
          </a:xfrm>
          <a:prstGeom prst="rect">
            <a:avLst/>
          </a:prstGeom>
          <a:noFill/>
        </p:spPr>
        <p:txBody>
          <a:bodyPr wrap="square" lIns="0" tIns="0" rIns="0" bIns="0" anchor="t">
            <a:spAutoFit/>
          </a:bodyPr>
          <a:lstStyle/>
          <a:p>
            <a:pPr algn="r"/>
            <a:r>
              <a:rPr sz="3400" b="0">
                <a:solidFill>
                  <a:srgbClr val="FFFFFF"/>
                </a:solidFill>
                <a:latin typeface="Manrope ExtraLight"/>
              </a:rPr>
              <a:t>13%</a:t>
            </a:r>
          </a:p>
        </p:txBody>
      </p:sp>
      <p:sp>
        <p:nvSpPr>
          <p:cNvPr id="23" name="TextBox 22"/>
          <p:cNvSpPr txBox="1"/>
          <p:nvPr/>
        </p:nvSpPr>
        <p:spPr>
          <a:xfrm>
            <a:off x="762000" y="6477000"/>
            <a:ext cx="3810000" cy="203200"/>
          </a:xfrm>
          <a:prstGeom prst="rect">
            <a:avLst/>
          </a:prstGeom>
          <a:noFill/>
        </p:spPr>
        <p:txBody>
          <a:bodyPr wrap="square" lIns="0" tIns="0" rIns="0" bIns="0" anchor="t">
            <a:spAutoFit/>
          </a:bodyPr>
          <a:lstStyle/>
          <a:p>
            <a:pPr algn="l"/>
            <a:r>
              <a:rPr sz="900" b="0">
                <a:solidFill>
                  <a:srgbClr val="587579"/>
                </a:solidFill>
                <a:latin typeface="Raleway"/>
              </a:rPr>
              <a:t>tesseraservices.com</a:t>
            </a:r>
          </a:p>
        </p:txBody>
      </p:sp>
      <p:sp>
        <p:nvSpPr>
          <p:cNvPr id="24" name="TextBox 23"/>
          <p:cNvSpPr txBox="1"/>
          <p:nvPr/>
        </p:nvSpPr>
        <p:spPr>
          <a:xfrm>
            <a:off x="10668000" y="6400800"/>
            <a:ext cx="762000" cy="330200"/>
          </a:xfrm>
          <a:prstGeom prst="rect">
            <a:avLst/>
          </a:prstGeom>
          <a:noFill/>
        </p:spPr>
        <p:txBody>
          <a:bodyPr wrap="square" lIns="0" tIns="0" rIns="0" bIns="0" anchor="t">
            <a:spAutoFit/>
          </a:bodyPr>
          <a:lstStyle/>
          <a:p>
            <a:pPr algn="r"/>
            <a:r>
              <a:rPr sz="1600" b="0">
                <a:solidFill>
                  <a:srgbClr val="202031"/>
                </a:solidFill>
                <a:latin typeface="Manrope Medium"/>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spAutoFit/>
          </a:bodyPr>
          <a:lstStyle/>
          <a:p>
            <a:pPr algn="r"/>
            <a:r>
              <a:rPr sz="1000" b="0" spc="120">
                <a:solidFill>
                  <a:srgbClr val="587579"/>
                </a:solidFill>
                <a:latin typeface="Raleway Medium"/>
              </a:rPr>
              <a:t>NUESTROS PARTNERS</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889000"/>
            <a:ext cx="8890000" cy="635000"/>
          </a:xfrm>
          <a:prstGeom prst="rect">
            <a:avLst/>
          </a:prstGeom>
          <a:noFill/>
        </p:spPr>
        <p:txBody>
          <a:bodyPr wrap="square" lIns="0" tIns="0" rIns="0" bIns="0" anchor="t">
            <a:spAutoFit/>
          </a:bodyPr>
          <a:lstStyle/>
          <a:p>
            <a:pPr algn="l"/>
            <a:r>
              <a:rPr sz="3400" b="0">
                <a:solidFill>
                  <a:srgbClr val="202031"/>
                </a:solidFill>
                <a:latin typeface="Raleway Light"/>
              </a:rPr>
              <a:t>Nuestros Partners</a:t>
            </a:r>
          </a:p>
        </p:txBody>
      </p:sp>
      <p:pic>
        <p:nvPicPr>
          <p:cNvPr id="6" name="Picture 5" descr="logo_01.png"/>
          <p:cNvPicPr>
            <a:picLocks noChangeAspect="1"/>
          </p:cNvPicPr>
          <p:nvPr/>
        </p:nvPicPr>
        <p:blipFill>
          <a:blip r:embed="rId3"/>
          <a:stretch>
            <a:fillRect/>
          </a:stretch>
        </p:blipFill>
        <p:spPr>
          <a:xfrm>
            <a:off x="1371600" y="2197100"/>
            <a:ext cx="558800" cy="558800"/>
          </a:xfrm>
          <a:prstGeom prst="rect">
            <a:avLst/>
          </a:prstGeom>
        </p:spPr>
      </p:pic>
      <p:pic>
        <p:nvPicPr>
          <p:cNvPr id="7" name="Picture 6" descr="logo_02.png"/>
          <p:cNvPicPr>
            <a:picLocks noChangeAspect="1"/>
          </p:cNvPicPr>
          <p:nvPr/>
        </p:nvPicPr>
        <p:blipFill>
          <a:blip r:embed="rId4"/>
          <a:stretch>
            <a:fillRect/>
          </a:stretch>
        </p:blipFill>
        <p:spPr>
          <a:xfrm>
            <a:off x="3149600" y="2197100"/>
            <a:ext cx="558800" cy="558800"/>
          </a:xfrm>
          <a:prstGeom prst="rect">
            <a:avLst/>
          </a:prstGeom>
        </p:spPr>
      </p:pic>
      <p:pic>
        <p:nvPicPr>
          <p:cNvPr id="8" name="Picture 7" descr="logo_03.png"/>
          <p:cNvPicPr>
            <a:picLocks noChangeAspect="1"/>
          </p:cNvPicPr>
          <p:nvPr/>
        </p:nvPicPr>
        <p:blipFill>
          <a:blip r:embed="rId5"/>
          <a:stretch>
            <a:fillRect/>
          </a:stretch>
        </p:blipFill>
        <p:spPr>
          <a:xfrm>
            <a:off x="4470400" y="2228433"/>
            <a:ext cx="1473200" cy="496132"/>
          </a:xfrm>
          <a:prstGeom prst="rect">
            <a:avLst/>
          </a:prstGeom>
        </p:spPr>
      </p:pic>
      <p:pic>
        <p:nvPicPr>
          <p:cNvPr id="9" name="Picture 8" descr="logo_04.png"/>
          <p:cNvPicPr>
            <a:picLocks noChangeAspect="1"/>
          </p:cNvPicPr>
          <p:nvPr/>
        </p:nvPicPr>
        <p:blipFill>
          <a:blip r:embed="rId6"/>
          <a:stretch>
            <a:fillRect/>
          </a:stretch>
        </p:blipFill>
        <p:spPr>
          <a:xfrm>
            <a:off x="6705600" y="2197100"/>
            <a:ext cx="558800" cy="558800"/>
          </a:xfrm>
          <a:prstGeom prst="rect">
            <a:avLst/>
          </a:prstGeom>
        </p:spPr>
      </p:pic>
      <p:pic>
        <p:nvPicPr>
          <p:cNvPr id="10" name="Picture 9" descr="logo_05.png"/>
          <p:cNvPicPr>
            <a:picLocks noChangeAspect="1"/>
          </p:cNvPicPr>
          <p:nvPr/>
        </p:nvPicPr>
        <p:blipFill>
          <a:blip r:embed="rId7"/>
          <a:stretch>
            <a:fillRect/>
          </a:stretch>
        </p:blipFill>
        <p:spPr>
          <a:xfrm>
            <a:off x="8483600" y="2197100"/>
            <a:ext cx="558800" cy="558800"/>
          </a:xfrm>
          <a:prstGeom prst="rect">
            <a:avLst/>
          </a:prstGeom>
        </p:spPr>
      </p:pic>
      <p:pic>
        <p:nvPicPr>
          <p:cNvPr id="11" name="Picture 10" descr="logo_06.png"/>
          <p:cNvPicPr>
            <a:picLocks noChangeAspect="1"/>
          </p:cNvPicPr>
          <p:nvPr/>
        </p:nvPicPr>
        <p:blipFill>
          <a:blip r:embed="rId8"/>
          <a:stretch>
            <a:fillRect/>
          </a:stretch>
        </p:blipFill>
        <p:spPr>
          <a:xfrm>
            <a:off x="9804400" y="2247742"/>
            <a:ext cx="1473200" cy="457515"/>
          </a:xfrm>
          <a:prstGeom prst="rect">
            <a:avLst/>
          </a:prstGeom>
        </p:spPr>
      </p:pic>
      <p:pic>
        <p:nvPicPr>
          <p:cNvPr id="12" name="Picture 11" descr="logo_07.png"/>
          <p:cNvPicPr>
            <a:picLocks noChangeAspect="1"/>
          </p:cNvPicPr>
          <p:nvPr/>
        </p:nvPicPr>
        <p:blipFill>
          <a:blip r:embed="rId9"/>
          <a:stretch>
            <a:fillRect/>
          </a:stretch>
        </p:blipFill>
        <p:spPr>
          <a:xfrm>
            <a:off x="1258859" y="3340100"/>
            <a:ext cx="784280" cy="558800"/>
          </a:xfrm>
          <a:prstGeom prst="rect">
            <a:avLst/>
          </a:prstGeom>
        </p:spPr>
      </p:pic>
      <p:pic>
        <p:nvPicPr>
          <p:cNvPr id="13" name="Picture 12" descr="logo_08.png"/>
          <p:cNvPicPr>
            <a:picLocks noChangeAspect="1"/>
          </p:cNvPicPr>
          <p:nvPr/>
        </p:nvPicPr>
        <p:blipFill>
          <a:blip r:embed="rId10"/>
          <a:stretch>
            <a:fillRect/>
          </a:stretch>
        </p:blipFill>
        <p:spPr>
          <a:xfrm>
            <a:off x="2692400" y="3494278"/>
            <a:ext cx="1473199" cy="250444"/>
          </a:xfrm>
          <a:prstGeom prst="rect">
            <a:avLst/>
          </a:prstGeom>
        </p:spPr>
      </p:pic>
      <p:pic>
        <p:nvPicPr>
          <p:cNvPr id="14" name="Picture 13" descr="logo_09.png"/>
          <p:cNvPicPr>
            <a:picLocks noChangeAspect="1"/>
          </p:cNvPicPr>
          <p:nvPr/>
        </p:nvPicPr>
        <p:blipFill>
          <a:blip r:embed="rId11"/>
          <a:stretch>
            <a:fillRect/>
          </a:stretch>
        </p:blipFill>
        <p:spPr>
          <a:xfrm>
            <a:off x="4647160" y="3340100"/>
            <a:ext cx="1119679" cy="558800"/>
          </a:xfrm>
          <a:prstGeom prst="rect">
            <a:avLst/>
          </a:prstGeom>
        </p:spPr>
      </p:pic>
      <p:pic>
        <p:nvPicPr>
          <p:cNvPr id="15" name="Picture 14" descr="logo_10.png"/>
          <p:cNvPicPr>
            <a:picLocks noChangeAspect="1"/>
          </p:cNvPicPr>
          <p:nvPr/>
        </p:nvPicPr>
        <p:blipFill>
          <a:blip r:embed="rId12"/>
          <a:stretch>
            <a:fillRect/>
          </a:stretch>
        </p:blipFill>
        <p:spPr>
          <a:xfrm>
            <a:off x="6248400" y="3386754"/>
            <a:ext cx="1473200" cy="465490"/>
          </a:xfrm>
          <a:prstGeom prst="rect">
            <a:avLst/>
          </a:prstGeom>
        </p:spPr>
      </p:pic>
      <p:pic>
        <p:nvPicPr>
          <p:cNvPr id="16" name="Picture 15" descr="logo_11.png"/>
          <p:cNvPicPr>
            <a:picLocks noChangeAspect="1"/>
          </p:cNvPicPr>
          <p:nvPr/>
        </p:nvPicPr>
        <p:blipFill>
          <a:blip r:embed="rId13"/>
          <a:stretch>
            <a:fillRect/>
          </a:stretch>
        </p:blipFill>
        <p:spPr>
          <a:xfrm>
            <a:off x="8483600" y="3340100"/>
            <a:ext cx="558800" cy="558800"/>
          </a:xfrm>
          <a:prstGeom prst="rect">
            <a:avLst/>
          </a:prstGeom>
        </p:spPr>
      </p:pic>
      <p:pic>
        <p:nvPicPr>
          <p:cNvPr id="17" name="Picture 16" descr="logo_12.png"/>
          <p:cNvPicPr>
            <a:picLocks noChangeAspect="1"/>
          </p:cNvPicPr>
          <p:nvPr/>
        </p:nvPicPr>
        <p:blipFill>
          <a:blip r:embed="rId14"/>
          <a:stretch>
            <a:fillRect/>
          </a:stretch>
        </p:blipFill>
        <p:spPr>
          <a:xfrm>
            <a:off x="10261600" y="3340100"/>
            <a:ext cx="558800" cy="558800"/>
          </a:xfrm>
          <a:prstGeom prst="rect">
            <a:avLst/>
          </a:prstGeom>
        </p:spPr>
      </p:pic>
      <p:pic>
        <p:nvPicPr>
          <p:cNvPr id="18" name="Picture 17" descr="logo_13.png"/>
          <p:cNvPicPr>
            <a:picLocks noChangeAspect="1"/>
          </p:cNvPicPr>
          <p:nvPr/>
        </p:nvPicPr>
        <p:blipFill>
          <a:blip r:embed="rId15"/>
          <a:stretch>
            <a:fillRect/>
          </a:stretch>
        </p:blipFill>
        <p:spPr>
          <a:xfrm>
            <a:off x="1371600" y="4483100"/>
            <a:ext cx="558800" cy="558800"/>
          </a:xfrm>
          <a:prstGeom prst="rect">
            <a:avLst/>
          </a:prstGeom>
        </p:spPr>
      </p:pic>
      <p:pic>
        <p:nvPicPr>
          <p:cNvPr id="19" name="Picture 18" descr="logo_14.png"/>
          <p:cNvPicPr>
            <a:picLocks noChangeAspect="1"/>
          </p:cNvPicPr>
          <p:nvPr/>
        </p:nvPicPr>
        <p:blipFill>
          <a:blip r:embed="rId16"/>
          <a:stretch>
            <a:fillRect/>
          </a:stretch>
        </p:blipFill>
        <p:spPr>
          <a:xfrm>
            <a:off x="2928279" y="4483100"/>
            <a:ext cx="1001440" cy="558800"/>
          </a:xfrm>
          <a:prstGeom prst="rect">
            <a:avLst/>
          </a:prstGeom>
        </p:spPr>
      </p:pic>
      <p:pic>
        <p:nvPicPr>
          <p:cNvPr id="20" name="Picture 19" descr="logo_15.png"/>
          <p:cNvPicPr>
            <a:picLocks noChangeAspect="1"/>
          </p:cNvPicPr>
          <p:nvPr/>
        </p:nvPicPr>
        <p:blipFill>
          <a:blip r:embed="rId17"/>
          <a:stretch>
            <a:fillRect/>
          </a:stretch>
        </p:blipFill>
        <p:spPr>
          <a:xfrm>
            <a:off x="4602797" y="4483100"/>
            <a:ext cx="1208405" cy="558800"/>
          </a:xfrm>
          <a:prstGeom prst="rect">
            <a:avLst/>
          </a:prstGeom>
        </p:spPr>
      </p:pic>
      <p:pic>
        <p:nvPicPr>
          <p:cNvPr id="21" name="Picture 20" descr="logo_16.png"/>
          <p:cNvPicPr>
            <a:picLocks noChangeAspect="1"/>
          </p:cNvPicPr>
          <p:nvPr/>
        </p:nvPicPr>
        <p:blipFill>
          <a:blip r:embed="rId18"/>
          <a:stretch>
            <a:fillRect/>
          </a:stretch>
        </p:blipFill>
        <p:spPr>
          <a:xfrm>
            <a:off x="6565900" y="4483100"/>
            <a:ext cx="838200" cy="558800"/>
          </a:xfrm>
          <a:prstGeom prst="rect">
            <a:avLst/>
          </a:prstGeom>
        </p:spPr>
      </p:pic>
      <p:pic>
        <p:nvPicPr>
          <p:cNvPr id="22" name="Picture 21" descr="logo_17.png"/>
          <p:cNvPicPr>
            <a:picLocks noChangeAspect="1"/>
          </p:cNvPicPr>
          <p:nvPr/>
        </p:nvPicPr>
        <p:blipFill>
          <a:blip r:embed="rId19"/>
          <a:stretch>
            <a:fillRect/>
          </a:stretch>
        </p:blipFill>
        <p:spPr>
          <a:xfrm>
            <a:off x="8060732" y="4483100"/>
            <a:ext cx="1404534" cy="558800"/>
          </a:xfrm>
          <a:prstGeom prst="rect">
            <a:avLst/>
          </a:prstGeom>
        </p:spPr>
      </p:pic>
      <p:pic>
        <p:nvPicPr>
          <p:cNvPr id="23" name="Picture 22" descr="logo_18.png"/>
          <p:cNvPicPr>
            <a:picLocks noChangeAspect="1"/>
          </p:cNvPicPr>
          <p:nvPr/>
        </p:nvPicPr>
        <p:blipFill>
          <a:blip r:embed="rId20"/>
          <a:stretch>
            <a:fillRect/>
          </a:stretch>
        </p:blipFill>
        <p:spPr>
          <a:xfrm>
            <a:off x="9804400" y="4515017"/>
            <a:ext cx="1473200" cy="494964"/>
          </a:xfrm>
          <a:prstGeom prst="rect">
            <a:avLst/>
          </a:prstGeom>
        </p:spPr>
      </p:pic>
      <p:sp>
        <p:nvSpPr>
          <p:cNvPr id="24" name="TextBox 23"/>
          <p:cNvSpPr txBox="1"/>
          <p:nvPr/>
        </p:nvSpPr>
        <p:spPr>
          <a:xfrm>
            <a:off x="762000" y="6477000"/>
            <a:ext cx="3810000" cy="203200"/>
          </a:xfrm>
          <a:prstGeom prst="rect">
            <a:avLst/>
          </a:prstGeom>
          <a:noFill/>
        </p:spPr>
        <p:txBody>
          <a:bodyPr wrap="square" lIns="0" tIns="0" rIns="0" bIns="0" anchor="t">
            <a:spAutoFit/>
          </a:bodyPr>
          <a:lstStyle/>
          <a:p>
            <a:pPr algn="l"/>
            <a:r>
              <a:rPr sz="900" b="0">
                <a:solidFill>
                  <a:srgbClr val="587579"/>
                </a:solidFill>
                <a:latin typeface="Raleway"/>
              </a:rPr>
              <a:t>tesseraservices.com</a:t>
            </a:r>
          </a:p>
        </p:txBody>
      </p:sp>
      <p:sp>
        <p:nvSpPr>
          <p:cNvPr id="25" name="TextBox 24"/>
          <p:cNvSpPr txBox="1"/>
          <p:nvPr/>
        </p:nvSpPr>
        <p:spPr>
          <a:xfrm>
            <a:off x="10668000" y="6400800"/>
            <a:ext cx="762000" cy="330200"/>
          </a:xfrm>
          <a:prstGeom prst="rect">
            <a:avLst/>
          </a:prstGeom>
          <a:noFill/>
        </p:spPr>
        <p:txBody>
          <a:bodyPr wrap="square" lIns="0" tIns="0" rIns="0" bIns="0" anchor="t">
            <a:spAutoFit/>
          </a:bodyPr>
          <a:lstStyle/>
          <a:p>
            <a:pPr algn="r"/>
            <a:r>
              <a:rPr sz="1600" b="0">
                <a:solidFill>
                  <a:srgbClr val="202031"/>
                </a:solidFill>
                <a:latin typeface="Manrope Medium"/>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spAutoFit/>
          </a:bodyPr>
          <a:lstStyle/>
          <a:p>
            <a:pPr algn="r"/>
            <a:r>
              <a:rPr sz="1000" b="0" spc="120">
                <a:solidFill>
                  <a:srgbClr val="587579"/>
                </a:solidFill>
                <a:latin typeface="Raleway Medium"/>
              </a:rPr>
              <a:t>CONTACTO</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889000"/>
            <a:ext cx="8890000" cy="635000"/>
          </a:xfrm>
          <a:prstGeom prst="rect">
            <a:avLst/>
          </a:prstGeom>
          <a:noFill/>
        </p:spPr>
        <p:txBody>
          <a:bodyPr wrap="square" lIns="0" tIns="0" rIns="0" bIns="0" anchor="t">
            <a:spAutoFit/>
          </a:bodyPr>
          <a:lstStyle/>
          <a:p>
            <a:pPr algn="l"/>
            <a:r>
              <a:rPr sz="3400" b="0">
                <a:solidFill>
                  <a:srgbClr val="202031"/>
                </a:solidFill>
                <a:latin typeface="Raleway Light"/>
              </a:rPr>
              <a:t>Contacta con nosotros</a:t>
            </a:r>
          </a:p>
        </p:txBody>
      </p:sp>
      <p:sp>
        <p:nvSpPr>
          <p:cNvPr id="7" name="TextBox 6"/>
          <p:cNvSpPr txBox="1"/>
          <p:nvPr/>
        </p:nvSpPr>
        <p:spPr>
          <a:xfrm>
            <a:off x="761999" y="2062987"/>
            <a:ext cx="4383139" cy="307777"/>
          </a:xfrm>
          <a:prstGeom prst="rect">
            <a:avLst/>
          </a:prstGeom>
          <a:noFill/>
        </p:spPr>
        <p:txBody>
          <a:bodyPr wrap="square" lIns="0" tIns="0" rIns="0" bIns="0" anchor="t">
            <a:spAutoFit/>
          </a:bodyPr>
          <a:lstStyle/>
          <a:p>
            <a:pPr algn="l"/>
            <a:r>
              <a:rPr sz="2000" b="0" dirty="0">
                <a:solidFill>
                  <a:srgbClr val="202031"/>
                </a:solidFill>
                <a:latin typeface="Raleway SemiBold"/>
              </a:rPr>
              <a:t>MANUEL GARCÍA PINA</a:t>
            </a:r>
          </a:p>
        </p:txBody>
      </p:sp>
      <p:sp>
        <p:nvSpPr>
          <p:cNvPr id="8" name="TextBox 7"/>
          <p:cNvSpPr txBox="1"/>
          <p:nvPr/>
        </p:nvSpPr>
        <p:spPr>
          <a:xfrm>
            <a:off x="761999" y="2407354"/>
            <a:ext cx="4383139" cy="189154"/>
          </a:xfrm>
          <a:prstGeom prst="rect">
            <a:avLst/>
          </a:prstGeom>
          <a:noFill/>
        </p:spPr>
        <p:txBody>
          <a:bodyPr wrap="square" lIns="0" tIns="0" rIns="0" bIns="0" anchor="t">
            <a:spAutoFit/>
          </a:bodyPr>
          <a:lstStyle/>
          <a:p>
            <a:pPr algn="l">
              <a:lnSpc>
                <a:spcPct val="110000"/>
              </a:lnSpc>
            </a:pPr>
            <a:r>
              <a:rPr sz="1200" b="0">
                <a:solidFill>
                  <a:srgbClr val="587579"/>
                </a:solidFill>
                <a:latin typeface="Raleway"/>
              </a:rPr>
              <a:t>Partner - Finance</a:t>
            </a:r>
          </a:p>
        </p:txBody>
      </p:sp>
      <p:sp>
        <p:nvSpPr>
          <p:cNvPr id="9" name="TextBox 8"/>
          <p:cNvSpPr txBox="1"/>
          <p:nvPr/>
        </p:nvSpPr>
        <p:spPr>
          <a:xfrm>
            <a:off x="761999" y="2710864"/>
            <a:ext cx="4383139" cy="215444"/>
          </a:xfrm>
          <a:prstGeom prst="rect">
            <a:avLst/>
          </a:prstGeom>
          <a:noFill/>
        </p:spPr>
        <p:txBody>
          <a:bodyPr wrap="square" lIns="0" tIns="0" rIns="0" bIns="0" anchor="t">
            <a:spAutoFit/>
          </a:bodyPr>
          <a:lstStyle/>
          <a:p>
            <a:pPr algn="l"/>
            <a:r>
              <a:rPr sz="1400" b="0">
                <a:solidFill>
                  <a:srgbClr val="202031"/>
                </a:solidFill>
                <a:latin typeface="Manrope Medium"/>
              </a:rPr>
              <a:t>+34 669 01 49 58</a:t>
            </a:r>
          </a:p>
        </p:txBody>
      </p:sp>
      <p:sp>
        <p:nvSpPr>
          <p:cNvPr id="10" name="TextBox 9"/>
          <p:cNvSpPr txBox="1"/>
          <p:nvPr/>
        </p:nvSpPr>
        <p:spPr>
          <a:xfrm>
            <a:off x="761999" y="2942090"/>
            <a:ext cx="4383139" cy="184666"/>
          </a:xfrm>
          <a:prstGeom prst="rect">
            <a:avLst/>
          </a:prstGeom>
          <a:noFill/>
        </p:spPr>
        <p:txBody>
          <a:bodyPr wrap="square" lIns="0" tIns="0" rIns="0" bIns="0" anchor="t">
            <a:spAutoFit/>
          </a:bodyPr>
          <a:lstStyle/>
          <a:p>
            <a:pPr algn="l"/>
            <a:r>
              <a:rPr sz="1200" b="0">
                <a:solidFill>
                  <a:srgbClr val="202031"/>
                </a:solidFill>
                <a:latin typeface="Raleway"/>
              </a:rPr>
              <a:t>manuel.garcia@tesseraservices.com</a:t>
            </a:r>
          </a:p>
        </p:txBody>
      </p:sp>
      <p:sp>
        <p:nvSpPr>
          <p:cNvPr id="12" name="TextBox 11"/>
          <p:cNvSpPr txBox="1"/>
          <p:nvPr/>
        </p:nvSpPr>
        <p:spPr>
          <a:xfrm>
            <a:off x="6432344" y="2083795"/>
            <a:ext cx="4383139" cy="307777"/>
          </a:xfrm>
          <a:prstGeom prst="rect">
            <a:avLst/>
          </a:prstGeom>
          <a:noFill/>
        </p:spPr>
        <p:txBody>
          <a:bodyPr wrap="square" lIns="0" tIns="0" rIns="0" bIns="0" anchor="t">
            <a:spAutoFit/>
          </a:bodyPr>
          <a:lstStyle/>
          <a:p>
            <a:pPr algn="l"/>
            <a:r>
              <a:rPr sz="2000" b="0">
                <a:solidFill>
                  <a:srgbClr val="202031"/>
                </a:solidFill>
                <a:latin typeface="Raleway SemiBold"/>
              </a:rPr>
              <a:t>EDUARDO SERRANO CARRETERO</a:t>
            </a:r>
          </a:p>
        </p:txBody>
      </p:sp>
      <p:sp>
        <p:nvSpPr>
          <p:cNvPr id="13" name="TextBox 12"/>
          <p:cNvSpPr txBox="1"/>
          <p:nvPr/>
        </p:nvSpPr>
        <p:spPr>
          <a:xfrm>
            <a:off x="6432344" y="2428162"/>
            <a:ext cx="4383139" cy="189154"/>
          </a:xfrm>
          <a:prstGeom prst="rect">
            <a:avLst/>
          </a:prstGeom>
          <a:noFill/>
        </p:spPr>
        <p:txBody>
          <a:bodyPr wrap="square" lIns="0" tIns="0" rIns="0" bIns="0" anchor="t">
            <a:spAutoFit/>
          </a:bodyPr>
          <a:lstStyle/>
          <a:p>
            <a:pPr algn="l">
              <a:lnSpc>
                <a:spcPct val="110000"/>
              </a:lnSpc>
            </a:pPr>
            <a:r>
              <a:rPr sz="1200" b="0">
                <a:solidFill>
                  <a:srgbClr val="587579"/>
                </a:solidFill>
                <a:latin typeface="Raleway"/>
              </a:rPr>
              <a:t>Partner - Finance</a:t>
            </a:r>
          </a:p>
        </p:txBody>
      </p:sp>
      <p:sp>
        <p:nvSpPr>
          <p:cNvPr id="14" name="TextBox 13"/>
          <p:cNvSpPr txBox="1"/>
          <p:nvPr/>
        </p:nvSpPr>
        <p:spPr>
          <a:xfrm>
            <a:off x="6432344" y="2731672"/>
            <a:ext cx="4383139" cy="215444"/>
          </a:xfrm>
          <a:prstGeom prst="rect">
            <a:avLst/>
          </a:prstGeom>
          <a:noFill/>
        </p:spPr>
        <p:txBody>
          <a:bodyPr wrap="square" lIns="0" tIns="0" rIns="0" bIns="0" anchor="t">
            <a:spAutoFit/>
          </a:bodyPr>
          <a:lstStyle/>
          <a:p>
            <a:pPr algn="l"/>
            <a:r>
              <a:rPr sz="1400" b="0">
                <a:solidFill>
                  <a:srgbClr val="202031"/>
                </a:solidFill>
                <a:latin typeface="Manrope Medium"/>
              </a:rPr>
              <a:t>+34 619 51 11 55</a:t>
            </a:r>
          </a:p>
        </p:txBody>
      </p:sp>
      <p:sp>
        <p:nvSpPr>
          <p:cNvPr id="15" name="TextBox 14"/>
          <p:cNvSpPr txBox="1"/>
          <p:nvPr/>
        </p:nvSpPr>
        <p:spPr>
          <a:xfrm>
            <a:off x="6432344" y="2962898"/>
            <a:ext cx="4383139" cy="184666"/>
          </a:xfrm>
          <a:prstGeom prst="rect">
            <a:avLst/>
          </a:prstGeom>
          <a:noFill/>
        </p:spPr>
        <p:txBody>
          <a:bodyPr wrap="square" lIns="0" tIns="0" rIns="0" bIns="0" anchor="t">
            <a:spAutoFit/>
          </a:bodyPr>
          <a:lstStyle/>
          <a:p>
            <a:pPr algn="l"/>
            <a:r>
              <a:rPr sz="1200" b="0">
                <a:solidFill>
                  <a:srgbClr val="202031"/>
                </a:solidFill>
                <a:latin typeface="Raleway"/>
              </a:rPr>
              <a:t>eduardo.serrano@tesseraservices.com</a:t>
            </a:r>
          </a:p>
        </p:txBody>
      </p:sp>
      <p:sp>
        <p:nvSpPr>
          <p:cNvPr id="17" name="TextBox 16"/>
          <p:cNvSpPr txBox="1"/>
          <p:nvPr/>
        </p:nvSpPr>
        <p:spPr>
          <a:xfrm>
            <a:off x="761999" y="3967987"/>
            <a:ext cx="4383139" cy="307777"/>
          </a:xfrm>
          <a:prstGeom prst="rect">
            <a:avLst/>
          </a:prstGeom>
          <a:noFill/>
        </p:spPr>
        <p:txBody>
          <a:bodyPr wrap="square" lIns="0" tIns="0" rIns="0" bIns="0" anchor="t">
            <a:spAutoFit/>
          </a:bodyPr>
          <a:lstStyle/>
          <a:p>
            <a:pPr algn="l"/>
            <a:r>
              <a:rPr sz="2000" b="0">
                <a:solidFill>
                  <a:srgbClr val="202031"/>
                </a:solidFill>
                <a:latin typeface="Raleway SemiBold"/>
              </a:rPr>
              <a:t>MÓNICA MAYORAL</a:t>
            </a:r>
          </a:p>
        </p:txBody>
      </p:sp>
      <p:sp>
        <p:nvSpPr>
          <p:cNvPr id="18" name="TextBox 17"/>
          <p:cNvSpPr txBox="1"/>
          <p:nvPr/>
        </p:nvSpPr>
        <p:spPr>
          <a:xfrm>
            <a:off x="761999" y="4312354"/>
            <a:ext cx="4383139" cy="189154"/>
          </a:xfrm>
          <a:prstGeom prst="rect">
            <a:avLst/>
          </a:prstGeom>
          <a:noFill/>
        </p:spPr>
        <p:txBody>
          <a:bodyPr wrap="square" lIns="0" tIns="0" rIns="0" bIns="0" anchor="t">
            <a:spAutoFit/>
          </a:bodyPr>
          <a:lstStyle/>
          <a:p>
            <a:pPr algn="l">
              <a:lnSpc>
                <a:spcPct val="110000"/>
              </a:lnSpc>
            </a:pPr>
            <a:r>
              <a:rPr sz="1200" b="0">
                <a:solidFill>
                  <a:srgbClr val="587579"/>
                </a:solidFill>
                <a:latin typeface="Raleway"/>
              </a:rPr>
              <a:t>Partner - Finance</a:t>
            </a:r>
          </a:p>
        </p:txBody>
      </p:sp>
      <p:sp>
        <p:nvSpPr>
          <p:cNvPr id="19" name="TextBox 18"/>
          <p:cNvSpPr txBox="1"/>
          <p:nvPr/>
        </p:nvSpPr>
        <p:spPr>
          <a:xfrm>
            <a:off x="761999" y="4615864"/>
            <a:ext cx="4383139" cy="215444"/>
          </a:xfrm>
          <a:prstGeom prst="rect">
            <a:avLst/>
          </a:prstGeom>
          <a:noFill/>
        </p:spPr>
        <p:txBody>
          <a:bodyPr wrap="square" lIns="0" tIns="0" rIns="0" bIns="0" anchor="t">
            <a:spAutoFit/>
          </a:bodyPr>
          <a:lstStyle/>
          <a:p>
            <a:pPr algn="l"/>
            <a:r>
              <a:rPr sz="1400" b="0">
                <a:solidFill>
                  <a:srgbClr val="202031"/>
                </a:solidFill>
                <a:latin typeface="Manrope Medium"/>
              </a:rPr>
              <a:t>+34 696 39 38 49</a:t>
            </a:r>
          </a:p>
        </p:txBody>
      </p:sp>
      <p:sp>
        <p:nvSpPr>
          <p:cNvPr id="20" name="TextBox 19"/>
          <p:cNvSpPr txBox="1"/>
          <p:nvPr/>
        </p:nvSpPr>
        <p:spPr>
          <a:xfrm>
            <a:off x="761999" y="4847090"/>
            <a:ext cx="4383139" cy="184666"/>
          </a:xfrm>
          <a:prstGeom prst="rect">
            <a:avLst/>
          </a:prstGeom>
          <a:noFill/>
        </p:spPr>
        <p:txBody>
          <a:bodyPr wrap="square" lIns="0" tIns="0" rIns="0" bIns="0" anchor="t">
            <a:spAutoFit/>
          </a:bodyPr>
          <a:lstStyle/>
          <a:p>
            <a:pPr algn="l"/>
            <a:r>
              <a:rPr sz="1200" b="0">
                <a:solidFill>
                  <a:srgbClr val="202031"/>
                </a:solidFill>
                <a:latin typeface="Raleway"/>
              </a:rPr>
              <a:t>monica.mayoral@tesseraservices.com</a:t>
            </a:r>
          </a:p>
        </p:txBody>
      </p:sp>
      <p:sp>
        <p:nvSpPr>
          <p:cNvPr id="22" name="TextBox 21"/>
          <p:cNvSpPr txBox="1"/>
          <p:nvPr/>
        </p:nvSpPr>
        <p:spPr>
          <a:xfrm>
            <a:off x="6432344" y="3988795"/>
            <a:ext cx="4383139" cy="307777"/>
          </a:xfrm>
          <a:prstGeom prst="rect">
            <a:avLst/>
          </a:prstGeom>
          <a:noFill/>
        </p:spPr>
        <p:txBody>
          <a:bodyPr wrap="square" lIns="0" tIns="0" rIns="0" bIns="0" anchor="t">
            <a:spAutoFit/>
          </a:bodyPr>
          <a:lstStyle/>
          <a:p>
            <a:pPr algn="l"/>
            <a:r>
              <a:rPr sz="2000" b="0" dirty="0">
                <a:solidFill>
                  <a:srgbClr val="202031"/>
                </a:solidFill>
                <a:latin typeface="Raleway SemiBold"/>
              </a:rPr>
              <a:t>EDWARD MANRIQUE</a:t>
            </a:r>
          </a:p>
        </p:txBody>
      </p:sp>
      <p:sp>
        <p:nvSpPr>
          <p:cNvPr id="23" name="TextBox 22"/>
          <p:cNvSpPr txBox="1"/>
          <p:nvPr/>
        </p:nvSpPr>
        <p:spPr>
          <a:xfrm>
            <a:off x="6432344" y="4333162"/>
            <a:ext cx="4383139" cy="189154"/>
          </a:xfrm>
          <a:prstGeom prst="rect">
            <a:avLst/>
          </a:prstGeom>
          <a:noFill/>
        </p:spPr>
        <p:txBody>
          <a:bodyPr wrap="square" lIns="0" tIns="0" rIns="0" bIns="0" anchor="t">
            <a:spAutoFit/>
          </a:bodyPr>
          <a:lstStyle/>
          <a:p>
            <a:pPr algn="l">
              <a:lnSpc>
                <a:spcPct val="110000"/>
              </a:lnSpc>
            </a:pPr>
            <a:r>
              <a:rPr sz="1200" b="0">
                <a:solidFill>
                  <a:srgbClr val="587579"/>
                </a:solidFill>
                <a:latin typeface="Raleway"/>
              </a:rPr>
              <a:t>Head of Recruitment &amp; Talent Operations</a:t>
            </a:r>
          </a:p>
        </p:txBody>
      </p:sp>
      <p:sp>
        <p:nvSpPr>
          <p:cNvPr id="24" name="TextBox 23"/>
          <p:cNvSpPr txBox="1"/>
          <p:nvPr/>
        </p:nvSpPr>
        <p:spPr>
          <a:xfrm>
            <a:off x="6432344" y="4636672"/>
            <a:ext cx="4383139" cy="215444"/>
          </a:xfrm>
          <a:prstGeom prst="rect">
            <a:avLst/>
          </a:prstGeom>
          <a:noFill/>
        </p:spPr>
        <p:txBody>
          <a:bodyPr wrap="square" lIns="0" tIns="0" rIns="0" bIns="0" anchor="t">
            <a:spAutoFit/>
          </a:bodyPr>
          <a:lstStyle/>
          <a:p>
            <a:pPr algn="l"/>
            <a:r>
              <a:rPr sz="1400" b="0">
                <a:solidFill>
                  <a:srgbClr val="202031"/>
                </a:solidFill>
                <a:latin typeface="Manrope Medium"/>
              </a:rPr>
              <a:t>+34 695 02 19 78</a:t>
            </a:r>
          </a:p>
        </p:txBody>
      </p:sp>
      <p:sp>
        <p:nvSpPr>
          <p:cNvPr id="25" name="TextBox 24"/>
          <p:cNvSpPr txBox="1"/>
          <p:nvPr/>
        </p:nvSpPr>
        <p:spPr>
          <a:xfrm>
            <a:off x="6432344" y="4867898"/>
            <a:ext cx="4383139" cy="184666"/>
          </a:xfrm>
          <a:prstGeom prst="rect">
            <a:avLst/>
          </a:prstGeom>
          <a:noFill/>
        </p:spPr>
        <p:txBody>
          <a:bodyPr wrap="square" lIns="0" tIns="0" rIns="0" bIns="0" anchor="t">
            <a:spAutoFit/>
          </a:bodyPr>
          <a:lstStyle/>
          <a:p>
            <a:pPr algn="l"/>
            <a:r>
              <a:rPr sz="1200" b="0">
                <a:solidFill>
                  <a:srgbClr val="202031"/>
                </a:solidFill>
                <a:latin typeface="Raleway"/>
              </a:rPr>
              <a:t>edward@tesseraservices.com</a:t>
            </a:r>
          </a:p>
        </p:txBody>
      </p:sp>
      <p:sp>
        <p:nvSpPr>
          <p:cNvPr id="26" name="TextBox 25"/>
          <p:cNvSpPr txBox="1"/>
          <p:nvPr/>
        </p:nvSpPr>
        <p:spPr>
          <a:xfrm>
            <a:off x="762000" y="6477000"/>
            <a:ext cx="3810000" cy="203200"/>
          </a:xfrm>
          <a:prstGeom prst="rect">
            <a:avLst/>
          </a:prstGeom>
          <a:noFill/>
        </p:spPr>
        <p:txBody>
          <a:bodyPr wrap="square" lIns="0" tIns="0" rIns="0" bIns="0" anchor="t">
            <a:spAutoFit/>
          </a:bodyPr>
          <a:lstStyle/>
          <a:p>
            <a:pPr algn="l"/>
            <a:r>
              <a:rPr sz="900" b="0">
                <a:solidFill>
                  <a:srgbClr val="587579"/>
                </a:solidFill>
                <a:latin typeface="Raleway"/>
              </a:rPr>
              <a:t>tesseraservices.com</a:t>
            </a:r>
          </a:p>
        </p:txBody>
      </p:sp>
      <p:sp>
        <p:nvSpPr>
          <p:cNvPr id="27" name="TextBox 26"/>
          <p:cNvSpPr txBox="1"/>
          <p:nvPr/>
        </p:nvSpPr>
        <p:spPr>
          <a:xfrm>
            <a:off x="10668000" y="6400800"/>
            <a:ext cx="762000" cy="330200"/>
          </a:xfrm>
          <a:prstGeom prst="rect">
            <a:avLst/>
          </a:prstGeom>
          <a:noFill/>
        </p:spPr>
        <p:txBody>
          <a:bodyPr wrap="square" lIns="0" tIns="0" rIns="0" bIns="0" anchor="t">
            <a:spAutoFit/>
          </a:bodyPr>
          <a:lstStyle/>
          <a:p>
            <a:pPr algn="r"/>
            <a:r>
              <a:rPr sz="1600" b="0">
                <a:solidFill>
                  <a:srgbClr val="202031"/>
                </a:solidFill>
                <a:latin typeface="Manrope Medium"/>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587579"/>
            </a:gs>
            <a:gs pos="100000">
              <a:srgbClr val="202031"/>
            </a:gs>
          </a:gsLst>
          <a:lin ang="18900000" scaled="0"/>
        </a:gradFill>
        <a:effectLst/>
      </p:bgPr>
    </p:bg>
    <p:spTree>
      <p:nvGrpSpPr>
        <p:cNvPr id="1" name=""/>
        <p:cNvGrpSpPr/>
        <p:nvPr/>
      </p:nvGrpSpPr>
      <p:grpSpPr>
        <a:xfrm>
          <a:off x="0" y="0"/>
          <a:ext cx="0" cy="0"/>
          <a:chOff x="0" y="0"/>
          <a:chExt cx="0" cy="0"/>
        </a:xfrm>
      </p:grpSpPr>
      <p:sp>
        <p:nvSpPr>
          <p:cNvPr id="3" name="TextBox 2"/>
          <p:cNvSpPr txBox="1"/>
          <p:nvPr/>
        </p:nvSpPr>
        <p:spPr>
          <a:xfrm>
            <a:off x="762000" y="2413000"/>
            <a:ext cx="8890000" cy="762000"/>
          </a:xfrm>
          <a:prstGeom prst="rect">
            <a:avLst/>
          </a:prstGeom>
          <a:noFill/>
        </p:spPr>
        <p:txBody>
          <a:bodyPr wrap="square" lIns="0" tIns="0" rIns="0" bIns="0" anchor="t">
            <a:spAutoFit/>
          </a:bodyPr>
          <a:lstStyle/>
          <a:p>
            <a:pPr algn="l">
              <a:lnSpc>
                <a:spcPct val="110000"/>
              </a:lnSpc>
            </a:pPr>
            <a:r>
              <a:rPr sz="3400" b="0" dirty="0">
                <a:solidFill>
                  <a:srgbClr val="FFFFFF"/>
                </a:solidFill>
                <a:latin typeface="Raleway Light"/>
              </a:rPr>
              <a:t>Better decisions,
together.</a:t>
            </a:r>
          </a:p>
        </p:txBody>
      </p:sp>
      <p:sp>
        <p:nvSpPr>
          <p:cNvPr id="4" name="TextBox 3"/>
          <p:cNvSpPr txBox="1"/>
          <p:nvPr/>
        </p:nvSpPr>
        <p:spPr>
          <a:xfrm>
            <a:off x="762000" y="3937000"/>
            <a:ext cx="8890000" cy="762000"/>
          </a:xfrm>
          <a:prstGeom prst="rect">
            <a:avLst/>
          </a:prstGeom>
          <a:noFill/>
        </p:spPr>
        <p:txBody>
          <a:bodyPr wrap="square" lIns="0" tIns="0" rIns="0" bIns="0" anchor="t">
            <a:spAutoFit/>
          </a:bodyPr>
          <a:lstStyle/>
          <a:p>
            <a:pPr algn="l">
              <a:lnSpc>
                <a:spcPct val="130000"/>
              </a:lnSpc>
            </a:pPr>
            <a:r>
              <a:rPr sz="1300" b="0">
                <a:solidFill>
                  <a:srgbClr val="FFFFFF"/>
                </a:solidFill>
                <a:latin typeface="Raleway"/>
              </a:rPr>
              <a:t>Gracias por tu tiempo. Estaremos encantados de concretar cómo podemos acompañar al fondo y a sus participadas.</a:t>
            </a:r>
          </a:p>
        </p:txBody>
      </p:sp>
      <p:sp>
        <p:nvSpPr>
          <p:cNvPr id="5" name="TextBox 4"/>
          <p:cNvSpPr txBox="1"/>
          <p:nvPr/>
        </p:nvSpPr>
        <p:spPr>
          <a:xfrm>
            <a:off x="762000" y="6070600"/>
            <a:ext cx="6350000" cy="138499"/>
          </a:xfrm>
          <a:prstGeom prst="rect">
            <a:avLst/>
          </a:prstGeom>
          <a:noFill/>
        </p:spPr>
        <p:txBody>
          <a:bodyPr wrap="square" lIns="0" tIns="0" rIns="0" bIns="0" anchor="t">
            <a:spAutoFit/>
          </a:bodyPr>
          <a:lstStyle/>
          <a:p>
            <a:pPr algn="l"/>
            <a:r>
              <a:rPr sz="900" b="0" dirty="0">
                <a:solidFill>
                  <a:schemeClr val="bg1"/>
                </a:solidFill>
                <a:latin typeface="Raleway"/>
              </a:rPr>
              <a:t>tesseraservices.com - LinkedIn @tesseraservices</a:t>
            </a:r>
          </a:p>
        </p:txBody>
      </p:sp>
      <p:pic>
        <p:nvPicPr>
          <p:cNvPr id="9" name="Picture 8" descr="image.png">
            <a:extLst>
              <a:ext uri="{FF2B5EF4-FFF2-40B4-BE49-F238E27FC236}">
                <a16:creationId xmlns:a16="http://schemas.microsoft.com/office/drawing/2014/main" id="{878D4F84-C8F9-01CD-1BB8-E2B75955A8CF}"/>
              </a:ext>
            </a:extLst>
          </p:cNvPr>
          <p:cNvPicPr>
            <a:picLocks noChangeAspect="1"/>
          </p:cNvPicPr>
          <p:nvPr/>
        </p:nvPicPr>
        <p:blipFill>
          <a:blip r:embed="rId2"/>
          <a:stretch>
            <a:fillRect/>
          </a:stretch>
        </p:blipFill>
        <p:spPr>
          <a:xfrm>
            <a:off x="-2443424" y="699699"/>
            <a:ext cx="9616826" cy="164859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153</TotalTime>
  <Words>2383</Words>
  <Application>Microsoft Office PowerPoint</Application>
  <PresentationFormat>Widescreen</PresentationFormat>
  <Paragraphs>253</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Calibri</vt:lpstr>
      <vt:lpstr>Manrope ExtraLight</vt:lpstr>
      <vt:lpstr>Manrope Medium</vt:lpstr>
      <vt:lpstr>Raleway</vt:lpstr>
      <vt:lpstr>Raleway Light</vt:lpstr>
      <vt:lpstr>Raleway Medium</vt:lpstr>
      <vt:lpstr>Raleway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David Suarez Martin</dc:creator>
  <cp:keywords/>
  <dc:description>generated using python-pptx</dc:description>
  <cp:lastModifiedBy>David Suárez</cp:lastModifiedBy>
  <cp:revision>4</cp:revision>
  <dcterms:created xsi:type="dcterms:W3CDTF">2013-01-27T09:14:16Z</dcterms:created>
  <dcterms:modified xsi:type="dcterms:W3CDTF">2026-10-19T14:53:44Z</dcterms:modified>
  <cp:category/>
</cp:coreProperties>
</file>