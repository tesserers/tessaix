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282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3" Type="http://schemas.openxmlformats.org/officeDocument/2006/relationships/image" Target="../media/logo_cliente_portada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18" Type="http://schemas.openxmlformats.org/officeDocument/2006/relationships/image" Target="../media/image2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17" Type="http://schemas.openxmlformats.org/officeDocument/2006/relationships/image" Target="../media/image25.png"/><Relationship Id="rId2" Type="http://schemas.openxmlformats.org/officeDocument/2006/relationships/image" Target="../media/image2.png"/><Relationship Id="rId16" Type="http://schemas.openxmlformats.org/officeDocument/2006/relationships/image" Target="../media/image24.png"/><Relationship Id="rId20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19" Type="http://schemas.openxmlformats.org/officeDocument/2006/relationships/image" Target="../media/image27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3" Type="http://schemas.openxmlformats.org/officeDocument/2006/relationships/image" Target="../media/logo_cliente_cierre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587579"/>
            </a:gs>
            <a:gs pos="100000">
              <a:srgbClr val="202031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62000" y="1905000"/>
            <a:ext cx="635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spc="150" dirty="0">
                <a:solidFill>
                  <a:schemeClr val="bg1"/>
                </a:solidFill>
                <a:latin typeface="Raleway Medium"/>
              </a:rPr>
              <a:t>PROPUESTA COMERCIAL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286000"/>
            <a:ext cx="965200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0" dirty="0" err="1">
                <a:solidFill>
                  <a:srgbClr val="FFFFFF"/>
                </a:solidFill>
                <a:latin typeface="Raleway Light"/>
              </a:rPr>
              <a:t>Queremos</a:t>
            </a:r>
            <a:r>
              <a:rPr sz="4400" b="0" dirty="0">
                <a:solidFill>
                  <a:srgbClr val="FFFFFF"/>
                </a:solidFill>
                <a:latin typeface="Raleway Light"/>
              </a:rPr>
              <a:t> ser </a:t>
            </a:r>
            <a:r>
              <a:rPr sz="4400" b="0" dirty="0" err="1">
                <a:solidFill>
                  <a:srgbClr val="FFFFFF"/>
                </a:solidFill>
                <a:latin typeface="Raleway Light"/>
              </a:rPr>
              <a:t>tu</a:t>
            </a:r>
            <a:r>
              <a:rPr sz="4400" b="0" dirty="0">
                <a:solidFill>
                  <a:srgbClr val="FFFFFF"/>
                </a:solidFill>
                <a:latin typeface="Raleway Light"/>
              </a:rPr>
              <a:t> partner.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302000"/>
            <a:ext cx="8890000" cy="889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FFFFF"/>
                </a:solidFill>
                <a:latin typeface="Raleway"/>
              </a:rPr>
              <a:t>Finance &amp; Human Capital. Soluciones financieras y de talento para fondos de inversión y sus compañías participadas.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070600"/>
            <a:ext cx="508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dirty="0">
                <a:solidFill>
                  <a:schemeClr val="bg1"/>
                </a:solidFill>
                <a:latin typeface="Raleway"/>
              </a:rPr>
              <a:t>tesseraservices.com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14000" y="6070600"/>
            <a:ext cx="101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>
                <a:solidFill>
                  <a:srgbClr val="8AA3A5"/>
                </a:solidFill>
                <a:latin typeface="Manrope Medium"/>
              </a:rPr>
              <a:t>2026</a:t>
            </a:r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B9820261-4260-21A8-3700-3AAE7C41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443424" y="699699"/>
            <a:ext cx="9616826" cy="1648599"/>
          </a:xfrm>
          <a:prstGeom prst="rect">
            <a:avLst/>
          </a:prstGeom>
        </p:spPr>
      </p:pic>
      <p:pic>
        <p:nvPicPr>
          <p:cNvPr id="14" name="Logo clien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2000" y="5080000"/>
            <a:ext cx="4064000" cy="889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55600"/>
            <a:ext cx="1037166" cy="177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0" y="355600"/>
            <a:ext cx="381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120">
                <a:solidFill>
                  <a:srgbClr val="587579"/>
                </a:solidFill>
                <a:latin typeface="Raleway Medium"/>
              </a:rPr>
              <a:t>TESSERA EN UNA PÁGINA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660400"/>
            <a:ext cx="10668000" cy="12700"/>
          </a:xfrm>
          <a:prstGeom prst="rect">
            <a:avLst/>
          </a:prstGeom>
          <a:solidFill>
            <a:srgbClr val="E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62000" y="889000"/>
            <a:ext cx="8890000" cy="63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0">
                <a:solidFill>
                  <a:srgbClr val="202031"/>
                </a:solidFill>
                <a:latin typeface="Raleway Light"/>
              </a:rPr>
              <a:t>Tessera en una página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473200"/>
            <a:ext cx="381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87579"/>
                </a:solidFill>
                <a:latin typeface="Raleway SemiBold"/>
              </a:rPr>
              <a:t>Mejores decisiones, juntos.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752600"/>
            <a:ext cx="965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dirty="0" err="1">
                <a:solidFill>
                  <a:srgbClr val="202031"/>
                </a:solidFill>
                <a:latin typeface="Raleway"/>
              </a:rPr>
              <a:t>Consultoría</a:t>
            </a:r>
            <a:r>
              <a:rPr sz="105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1050" b="0" dirty="0" err="1">
                <a:solidFill>
                  <a:srgbClr val="202031"/>
                </a:solidFill>
                <a:latin typeface="Raleway"/>
              </a:rPr>
              <a:t>estratégica</a:t>
            </a:r>
            <a:r>
              <a:rPr sz="105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1050" b="0" dirty="0" err="1">
                <a:solidFill>
                  <a:srgbClr val="202031"/>
                </a:solidFill>
                <a:latin typeface="Raleway"/>
              </a:rPr>
              <a:t>en</a:t>
            </a:r>
            <a:r>
              <a:rPr sz="105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1050" b="0" dirty="0" err="1">
                <a:solidFill>
                  <a:srgbClr val="202031"/>
                </a:solidFill>
                <a:latin typeface="Raleway"/>
              </a:rPr>
              <a:t>Finanzas</a:t>
            </a:r>
            <a:r>
              <a:rPr sz="1050" b="0" dirty="0">
                <a:solidFill>
                  <a:srgbClr val="202031"/>
                </a:solidFill>
                <a:latin typeface="Raleway"/>
              </a:rPr>
              <a:t> y Talento para </a:t>
            </a:r>
            <a:r>
              <a:rPr sz="1050" b="0" dirty="0" err="1">
                <a:solidFill>
                  <a:srgbClr val="202031"/>
                </a:solidFill>
                <a:latin typeface="Raleway"/>
              </a:rPr>
              <a:t>compañías</a:t>
            </a:r>
            <a:r>
              <a:rPr sz="1050" b="0" dirty="0">
                <a:solidFill>
                  <a:srgbClr val="202031"/>
                </a:solidFill>
                <a:latin typeface="Raleway"/>
              </a:rPr>
              <a:t>, </a:t>
            </a:r>
            <a:r>
              <a:rPr sz="1050" b="0" dirty="0" err="1">
                <a:solidFill>
                  <a:srgbClr val="202031"/>
                </a:solidFill>
                <a:latin typeface="Raleway"/>
              </a:rPr>
              <a:t>inversores</a:t>
            </a:r>
            <a:r>
              <a:rPr sz="1050" b="0" dirty="0">
                <a:solidFill>
                  <a:srgbClr val="202031"/>
                </a:solidFill>
                <a:latin typeface="Raleway"/>
              </a:rPr>
              <a:t> y sus </a:t>
            </a:r>
            <a:r>
              <a:rPr sz="1050" b="0" dirty="0" err="1">
                <a:solidFill>
                  <a:srgbClr val="202031"/>
                </a:solidFill>
                <a:latin typeface="Raleway"/>
              </a:rPr>
              <a:t>participadas</a:t>
            </a:r>
            <a:r>
              <a:rPr sz="1050" b="0" dirty="0">
                <a:solidFill>
                  <a:srgbClr val="202031"/>
                </a:solidFill>
                <a:latin typeface="Raleway"/>
              </a:rPr>
              <a:t>. Un </a:t>
            </a:r>
            <a:r>
              <a:rPr sz="1050" b="0" dirty="0" err="1">
                <a:solidFill>
                  <a:srgbClr val="202031"/>
                </a:solidFill>
                <a:latin typeface="Raleway"/>
              </a:rPr>
              <a:t>equipo</a:t>
            </a:r>
            <a:r>
              <a:rPr sz="1050" b="0" dirty="0">
                <a:solidFill>
                  <a:srgbClr val="202031"/>
                </a:solidFill>
                <a:latin typeface="Raleway"/>
              </a:rPr>
              <a:t> senior </a:t>
            </a:r>
            <a:r>
              <a:rPr sz="1050" b="0" dirty="0" err="1">
                <a:solidFill>
                  <a:srgbClr val="202031"/>
                </a:solidFill>
                <a:latin typeface="Raleway"/>
              </a:rPr>
              <a:t>que</a:t>
            </a:r>
            <a:r>
              <a:rPr sz="1050" b="0" dirty="0">
                <a:solidFill>
                  <a:srgbClr val="202031"/>
                </a:solidFill>
                <a:latin typeface="Raleway"/>
              </a:rPr>
              <a:t> se integra </a:t>
            </a:r>
            <a:r>
              <a:rPr sz="1050" b="0" dirty="0" err="1">
                <a:solidFill>
                  <a:srgbClr val="202031"/>
                </a:solidFill>
                <a:latin typeface="Raleway"/>
              </a:rPr>
              <a:t>en</a:t>
            </a:r>
            <a:r>
              <a:rPr sz="1050" b="0" dirty="0">
                <a:solidFill>
                  <a:srgbClr val="202031"/>
                </a:solidFill>
                <a:latin typeface="Raleway"/>
              </a:rPr>
              <a:t> el </a:t>
            </a:r>
            <a:r>
              <a:rPr sz="1050" b="0" dirty="0" err="1">
                <a:solidFill>
                  <a:srgbClr val="202031"/>
                </a:solidFill>
                <a:latin typeface="Raleway"/>
              </a:rPr>
              <a:t>proyecto</a:t>
            </a:r>
            <a:r>
              <a:rPr sz="1050" b="0" dirty="0">
                <a:solidFill>
                  <a:srgbClr val="202031"/>
                </a:solidFill>
                <a:latin typeface="Raleway"/>
              </a:rPr>
              <a:t> y </a:t>
            </a:r>
            <a:r>
              <a:rPr sz="1050" b="0" dirty="0" err="1">
                <a:solidFill>
                  <a:srgbClr val="202031"/>
                </a:solidFill>
                <a:latin typeface="Raleway"/>
              </a:rPr>
              <a:t>responde</a:t>
            </a:r>
            <a:r>
              <a:rPr sz="105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1050" b="0" dirty="0" err="1">
                <a:solidFill>
                  <a:srgbClr val="202031"/>
                </a:solidFill>
                <a:latin typeface="Raleway"/>
              </a:rPr>
              <a:t>por</a:t>
            </a:r>
            <a:r>
              <a:rPr sz="1050" b="0" dirty="0">
                <a:solidFill>
                  <a:srgbClr val="202031"/>
                </a:solidFill>
                <a:latin typeface="Raleway"/>
              </a:rPr>
              <a:t> el </a:t>
            </a:r>
            <a:r>
              <a:rPr sz="1050" b="0" dirty="0" err="1">
                <a:solidFill>
                  <a:srgbClr val="202031"/>
                </a:solidFill>
                <a:latin typeface="Raleway"/>
              </a:rPr>
              <a:t>resultado</a:t>
            </a:r>
            <a:r>
              <a:rPr sz="1050" b="0" dirty="0">
                <a:solidFill>
                  <a:srgbClr val="202031"/>
                </a:solidFill>
                <a:latin typeface="Raleway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2336800"/>
            <a:ext cx="1016000" cy="431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>
                <a:solidFill>
                  <a:srgbClr val="202031"/>
                </a:solidFill>
                <a:latin typeface="Manrope ExtraLigh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2743200"/>
            <a:ext cx="2963333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202031"/>
                </a:solidFill>
                <a:latin typeface="Raleway"/>
              </a:rPr>
              <a:t>áreas: Finance y Human Capital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74296" y="2336800"/>
            <a:ext cx="1016000" cy="431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dirty="0">
                <a:solidFill>
                  <a:srgbClr val="202031"/>
                </a:solidFill>
                <a:latin typeface="Manrope ExtraLight"/>
              </a:rPr>
              <a:t>+21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4296" y="2743200"/>
            <a:ext cx="2963333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202031"/>
                </a:solidFill>
                <a:latin typeface="Raleway"/>
              </a:rPr>
              <a:t>consultores y equipo de CFOs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96666" y="2336800"/>
            <a:ext cx="1016000" cy="431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>
                <a:solidFill>
                  <a:srgbClr val="202031"/>
                </a:solidFill>
                <a:latin typeface="Manrope ExtraLight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96666" y="2743200"/>
            <a:ext cx="2963333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dirty="0" err="1">
                <a:solidFill>
                  <a:srgbClr val="202031"/>
                </a:solidFill>
                <a:latin typeface="Raleway"/>
              </a:rPr>
              <a:t>oficinas</a:t>
            </a:r>
            <a:r>
              <a:rPr sz="95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950" b="0" dirty="0" err="1">
                <a:solidFill>
                  <a:srgbClr val="202031"/>
                </a:solidFill>
                <a:latin typeface="Raleway"/>
              </a:rPr>
              <a:t>en</a:t>
            </a:r>
            <a:r>
              <a:rPr sz="950" b="0" dirty="0">
                <a:solidFill>
                  <a:srgbClr val="202031"/>
                </a:solidFill>
                <a:latin typeface="Raleway"/>
              </a:rPr>
              <a:t> España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381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87579"/>
                </a:solidFill>
                <a:latin typeface="Raleway"/>
              </a:rPr>
              <a:t>tesseraservices.com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68000" y="6400800"/>
            <a:ext cx="7620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0">
                <a:solidFill>
                  <a:srgbClr val="202031"/>
                </a:solidFill>
                <a:latin typeface="Manrope Medium"/>
              </a:rPr>
              <a:t>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2000" y="4129613"/>
            <a:ext cx="3378200" cy="1270000"/>
          </a:xfrm>
          <a:prstGeom prst="rect">
            <a:avLst/>
          </a:prstGeom>
          <a:solidFill>
            <a:srgbClr val="E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90600" y="4510613"/>
            <a:ext cx="2921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202031"/>
                </a:solidFill>
                <a:latin typeface="Raleway SemiBold"/>
              </a:rPr>
              <a:t>MADRID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0600" y="4866213"/>
            <a:ext cx="2921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87579"/>
                </a:solidFill>
                <a:latin typeface="Raleway"/>
              </a:rPr>
              <a:t>Sede central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06900" y="4129613"/>
            <a:ext cx="3378200" cy="1270000"/>
          </a:xfrm>
          <a:prstGeom prst="rect">
            <a:avLst/>
          </a:prstGeom>
          <a:solidFill>
            <a:srgbClr val="E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35500" y="4510613"/>
            <a:ext cx="2921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202031"/>
                </a:solidFill>
                <a:latin typeface="Raleway SemiBold"/>
              </a:rPr>
              <a:t>BILBAO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35500" y="4866213"/>
            <a:ext cx="2921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87579"/>
                </a:solidFill>
                <a:latin typeface="Raleway"/>
              </a:rPr>
              <a:t>País Vasco - España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51800" y="4129613"/>
            <a:ext cx="3378200" cy="1270000"/>
          </a:xfrm>
          <a:prstGeom prst="rect">
            <a:avLst/>
          </a:prstGeom>
          <a:solidFill>
            <a:srgbClr val="E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80400" y="4510613"/>
            <a:ext cx="2921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202031"/>
                </a:solidFill>
                <a:latin typeface="Raleway SemiBold"/>
              </a:rPr>
              <a:t>OVIEDO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0400" y="4866213"/>
            <a:ext cx="2921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87579"/>
                </a:solidFill>
                <a:latin typeface="Raleway"/>
              </a:rPr>
              <a:t>Asturias - España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2000" y="5490087"/>
            <a:ext cx="3081866" cy="889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65200" y="5667887"/>
            <a:ext cx="2675466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587579"/>
                </a:solidFill>
                <a:latin typeface="Raleway Medium"/>
              </a:rPr>
              <a:t>BOUTIQUE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200" y="5921887"/>
            <a:ext cx="2675466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202031"/>
                </a:solidFill>
                <a:latin typeface="Raleway"/>
              </a:rPr>
              <a:t>Equipo senior en cada proyecto.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47066" y="5490087"/>
            <a:ext cx="3081866" cy="889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250266" y="5667887"/>
            <a:ext cx="2675466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587579"/>
                </a:solidFill>
                <a:latin typeface="Raleway Medium"/>
              </a:rPr>
              <a:t>TRATO DIRECTO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50266" y="5921887"/>
            <a:ext cx="2675466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202031"/>
                </a:solidFill>
                <a:latin typeface="Raleway"/>
              </a:rPr>
              <a:t>Un interlocutor, de tú a tú.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32133" y="5490087"/>
            <a:ext cx="3081866" cy="889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35333" y="5667887"/>
            <a:ext cx="2675466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587579"/>
                </a:solidFill>
                <a:latin typeface="Raleway Medium"/>
              </a:rPr>
              <a:t>VISIÓN DE NEGOCIO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35333" y="5921887"/>
            <a:ext cx="2675466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202031"/>
                </a:solidFill>
                <a:latin typeface="Raleway"/>
              </a:rPr>
              <a:t>Al servicio de la tesis de inversión.</a:t>
            </a:r>
          </a:p>
        </p:txBody>
      </p:sp>
      <p:sp>
        <p:nvSpPr>
          <p:cNvPr id="38" name="Graphic 17">
            <a:extLst>
              <a:ext uri="{FF2B5EF4-FFF2-40B4-BE49-F238E27FC236}">
                <a16:creationId xmlns:a16="http://schemas.microsoft.com/office/drawing/2014/main" id="{E028163A-99E4-6946-5526-87355120F93A}"/>
              </a:ext>
            </a:extLst>
          </p:cNvPr>
          <p:cNvSpPr/>
          <p:nvPr/>
        </p:nvSpPr>
        <p:spPr>
          <a:xfrm>
            <a:off x="9375848" y="2999540"/>
            <a:ext cx="2584303" cy="2120673"/>
          </a:xfrm>
          <a:custGeom>
            <a:avLst/>
            <a:gdLst>
              <a:gd name="csX0" fmla="*/ 2420120 w 2765447"/>
              <a:gd name="csY0" fmla="*/ 305991 h 2294737"/>
              <a:gd name="csX1" fmla="*/ 2239870 w 2765447"/>
              <a:gd name="csY1" fmla="*/ 1988324 h 2294737"/>
              <a:gd name="csX2" fmla="*/ 437378 w 2765447"/>
              <a:gd name="csY2" fmla="*/ 2048407 h 2294737"/>
              <a:gd name="csX3" fmla="*/ 257129 w 2765447"/>
              <a:gd name="csY3" fmla="*/ 426157 h 2294737"/>
              <a:gd name="csX4" fmla="*/ 2420120 w 2765447"/>
              <a:gd name="csY4" fmla="*/ 305991 h 2294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65447" h="2294737">
                <a:moveTo>
                  <a:pt x="2420120" y="305991"/>
                </a:moveTo>
                <a:cubicBezTo>
                  <a:pt x="2960867" y="786662"/>
                  <a:pt x="2840701" y="1567742"/>
                  <a:pt x="2239870" y="1988324"/>
                </a:cubicBezTo>
                <a:cubicBezTo>
                  <a:pt x="1699122" y="2360839"/>
                  <a:pt x="918042" y="2408906"/>
                  <a:pt x="437378" y="2048407"/>
                </a:cubicBezTo>
                <a:cubicBezTo>
                  <a:pt x="-43287" y="1687908"/>
                  <a:pt x="-163453" y="906828"/>
                  <a:pt x="257129" y="426157"/>
                </a:cubicBezTo>
                <a:cubicBezTo>
                  <a:pt x="677711" y="-54508"/>
                  <a:pt x="1879372" y="-174674"/>
                  <a:pt x="2420120" y="305991"/>
                </a:cubicBezTo>
                <a:close/>
              </a:path>
            </a:pathLst>
          </a:custGeom>
          <a:blipFill>
            <a:blip r:embed="rId3"/>
            <a:stretch>
              <a:fillRect l="135" r="-135" b="-8766"/>
            </a:stretch>
          </a:blipFill>
          <a:ln w="48006" cap="rnd">
            <a:gradFill>
              <a:gsLst>
                <a:gs pos="0">
                  <a:srgbClr val="587579"/>
                </a:gs>
                <a:gs pos="52000">
                  <a:srgbClr val="6E8E7E"/>
                </a:gs>
                <a:gs pos="100000">
                  <a:srgbClr val="F0E8DE"/>
                </a:gs>
              </a:gsLst>
              <a:lin ang="0" scaled="1"/>
            </a:gradFill>
            <a:prstDash val="solid"/>
            <a:round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40" name="Graphic 17">
            <a:extLst>
              <a:ext uri="{FF2B5EF4-FFF2-40B4-BE49-F238E27FC236}">
                <a16:creationId xmlns:a16="http://schemas.microsoft.com/office/drawing/2014/main" id="{019A56C6-B5FA-FBBA-06EB-10D8201DF9C1}"/>
              </a:ext>
            </a:extLst>
          </p:cNvPr>
          <p:cNvSpPr/>
          <p:nvPr/>
        </p:nvSpPr>
        <p:spPr>
          <a:xfrm>
            <a:off x="5654437" y="2999540"/>
            <a:ext cx="2584303" cy="2120673"/>
          </a:xfrm>
          <a:custGeom>
            <a:avLst/>
            <a:gdLst>
              <a:gd name="csX0" fmla="*/ 2420120 w 2765447"/>
              <a:gd name="csY0" fmla="*/ 305991 h 2294737"/>
              <a:gd name="csX1" fmla="*/ 2239870 w 2765447"/>
              <a:gd name="csY1" fmla="*/ 1988324 h 2294737"/>
              <a:gd name="csX2" fmla="*/ 437378 w 2765447"/>
              <a:gd name="csY2" fmla="*/ 2048407 h 2294737"/>
              <a:gd name="csX3" fmla="*/ 257129 w 2765447"/>
              <a:gd name="csY3" fmla="*/ 426157 h 2294737"/>
              <a:gd name="csX4" fmla="*/ 2420120 w 2765447"/>
              <a:gd name="csY4" fmla="*/ 305991 h 2294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65447" h="2294737">
                <a:moveTo>
                  <a:pt x="2420120" y="305991"/>
                </a:moveTo>
                <a:cubicBezTo>
                  <a:pt x="2960867" y="786662"/>
                  <a:pt x="2840701" y="1567742"/>
                  <a:pt x="2239870" y="1988324"/>
                </a:cubicBezTo>
                <a:cubicBezTo>
                  <a:pt x="1699122" y="2360839"/>
                  <a:pt x="918042" y="2408906"/>
                  <a:pt x="437378" y="2048407"/>
                </a:cubicBezTo>
                <a:cubicBezTo>
                  <a:pt x="-43287" y="1687908"/>
                  <a:pt x="-163453" y="906828"/>
                  <a:pt x="257129" y="426157"/>
                </a:cubicBezTo>
                <a:cubicBezTo>
                  <a:pt x="677711" y="-54508"/>
                  <a:pt x="1879372" y="-174674"/>
                  <a:pt x="2420120" y="305991"/>
                </a:cubicBezTo>
                <a:close/>
              </a:path>
            </a:pathLst>
          </a:custGeom>
          <a:blipFill>
            <a:blip r:embed="rId4"/>
            <a:stretch>
              <a:fillRect l="135" r="-135" b="-8766"/>
            </a:stretch>
          </a:blipFill>
          <a:ln w="48006" cap="rnd">
            <a:gradFill>
              <a:gsLst>
                <a:gs pos="0">
                  <a:srgbClr val="5E7B7A"/>
                </a:gs>
                <a:gs pos="27000">
                  <a:srgbClr val="5E7B7A"/>
                </a:gs>
                <a:gs pos="59000">
                  <a:srgbClr val="F0E8DE"/>
                </a:gs>
                <a:gs pos="83000">
                  <a:srgbClr val="5E7B7A"/>
                </a:gs>
              </a:gsLst>
              <a:lin ang="5400000" scaled="1"/>
            </a:gradFill>
            <a:prstDash val="solid"/>
            <a:round/>
          </a:ln>
        </p:spPr>
        <p:txBody>
          <a:bodyPr/>
          <a:lstStyle/>
          <a:p>
            <a:endParaRPr lang="es-ES_tradnl"/>
          </a:p>
        </p:txBody>
      </p:sp>
      <p:sp>
        <p:nvSpPr>
          <p:cNvPr id="42" name="Graphic 17">
            <a:extLst>
              <a:ext uri="{FF2B5EF4-FFF2-40B4-BE49-F238E27FC236}">
                <a16:creationId xmlns:a16="http://schemas.microsoft.com/office/drawing/2014/main" id="{F8DB76AB-9200-F960-460F-785AB6A28033}"/>
              </a:ext>
            </a:extLst>
          </p:cNvPr>
          <p:cNvSpPr/>
          <p:nvPr/>
        </p:nvSpPr>
        <p:spPr>
          <a:xfrm>
            <a:off x="1916067" y="2983465"/>
            <a:ext cx="2584303" cy="2120673"/>
          </a:xfrm>
          <a:custGeom>
            <a:avLst/>
            <a:gdLst>
              <a:gd name="csX0" fmla="*/ 2420120 w 2765447"/>
              <a:gd name="csY0" fmla="*/ 305991 h 2294737"/>
              <a:gd name="csX1" fmla="*/ 2239870 w 2765447"/>
              <a:gd name="csY1" fmla="*/ 1988324 h 2294737"/>
              <a:gd name="csX2" fmla="*/ 437378 w 2765447"/>
              <a:gd name="csY2" fmla="*/ 2048407 h 2294737"/>
              <a:gd name="csX3" fmla="*/ 257129 w 2765447"/>
              <a:gd name="csY3" fmla="*/ 426157 h 2294737"/>
              <a:gd name="csX4" fmla="*/ 2420120 w 2765447"/>
              <a:gd name="csY4" fmla="*/ 305991 h 2294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65447" h="2294737">
                <a:moveTo>
                  <a:pt x="2420120" y="305991"/>
                </a:moveTo>
                <a:cubicBezTo>
                  <a:pt x="2960867" y="786662"/>
                  <a:pt x="2840701" y="1567742"/>
                  <a:pt x="2239870" y="1988324"/>
                </a:cubicBezTo>
                <a:cubicBezTo>
                  <a:pt x="1699122" y="2360839"/>
                  <a:pt x="918042" y="2408906"/>
                  <a:pt x="437378" y="2048407"/>
                </a:cubicBezTo>
                <a:cubicBezTo>
                  <a:pt x="-43287" y="1687908"/>
                  <a:pt x="-163453" y="906828"/>
                  <a:pt x="257129" y="426157"/>
                </a:cubicBezTo>
                <a:cubicBezTo>
                  <a:pt x="677711" y="-54508"/>
                  <a:pt x="1879372" y="-174674"/>
                  <a:pt x="2420120" y="305991"/>
                </a:cubicBezTo>
                <a:close/>
              </a:path>
            </a:pathLst>
          </a:custGeom>
          <a:blipFill dpi="0" rotWithShape="1">
            <a:blip r:embed="rId5"/>
            <a:srcRect/>
            <a:stretch>
              <a:fillRect l="135" r="-135" b="-8766"/>
            </a:stretch>
          </a:blipFill>
          <a:ln w="48006" cap="rnd">
            <a:gradFill>
              <a:gsLst>
                <a:gs pos="0">
                  <a:srgbClr val="587579"/>
                </a:gs>
                <a:gs pos="52000">
                  <a:srgbClr val="6E8E7E"/>
                </a:gs>
                <a:gs pos="100000">
                  <a:srgbClr val="F0E8DE"/>
                </a:gs>
              </a:gsLst>
              <a:lin ang="0" scaled="1"/>
            </a:gradFill>
            <a:prstDash val="solid"/>
            <a:round/>
          </a:ln>
        </p:spPr>
        <p:txBody>
          <a:bodyPr/>
          <a:lstStyle/>
          <a:p>
            <a:endParaRPr lang="es-ES_tradnl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55600"/>
            <a:ext cx="1037166" cy="177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0" y="355600"/>
            <a:ext cx="381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120">
                <a:solidFill>
                  <a:srgbClr val="587579"/>
                </a:solidFill>
                <a:latin typeface="Raleway Medium"/>
              </a:rPr>
              <a:t>TESSERA EN UNA PÁGINA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660400"/>
            <a:ext cx="10668000" cy="12700"/>
          </a:xfrm>
          <a:prstGeom prst="rect">
            <a:avLst/>
          </a:prstGeom>
          <a:solidFill>
            <a:srgbClr val="E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62000" y="889000"/>
            <a:ext cx="8890000" cy="63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0">
                <a:solidFill>
                  <a:srgbClr val="202031"/>
                </a:solidFill>
                <a:latin typeface="Raleway Light"/>
              </a:rPr>
              <a:t>Tessera en una página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473200"/>
            <a:ext cx="381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87579"/>
                </a:solidFill>
                <a:latin typeface="Raleway SemiBold"/>
              </a:rPr>
              <a:t>Mejores decisiones, juntos.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752600"/>
            <a:ext cx="965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202031"/>
                </a:solidFill>
                <a:latin typeface="Raleway"/>
              </a:rPr>
              <a:t>Consultoría estratégica en Finanzas y Talento para compañías, inversores y sus participadas. Un equipo senior que se integra en el proyecto y responde por el resultado.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2349499"/>
            <a:ext cx="1016000" cy="431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>
                <a:solidFill>
                  <a:srgbClr val="202031"/>
                </a:solidFill>
                <a:latin typeface="Manrope ExtraLigh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2755899"/>
            <a:ext cx="2963333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202031"/>
                </a:solidFill>
                <a:latin typeface="Raleway"/>
              </a:rPr>
              <a:t>áreas: Finance y Human Capital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7066" y="2336800"/>
            <a:ext cx="1016000" cy="431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dirty="0">
                <a:solidFill>
                  <a:srgbClr val="202031"/>
                </a:solidFill>
                <a:latin typeface="Manrope ExtraLight"/>
              </a:rPr>
              <a:t>+21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17066" y="2743200"/>
            <a:ext cx="2963333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dirty="0" err="1">
                <a:solidFill>
                  <a:srgbClr val="202031"/>
                </a:solidFill>
                <a:latin typeface="Raleway"/>
              </a:rPr>
              <a:t>consultores</a:t>
            </a:r>
            <a:r>
              <a:rPr sz="950" b="0" dirty="0">
                <a:solidFill>
                  <a:srgbClr val="202031"/>
                </a:solidFill>
                <a:latin typeface="Raleway"/>
              </a:rPr>
              <a:t> y </a:t>
            </a:r>
            <a:r>
              <a:rPr sz="950" b="0" dirty="0" err="1">
                <a:solidFill>
                  <a:srgbClr val="202031"/>
                </a:solidFill>
                <a:latin typeface="Raleway"/>
              </a:rPr>
              <a:t>equipo</a:t>
            </a:r>
            <a:r>
              <a:rPr sz="950" b="0" dirty="0">
                <a:solidFill>
                  <a:srgbClr val="202031"/>
                </a:solidFill>
                <a:latin typeface="Raleway"/>
              </a:rPr>
              <a:t> de CFOs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4399" y="2336800"/>
            <a:ext cx="1016000" cy="431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>
                <a:solidFill>
                  <a:srgbClr val="202031"/>
                </a:solidFill>
                <a:latin typeface="Manrope ExtraLight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4399" y="2743200"/>
            <a:ext cx="2963333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202031"/>
                </a:solidFill>
                <a:latin typeface="Raleway"/>
              </a:rPr>
              <a:t>oficinas en España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381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87579"/>
                </a:solidFill>
                <a:latin typeface="Raleway"/>
              </a:rPr>
              <a:t>tesseraservices.com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68000" y="6400800"/>
            <a:ext cx="7620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0">
                <a:solidFill>
                  <a:srgbClr val="202031"/>
                </a:solidFill>
                <a:latin typeface="Manrope Medium"/>
              </a:rPr>
              <a:t>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2000" y="3314699"/>
            <a:ext cx="3378200" cy="1270000"/>
          </a:xfrm>
          <a:prstGeom prst="rect">
            <a:avLst/>
          </a:prstGeom>
          <a:solidFill>
            <a:srgbClr val="E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90600" y="3517899"/>
            <a:ext cx="558800" cy="38100"/>
          </a:xfrm>
          <a:prstGeom prst="rect">
            <a:avLst/>
          </a:prstGeom>
          <a:gradFill rotWithShape="1">
            <a:gsLst>
              <a:gs pos="0">
                <a:srgbClr val="587579"/>
              </a:gs>
              <a:gs pos="100000">
                <a:srgbClr val="20203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90600" y="3695699"/>
            <a:ext cx="2921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202031"/>
                </a:solidFill>
                <a:latin typeface="Raleway SemiBold"/>
              </a:rPr>
              <a:t>MADRID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0600" y="4051299"/>
            <a:ext cx="2921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87579"/>
                </a:solidFill>
                <a:latin typeface="Raleway"/>
              </a:rPr>
              <a:t>Sede central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99733" y="4800600"/>
            <a:ext cx="3081866" cy="889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5200" y="4991099"/>
            <a:ext cx="2675466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587579"/>
                </a:solidFill>
                <a:latin typeface="Raleway Medium"/>
              </a:rPr>
              <a:t>BOUTIQUE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5200" y="5245099"/>
            <a:ext cx="2675466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202031"/>
                </a:solidFill>
                <a:latin typeface="Raleway"/>
              </a:rPr>
              <a:t>Equipo senior en cada proyecto.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84799" y="4800600"/>
            <a:ext cx="3081866" cy="889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587999" y="4978400"/>
            <a:ext cx="2675466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587579"/>
                </a:solidFill>
                <a:latin typeface="Raleway Medium"/>
              </a:rPr>
              <a:t>TRATO DIRECTO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87999" y="5232400"/>
            <a:ext cx="2675466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202031"/>
                </a:solidFill>
                <a:latin typeface="Raleway"/>
              </a:rPr>
              <a:t>Un interlocutor, de tú a tú.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73066" y="4978400"/>
            <a:ext cx="2675466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587579"/>
                </a:solidFill>
                <a:latin typeface="Raleway Medium"/>
              </a:rPr>
              <a:t>VISIÓN DE NEGOCIO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73066" y="5232400"/>
            <a:ext cx="2675466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202031"/>
                </a:solidFill>
                <a:latin typeface="Raleway"/>
              </a:rPr>
              <a:t>Al servicio de la tesis de inversión.</a:t>
            </a:r>
          </a:p>
        </p:txBody>
      </p:sp>
      <p:sp>
        <p:nvSpPr>
          <p:cNvPr id="30" name="Graphic 17">
            <a:extLst>
              <a:ext uri="{FF2B5EF4-FFF2-40B4-BE49-F238E27FC236}">
                <a16:creationId xmlns:a16="http://schemas.microsoft.com/office/drawing/2014/main" id="{610B7595-5E49-CCAC-8DC7-EC8A578D43F4}"/>
              </a:ext>
            </a:extLst>
          </p:cNvPr>
          <p:cNvSpPr/>
          <p:nvPr/>
        </p:nvSpPr>
        <p:spPr>
          <a:xfrm>
            <a:off x="2243666" y="2978263"/>
            <a:ext cx="2584303" cy="2120673"/>
          </a:xfrm>
          <a:custGeom>
            <a:avLst/>
            <a:gdLst>
              <a:gd name="csX0" fmla="*/ 2420120 w 2765447"/>
              <a:gd name="csY0" fmla="*/ 305991 h 2294737"/>
              <a:gd name="csX1" fmla="*/ 2239870 w 2765447"/>
              <a:gd name="csY1" fmla="*/ 1988324 h 2294737"/>
              <a:gd name="csX2" fmla="*/ 437378 w 2765447"/>
              <a:gd name="csY2" fmla="*/ 2048407 h 2294737"/>
              <a:gd name="csX3" fmla="*/ 257129 w 2765447"/>
              <a:gd name="csY3" fmla="*/ 426157 h 2294737"/>
              <a:gd name="csX4" fmla="*/ 2420120 w 2765447"/>
              <a:gd name="csY4" fmla="*/ 305991 h 2294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65447" h="2294737">
                <a:moveTo>
                  <a:pt x="2420120" y="305991"/>
                </a:moveTo>
                <a:cubicBezTo>
                  <a:pt x="2960867" y="786662"/>
                  <a:pt x="2840701" y="1567742"/>
                  <a:pt x="2239870" y="1988324"/>
                </a:cubicBezTo>
                <a:cubicBezTo>
                  <a:pt x="1699122" y="2360839"/>
                  <a:pt x="918042" y="2408906"/>
                  <a:pt x="437378" y="2048407"/>
                </a:cubicBezTo>
                <a:cubicBezTo>
                  <a:pt x="-43287" y="1687908"/>
                  <a:pt x="-163453" y="906828"/>
                  <a:pt x="257129" y="426157"/>
                </a:cubicBezTo>
                <a:cubicBezTo>
                  <a:pt x="677711" y="-54508"/>
                  <a:pt x="1879372" y="-174674"/>
                  <a:pt x="2420120" y="305991"/>
                </a:cubicBezTo>
                <a:close/>
              </a:path>
            </a:pathLst>
          </a:custGeom>
          <a:blipFill dpi="0" rotWithShape="1">
            <a:blip r:embed="rId3"/>
            <a:srcRect/>
            <a:stretch>
              <a:fillRect l="135" r="-135" b="-8766"/>
            </a:stretch>
          </a:blipFill>
          <a:ln w="48006" cap="rnd">
            <a:gradFill>
              <a:gsLst>
                <a:gs pos="0">
                  <a:srgbClr val="587579"/>
                </a:gs>
                <a:gs pos="52000">
                  <a:srgbClr val="6E8E7E"/>
                </a:gs>
                <a:gs pos="100000">
                  <a:srgbClr val="F0E8DE"/>
                </a:gs>
              </a:gsLst>
              <a:lin ang="0" scaled="1"/>
            </a:gradFill>
            <a:prstDash val="solid"/>
            <a:round/>
          </a:ln>
        </p:spPr>
        <p:txBody>
          <a:bodyPr/>
          <a:lstStyle/>
          <a:p>
            <a:endParaRPr lang="es-ES_tradnl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55600"/>
            <a:ext cx="1037166" cy="177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0" y="355600"/>
            <a:ext cx="381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120">
                <a:solidFill>
                  <a:srgbClr val="587579"/>
                </a:solidFill>
                <a:latin typeface="Raleway Medium"/>
              </a:rPr>
              <a:t>NUESTRO EQUIPO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660400"/>
            <a:ext cx="10668000" cy="12700"/>
          </a:xfrm>
          <a:prstGeom prst="rect">
            <a:avLst/>
          </a:prstGeom>
          <a:solidFill>
            <a:srgbClr val="E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62000" y="889000"/>
            <a:ext cx="6350000" cy="63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>
                <a:solidFill>
                  <a:srgbClr val="202031"/>
                </a:solidFill>
                <a:latin typeface="Raleway Light"/>
              </a:rPr>
              <a:t>El Equipo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549400"/>
            <a:ext cx="8890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587579"/>
                </a:solidFill>
                <a:latin typeface="Raleway"/>
              </a:rPr>
              <a:t>Equipo </a:t>
            </a:r>
            <a:r>
              <a:rPr sz="1050" b="0" dirty="0" err="1">
                <a:solidFill>
                  <a:srgbClr val="587579"/>
                </a:solidFill>
                <a:latin typeface="Raleway"/>
              </a:rPr>
              <a:t>directivo</a:t>
            </a:r>
            <a:r>
              <a:rPr sz="1050" b="0" dirty="0">
                <a:solidFill>
                  <a:srgbClr val="587579"/>
                </a:solidFill>
                <a:latin typeface="Raleway"/>
              </a:rPr>
              <a:t> - +21 </a:t>
            </a:r>
            <a:r>
              <a:rPr sz="1050" b="0" dirty="0" err="1">
                <a:solidFill>
                  <a:srgbClr val="587579"/>
                </a:solidFill>
                <a:latin typeface="Raleway"/>
              </a:rPr>
              <a:t>consultores</a:t>
            </a:r>
            <a:r>
              <a:rPr sz="1050" b="0" dirty="0">
                <a:solidFill>
                  <a:srgbClr val="587579"/>
                </a:solidFill>
                <a:latin typeface="Raleway"/>
              </a:rPr>
              <a:t> - Madrid, Bilbao y Oviedo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762500"/>
            <a:ext cx="3048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02031"/>
                </a:solidFill>
                <a:latin typeface="Raleway SemiBold"/>
              </a:rPr>
              <a:t>MANUEL PINA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991100"/>
            <a:ext cx="3048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spc="60">
                <a:solidFill>
                  <a:srgbClr val="587579"/>
                </a:solidFill>
                <a:latin typeface="Raleway Medium"/>
              </a:rPr>
              <a:t>PARTNER - FINANCE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5245100"/>
            <a:ext cx="3048000" cy="190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30" b="0">
                <a:solidFill>
                  <a:srgbClr val="202031"/>
                </a:solidFill>
                <a:latin typeface="Raleway"/>
              </a:rPr>
              <a:t>Más de 10 años en Big Four en auditoría, due diligence y M&amp;A, y posteriormente CFO en grandes pymes españolas. Lidera Tessera Finance, coordinando el equipo de CFOs, transacciones y asesoramiento financiero estratégico.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6451" y="4762500"/>
            <a:ext cx="3048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02031"/>
                </a:solidFill>
                <a:latin typeface="Raleway SemiBold"/>
              </a:rPr>
              <a:t>MÓNICA MAYORAL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6451" y="4991100"/>
            <a:ext cx="3048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spc="60">
                <a:solidFill>
                  <a:srgbClr val="587579"/>
                </a:solidFill>
                <a:latin typeface="Raleway Medium"/>
              </a:rPr>
              <a:t>PARTNER - FINANCE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6451" y="5245100"/>
            <a:ext cx="3048000" cy="190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30" b="0">
                <a:solidFill>
                  <a:srgbClr val="202031"/>
                </a:solidFill>
                <a:latin typeface="Raleway"/>
              </a:rPr>
              <a:t>Más de 20 años como Directora Financiera en empresa multinacional, muy involucrada en el día a día de la compañía con visión y estrategia global: reducción de riesgos y planes de crecimiento.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0903" y="4762500"/>
            <a:ext cx="3048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02031"/>
                </a:solidFill>
                <a:latin typeface="Raleway SemiBold"/>
              </a:rPr>
              <a:t>EDWARD MANRIQUE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0903" y="4991100"/>
            <a:ext cx="3048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spc="60">
                <a:solidFill>
                  <a:srgbClr val="587579"/>
                </a:solidFill>
                <a:latin typeface="Raleway Medium"/>
              </a:rPr>
              <a:t>HEAD OF RECRUITMENT &amp; TALENT OPERATIONS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0903" y="5245100"/>
            <a:ext cx="3048000" cy="190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30" b="0" dirty="0">
                <a:solidFill>
                  <a:srgbClr val="202031"/>
                </a:solidFill>
                <a:latin typeface="Raleway"/>
              </a:rPr>
              <a:t>Más de 8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años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de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experiencia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en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identificación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y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evaluación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de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talento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. En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Seedtag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lideró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la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contratación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de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más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de 200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profesionales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en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16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países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, y ha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trabajado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con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entidades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financieras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como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Santander, BNP Paribas y BBVA.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6477000"/>
            <a:ext cx="381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87579"/>
                </a:solidFill>
                <a:latin typeface="Raleway"/>
              </a:rPr>
              <a:t>tesseraservices.com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68000" y="6400800"/>
            <a:ext cx="7620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0">
                <a:solidFill>
                  <a:srgbClr val="202031"/>
                </a:solidFill>
                <a:latin typeface="Manrope Medium"/>
              </a:rPr>
              <a:t>03</a:t>
            </a:r>
          </a:p>
        </p:txBody>
      </p:sp>
      <p:pic>
        <p:nvPicPr>
          <p:cNvPr id="29" name="Imagen 20">
            <a:extLst>
              <a:ext uri="{FF2B5EF4-FFF2-40B4-BE49-F238E27FC236}">
                <a16:creationId xmlns:a16="http://schemas.microsoft.com/office/drawing/2014/main" id="{80EF7E73-E2FB-DBBD-23B9-B4957A6F150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009"/>
          <a:stretch>
            <a:fillRect/>
          </a:stretch>
        </p:blipFill>
        <p:spPr>
          <a:xfrm>
            <a:off x="932665" y="1955800"/>
            <a:ext cx="2704818" cy="2368190"/>
          </a:xfrm>
          <a:prstGeom prst="rect">
            <a:avLst/>
          </a:prstGeom>
        </p:spPr>
      </p:pic>
      <p:pic>
        <p:nvPicPr>
          <p:cNvPr id="31" name="Imagen 21">
            <a:extLst>
              <a:ext uri="{FF2B5EF4-FFF2-40B4-BE49-F238E27FC236}">
                <a16:creationId xmlns:a16="http://schemas.microsoft.com/office/drawing/2014/main" id="{A2482096-37C9-00DB-7526-466B2263E8A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88" b="13924"/>
          <a:stretch>
            <a:fillRect/>
          </a:stretch>
        </p:blipFill>
        <p:spPr>
          <a:xfrm>
            <a:off x="4861221" y="1933626"/>
            <a:ext cx="2469558" cy="2393847"/>
          </a:xfrm>
          <a:prstGeom prst="rect">
            <a:avLst/>
          </a:prstGeom>
        </p:spPr>
      </p:pic>
      <p:pic>
        <p:nvPicPr>
          <p:cNvPr id="33" name="Imagen 5">
            <a:extLst>
              <a:ext uri="{FF2B5EF4-FFF2-40B4-BE49-F238E27FC236}">
                <a16:creationId xmlns:a16="http://schemas.microsoft.com/office/drawing/2014/main" id="{390F7BD4-55AB-99A2-C8BF-8FA7045BF16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928" r="22003" b="666"/>
          <a:stretch>
            <a:fillRect/>
          </a:stretch>
        </p:blipFill>
        <p:spPr>
          <a:xfrm>
            <a:off x="8354961" y="1968500"/>
            <a:ext cx="2594078" cy="23493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55600"/>
            <a:ext cx="1037166" cy="177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0" y="355600"/>
            <a:ext cx="381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120">
                <a:solidFill>
                  <a:srgbClr val="587579"/>
                </a:solidFill>
                <a:latin typeface="Raleway Medium"/>
              </a:rPr>
              <a:t>NUESTRO EQUIPO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660400"/>
            <a:ext cx="10668000" cy="12700"/>
          </a:xfrm>
          <a:prstGeom prst="rect">
            <a:avLst/>
          </a:prstGeom>
          <a:solidFill>
            <a:srgbClr val="E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62000" y="889000"/>
            <a:ext cx="6350000" cy="63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>
                <a:solidFill>
                  <a:srgbClr val="202031"/>
                </a:solidFill>
                <a:latin typeface="Raleway Light"/>
              </a:rPr>
              <a:t>El Equipo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549400"/>
            <a:ext cx="8890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587579"/>
                </a:solidFill>
                <a:latin typeface="Raleway"/>
              </a:rPr>
              <a:t>Equipo </a:t>
            </a:r>
            <a:r>
              <a:rPr sz="1050" b="0" dirty="0" err="1">
                <a:solidFill>
                  <a:srgbClr val="587579"/>
                </a:solidFill>
                <a:latin typeface="Raleway"/>
              </a:rPr>
              <a:t>directivo</a:t>
            </a:r>
            <a:r>
              <a:rPr sz="1050" b="0" dirty="0">
                <a:solidFill>
                  <a:srgbClr val="587579"/>
                </a:solidFill>
                <a:latin typeface="Raleway"/>
              </a:rPr>
              <a:t> - +21 </a:t>
            </a:r>
            <a:r>
              <a:rPr sz="1050" b="0" dirty="0" err="1">
                <a:solidFill>
                  <a:srgbClr val="587579"/>
                </a:solidFill>
                <a:latin typeface="Raleway"/>
              </a:rPr>
              <a:t>consultores</a:t>
            </a:r>
            <a:r>
              <a:rPr sz="1050" b="0" dirty="0">
                <a:solidFill>
                  <a:srgbClr val="587579"/>
                </a:solidFill>
                <a:latin typeface="Raleway"/>
              </a:rPr>
              <a:t> - Madrid, Bilbao y Oviedo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97000" y="4013611"/>
            <a:ext cx="2222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02031"/>
                </a:solidFill>
                <a:latin typeface="Raleway SemiBold"/>
              </a:rPr>
              <a:t>MANUEL PINA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7000" y="4242211"/>
            <a:ext cx="22225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spc="60">
                <a:solidFill>
                  <a:srgbClr val="587579"/>
                </a:solidFill>
                <a:latin typeface="Raleway Medium"/>
              </a:rPr>
              <a:t>PARTNER - FINANCE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7000" y="4496211"/>
            <a:ext cx="2222500" cy="190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30" b="0" dirty="0">
                <a:solidFill>
                  <a:srgbClr val="202031"/>
                </a:solidFill>
                <a:latin typeface="Raleway"/>
              </a:rPr>
              <a:t>Más de 10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años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en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Big Four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en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auditoría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, due diligence y M&amp;A, y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posteriormente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CFO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en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grandes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pymes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españolas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.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Lidera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Tessera Finance,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coordinando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el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equipo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de CFOs,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transacciones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y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asesoramiento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financiero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estratégico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.</a:t>
            </a:r>
          </a:p>
        </p:txBody>
      </p:sp>
      <p:pic>
        <p:nvPicPr>
          <p:cNvPr id="12" name="Picture 11" descr="team_hcf_eduardo_serrano.png"/>
          <p:cNvPicPr>
            <a:picLocks noChangeAspect="1"/>
          </p:cNvPicPr>
          <p:nvPr/>
        </p:nvPicPr>
        <p:blipFill>
          <a:blip r:embed="rId3"/>
          <a:srcRect t="7994" b="7994"/>
          <a:stretch>
            <a:fillRect/>
          </a:stretch>
        </p:blipFill>
        <p:spPr>
          <a:xfrm>
            <a:off x="3873500" y="2019711"/>
            <a:ext cx="2222500" cy="17145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73500" y="4013611"/>
            <a:ext cx="2222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02031"/>
                </a:solidFill>
                <a:latin typeface="Raleway SemiBold"/>
              </a:rPr>
              <a:t>EDUARDO SERRANO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73500" y="4242211"/>
            <a:ext cx="22225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spc="60">
                <a:solidFill>
                  <a:srgbClr val="587579"/>
                </a:solidFill>
                <a:latin typeface="Raleway Medium"/>
              </a:rPr>
              <a:t>PARTNER - FINANCE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73500" y="4496211"/>
            <a:ext cx="2222500" cy="190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30" b="0" dirty="0">
                <a:solidFill>
                  <a:srgbClr val="202031"/>
                </a:solidFill>
                <a:latin typeface="Raleway"/>
              </a:rPr>
              <a:t>17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años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en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el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mundo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del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emprendimiento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como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CFO de startups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internacionales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y de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fondos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líderes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de Venture Capital y Venture Builders.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Especializado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en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aportar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valor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desde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el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área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financiera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, la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tesorería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y la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consecución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de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financiación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y capital.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0" y="4013611"/>
            <a:ext cx="2222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02031"/>
                </a:solidFill>
                <a:latin typeface="Raleway SemiBold"/>
              </a:rPr>
              <a:t>MÓNICA MAYORAL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0000" y="4242211"/>
            <a:ext cx="22225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spc="60">
                <a:solidFill>
                  <a:srgbClr val="587579"/>
                </a:solidFill>
                <a:latin typeface="Raleway Medium"/>
              </a:rPr>
              <a:t>PARTNER - FINANCE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000" y="4496211"/>
            <a:ext cx="2222500" cy="190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30" b="0" dirty="0">
                <a:solidFill>
                  <a:srgbClr val="202031"/>
                </a:solidFill>
                <a:latin typeface="Raleway"/>
              </a:rPr>
              <a:t>Más de 20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años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como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Directora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Financiera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en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empresa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multinacional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,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muy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involucrada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en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el día a día de la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compañía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con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visión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y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estrategia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global: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reducción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de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riesgos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y planes de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crecimiento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.</a:t>
            </a:r>
          </a:p>
        </p:txBody>
      </p:sp>
      <p:pic>
        <p:nvPicPr>
          <p:cNvPr id="22" name="Picture 21" descr="team_hcf_edward_manrique.png"/>
          <p:cNvPicPr>
            <a:picLocks noChangeAspect="1"/>
          </p:cNvPicPr>
          <p:nvPr/>
        </p:nvPicPr>
        <p:blipFill>
          <a:blip r:embed="rId4"/>
          <a:srcRect l="3047" r="26283"/>
          <a:stretch>
            <a:fillRect/>
          </a:stretch>
        </p:blipFill>
        <p:spPr>
          <a:xfrm>
            <a:off x="8987708" y="2019711"/>
            <a:ext cx="1900084" cy="17145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826500" y="4013611"/>
            <a:ext cx="2222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02031"/>
                </a:solidFill>
                <a:latin typeface="Raleway SemiBold"/>
              </a:rPr>
              <a:t>EDWARD MANRIQUE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6500" y="4242211"/>
            <a:ext cx="22225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spc="60">
                <a:solidFill>
                  <a:srgbClr val="587579"/>
                </a:solidFill>
                <a:latin typeface="Raleway Medium"/>
              </a:rPr>
              <a:t>HEAD OF RECRUITMENT &amp; TALENT OPERATIONS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6500" y="4496211"/>
            <a:ext cx="2222500" cy="190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30" b="0" dirty="0">
                <a:solidFill>
                  <a:srgbClr val="202031"/>
                </a:solidFill>
                <a:latin typeface="Raleway"/>
              </a:rPr>
              <a:t>Más de 8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años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de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experiencia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en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identificación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y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evaluación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de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talento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. En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Seedtag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lideró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la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contratación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de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más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de 200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profesionales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en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16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países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, y ha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trabajado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con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entidades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financieras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830" b="0" dirty="0" err="1">
                <a:solidFill>
                  <a:srgbClr val="202031"/>
                </a:solidFill>
                <a:latin typeface="Raleway"/>
              </a:rPr>
              <a:t>como</a:t>
            </a:r>
            <a:r>
              <a:rPr sz="830" b="0" dirty="0">
                <a:solidFill>
                  <a:srgbClr val="202031"/>
                </a:solidFill>
                <a:latin typeface="Raleway"/>
              </a:rPr>
              <a:t> Santander, BNP Paribas y BBVA.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6477000"/>
            <a:ext cx="381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87579"/>
                </a:solidFill>
                <a:latin typeface="Raleway"/>
              </a:rPr>
              <a:t>tesseraservices.com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68000" y="6400800"/>
            <a:ext cx="7620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0">
                <a:solidFill>
                  <a:srgbClr val="202031"/>
                </a:solidFill>
                <a:latin typeface="Manrope Medium"/>
              </a:rPr>
              <a:t>03</a:t>
            </a:r>
          </a:p>
        </p:txBody>
      </p:sp>
      <p:pic>
        <p:nvPicPr>
          <p:cNvPr id="30" name="Imagen 20">
            <a:extLst>
              <a:ext uri="{FF2B5EF4-FFF2-40B4-BE49-F238E27FC236}">
                <a16:creationId xmlns:a16="http://schemas.microsoft.com/office/drawing/2014/main" id="{CBE884E1-223E-1ABD-D49F-F5C81245CD3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009"/>
          <a:stretch>
            <a:fillRect/>
          </a:stretch>
        </p:blipFill>
        <p:spPr>
          <a:xfrm>
            <a:off x="1517651" y="1987293"/>
            <a:ext cx="1981198" cy="1734628"/>
          </a:xfrm>
          <a:prstGeom prst="rect">
            <a:avLst/>
          </a:prstGeom>
        </p:spPr>
      </p:pic>
      <p:pic>
        <p:nvPicPr>
          <p:cNvPr id="32" name="Imagen 21">
            <a:extLst>
              <a:ext uri="{FF2B5EF4-FFF2-40B4-BE49-F238E27FC236}">
                <a16:creationId xmlns:a16="http://schemas.microsoft.com/office/drawing/2014/main" id="{6A89FF29-8EA1-9EC3-0D78-1B25BD8CF45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88" b="13924"/>
          <a:stretch>
            <a:fillRect/>
          </a:stretch>
        </p:blipFill>
        <p:spPr>
          <a:xfrm>
            <a:off x="6556811" y="1968500"/>
            <a:ext cx="1808877" cy="175342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55600"/>
            <a:ext cx="1037166" cy="177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0" y="355600"/>
            <a:ext cx="381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120">
                <a:solidFill>
                  <a:srgbClr val="587579"/>
                </a:solidFill>
                <a:latin typeface="Raleway Medium"/>
              </a:rPr>
              <a:t>PARA EL FONDO Y SUS PARTICIPADAS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660400"/>
            <a:ext cx="10668000" cy="12700"/>
          </a:xfrm>
          <a:prstGeom prst="rect">
            <a:avLst/>
          </a:prstGeom>
          <a:solidFill>
            <a:srgbClr val="E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62000" y="889000"/>
            <a:ext cx="9652000" cy="63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0">
                <a:solidFill>
                  <a:srgbClr val="202031"/>
                </a:solidFill>
                <a:latin typeface="Raleway Light"/>
              </a:rPr>
              <a:t>Un partner para el fondo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498600"/>
            <a:ext cx="9652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202031"/>
                </a:solidFill>
                <a:latin typeface="Raleway"/>
              </a:rPr>
              <a:t>Finance y Human Capital en un mismo equipo, en cada fase del ciclo de inversión.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2032000"/>
            <a:ext cx="3378200" cy="292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90600" y="2235200"/>
            <a:ext cx="6350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87579"/>
                </a:solidFill>
                <a:latin typeface="Manrope Medium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600" y="2590800"/>
            <a:ext cx="2921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02031"/>
                </a:solidFill>
                <a:latin typeface="Raleway SemiBold"/>
              </a:rPr>
              <a:t>PRE-INVERSIÓN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" y="2844800"/>
            <a:ext cx="2921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587579"/>
                </a:solidFill>
                <a:latin typeface="Raleway"/>
              </a:rPr>
              <a:t>Antes de firmar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0600" y="3124200"/>
            <a:ext cx="2921000" cy="177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900" b="0">
                <a:solidFill>
                  <a:srgbClr val="202031"/>
                </a:solidFill>
                <a:latin typeface="Raleway"/>
              </a:rPr>
              <a:t>-  Due diligence financiera del target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900" b="0">
                <a:solidFill>
                  <a:srgbClr val="202031"/>
                </a:solidFill>
                <a:latin typeface="Raleway"/>
              </a:rPr>
              <a:t>-  Valoración independiente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900" b="0">
                <a:solidFill>
                  <a:srgbClr val="202031"/>
                </a:solidFill>
                <a:latin typeface="Raleway"/>
              </a:rPr>
              <a:t>-  Revisión del business plan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900" b="0">
                <a:solidFill>
                  <a:srgbClr val="202031"/>
                </a:solidFill>
                <a:latin typeface="Raleway"/>
              </a:rPr>
              <a:t>-  Estructura de la operación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6900" y="2032000"/>
            <a:ext cx="3378200" cy="292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35500" y="2235200"/>
            <a:ext cx="6350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87579"/>
                </a:solidFill>
                <a:latin typeface="Manrope Medium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5500" y="2590800"/>
            <a:ext cx="2921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02031"/>
                </a:solidFill>
                <a:latin typeface="Raleway SemiBold"/>
              </a:rPr>
              <a:t>ACOMPAÑAMIENTO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5500" y="2844800"/>
            <a:ext cx="2921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587579"/>
                </a:solidFill>
                <a:latin typeface="Raleway"/>
              </a:rPr>
              <a:t>Durante la inversión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5500" y="3124200"/>
            <a:ext cx="2921000" cy="177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900" b="0">
                <a:solidFill>
                  <a:srgbClr val="202031"/>
                </a:solidFill>
                <a:latin typeface="Raleway"/>
              </a:rPr>
              <a:t>-  CFO part-time y reporting al fondo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900" b="0">
                <a:solidFill>
                  <a:srgbClr val="202031"/>
                </a:solidFill>
                <a:latin typeface="Raleway"/>
              </a:rPr>
              <a:t>-  Financiación y ahorro de costes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900" b="0">
                <a:solidFill>
                  <a:srgbClr val="202031"/>
                </a:solidFill>
                <a:latin typeface="Raleway"/>
              </a:rPr>
              <a:t>-  Headhunting de equipos directivos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900" b="0">
                <a:solidFill>
                  <a:srgbClr val="202031"/>
                </a:solidFill>
                <a:latin typeface="Raleway"/>
              </a:rPr>
              <a:t>-  Outsourcing y consultoría salarial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51800" y="2032000"/>
            <a:ext cx="3378200" cy="292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80400" y="2235200"/>
            <a:ext cx="6350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87579"/>
                </a:solidFill>
                <a:latin typeface="Manrope Medium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0400" y="2590800"/>
            <a:ext cx="2921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02031"/>
                </a:solidFill>
                <a:latin typeface="Raleway SemiBold"/>
              </a:rPr>
              <a:t>SALIDA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0400" y="2844800"/>
            <a:ext cx="2921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587579"/>
                </a:solidFill>
                <a:latin typeface="Raleway"/>
              </a:rPr>
              <a:t>Al preparar la venta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0400" y="3124200"/>
            <a:ext cx="2921000" cy="177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900" b="0">
                <a:solidFill>
                  <a:srgbClr val="202031"/>
                </a:solidFill>
                <a:latin typeface="Raleway"/>
              </a:rPr>
              <a:t>-  Compañía preparada para la venta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900" b="0">
                <a:solidFill>
                  <a:srgbClr val="202031"/>
                </a:solidFill>
                <a:latin typeface="Raleway"/>
              </a:rPr>
              <a:t>-  Vendor due diligence y valoración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900" b="0">
                <a:solidFill>
                  <a:srgbClr val="202031"/>
                </a:solidFill>
                <a:latin typeface="Raleway"/>
              </a:rPr>
              <a:t>-  Proceso de M&amp;A hasta el cierre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900" b="0">
                <a:solidFill>
                  <a:srgbClr val="202031"/>
                </a:solidFill>
                <a:latin typeface="Raleway"/>
              </a:rPr>
              <a:t>-  Búsqueda del comprador o socio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5232400"/>
            <a:ext cx="9652000" cy="1092200"/>
          </a:xfrm>
          <a:prstGeom prst="rect">
            <a:avLst/>
          </a:prstGeom>
          <a:solidFill>
            <a:srgbClr val="202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16000" y="5486400"/>
            <a:ext cx="6604000" cy="63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Raleway"/>
              </a:rPr>
              <a:t>Un único interlocutor para todo el ciclo de inversión, con visibilidad financiera homogénea entre participadas.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0" y="5410200"/>
            <a:ext cx="1143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Manrope ExtraLight"/>
              </a:rPr>
              <a:t>360º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2000" y="5867400"/>
            <a:ext cx="1905000" cy="2664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dirty="0" err="1">
                <a:solidFill>
                  <a:schemeClr val="bg1"/>
                </a:solidFill>
                <a:latin typeface="Raleway"/>
              </a:rPr>
              <a:t>Cobertura</a:t>
            </a:r>
            <a:r>
              <a:rPr sz="850" b="0" dirty="0">
                <a:solidFill>
                  <a:schemeClr val="bg1"/>
                </a:solidFill>
                <a:latin typeface="Raleway"/>
              </a:rPr>
              <a:t> del </a:t>
            </a:r>
            <a:r>
              <a:rPr sz="850" b="0" dirty="0" err="1">
                <a:solidFill>
                  <a:schemeClr val="bg1"/>
                </a:solidFill>
                <a:latin typeface="Raleway"/>
              </a:rPr>
              <a:t>ciclo</a:t>
            </a:r>
            <a:r>
              <a:rPr sz="850" b="0" dirty="0">
                <a:solidFill>
                  <a:schemeClr val="bg1"/>
                </a:solidFill>
                <a:latin typeface="Raleway"/>
              </a:rPr>
              <a:t>
de </a:t>
            </a:r>
            <a:r>
              <a:rPr sz="850" b="0" dirty="0" err="1">
                <a:solidFill>
                  <a:schemeClr val="bg1"/>
                </a:solidFill>
                <a:latin typeface="Raleway"/>
              </a:rPr>
              <a:t>inversión</a:t>
            </a:r>
            <a:endParaRPr sz="850" b="0" dirty="0">
              <a:solidFill>
                <a:schemeClr val="bg1"/>
              </a:solidFill>
              <a:latin typeface="Raleway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62000" y="6477000"/>
            <a:ext cx="381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87579"/>
                </a:solidFill>
                <a:latin typeface="Raleway"/>
              </a:rPr>
              <a:t>tesseraservices.com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68000" y="6400800"/>
            <a:ext cx="7620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0">
                <a:solidFill>
                  <a:srgbClr val="202031"/>
                </a:solidFill>
                <a:latin typeface="Manrope Medium"/>
              </a:rPr>
              <a:t>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55600"/>
            <a:ext cx="1037166" cy="177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0" y="355600"/>
            <a:ext cx="381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120">
                <a:solidFill>
                  <a:srgbClr val="587579"/>
                </a:solidFill>
                <a:latin typeface="Raleway Medium"/>
              </a:rPr>
              <a:t>SERVICIOS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660400"/>
            <a:ext cx="10668000" cy="12700"/>
          </a:xfrm>
          <a:prstGeom prst="rect">
            <a:avLst/>
          </a:prstGeom>
          <a:solidFill>
            <a:srgbClr val="E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62000" y="889000"/>
            <a:ext cx="8890000" cy="63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>
                <a:solidFill>
                  <a:srgbClr val="202031"/>
                </a:solidFill>
                <a:latin typeface="Raleway Light"/>
              </a:rPr>
              <a:t>Finance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498600"/>
            <a:ext cx="9652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202031"/>
                </a:solidFill>
                <a:latin typeface="Raleway"/>
              </a:rPr>
              <a:t>Todo el </a:t>
            </a:r>
            <a:r>
              <a:rPr sz="1100" b="0" dirty="0" err="1">
                <a:solidFill>
                  <a:srgbClr val="202031"/>
                </a:solidFill>
                <a:latin typeface="Raleway"/>
              </a:rPr>
              <a:t>ciclo</a:t>
            </a:r>
            <a:r>
              <a:rPr sz="110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1100" b="0" dirty="0" err="1">
                <a:solidFill>
                  <a:srgbClr val="202031"/>
                </a:solidFill>
                <a:latin typeface="Raleway"/>
              </a:rPr>
              <a:t>financiero</a:t>
            </a:r>
            <a:r>
              <a:rPr sz="1100" b="0" dirty="0">
                <a:solidFill>
                  <a:srgbClr val="202031"/>
                </a:solidFill>
                <a:latin typeface="Raleway"/>
              </a:rPr>
              <a:t> de </a:t>
            </a:r>
            <a:r>
              <a:rPr sz="1100" b="0" dirty="0" err="1">
                <a:solidFill>
                  <a:srgbClr val="202031"/>
                </a:solidFill>
                <a:latin typeface="Raleway"/>
              </a:rPr>
              <a:t>una</a:t>
            </a:r>
            <a:r>
              <a:rPr sz="110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1100" b="0" dirty="0" err="1">
                <a:solidFill>
                  <a:srgbClr val="202031"/>
                </a:solidFill>
                <a:latin typeface="Raleway"/>
              </a:rPr>
              <a:t>participada</a:t>
            </a:r>
            <a:r>
              <a:rPr sz="1100" b="0" dirty="0">
                <a:solidFill>
                  <a:srgbClr val="202031"/>
                </a:solidFill>
                <a:latin typeface="Raleway"/>
              </a:rPr>
              <a:t>, </a:t>
            </a:r>
            <a:r>
              <a:rPr sz="1100" b="0" dirty="0" err="1">
                <a:solidFill>
                  <a:srgbClr val="202031"/>
                </a:solidFill>
                <a:latin typeface="Raleway"/>
              </a:rPr>
              <a:t>desde</a:t>
            </a:r>
            <a:r>
              <a:rPr sz="1100" b="0" dirty="0">
                <a:solidFill>
                  <a:srgbClr val="202031"/>
                </a:solidFill>
                <a:latin typeface="Raleway"/>
              </a:rPr>
              <a:t> la due diligence hasta la salida.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1981200"/>
            <a:ext cx="2336800" cy="1727200"/>
          </a:xfrm>
          <a:prstGeom prst="rect">
            <a:avLst/>
          </a:prstGeom>
          <a:solidFill>
            <a:srgbClr val="E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39800" y="2260600"/>
            <a:ext cx="1981200" cy="40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dirty="0">
                <a:solidFill>
                  <a:srgbClr val="202031"/>
                </a:solidFill>
                <a:latin typeface="Raleway SemiBold"/>
              </a:rPr>
              <a:t>Due Diligence Financiera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" y="2768600"/>
            <a:ext cx="1981200" cy="863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>
                <a:solidFill>
                  <a:srgbClr val="202031"/>
                </a:solidFill>
                <a:latin typeface="Raleway"/>
              </a:rPr>
              <a:t>Calidad de ingresos, EBITDA ajustado, deuda neta, circulante y red flags antes de invertir.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51200" y="1981200"/>
            <a:ext cx="2336800" cy="1727200"/>
          </a:xfrm>
          <a:prstGeom prst="rect">
            <a:avLst/>
          </a:prstGeom>
          <a:solidFill>
            <a:srgbClr val="E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29000" y="2260600"/>
            <a:ext cx="1981200" cy="40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02031"/>
                </a:solidFill>
                <a:latin typeface="Raleway SemiBold"/>
              </a:rPr>
              <a:t>Valoraciones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2768600"/>
            <a:ext cx="1981200" cy="863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>
                <a:solidFill>
                  <a:srgbClr val="202031"/>
                </a:solidFill>
                <a:latin typeface="Raleway"/>
              </a:rPr>
              <a:t>DCF y múltiplos de mercado, con informe defendible ante compradores, inversores y auditores.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40400" y="1981200"/>
            <a:ext cx="2336800" cy="1727200"/>
          </a:xfrm>
          <a:prstGeom prst="rect">
            <a:avLst/>
          </a:prstGeom>
          <a:solidFill>
            <a:srgbClr val="E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18200" y="2260600"/>
            <a:ext cx="1981200" cy="40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02031"/>
                </a:solidFill>
                <a:latin typeface="Raleway SemiBold"/>
              </a:rPr>
              <a:t>Business 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18200" y="2768600"/>
            <a:ext cx="1981200" cy="863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>
                <a:solidFill>
                  <a:srgbClr val="202031"/>
                </a:solidFill>
                <a:latin typeface="Raleway"/>
              </a:rPr>
              <a:t>Estrategia y proyecciones financieras completas, con escenarios y sensibilidad.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1981200"/>
            <a:ext cx="2336800" cy="1727200"/>
          </a:xfrm>
          <a:prstGeom prst="rect">
            <a:avLst/>
          </a:prstGeom>
          <a:solidFill>
            <a:srgbClr val="E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07400" y="2260600"/>
            <a:ext cx="1981200" cy="40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02031"/>
                </a:solidFill>
                <a:latin typeface="Raleway SemiBold"/>
              </a:rPr>
              <a:t>M&amp;A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07400" y="2768600"/>
            <a:ext cx="1981200" cy="863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>
                <a:solidFill>
                  <a:srgbClr val="202031"/>
                </a:solidFill>
                <a:latin typeface="Raleway"/>
              </a:rPr>
              <a:t>Compra, venta y búsqueda de socios: del primer contacto al cierre, con red internacional.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3886200"/>
            <a:ext cx="2336800" cy="1727200"/>
          </a:xfrm>
          <a:prstGeom prst="rect">
            <a:avLst/>
          </a:prstGeom>
          <a:solidFill>
            <a:srgbClr val="E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39800" y="4165600"/>
            <a:ext cx="1981200" cy="40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02031"/>
                </a:solidFill>
                <a:latin typeface="Raleway SemiBold"/>
              </a:rPr>
              <a:t>CFO part-time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9800" y="4673600"/>
            <a:ext cx="1981200" cy="863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>
                <a:solidFill>
                  <a:srgbClr val="202031"/>
                </a:solidFill>
                <a:latin typeface="Raleway"/>
              </a:rPr>
              <a:t>Dirección financiera senior para la participada y reporting homogéneo para el fondo.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51200" y="3886200"/>
            <a:ext cx="2336800" cy="1727200"/>
          </a:xfrm>
          <a:prstGeom prst="rect">
            <a:avLst/>
          </a:prstGeom>
          <a:solidFill>
            <a:srgbClr val="E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429000" y="4165600"/>
            <a:ext cx="1981200" cy="40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02031"/>
                </a:solidFill>
                <a:latin typeface="Raleway SemiBold"/>
              </a:rPr>
              <a:t>Financiación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4673600"/>
            <a:ext cx="1981200" cy="863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>
                <a:solidFill>
                  <a:srgbClr val="202031"/>
                </a:solidFill>
                <a:latin typeface="Raleway"/>
              </a:rPr>
              <a:t>Capital, deuda bancaria y privada, circulante y financiación pública (93% de éxito en ENISA).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40400" y="3886200"/>
            <a:ext cx="2336800" cy="1727200"/>
          </a:xfrm>
          <a:prstGeom prst="rect">
            <a:avLst/>
          </a:prstGeom>
          <a:solidFill>
            <a:srgbClr val="E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918200" y="4165600"/>
            <a:ext cx="1981200" cy="40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02031"/>
                </a:solidFill>
                <a:latin typeface="Raleway SemiBold"/>
              </a:rPr>
              <a:t>Cost Down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18200" y="4673600"/>
            <a:ext cx="1981200" cy="863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>
                <a:solidFill>
                  <a:srgbClr val="202031"/>
                </a:solidFill>
                <a:latin typeface="Raleway"/>
              </a:rPr>
              <a:t>Ahorro de costes a éxito: si no ahorramos, no cobramos. Media del 30% en los costes analizados.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0" y="3886200"/>
            <a:ext cx="2336800" cy="1727200"/>
          </a:xfrm>
          <a:prstGeom prst="rect">
            <a:avLst/>
          </a:prstGeom>
          <a:solidFill>
            <a:srgbClr val="E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407400" y="4165600"/>
            <a:ext cx="1981200" cy="40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02031"/>
                </a:solidFill>
                <a:latin typeface="Raleway SemiBold"/>
              </a:rPr>
              <a:t>Otros servicios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07400" y="4673600"/>
            <a:ext cx="1981200" cy="863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>
                <a:solidFill>
                  <a:srgbClr val="202031"/>
                </a:solidFill>
                <a:latin typeface="Raleway"/>
              </a:rPr>
              <a:t>Restructuring, tesorería, recobros, interim team, integraciones contables y soporte a auditoría.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2000" y="5918200"/>
            <a:ext cx="9652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587579"/>
                </a:solidFill>
                <a:latin typeface="Raleway SemiBold"/>
              </a:rPr>
              <a:t>Un solo equipo para el fondo y para cada compañía: menos interlocutores, más control.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2000" y="6477000"/>
            <a:ext cx="381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87579"/>
                </a:solidFill>
                <a:latin typeface="Raleway"/>
              </a:rPr>
              <a:t>tesseraservices.com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68000" y="6400800"/>
            <a:ext cx="7620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0">
                <a:solidFill>
                  <a:srgbClr val="202031"/>
                </a:solidFill>
                <a:latin typeface="Manrope Medium"/>
              </a:rPr>
              <a:t>05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55600"/>
            <a:ext cx="1037166" cy="177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0" y="355600"/>
            <a:ext cx="381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120">
                <a:solidFill>
                  <a:srgbClr val="587579"/>
                </a:solidFill>
                <a:latin typeface="Raleway Medium"/>
              </a:rPr>
              <a:t>SERVICIOS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660400"/>
            <a:ext cx="10668000" cy="12700"/>
          </a:xfrm>
          <a:prstGeom prst="rect">
            <a:avLst/>
          </a:prstGeom>
          <a:solidFill>
            <a:srgbClr val="E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62000" y="889000"/>
            <a:ext cx="8890000" cy="63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>
                <a:solidFill>
                  <a:srgbClr val="202031"/>
                </a:solidFill>
                <a:latin typeface="Raleway Light"/>
              </a:rPr>
              <a:t>Human Capital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498600"/>
            <a:ext cx="9652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202031"/>
                </a:solidFill>
                <a:latin typeface="Raleway"/>
              </a:rPr>
              <a:t>Expertos en el flujo de talento: procesos claros y compromisos que se cumplen.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1981200"/>
            <a:ext cx="3378200" cy="1422400"/>
          </a:xfrm>
          <a:prstGeom prst="rect">
            <a:avLst/>
          </a:prstGeom>
          <a:solidFill>
            <a:srgbClr val="E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90600" y="2247900"/>
            <a:ext cx="292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02031"/>
                </a:solidFill>
                <a:latin typeface="Raleway SemiBold"/>
              </a:rPr>
              <a:t>Headhunting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" y="2616200"/>
            <a:ext cx="2921000" cy="711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202031"/>
                </a:solidFill>
                <a:latin typeface="Raleway"/>
              </a:rPr>
              <a:t>Equipo senior en cada búsqueda y metodología propia apoyada en nuestra IA de selección (TESSA). Primera shortlist en 72 horas y acompañamiento tras la incorporación.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6900" y="1981200"/>
            <a:ext cx="3378200" cy="1422400"/>
          </a:xfrm>
          <a:prstGeom prst="rect">
            <a:avLst/>
          </a:prstGeom>
          <a:solidFill>
            <a:srgbClr val="E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35500" y="2247900"/>
            <a:ext cx="292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02031"/>
                </a:solidFill>
                <a:latin typeface="Raleway SemiBold"/>
              </a:rPr>
              <a:t>Outsourcing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5500" y="2616200"/>
            <a:ext cx="2921000" cy="711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202031"/>
                </a:solidFill>
                <a:latin typeface="Raleway"/>
              </a:rPr>
              <a:t>Equipos que se ajustan a la actividad real: pagas por horas trabajadas, cubrimos bajas y vacaciones y nos ocupamos de nóminas y trámites.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2000" y="3632200"/>
            <a:ext cx="3378200" cy="1422400"/>
          </a:xfrm>
          <a:prstGeom prst="rect">
            <a:avLst/>
          </a:prstGeom>
          <a:solidFill>
            <a:srgbClr val="E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90600" y="3898900"/>
            <a:ext cx="292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dirty="0" err="1">
                <a:solidFill>
                  <a:srgbClr val="202031"/>
                </a:solidFill>
                <a:latin typeface="Raleway SemiBold"/>
              </a:rPr>
              <a:t>Consultoría</a:t>
            </a:r>
            <a:r>
              <a:rPr sz="1200" b="0" dirty="0">
                <a:solidFill>
                  <a:srgbClr val="202031"/>
                </a:solidFill>
                <a:latin typeface="Raleway SemiBold"/>
              </a:rPr>
              <a:t> </a:t>
            </a:r>
            <a:r>
              <a:rPr sz="1200" b="0" dirty="0" err="1">
                <a:solidFill>
                  <a:srgbClr val="202031"/>
                </a:solidFill>
                <a:latin typeface="Raleway SemiBold"/>
              </a:rPr>
              <a:t>salarial</a:t>
            </a:r>
            <a:endParaRPr sz="1200" b="0" dirty="0">
              <a:solidFill>
                <a:srgbClr val="202031"/>
              </a:solidFill>
              <a:latin typeface="Raleway SemiBold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90600" y="4267200"/>
            <a:ext cx="2921000" cy="711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202031"/>
                </a:solidFill>
                <a:latin typeface="Raleway"/>
              </a:rPr>
              <a:t>Benchmarking, diseño de bandas y transparencia retributiva alineada con la Directiva EU 2023/970. Apoyo en ofertas, revisiones y retención.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06900" y="3632200"/>
            <a:ext cx="3378200" cy="1422400"/>
          </a:xfrm>
          <a:prstGeom prst="rect">
            <a:avLst/>
          </a:prstGeom>
          <a:solidFill>
            <a:srgbClr val="E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35500" y="3898900"/>
            <a:ext cx="292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02031"/>
                </a:solidFill>
                <a:latin typeface="Raleway SemiBold"/>
              </a:rPr>
              <a:t>Formación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35500" y="4267200"/>
            <a:ext cx="2921000" cy="711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202031"/>
                </a:solidFill>
                <a:latin typeface="Raleway"/>
              </a:rPr>
              <a:t>Programas a medida con metodología ágil: gestión del talento, employee experience, procesos de RRHH e IA aplicada a HR. Se mide en resultados.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51800" y="1981200"/>
            <a:ext cx="3378200" cy="3073400"/>
          </a:xfrm>
          <a:prstGeom prst="rect">
            <a:avLst/>
          </a:prstGeom>
          <a:solidFill>
            <a:srgbClr val="202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80400" y="2209800"/>
            <a:ext cx="2921000" cy="889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FFFFFF"/>
                </a:solidFill>
                <a:latin typeface="Raleway"/>
              </a:rPr>
              <a:t>Para un fondo: equipos directivos para las participadas, cobertura de vacantes críticas sin pausas y estructuras salariales que retienen al talento clave.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0400" y="3302000"/>
            <a:ext cx="11430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Manrope ExtraLight"/>
              </a:rPr>
              <a:t>72h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0400" y="3708400"/>
            <a:ext cx="2921000" cy="1260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dirty="0">
                <a:solidFill>
                  <a:schemeClr val="bg1"/>
                </a:solidFill>
                <a:latin typeface="Raleway"/>
              </a:rPr>
              <a:t>Primera shortlist </a:t>
            </a:r>
            <a:r>
              <a:rPr sz="800" b="0" dirty="0" err="1">
                <a:solidFill>
                  <a:schemeClr val="bg1"/>
                </a:solidFill>
                <a:latin typeface="Raleway"/>
              </a:rPr>
              <a:t>sobre</a:t>
            </a:r>
            <a:r>
              <a:rPr sz="800" b="0" dirty="0">
                <a:solidFill>
                  <a:schemeClr val="bg1"/>
                </a:solidFill>
                <a:latin typeface="Raleway"/>
              </a:rPr>
              <a:t> </a:t>
            </a:r>
            <a:r>
              <a:rPr sz="800" b="0" dirty="0" err="1">
                <a:solidFill>
                  <a:schemeClr val="bg1"/>
                </a:solidFill>
                <a:latin typeface="Raleway"/>
              </a:rPr>
              <a:t>tu</a:t>
            </a:r>
            <a:r>
              <a:rPr sz="800" b="0" dirty="0">
                <a:solidFill>
                  <a:schemeClr val="bg1"/>
                </a:solidFill>
                <a:latin typeface="Raleway"/>
              </a:rPr>
              <a:t> mesa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0400" y="4191000"/>
            <a:ext cx="11430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Manrope ExtraLight"/>
              </a:rPr>
              <a:t>+200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0400" y="4597400"/>
            <a:ext cx="2921000" cy="1260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dirty="0" err="1">
                <a:solidFill>
                  <a:schemeClr val="bg1"/>
                </a:solidFill>
                <a:latin typeface="Raleway"/>
              </a:rPr>
              <a:t>Contrataciones</a:t>
            </a:r>
            <a:r>
              <a:rPr sz="800" b="0" dirty="0">
                <a:solidFill>
                  <a:schemeClr val="bg1"/>
                </a:solidFill>
                <a:latin typeface="Raleway"/>
              </a:rPr>
              <a:t> </a:t>
            </a:r>
            <a:r>
              <a:rPr sz="800" b="0" dirty="0" err="1">
                <a:solidFill>
                  <a:schemeClr val="bg1"/>
                </a:solidFill>
                <a:latin typeface="Raleway"/>
              </a:rPr>
              <a:t>lideradas</a:t>
            </a:r>
            <a:r>
              <a:rPr sz="800" b="0" dirty="0">
                <a:solidFill>
                  <a:schemeClr val="bg1"/>
                </a:solidFill>
                <a:latin typeface="Raleway"/>
              </a:rPr>
              <a:t> </a:t>
            </a:r>
            <a:r>
              <a:rPr sz="800" b="0" dirty="0" err="1">
                <a:solidFill>
                  <a:schemeClr val="bg1"/>
                </a:solidFill>
                <a:latin typeface="Raleway"/>
              </a:rPr>
              <a:t>en</a:t>
            </a:r>
            <a:r>
              <a:rPr sz="800" b="0" dirty="0">
                <a:solidFill>
                  <a:schemeClr val="bg1"/>
                </a:solidFill>
                <a:latin typeface="Raleway"/>
              </a:rPr>
              <a:t> 16 </a:t>
            </a:r>
            <a:r>
              <a:rPr sz="800" b="0" dirty="0" err="1">
                <a:solidFill>
                  <a:schemeClr val="bg1"/>
                </a:solidFill>
                <a:latin typeface="Raleway"/>
              </a:rPr>
              <a:t>países</a:t>
            </a:r>
            <a:endParaRPr sz="800" b="0" dirty="0">
              <a:solidFill>
                <a:schemeClr val="bg1"/>
              </a:solidFill>
              <a:latin typeface="Raleway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62000" y="6477000"/>
            <a:ext cx="381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87579"/>
                </a:solidFill>
                <a:latin typeface="Raleway"/>
              </a:rPr>
              <a:t>tesseraservices.com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68000" y="6400800"/>
            <a:ext cx="7620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0">
                <a:solidFill>
                  <a:srgbClr val="202031"/>
                </a:solidFill>
                <a:latin typeface="Manrope Medium"/>
              </a:rPr>
              <a:t>06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55600"/>
            <a:ext cx="1037166" cy="177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0" y="355600"/>
            <a:ext cx="381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120">
                <a:solidFill>
                  <a:srgbClr val="587579"/>
                </a:solidFill>
                <a:latin typeface="Raleway Medium"/>
              </a:rPr>
              <a:t>POR QUÉ TESSERA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660400"/>
            <a:ext cx="10668000" cy="12700"/>
          </a:xfrm>
          <a:prstGeom prst="rect">
            <a:avLst/>
          </a:prstGeom>
          <a:solidFill>
            <a:srgbClr val="E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62000" y="889000"/>
            <a:ext cx="9652000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0">
                <a:solidFill>
                  <a:srgbClr val="202031"/>
                </a:solidFill>
                <a:latin typeface="Raleway Light"/>
              </a:rPr>
              <a:t>Por qué Tessera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625600"/>
            <a:ext cx="9652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02031"/>
                </a:solidFill>
                <a:latin typeface="Raleway"/>
              </a:rPr>
              <a:t>Control, rigor financiero y talento al servicio de la tesis de inversión.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2184400"/>
            <a:ext cx="3378200" cy="241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16000" y="2590800"/>
            <a:ext cx="2870200" cy="177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31"/>
                </a:solidFill>
                <a:latin typeface="Raleway SemiBold"/>
              </a:rPr>
              <a:t>Control</a:t>
            </a:r>
          </a:p>
          <a:p>
            <a:pPr>
              <a:lnSpc>
                <a:spcPct val="120000"/>
              </a:lnSpc>
            </a:pPr>
            <a:r>
              <a:rPr sz="1050" b="0">
                <a:solidFill>
                  <a:srgbClr val="202031"/>
                </a:solidFill>
                <a:latin typeface="Raleway"/>
              </a:rPr>
              <a:t>Visibilidad real del fondo sobre cada participada: reporting homogéneo, cuadro de mando y seguimiento de caja.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6900" y="2184400"/>
            <a:ext cx="3378200" cy="241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60900" y="2590800"/>
            <a:ext cx="2870200" cy="177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31"/>
                </a:solidFill>
                <a:latin typeface="Raleway SemiBold"/>
              </a:rPr>
              <a:t>Rigor financiero</a:t>
            </a:r>
          </a:p>
          <a:p>
            <a:pPr>
              <a:lnSpc>
                <a:spcPct val="120000"/>
              </a:lnSpc>
            </a:pPr>
            <a:r>
              <a:rPr sz="1050" b="0">
                <a:solidFill>
                  <a:srgbClr val="202031"/>
                </a:solidFill>
                <a:latin typeface="Raleway"/>
              </a:rPr>
              <a:t>Metodología de Big Four y de CFOs en activo: información validada y decisiones basadas en datos.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51800" y="2184400"/>
            <a:ext cx="3378200" cy="241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05800" y="2590800"/>
            <a:ext cx="2870200" cy="177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dirty="0" err="1">
                <a:solidFill>
                  <a:srgbClr val="202031"/>
                </a:solidFill>
                <a:latin typeface="Raleway SemiBold"/>
              </a:rPr>
              <a:t>Ejecución</a:t>
            </a:r>
            <a:endParaRPr sz="1400" b="0" dirty="0">
              <a:solidFill>
                <a:srgbClr val="202031"/>
              </a:solidFill>
              <a:latin typeface="Raleway SemiBold"/>
            </a:endParaRPr>
          </a:p>
          <a:p>
            <a:pPr>
              <a:lnSpc>
                <a:spcPct val="120000"/>
              </a:lnSpc>
            </a:pPr>
            <a:r>
              <a:rPr sz="1050" b="0" dirty="0">
                <a:solidFill>
                  <a:srgbClr val="202031"/>
                </a:solidFill>
                <a:latin typeface="Raleway"/>
              </a:rPr>
              <a:t>No </a:t>
            </a:r>
            <a:r>
              <a:rPr sz="1050" b="0" dirty="0" err="1">
                <a:solidFill>
                  <a:srgbClr val="202031"/>
                </a:solidFill>
                <a:latin typeface="Raleway"/>
              </a:rPr>
              <a:t>nos</a:t>
            </a:r>
            <a:r>
              <a:rPr sz="105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1050" b="0" dirty="0" err="1">
                <a:solidFill>
                  <a:srgbClr val="202031"/>
                </a:solidFill>
                <a:latin typeface="Raleway"/>
              </a:rPr>
              <a:t>quedamos</a:t>
            </a:r>
            <a:r>
              <a:rPr sz="105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1050" b="0" dirty="0" err="1">
                <a:solidFill>
                  <a:srgbClr val="202031"/>
                </a:solidFill>
                <a:latin typeface="Raleway"/>
              </a:rPr>
              <a:t>en</a:t>
            </a:r>
            <a:r>
              <a:rPr sz="1050" b="0" dirty="0">
                <a:solidFill>
                  <a:srgbClr val="202031"/>
                </a:solidFill>
                <a:latin typeface="Raleway"/>
              </a:rPr>
              <a:t> el </a:t>
            </a:r>
            <a:r>
              <a:rPr sz="1050" b="0" dirty="0" err="1">
                <a:solidFill>
                  <a:srgbClr val="202031"/>
                </a:solidFill>
                <a:latin typeface="Raleway"/>
              </a:rPr>
              <a:t>diagnóstico</a:t>
            </a:r>
            <a:r>
              <a:rPr sz="1050" b="0" dirty="0">
                <a:solidFill>
                  <a:srgbClr val="202031"/>
                </a:solidFill>
                <a:latin typeface="Raleway"/>
              </a:rPr>
              <a:t>: </a:t>
            </a:r>
            <a:r>
              <a:rPr sz="1050" b="0" dirty="0" err="1">
                <a:solidFill>
                  <a:srgbClr val="202031"/>
                </a:solidFill>
                <a:latin typeface="Raleway"/>
              </a:rPr>
              <a:t>implantamos</a:t>
            </a:r>
            <a:r>
              <a:rPr sz="1050" b="0" dirty="0">
                <a:solidFill>
                  <a:srgbClr val="202031"/>
                </a:solidFill>
                <a:latin typeface="Raleway"/>
              </a:rPr>
              <a:t>, </a:t>
            </a:r>
            <a:r>
              <a:rPr sz="1050" b="0" dirty="0" err="1">
                <a:solidFill>
                  <a:srgbClr val="202031"/>
                </a:solidFill>
                <a:latin typeface="Raleway"/>
              </a:rPr>
              <a:t>acompañamos</a:t>
            </a:r>
            <a:r>
              <a:rPr sz="1050" b="0" dirty="0">
                <a:solidFill>
                  <a:srgbClr val="202031"/>
                </a:solidFill>
                <a:latin typeface="Raleway"/>
              </a:rPr>
              <a:t> al </a:t>
            </a:r>
            <a:r>
              <a:rPr sz="1050" b="0" dirty="0" err="1">
                <a:solidFill>
                  <a:srgbClr val="202031"/>
                </a:solidFill>
                <a:latin typeface="Raleway"/>
              </a:rPr>
              <a:t>equipo</a:t>
            </a:r>
            <a:r>
              <a:rPr sz="1050" b="0" dirty="0">
                <a:solidFill>
                  <a:srgbClr val="202031"/>
                </a:solidFill>
                <a:latin typeface="Raleway"/>
              </a:rPr>
              <a:t> </a:t>
            </a:r>
            <a:r>
              <a:rPr sz="1050" b="0" dirty="0" err="1">
                <a:solidFill>
                  <a:srgbClr val="202031"/>
                </a:solidFill>
                <a:latin typeface="Raleway"/>
              </a:rPr>
              <a:t>directivo</a:t>
            </a:r>
            <a:r>
              <a:rPr sz="1050" b="0" dirty="0">
                <a:solidFill>
                  <a:srgbClr val="202031"/>
                </a:solidFill>
                <a:latin typeface="Raleway"/>
              </a:rPr>
              <a:t> y </a:t>
            </a:r>
            <a:r>
              <a:rPr sz="1050" b="0" dirty="0" err="1">
                <a:solidFill>
                  <a:srgbClr val="202031"/>
                </a:solidFill>
                <a:latin typeface="Raleway"/>
              </a:rPr>
              <a:t>medimos</a:t>
            </a:r>
            <a:r>
              <a:rPr sz="1050" b="0" dirty="0">
                <a:solidFill>
                  <a:srgbClr val="202031"/>
                </a:solidFill>
                <a:latin typeface="Raleway"/>
              </a:rPr>
              <a:t> el </a:t>
            </a:r>
            <a:r>
              <a:rPr sz="1050" b="0" dirty="0" err="1">
                <a:solidFill>
                  <a:srgbClr val="202031"/>
                </a:solidFill>
                <a:latin typeface="Raleway"/>
              </a:rPr>
              <a:t>resultado</a:t>
            </a:r>
            <a:r>
              <a:rPr sz="1050" b="0" dirty="0">
                <a:solidFill>
                  <a:srgbClr val="202031"/>
                </a:solidFill>
                <a:latin typeface="Raleway"/>
              </a:rPr>
              <a:t>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2000" y="4978400"/>
            <a:ext cx="3081866" cy="889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5200" y="5156200"/>
            <a:ext cx="2675466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587579"/>
                </a:solidFill>
                <a:latin typeface="Raleway Medium"/>
              </a:rPr>
              <a:t>UN SOLO EQUIPO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5200" y="5410200"/>
            <a:ext cx="2675466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202031"/>
                </a:solidFill>
                <a:latin typeface="Raleway"/>
              </a:rPr>
              <a:t>Finance y talento, un interlocutor.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47066" y="4978400"/>
            <a:ext cx="3081866" cy="889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50266" y="5156200"/>
            <a:ext cx="2675466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587579"/>
                </a:solidFill>
                <a:latin typeface="Raleway Medium"/>
              </a:rPr>
              <a:t>SOCIOS DENTRO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0266" y="5410200"/>
            <a:ext cx="2675466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202031"/>
                </a:solidFill>
                <a:latin typeface="Raleway"/>
              </a:rPr>
              <a:t>Los socios ejecutan el proyecto.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32133" y="4978400"/>
            <a:ext cx="3081866" cy="889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535333" y="5156200"/>
            <a:ext cx="2675466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587579"/>
                </a:solidFill>
                <a:latin typeface="Raleway Medium"/>
              </a:rPr>
              <a:t>INDEPENDENCIA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35333" y="5410200"/>
            <a:ext cx="2675466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202031"/>
                </a:solidFill>
                <a:latin typeface="Raleway"/>
              </a:rPr>
              <a:t>Decimos lo que vemos.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" y="6477000"/>
            <a:ext cx="381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87579"/>
                </a:solidFill>
                <a:latin typeface="Raleway"/>
              </a:rPr>
              <a:t>tesseraservices.com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68000" y="6400800"/>
            <a:ext cx="7620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0">
                <a:solidFill>
                  <a:srgbClr val="202031"/>
                </a:solidFill>
                <a:latin typeface="Manrope Medium"/>
              </a:rPr>
              <a:t>07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55600"/>
            <a:ext cx="1037166" cy="177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0" y="355600"/>
            <a:ext cx="381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120">
                <a:solidFill>
                  <a:srgbClr val="587579"/>
                </a:solidFill>
                <a:latin typeface="Raleway Medium"/>
              </a:rPr>
              <a:t>NUESTROS PARTNERS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660400"/>
            <a:ext cx="10668000" cy="12700"/>
          </a:xfrm>
          <a:prstGeom prst="rect">
            <a:avLst/>
          </a:prstGeom>
          <a:solidFill>
            <a:srgbClr val="E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62000" y="889000"/>
            <a:ext cx="8890000" cy="63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0">
                <a:solidFill>
                  <a:srgbClr val="202031"/>
                </a:solidFill>
                <a:latin typeface="Raleway Light"/>
              </a:rPr>
              <a:t>Nuestros Partners</a:t>
            </a:r>
          </a:p>
        </p:txBody>
      </p:sp>
      <p:pic>
        <p:nvPicPr>
          <p:cNvPr id="6" name="Picture 5" descr="logo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2197100"/>
            <a:ext cx="558800" cy="558800"/>
          </a:xfrm>
          <a:prstGeom prst="rect">
            <a:avLst/>
          </a:prstGeom>
        </p:spPr>
      </p:pic>
      <p:pic>
        <p:nvPicPr>
          <p:cNvPr id="7" name="Picture 6" descr="logo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9600" y="2197100"/>
            <a:ext cx="558800" cy="558800"/>
          </a:xfrm>
          <a:prstGeom prst="rect">
            <a:avLst/>
          </a:prstGeom>
        </p:spPr>
      </p:pic>
      <p:pic>
        <p:nvPicPr>
          <p:cNvPr id="8" name="Picture 7" descr="logo_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0400" y="2228433"/>
            <a:ext cx="1473200" cy="496132"/>
          </a:xfrm>
          <a:prstGeom prst="rect">
            <a:avLst/>
          </a:prstGeom>
        </p:spPr>
      </p:pic>
      <p:pic>
        <p:nvPicPr>
          <p:cNvPr id="9" name="Picture 8" descr="logo_0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5600" y="2197100"/>
            <a:ext cx="558800" cy="558800"/>
          </a:xfrm>
          <a:prstGeom prst="rect">
            <a:avLst/>
          </a:prstGeom>
        </p:spPr>
      </p:pic>
      <p:pic>
        <p:nvPicPr>
          <p:cNvPr id="10" name="Picture 9" descr="logo_0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83600" y="2197100"/>
            <a:ext cx="558800" cy="558800"/>
          </a:xfrm>
          <a:prstGeom prst="rect">
            <a:avLst/>
          </a:prstGeom>
        </p:spPr>
      </p:pic>
      <p:pic>
        <p:nvPicPr>
          <p:cNvPr id="11" name="Picture 10" descr="logo_0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04400" y="2247742"/>
            <a:ext cx="1473200" cy="457515"/>
          </a:xfrm>
          <a:prstGeom prst="rect">
            <a:avLst/>
          </a:prstGeom>
        </p:spPr>
      </p:pic>
      <p:pic>
        <p:nvPicPr>
          <p:cNvPr id="12" name="Picture 11" descr="logo_0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58859" y="3340100"/>
            <a:ext cx="784280" cy="558800"/>
          </a:xfrm>
          <a:prstGeom prst="rect">
            <a:avLst/>
          </a:prstGeom>
        </p:spPr>
      </p:pic>
      <p:pic>
        <p:nvPicPr>
          <p:cNvPr id="13" name="Picture 12" descr="logo_0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2400" y="3494278"/>
            <a:ext cx="1473199" cy="250444"/>
          </a:xfrm>
          <a:prstGeom prst="rect">
            <a:avLst/>
          </a:prstGeom>
        </p:spPr>
      </p:pic>
      <p:pic>
        <p:nvPicPr>
          <p:cNvPr id="14" name="Picture 13" descr="logo_09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47160" y="3340100"/>
            <a:ext cx="1119679" cy="558800"/>
          </a:xfrm>
          <a:prstGeom prst="rect">
            <a:avLst/>
          </a:prstGeom>
        </p:spPr>
      </p:pic>
      <p:pic>
        <p:nvPicPr>
          <p:cNvPr id="15" name="Picture 14" descr="logo_10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48400" y="3386754"/>
            <a:ext cx="1473200" cy="465490"/>
          </a:xfrm>
          <a:prstGeom prst="rect">
            <a:avLst/>
          </a:prstGeom>
        </p:spPr>
      </p:pic>
      <p:pic>
        <p:nvPicPr>
          <p:cNvPr id="16" name="Picture 15" descr="logo_1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83600" y="3340100"/>
            <a:ext cx="558800" cy="558800"/>
          </a:xfrm>
          <a:prstGeom prst="rect">
            <a:avLst/>
          </a:prstGeom>
        </p:spPr>
      </p:pic>
      <p:pic>
        <p:nvPicPr>
          <p:cNvPr id="17" name="Picture 16" descr="logo_12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261600" y="3340100"/>
            <a:ext cx="558800" cy="558800"/>
          </a:xfrm>
          <a:prstGeom prst="rect">
            <a:avLst/>
          </a:prstGeom>
        </p:spPr>
      </p:pic>
      <p:pic>
        <p:nvPicPr>
          <p:cNvPr id="18" name="Picture 17" descr="logo_13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71600" y="4483100"/>
            <a:ext cx="558800" cy="558800"/>
          </a:xfrm>
          <a:prstGeom prst="rect">
            <a:avLst/>
          </a:prstGeom>
        </p:spPr>
      </p:pic>
      <p:pic>
        <p:nvPicPr>
          <p:cNvPr id="19" name="Picture 18" descr="logo_14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928279" y="4483100"/>
            <a:ext cx="1001440" cy="558800"/>
          </a:xfrm>
          <a:prstGeom prst="rect">
            <a:avLst/>
          </a:prstGeom>
        </p:spPr>
      </p:pic>
      <p:pic>
        <p:nvPicPr>
          <p:cNvPr id="20" name="Picture 19" descr="logo_15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602797" y="4483100"/>
            <a:ext cx="1208405" cy="558800"/>
          </a:xfrm>
          <a:prstGeom prst="rect">
            <a:avLst/>
          </a:prstGeom>
        </p:spPr>
      </p:pic>
      <p:pic>
        <p:nvPicPr>
          <p:cNvPr id="21" name="Picture 20" descr="logo_16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565900" y="4483100"/>
            <a:ext cx="838200" cy="558800"/>
          </a:xfrm>
          <a:prstGeom prst="rect">
            <a:avLst/>
          </a:prstGeom>
        </p:spPr>
      </p:pic>
      <p:pic>
        <p:nvPicPr>
          <p:cNvPr id="22" name="Picture 21" descr="logo_17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60732" y="4483100"/>
            <a:ext cx="1404534" cy="558800"/>
          </a:xfrm>
          <a:prstGeom prst="rect">
            <a:avLst/>
          </a:prstGeom>
        </p:spPr>
      </p:pic>
      <p:pic>
        <p:nvPicPr>
          <p:cNvPr id="23" name="Picture 22" descr="logo_18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804400" y="4515017"/>
            <a:ext cx="1473200" cy="49496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62000" y="6477000"/>
            <a:ext cx="381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87579"/>
                </a:solidFill>
                <a:latin typeface="Raleway"/>
              </a:rPr>
              <a:t>tesseraservices.com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68000" y="6400800"/>
            <a:ext cx="7620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0">
                <a:solidFill>
                  <a:srgbClr val="202031"/>
                </a:solidFill>
                <a:latin typeface="Manrope Medium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55600"/>
            <a:ext cx="1037166" cy="177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0" y="355600"/>
            <a:ext cx="381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120">
                <a:solidFill>
                  <a:srgbClr val="587579"/>
                </a:solidFill>
                <a:latin typeface="Raleway Medium"/>
              </a:rPr>
              <a:t>CONTACTO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660400"/>
            <a:ext cx="10668000" cy="12700"/>
          </a:xfrm>
          <a:prstGeom prst="rect">
            <a:avLst/>
          </a:prstGeom>
          <a:solidFill>
            <a:srgbClr val="E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62000" y="889000"/>
            <a:ext cx="8890000" cy="63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0">
                <a:solidFill>
                  <a:srgbClr val="202031"/>
                </a:solidFill>
                <a:latin typeface="Raleway Light"/>
              </a:rPr>
              <a:t>Contacta con nosotros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999" y="2062987"/>
            <a:ext cx="4383139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dirty="0">
                <a:solidFill>
                  <a:srgbClr val="202031"/>
                </a:solidFill>
                <a:latin typeface="Raleway SemiBold"/>
              </a:rPr>
              <a:t>MANUEL GARCÍA PINA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999" y="2407354"/>
            <a:ext cx="4383139" cy="1891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87579"/>
                </a:solidFill>
                <a:latin typeface="Raleway"/>
              </a:rPr>
              <a:t>Partner - 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999" y="2710864"/>
            <a:ext cx="438313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202031"/>
                </a:solidFill>
                <a:latin typeface="Manrope Medium"/>
              </a:rPr>
              <a:t>+34 669 01 49 58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999" y="2942090"/>
            <a:ext cx="438313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02031"/>
                </a:solidFill>
                <a:latin typeface="Raleway"/>
              </a:rPr>
              <a:t>manuel.garcia@tesseraservices.com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2344" y="2083795"/>
            <a:ext cx="4383139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>
                <a:solidFill>
                  <a:srgbClr val="202031"/>
                </a:solidFill>
                <a:latin typeface="Raleway SemiBold"/>
              </a:rPr>
              <a:t>EDUARDO SERRANO CARRETERO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2344" y="2428162"/>
            <a:ext cx="4383139" cy="1891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87579"/>
                </a:solidFill>
                <a:latin typeface="Raleway"/>
              </a:rPr>
              <a:t>Partner - Finance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2344" y="2731672"/>
            <a:ext cx="438313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202031"/>
                </a:solidFill>
                <a:latin typeface="Manrope Medium"/>
              </a:rPr>
              <a:t>+34 619 51 11 55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2344" y="2962898"/>
            <a:ext cx="438313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02031"/>
                </a:solidFill>
                <a:latin typeface="Raleway"/>
              </a:rPr>
              <a:t>eduardo.serrano@tesseraservices.com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1999" y="3967987"/>
            <a:ext cx="4383139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>
                <a:solidFill>
                  <a:srgbClr val="202031"/>
                </a:solidFill>
                <a:latin typeface="Raleway SemiBold"/>
              </a:rPr>
              <a:t>MÓNICA MAYORAL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1999" y="4312354"/>
            <a:ext cx="4383139" cy="1891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87579"/>
                </a:solidFill>
                <a:latin typeface="Raleway"/>
              </a:rPr>
              <a:t>Partner - Finance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1999" y="4615864"/>
            <a:ext cx="438313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202031"/>
                </a:solidFill>
                <a:latin typeface="Manrope Medium"/>
              </a:rPr>
              <a:t>+34 696 39 38 49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1999" y="4847090"/>
            <a:ext cx="438313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02031"/>
                </a:solidFill>
                <a:latin typeface="Raleway"/>
              </a:rPr>
              <a:t>monica.mayoral@tesseraservices.com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2344" y="3988795"/>
            <a:ext cx="4383139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dirty="0">
                <a:solidFill>
                  <a:srgbClr val="202031"/>
                </a:solidFill>
                <a:latin typeface="Raleway SemiBold"/>
              </a:rPr>
              <a:t>EDWARD MANRIQUE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32344" y="4333162"/>
            <a:ext cx="4383139" cy="1891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87579"/>
                </a:solidFill>
                <a:latin typeface="Raleway"/>
              </a:rPr>
              <a:t>Head of Recruitment &amp; Talent Operations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2344" y="4636672"/>
            <a:ext cx="438313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202031"/>
                </a:solidFill>
                <a:latin typeface="Manrope Medium"/>
              </a:rPr>
              <a:t>+34 695 02 19 78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2344" y="4867898"/>
            <a:ext cx="438313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02031"/>
                </a:solidFill>
                <a:latin typeface="Raleway"/>
              </a:rPr>
              <a:t>edward@tesseraservices.com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6477000"/>
            <a:ext cx="381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87579"/>
                </a:solidFill>
                <a:latin typeface="Raleway"/>
              </a:rPr>
              <a:t>tesseraservices.com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68000" y="6400800"/>
            <a:ext cx="7620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0">
                <a:solidFill>
                  <a:srgbClr val="202031"/>
                </a:solidFill>
                <a:latin typeface="Manrope Medium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587579"/>
            </a:gs>
            <a:gs pos="100000">
              <a:srgbClr val="202031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62000" y="2413000"/>
            <a:ext cx="8890000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dirty="0">
                <a:solidFill>
                  <a:srgbClr val="FFFFFF"/>
                </a:solidFill>
                <a:latin typeface="Raleway Light"/>
              </a:rPr>
              <a:t>Better decisions,
together.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937000"/>
            <a:ext cx="8890000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Raleway"/>
              </a:rPr>
              <a:t>Gracias por tu tiempo. Estaremos encantados de concretar cómo podemos acompañar al fondo y a sus participadas.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070600"/>
            <a:ext cx="635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dirty="0">
                <a:solidFill>
                  <a:schemeClr val="bg1"/>
                </a:solidFill>
                <a:latin typeface="Raleway"/>
              </a:rPr>
              <a:t>tesseraservices.com - LinkedIn @tesseraservices</a:t>
            </a:r>
          </a:p>
        </p:txBody>
      </p:sp>
      <p:pic>
        <p:nvPicPr>
          <p:cNvPr id="9" name="Picture 8" descr="image.png">
            <a:extLst>
              <a:ext uri="{FF2B5EF4-FFF2-40B4-BE49-F238E27FC236}">
                <a16:creationId xmlns:a16="http://schemas.microsoft.com/office/drawing/2014/main" id="{878D4F84-C8F9-01CD-1BB8-E2B75955A8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443424" y="699699"/>
            <a:ext cx="9616826" cy="1648599"/>
          </a:xfrm>
          <a:prstGeom prst="rect">
            <a:avLst/>
          </a:prstGeom>
        </p:spPr>
      </p:pic>
      <p:pic>
        <p:nvPicPr>
          <p:cNvPr id="10" name="Logo clien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2000" y="3175000"/>
            <a:ext cx="4064000" cy="889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</TotalTime>
  <Words>2383</Words>
  <Application>Microsoft Office PowerPoint</Application>
  <PresentationFormat>Widescreen</PresentationFormat>
  <Paragraphs>253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Arial</vt:lpstr>
      <vt:lpstr>Calibri</vt:lpstr>
      <vt:lpstr>Manrope ExtraLight</vt:lpstr>
      <vt:lpstr>Manrope Medium</vt:lpstr>
      <vt:lpstr>Raleway</vt:lpstr>
      <vt:lpstr>Raleway Light</vt:lpstr>
      <vt:lpstr>Raleway Medium</vt:lpstr>
      <vt:lpstr>Raleway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David Suarez Martin</dc:creator>
  <cp:keywords/>
  <dc:description>generated using python-pptx</dc:description>
  <cp:lastModifiedBy>David Suárez</cp:lastModifiedBy>
  <cp:revision>4</cp:revision>
  <dcterms:created xsi:type="dcterms:W3CDTF">2013-01-27T09:14:16Z</dcterms:created>
  <dcterms:modified xsi:type="dcterms:W3CDTF">2026-10-19T14:53:44Z</dcterms:modified>
  <cp:category/>
</cp:coreProperties>
</file>