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5653" autoAdjust="0"/>
    <p:restoredTop sz="94610"/>
  </p:normalViewPr>
  <p:slideViewPr>
    <p:cSldViewPr snapToGrid="0" snapToObjects="1">
      <p:cViewPr varScale="1">
        <p:scale>
          <a:sx n="107" d="100"/>
          <a:sy n="107" d="100"/>
        </p:scale>
        <p:origin x="138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406988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Relationship Id="rId5" Type="http://schemas.openxmlformats.org/officeDocument/2006/relationships/image" Target="../media/logo_cliente_portada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jpg"/><Relationship Id="rId5" Type="http://schemas.openxmlformats.org/officeDocument/2006/relationships/image" Target="../media/image5.jpg"/><Relationship Id="rId4" Type="http://schemas.openxmlformats.org/officeDocument/2006/relationships/image" Target="../media/image4.jp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13" Type="http://schemas.openxmlformats.org/officeDocument/2006/relationships/image" Target="../media/image22.png"/><Relationship Id="rId18" Type="http://schemas.openxmlformats.org/officeDocument/2006/relationships/image" Target="../media/image27.png"/><Relationship Id="rId3" Type="http://schemas.openxmlformats.org/officeDocument/2006/relationships/image" Target="../media/image3.png"/><Relationship Id="rId21" Type="http://schemas.openxmlformats.org/officeDocument/2006/relationships/image" Target="../media/image30.png"/><Relationship Id="rId7" Type="http://schemas.openxmlformats.org/officeDocument/2006/relationships/image" Target="../media/image16.png"/><Relationship Id="rId12" Type="http://schemas.openxmlformats.org/officeDocument/2006/relationships/image" Target="../media/image21.png"/><Relationship Id="rId17" Type="http://schemas.openxmlformats.org/officeDocument/2006/relationships/image" Target="../media/image26.png"/><Relationship Id="rId25" Type="http://schemas.openxmlformats.org/officeDocument/2006/relationships/image" Target="../media/image34.png"/><Relationship Id="rId2" Type="http://schemas.openxmlformats.org/officeDocument/2006/relationships/notesSlide" Target="../notesSlides/notesSlide9.xml"/><Relationship Id="rId16" Type="http://schemas.openxmlformats.org/officeDocument/2006/relationships/image" Target="../media/image25.png"/><Relationship Id="rId20" Type="http://schemas.openxmlformats.org/officeDocument/2006/relationships/image" Target="../media/image2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11" Type="http://schemas.openxmlformats.org/officeDocument/2006/relationships/image" Target="../media/image20.png"/><Relationship Id="rId24" Type="http://schemas.openxmlformats.org/officeDocument/2006/relationships/image" Target="../media/image33.png"/><Relationship Id="rId5" Type="http://schemas.openxmlformats.org/officeDocument/2006/relationships/image" Target="../media/image14.png"/><Relationship Id="rId15" Type="http://schemas.openxmlformats.org/officeDocument/2006/relationships/image" Target="../media/image24.png"/><Relationship Id="rId23" Type="http://schemas.openxmlformats.org/officeDocument/2006/relationships/image" Target="../media/image32.png"/><Relationship Id="rId10" Type="http://schemas.openxmlformats.org/officeDocument/2006/relationships/image" Target="../media/image19.png"/><Relationship Id="rId19" Type="http://schemas.openxmlformats.org/officeDocument/2006/relationships/image" Target="../media/image28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Relationship Id="rId14" Type="http://schemas.openxmlformats.org/officeDocument/2006/relationships/image" Target="../media/image23.png"/><Relationship Id="rId22" Type="http://schemas.openxmlformats.org/officeDocument/2006/relationships/image" Target="../media/image3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6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Relationship Id="rId5" Type="http://schemas.openxmlformats.org/officeDocument/2006/relationships/image" Target="../media/logo_cliente_cierre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6ecba087-9563-50f1-9ffc-6a20c07eac08/scratchpad/decks/kit/bg_grad_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Image 2" descr="/tmp/claude-0/-home-claude/6ecba087-9563-50f1-9ffc-6a20c07eac08/scratchpad/decks/kit/logo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548640"/>
            <a:ext cx="1554480" cy="30773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10728655" y="5669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kern="0" spc="200" dirty="0">
                <a:solidFill>
                  <a:srgbClr val="E6ECE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2026</a:t>
            </a:r>
            <a:endParaRPr lang="en-US" sz="1000" dirty="0"/>
          </a:p>
        </p:txBody>
      </p:sp>
      <p:sp>
        <p:nvSpPr>
          <p:cNvPr id="6" name="Text 1"/>
          <p:cNvSpPr txBox="1"/>
          <p:nvPr/>
        </p:nvSpPr>
        <p:spPr>
          <a:xfrm>
            <a:off x="548640" y="182880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lnSpc>
                <a:spcPct val="95000"/>
              </a:lnSpc>
              <a:buNone/>
            </a:pPr>
            <a:r>
              <a:rPr lang="en-US" sz="5400" kern="0" spc="-100" dirty="0">
                <a:solidFill>
                  <a:srgbClr val="FFFFFF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Queremos ser</a:t>
            </a:r>
            <a:endParaRPr lang="en-US" sz="54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5400" kern="0" spc="-100" dirty="0">
                <a:solidFill>
                  <a:srgbClr val="FFFFFF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tu partner</a:t>
            </a:r>
            <a:endParaRPr lang="en-US" sz="5400" dirty="0"/>
          </a:p>
        </p:txBody>
      </p:sp>
      <p:sp>
        <p:nvSpPr>
          <p:cNvPr id="7" name="Text 2"/>
          <p:cNvSpPr txBox="1"/>
          <p:nvPr/>
        </p:nvSpPr>
        <p:spPr>
          <a:xfrm>
            <a:off x="548640" y="384048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Finance &amp; Human Capital.</a:t>
            </a:r>
            <a:endParaRPr lang="en-US" sz="1500" dirty="0"/>
          </a:p>
        </p:txBody>
      </p:sp>
      <p:sp>
        <p:nvSpPr>
          <p:cNvPr id="8" name="Text 3"/>
          <p:cNvSpPr txBox="1"/>
          <p:nvPr/>
        </p:nvSpPr>
        <p:spPr>
          <a:xfrm>
            <a:off x="548640" y="4224528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6ECE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Soluciones financieras y de talento para fondos de inversión y sus compañías participadas.</a:t>
            </a:r>
            <a:endParaRPr lang="en-US" sz="1200" dirty="0"/>
          </a:p>
        </p:txBody>
      </p:sp>
      <p:sp>
        <p:nvSpPr>
          <p:cNvPr id="9" name="Text 4"/>
          <p:cNvSpPr txBox="1"/>
          <p:nvPr/>
        </p:nvSpPr>
        <p:spPr>
          <a:xfrm>
            <a:off x="548640" y="5989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E6ECE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Better decisions, </a:t>
            </a:r>
            <a:r>
              <a:rPr lang="en-US" sz="1200" dirty="0">
                <a:solidFill>
                  <a:srgbClr val="FFFFFF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together</a:t>
            </a:r>
            <a:r>
              <a:rPr lang="en-US" sz="1200" dirty="0">
                <a:solidFill>
                  <a:srgbClr val="E6ECE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.</a:t>
            </a:r>
            <a:endParaRPr lang="en-US" sz="1200" dirty="0"/>
          </a:p>
        </p:txBody>
      </p:sp>
      <p:pic>
        <p:nvPicPr>
          <p:cNvPr id="10" name="Logo client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12000" y="1905000"/>
            <a:ext cx="4318000" cy="3302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6ecba087-9563-50f1-9ffc-6a20c07eac08/scratchpad/decks/kit/logo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84048"/>
            <a:ext cx="960120" cy="19007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057400" y="3657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60" dirty="0">
                <a:solidFill>
                  <a:srgbClr val="5C5C6E"/>
                </a:solidFill>
                <a:latin typeface="Raleway Medium" pitchFamily="34" charset="0"/>
                <a:ea typeface="Raleway Medium" pitchFamily="34" charset="-122"/>
                <a:cs typeface="Raleway Medium" pitchFamily="34" charset="-120"/>
              </a:rPr>
              <a:t>NOSOTROS</a:t>
            </a:r>
            <a:endParaRPr lang="en-US" sz="750" dirty="0"/>
          </a:p>
        </p:txBody>
      </p:sp>
      <p:sp>
        <p:nvSpPr>
          <p:cNvPr id="4" name="Text 1"/>
          <p:cNvSpPr txBox="1"/>
          <p:nvPr/>
        </p:nvSpPr>
        <p:spPr>
          <a:xfrm>
            <a:off x="5029200" y="36576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60" dirty="0">
                <a:solidFill>
                  <a:srgbClr val="5C5C6E"/>
                </a:solidFill>
                <a:latin typeface="Raleway Medium" pitchFamily="34" charset="0"/>
                <a:ea typeface="Raleway Medium" pitchFamily="34" charset="-122"/>
                <a:cs typeface="Raleway Medium" pitchFamily="34" charset="-120"/>
              </a:rPr>
              <a:t>TESSERA EN UNA PÁGINA</a:t>
            </a:r>
            <a:endParaRPr lang="en-US" sz="750" dirty="0"/>
          </a:p>
        </p:txBody>
      </p:sp>
      <p:sp>
        <p:nvSpPr>
          <p:cNvPr id="5" name="Text 2"/>
          <p:cNvSpPr txBox="1"/>
          <p:nvPr/>
        </p:nvSpPr>
        <p:spPr>
          <a:xfrm>
            <a:off x="10728655" y="36576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50" kern="0" spc="160" dirty="0">
                <a:solidFill>
                  <a:srgbClr val="5C5C6E"/>
                </a:solidFill>
                <a:latin typeface="Manrope" pitchFamily="2" charset="0"/>
                <a:ea typeface="Raleway Medium" pitchFamily="34" charset="-122"/>
                <a:cs typeface="Raleway Medium" pitchFamily="34" charset="-120"/>
              </a:rPr>
              <a:t>2026</a:t>
            </a:r>
            <a:endParaRPr lang="en-US" sz="750" dirty="0">
              <a:latin typeface="Manrope" pitchFamily="2" charset="0"/>
            </a:endParaRPr>
          </a:p>
        </p:txBody>
      </p:sp>
      <p:sp>
        <p:nvSpPr>
          <p:cNvPr id="6" name="Text 3"/>
          <p:cNvSpPr txBox="1"/>
          <p:nvPr/>
        </p:nvSpPr>
        <p:spPr>
          <a:xfrm>
            <a:off x="548640" y="86868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kern="0" spc="-50" dirty="0">
                <a:solidFill>
                  <a:srgbClr val="202031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Tessera en una página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7276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8757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Mejores decisiones, </a:t>
            </a:r>
            <a:r>
              <a:rPr lang="en-US" sz="1300" dirty="0">
                <a:solidFill>
                  <a:srgbClr val="20203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juntos.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201168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C5C6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Consultoría estratégica en Finanzas y Talento para compañías, inversores y sus participadas. Un equipo senior que se integra en el proyecto y responde por el resultado.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48640" y="2971800"/>
            <a:ext cx="5257800" cy="2011680"/>
          </a:xfrm>
          <a:prstGeom prst="rect">
            <a:avLst/>
          </a:prstGeom>
          <a:solidFill>
            <a:srgbClr val="587579"/>
          </a:solidFill>
          <a:ln w="12700">
            <a:solidFill>
              <a:srgbClr val="58757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0" name="Text 7"/>
          <p:cNvSpPr txBox="1"/>
          <p:nvPr/>
        </p:nvSpPr>
        <p:spPr>
          <a:xfrm>
            <a:off x="822960" y="3127248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000" dirty="0">
                <a:solidFill>
                  <a:srgbClr val="FFFFFF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2</a:t>
            </a:r>
            <a:endParaRPr lang="en-US" sz="3000" dirty="0"/>
          </a:p>
        </p:txBody>
      </p:sp>
      <p:sp>
        <p:nvSpPr>
          <p:cNvPr id="11" name="Text 8"/>
          <p:cNvSpPr txBox="1"/>
          <p:nvPr/>
        </p:nvSpPr>
        <p:spPr>
          <a:xfrm>
            <a:off x="2011680" y="312724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áreas: Finance y Human Capital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22960" y="3675888"/>
            <a:ext cx="4709160" cy="0"/>
          </a:xfrm>
          <a:prstGeom prst="line">
            <a:avLst/>
          </a:prstGeom>
          <a:noFill/>
          <a:ln w="12700">
            <a:solidFill>
              <a:srgbClr val="7F9A9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3" name="Text 10"/>
          <p:cNvSpPr txBox="1"/>
          <p:nvPr/>
        </p:nvSpPr>
        <p:spPr>
          <a:xfrm>
            <a:off x="822960" y="3730752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000" dirty="0">
                <a:solidFill>
                  <a:srgbClr val="FFFFFF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+21</a:t>
            </a:r>
            <a:endParaRPr lang="en-US" sz="3000" dirty="0"/>
          </a:p>
        </p:txBody>
      </p:sp>
      <p:sp>
        <p:nvSpPr>
          <p:cNvPr id="14" name="Text 11"/>
          <p:cNvSpPr txBox="1"/>
          <p:nvPr/>
        </p:nvSpPr>
        <p:spPr>
          <a:xfrm>
            <a:off x="2011680" y="3730752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consultores y equipo de CFOs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822960" y="4279392"/>
            <a:ext cx="4709160" cy="0"/>
          </a:xfrm>
          <a:prstGeom prst="line">
            <a:avLst/>
          </a:prstGeom>
          <a:noFill/>
          <a:ln w="12700">
            <a:solidFill>
              <a:srgbClr val="7F9A9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6" name="Text 13"/>
          <p:cNvSpPr txBox="1"/>
          <p:nvPr/>
        </p:nvSpPr>
        <p:spPr>
          <a:xfrm>
            <a:off x="822960" y="4334256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000" dirty="0">
                <a:solidFill>
                  <a:srgbClr val="FFFFFF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3</a:t>
            </a:r>
            <a:endParaRPr lang="en-US" sz="3000" dirty="0"/>
          </a:p>
        </p:txBody>
      </p:sp>
      <p:sp>
        <p:nvSpPr>
          <p:cNvPr id="17" name="Text 14"/>
          <p:cNvSpPr txBox="1"/>
          <p:nvPr/>
        </p:nvSpPr>
        <p:spPr>
          <a:xfrm>
            <a:off x="2011680" y="4334256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oficinas en España</a:t>
            </a:r>
            <a:endParaRPr lang="en-US" sz="1200" dirty="0"/>
          </a:p>
        </p:txBody>
      </p:sp>
      <p:pic>
        <p:nvPicPr>
          <p:cNvPr id="18" name="Image 1" descr="/tmp/claude-0/-home-claude/6ecba087-9563-50f1-9ffc-6a20c07eac08/scratchpad/decks/kit/c_madrid.jp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355080" y="1645920"/>
            <a:ext cx="1652930" cy="265176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6355080" y="4407408"/>
            <a:ext cx="16529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kern="0" spc="200" dirty="0">
                <a:solidFill>
                  <a:srgbClr val="20203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MADRID</a:t>
            </a:r>
            <a:endParaRPr lang="en-US" sz="1050" dirty="0"/>
          </a:p>
        </p:txBody>
      </p:sp>
      <p:sp>
        <p:nvSpPr>
          <p:cNvPr id="20" name="Text 16"/>
          <p:cNvSpPr txBox="1"/>
          <p:nvPr/>
        </p:nvSpPr>
        <p:spPr>
          <a:xfrm>
            <a:off x="6355080" y="4636008"/>
            <a:ext cx="16529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5C5C6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Sede central</a:t>
            </a:r>
            <a:endParaRPr lang="en-US" sz="900" dirty="0"/>
          </a:p>
        </p:txBody>
      </p:sp>
      <p:pic>
        <p:nvPicPr>
          <p:cNvPr id="21" name="Image 2" descr="/tmp/claude-0/-home-claude/6ecba087-9563-50f1-9ffc-6a20c07eac08/scratchpad/decks/kit/c_bilbao.jp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172602" y="1645920"/>
            <a:ext cx="1652930" cy="265176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8172602" y="4407408"/>
            <a:ext cx="16529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kern="0" spc="200" dirty="0">
                <a:solidFill>
                  <a:srgbClr val="20203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BILBAO</a:t>
            </a:r>
            <a:endParaRPr lang="en-US" sz="1050" dirty="0"/>
          </a:p>
        </p:txBody>
      </p:sp>
      <p:sp>
        <p:nvSpPr>
          <p:cNvPr id="23" name="Text 18"/>
          <p:cNvSpPr txBox="1"/>
          <p:nvPr/>
        </p:nvSpPr>
        <p:spPr>
          <a:xfrm>
            <a:off x="8172602" y="4636008"/>
            <a:ext cx="16529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5C5C6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País Vasco - España</a:t>
            </a:r>
            <a:endParaRPr lang="en-US" sz="900" dirty="0"/>
          </a:p>
        </p:txBody>
      </p:sp>
      <p:pic>
        <p:nvPicPr>
          <p:cNvPr id="24" name="Image 3" descr="/tmp/claude-0/-home-claude/6ecba087-9563-50f1-9ffc-6a20c07eac08/scratchpad/decks/kit/c_oviedo.jp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9990125" y="1645920"/>
            <a:ext cx="1652930" cy="265176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9990125" y="4407408"/>
            <a:ext cx="16529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kern="0" spc="200" dirty="0">
                <a:solidFill>
                  <a:srgbClr val="20203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OVIEDO</a:t>
            </a:r>
            <a:endParaRPr lang="en-US" sz="1050" dirty="0"/>
          </a:p>
        </p:txBody>
      </p:sp>
      <p:sp>
        <p:nvSpPr>
          <p:cNvPr id="26" name="Text 20"/>
          <p:cNvSpPr txBox="1"/>
          <p:nvPr/>
        </p:nvSpPr>
        <p:spPr>
          <a:xfrm>
            <a:off x="9990125" y="4636008"/>
            <a:ext cx="16529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5C5C6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Asturias - España</a:t>
            </a:r>
            <a:endParaRPr lang="en-US" sz="900" dirty="0"/>
          </a:p>
        </p:txBody>
      </p:sp>
      <p:sp>
        <p:nvSpPr>
          <p:cNvPr id="27" name="Shape 21"/>
          <p:cNvSpPr/>
          <p:nvPr/>
        </p:nvSpPr>
        <p:spPr>
          <a:xfrm>
            <a:off x="0" y="5257800"/>
            <a:ext cx="12191695" cy="1600200"/>
          </a:xfrm>
          <a:prstGeom prst="rect">
            <a:avLst/>
          </a:prstGeom>
          <a:solidFill>
            <a:srgbClr val="202031"/>
          </a:solidFill>
          <a:ln w="12700">
            <a:solidFill>
              <a:srgbClr val="202031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8" name="Text 22"/>
          <p:cNvSpPr txBox="1"/>
          <p:nvPr/>
        </p:nvSpPr>
        <p:spPr>
          <a:xfrm>
            <a:off x="548640" y="562356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kern="0" spc="220" dirty="0">
                <a:solidFill>
                  <a:srgbClr val="8AA3A5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BOUTIQUE</a:t>
            </a:r>
            <a:endParaRPr lang="en-US" sz="850" dirty="0"/>
          </a:p>
        </p:txBody>
      </p:sp>
      <p:sp>
        <p:nvSpPr>
          <p:cNvPr id="29" name="Text 23"/>
          <p:cNvSpPr txBox="1"/>
          <p:nvPr/>
        </p:nvSpPr>
        <p:spPr>
          <a:xfrm>
            <a:off x="548640" y="58978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Equipo senior en cada proyecto.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4155338" y="5577840"/>
            <a:ext cx="0" cy="777240"/>
          </a:xfrm>
          <a:prstGeom prst="line">
            <a:avLst/>
          </a:prstGeom>
          <a:noFill/>
          <a:ln w="9525">
            <a:solidFill>
              <a:srgbClr val="3A3A4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1" name="Text 25"/>
          <p:cNvSpPr txBox="1"/>
          <p:nvPr/>
        </p:nvSpPr>
        <p:spPr>
          <a:xfrm>
            <a:off x="4383938" y="562356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kern="0" spc="220" dirty="0">
                <a:solidFill>
                  <a:srgbClr val="8AA3A5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TRATO DIRECTO</a:t>
            </a:r>
            <a:endParaRPr lang="en-US" sz="850" dirty="0"/>
          </a:p>
        </p:txBody>
      </p:sp>
      <p:sp>
        <p:nvSpPr>
          <p:cNvPr id="32" name="Text 26"/>
          <p:cNvSpPr txBox="1"/>
          <p:nvPr/>
        </p:nvSpPr>
        <p:spPr>
          <a:xfrm>
            <a:off x="4383938" y="58978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Un interlocutor, de tú a tú.</a:t>
            </a:r>
            <a:endParaRPr lang="en-US" sz="1200" dirty="0"/>
          </a:p>
        </p:txBody>
      </p:sp>
      <p:sp>
        <p:nvSpPr>
          <p:cNvPr id="33" name="Shape 27"/>
          <p:cNvSpPr/>
          <p:nvPr/>
        </p:nvSpPr>
        <p:spPr>
          <a:xfrm>
            <a:off x="7990637" y="5577840"/>
            <a:ext cx="0" cy="777240"/>
          </a:xfrm>
          <a:prstGeom prst="line">
            <a:avLst/>
          </a:prstGeom>
          <a:noFill/>
          <a:ln w="9525">
            <a:solidFill>
              <a:srgbClr val="3A3A4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4" name="Text 28"/>
          <p:cNvSpPr txBox="1"/>
          <p:nvPr/>
        </p:nvSpPr>
        <p:spPr>
          <a:xfrm>
            <a:off x="8219237" y="562356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kern="0" spc="220" dirty="0">
                <a:solidFill>
                  <a:srgbClr val="8AA3A5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VISIÓN DE NEGOCIO</a:t>
            </a:r>
            <a:endParaRPr lang="en-US" sz="850" dirty="0"/>
          </a:p>
        </p:txBody>
      </p:sp>
      <p:sp>
        <p:nvSpPr>
          <p:cNvPr id="35" name="Text 29"/>
          <p:cNvSpPr txBox="1"/>
          <p:nvPr/>
        </p:nvSpPr>
        <p:spPr>
          <a:xfrm>
            <a:off x="8219237" y="58978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Al servicio de la tesis de inversión.</a:t>
            </a:r>
            <a:endParaRPr lang="en-US" sz="1200" dirty="0"/>
          </a:p>
        </p:txBody>
      </p:sp>
      <p:sp>
        <p:nvSpPr>
          <p:cNvPr id="36" name="Text 30"/>
          <p:cNvSpPr txBox="1"/>
          <p:nvPr/>
        </p:nvSpPr>
        <p:spPr>
          <a:xfrm>
            <a:off x="10545775" y="629107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kern="0" spc="100" dirty="0">
                <a:solidFill>
                  <a:srgbClr val="E6ECE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">
    <p:bg>
      <p:bgPr>
        <a:solidFill>
          <a:srgbClr val="E6EC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6ecba087-9563-50f1-9ffc-6a20c07eac08/scratchpad/decks/kit/logo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84048"/>
            <a:ext cx="960120" cy="19007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057400" y="3657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60" dirty="0">
                <a:solidFill>
                  <a:srgbClr val="5C5C6E"/>
                </a:solidFill>
                <a:latin typeface="Raleway Medium" pitchFamily="34" charset="0"/>
                <a:ea typeface="Raleway Medium" pitchFamily="34" charset="-122"/>
                <a:cs typeface="Raleway Medium" pitchFamily="34" charset="-120"/>
              </a:rPr>
              <a:t>NOSOTROS</a:t>
            </a:r>
            <a:endParaRPr lang="en-US" sz="750" dirty="0"/>
          </a:p>
        </p:txBody>
      </p:sp>
      <p:sp>
        <p:nvSpPr>
          <p:cNvPr id="4" name="Text 1"/>
          <p:cNvSpPr txBox="1"/>
          <p:nvPr/>
        </p:nvSpPr>
        <p:spPr>
          <a:xfrm>
            <a:off x="5029200" y="36576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60" dirty="0">
                <a:solidFill>
                  <a:srgbClr val="5C5C6E"/>
                </a:solidFill>
                <a:latin typeface="Raleway Medium" pitchFamily="34" charset="0"/>
                <a:ea typeface="Raleway Medium" pitchFamily="34" charset="-122"/>
                <a:cs typeface="Raleway Medium" pitchFamily="34" charset="-120"/>
              </a:rPr>
              <a:t>NUESTRO EQUIPO</a:t>
            </a:r>
            <a:endParaRPr lang="en-US" sz="750" dirty="0"/>
          </a:p>
        </p:txBody>
      </p:sp>
      <p:sp>
        <p:nvSpPr>
          <p:cNvPr id="5" name="Text 2"/>
          <p:cNvSpPr txBox="1"/>
          <p:nvPr/>
        </p:nvSpPr>
        <p:spPr>
          <a:xfrm>
            <a:off x="10728655" y="36576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50" kern="0" spc="160" dirty="0">
                <a:solidFill>
                  <a:srgbClr val="5C5C6E"/>
                </a:solidFill>
                <a:latin typeface="Manrope" pitchFamily="2" charset="0"/>
                <a:ea typeface="Raleway Medium" pitchFamily="34" charset="-122"/>
                <a:cs typeface="Raleway Medium" pitchFamily="34" charset="-120"/>
              </a:rPr>
              <a:t>2026</a:t>
            </a:r>
            <a:endParaRPr lang="en-US" sz="750" dirty="0">
              <a:latin typeface="Manrope" pitchFamily="2" charset="0"/>
            </a:endParaRPr>
          </a:p>
        </p:txBody>
      </p:sp>
      <p:sp>
        <p:nvSpPr>
          <p:cNvPr id="6" name="Text 3"/>
          <p:cNvSpPr txBox="1"/>
          <p:nvPr/>
        </p:nvSpPr>
        <p:spPr>
          <a:xfrm>
            <a:off x="548640" y="86868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kern="0" spc="-50" dirty="0">
                <a:solidFill>
                  <a:srgbClr val="202031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El Equipo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7276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8757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Equipo </a:t>
            </a:r>
            <a:r>
              <a:rPr lang="en-US" sz="1300" dirty="0" err="1">
                <a:solidFill>
                  <a:srgbClr val="58757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directivo</a:t>
            </a:r>
            <a:r>
              <a:rPr lang="en-US" sz="1300" dirty="0">
                <a:solidFill>
                  <a:srgbClr val="58757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con </a:t>
            </a:r>
            <a:r>
              <a:rPr lang="en-US" sz="1300" dirty="0" err="1">
                <a:solidFill>
                  <a:srgbClr val="58757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más</a:t>
            </a:r>
            <a:r>
              <a:rPr lang="en-US" sz="1300" dirty="0">
                <a:solidFill>
                  <a:srgbClr val="58757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de </a:t>
            </a:r>
            <a:r>
              <a:rPr lang="en-US" sz="1300" dirty="0">
                <a:solidFill>
                  <a:srgbClr val="587579"/>
                </a:solidFill>
                <a:latin typeface="Manrope" pitchFamily="2" charset="0"/>
                <a:ea typeface="Raleway" pitchFamily="34" charset="-122"/>
                <a:cs typeface="Raleway" pitchFamily="34" charset="-120"/>
              </a:rPr>
              <a:t>21</a:t>
            </a:r>
            <a:r>
              <a:rPr lang="en-US" sz="1300" dirty="0">
                <a:solidFill>
                  <a:srgbClr val="58757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</a:t>
            </a:r>
            <a:r>
              <a:rPr lang="en-US" sz="1300" dirty="0" err="1">
                <a:solidFill>
                  <a:srgbClr val="58757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consultores</a:t>
            </a:r>
            <a:r>
              <a:rPr lang="en-US" sz="1300" dirty="0">
                <a:solidFill>
                  <a:srgbClr val="58757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</a:t>
            </a:r>
            <a:r>
              <a:rPr lang="en-US" sz="1300" dirty="0" err="1">
                <a:solidFill>
                  <a:srgbClr val="58757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</a:t>
            </a:r>
            <a:r>
              <a:rPr lang="en-US" sz="1300" dirty="0">
                <a:solidFill>
                  <a:srgbClr val="58757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: </a:t>
            </a:r>
            <a:r>
              <a:rPr lang="en-US" sz="1300" dirty="0">
                <a:solidFill>
                  <a:srgbClr val="20203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Madrid, Bilbao y Oviedo</a:t>
            </a:r>
            <a:endParaRPr lang="en-US" sz="1300" dirty="0"/>
          </a:p>
        </p:txBody>
      </p:sp>
      <p:pic>
        <p:nvPicPr>
          <p:cNvPr id="8" name="Image 1" descr="/tmp/claude-0/-home-claude/6ecba087-9563-50f1-9ffc-6a20c07eac08/scratchpad/decks/kit/t_manu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148840"/>
            <a:ext cx="1711909" cy="2139887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48640" y="4489895"/>
            <a:ext cx="342381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kern="0" spc="100" dirty="0">
                <a:solidFill>
                  <a:srgbClr val="20203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MANUEL PINA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4764215"/>
            <a:ext cx="34238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kern="0" spc="220" dirty="0">
                <a:solidFill>
                  <a:srgbClr val="587579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PARTNER - FINANCE</a:t>
            </a:r>
            <a:endParaRPr lang="en-US" sz="85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5221415"/>
            <a:ext cx="3423818" cy="950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900" dirty="0">
                <a:solidFill>
                  <a:srgbClr val="4A4A5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Más de 10 años en Big Four en auditoría, due diligence y M&amp;A, y posteriormente CFO en grandes pymes españolas. Lidera Tessera Finance, coordinando el equipo de CFOs, transacciones y asesoramiento financiero estratégico.</a:t>
            </a:r>
            <a:endParaRPr lang="en-US" sz="900" dirty="0"/>
          </a:p>
        </p:txBody>
      </p:sp>
      <p:pic>
        <p:nvPicPr>
          <p:cNvPr id="12" name="Image 2" descr="/tmp/claude-0/-home-claude/6ecba087-9563-50f1-9ffc-6a20c07eac08/scratchpad/decks/kit/t_monic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3938" y="2148840"/>
            <a:ext cx="1711909" cy="2139887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4383938" y="4489895"/>
            <a:ext cx="342381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kern="0" spc="100" dirty="0">
                <a:solidFill>
                  <a:srgbClr val="20203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MÓNICA MAYORAL</a:t>
            </a:r>
            <a:endParaRPr lang="en-US" sz="1200" dirty="0"/>
          </a:p>
        </p:txBody>
      </p:sp>
      <p:sp>
        <p:nvSpPr>
          <p:cNvPr id="14" name="Text 9"/>
          <p:cNvSpPr txBox="1"/>
          <p:nvPr/>
        </p:nvSpPr>
        <p:spPr>
          <a:xfrm>
            <a:off x="4383938" y="4764215"/>
            <a:ext cx="34238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kern="0" spc="220" dirty="0">
                <a:solidFill>
                  <a:srgbClr val="587579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PARTNER - FINANCE</a:t>
            </a:r>
            <a:endParaRPr lang="en-US" sz="850" dirty="0"/>
          </a:p>
        </p:txBody>
      </p:sp>
      <p:sp>
        <p:nvSpPr>
          <p:cNvPr id="15" name="Text 10"/>
          <p:cNvSpPr txBox="1"/>
          <p:nvPr/>
        </p:nvSpPr>
        <p:spPr>
          <a:xfrm>
            <a:off x="4383938" y="5221415"/>
            <a:ext cx="3423818" cy="950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900" dirty="0">
                <a:solidFill>
                  <a:srgbClr val="4A4A5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Más de 20 años como Directora Financiera en empresa multinacional, muy involucrada en el día a día de la compañía con visión y estrategia global: reducción de riesgos y planes de crecimiento. Amplia trayectoria en liderazgo y gestión financiera.</a:t>
            </a:r>
            <a:endParaRPr lang="en-US" sz="900" dirty="0"/>
          </a:p>
        </p:txBody>
      </p:sp>
      <p:pic>
        <p:nvPicPr>
          <p:cNvPr id="16" name="Image 3" descr="/tmp/claude-0/-home-claude/6ecba087-9563-50f1-9ffc-6a20c07eac08/scratchpad/decks/kit/t_edwar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19237" y="2148840"/>
            <a:ext cx="1711909" cy="2139887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219237" y="4489895"/>
            <a:ext cx="342381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kern="0" spc="100" dirty="0">
                <a:solidFill>
                  <a:srgbClr val="20203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EDWARD MANRIQUE</a:t>
            </a:r>
            <a:endParaRPr lang="en-US" sz="1200" dirty="0"/>
          </a:p>
        </p:txBody>
      </p:sp>
      <p:sp>
        <p:nvSpPr>
          <p:cNvPr id="18" name="Text 12"/>
          <p:cNvSpPr txBox="1"/>
          <p:nvPr/>
        </p:nvSpPr>
        <p:spPr>
          <a:xfrm>
            <a:off x="8219237" y="4764215"/>
            <a:ext cx="34238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kern="0" spc="220" dirty="0">
                <a:solidFill>
                  <a:srgbClr val="587579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HEAD OF RECRUITMENT &amp; TALENT OPERATIONS</a:t>
            </a:r>
            <a:endParaRPr lang="en-US" sz="850" dirty="0"/>
          </a:p>
        </p:txBody>
      </p:sp>
      <p:sp>
        <p:nvSpPr>
          <p:cNvPr id="19" name="Text 13"/>
          <p:cNvSpPr txBox="1"/>
          <p:nvPr/>
        </p:nvSpPr>
        <p:spPr>
          <a:xfrm>
            <a:off x="8219237" y="5221415"/>
            <a:ext cx="3423818" cy="950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900" dirty="0">
                <a:solidFill>
                  <a:srgbClr val="4A4A5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Más de 8 años de experiencia en identificación y evaluación de talento. En Seedtag lideró la contratación de más de 200 profesionales en 16 países, y ha trabajado con grandes entidades financieras internacionales como Santander, BNP Paribas y BBVA.</a:t>
            </a:r>
            <a:endParaRPr lang="en-US" sz="900" dirty="0"/>
          </a:p>
        </p:txBody>
      </p:sp>
      <p:sp>
        <p:nvSpPr>
          <p:cNvPr id="20" name="Text 14"/>
          <p:cNvSpPr txBox="1"/>
          <p:nvPr/>
        </p:nvSpPr>
        <p:spPr>
          <a:xfrm>
            <a:off x="10545775" y="629107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kern="0" spc="100" dirty="0">
                <a:solidFill>
                  <a:srgbClr val="5C5C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6EC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6ecba087-9563-50f1-9ffc-6a20c07eac08/scratchpad/decks/kit/logo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84048"/>
            <a:ext cx="960120" cy="19007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057400" y="3657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60" dirty="0">
                <a:solidFill>
                  <a:srgbClr val="5C5C6E"/>
                </a:solidFill>
                <a:latin typeface="Raleway Medium" pitchFamily="34" charset="0"/>
                <a:ea typeface="Raleway Medium" pitchFamily="34" charset="-122"/>
                <a:cs typeface="Raleway Medium" pitchFamily="34" charset="-120"/>
              </a:rPr>
              <a:t>NOSOTROS</a:t>
            </a:r>
            <a:endParaRPr lang="en-US" sz="750" dirty="0"/>
          </a:p>
        </p:txBody>
      </p:sp>
      <p:sp>
        <p:nvSpPr>
          <p:cNvPr id="4" name="Text 1"/>
          <p:cNvSpPr txBox="1"/>
          <p:nvPr/>
        </p:nvSpPr>
        <p:spPr>
          <a:xfrm>
            <a:off x="5029200" y="36576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60" dirty="0">
                <a:solidFill>
                  <a:srgbClr val="5C5C6E"/>
                </a:solidFill>
                <a:latin typeface="Raleway Medium" pitchFamily="34" charset="0"/>
                <a:ea typeface="Raleway Medium" pitchFamily="34" charset="-122"/>
                <a:cs typeface="Raleway Medium" pitchFamily="34" charset="-120"/>
              </a:rPr>
              <a:t>NUESTRO EQUIPO</a:t>
            </a:r>
            <a:endParaRPr lang="en-US" sz="750" dirty="0"/>
          </a:p>
        </p:txBody>
      </p:sp>
      <p:sp>
        <p:nvSpPr>
          <p:cNvPr id="5" name="Text 2"/>
          <p:cNvSpPr txBox="1"/>
          <p:nvPr/>
        </p:nvSpPr>
        <p:spPr>
          <a:xfrm>
            <a:off x="10728655" y="36576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50" kern="0" spc="160" dirty="0">
                <a:solidFill>
                  <a:srgbClr val="5C5C6E"/>
                </a:solidFill>
                <a:latin typeface="Manrope" pitchFamily="2" charset="0"/>
                <a:ea typeface="Raleway Medium" pitchFamily="34" charset="-122"/>
                <a:cs typeface="Raleway Medium" pitchFamily="34" charset="-120"/>
              </a:rPr>
              <a:t>2026</a:t>
            </a:r>
            <a:endParaRPr lang="en-US" sz="750" dirty="0">
              <a:latin typeface="Manrope" pitchFamily="2" charset="0"/>
            </a:endParaRPr>
          </a:p>
        </p:txBody>
      </p:sp>
      <p:sp>
        <p:nvSpPr>
          <p:cNvPr id="6" name="Text 3"/>
          <p:cNvSpPr txBox="1"/>
          <p:nvPr/>
        </p:nvSpPr>
        <p:spPr>
          <a:xfrm>
            <a:off x="548640" y="86868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kern="0" spc="-50" dirty="0">
                <a:solidFill>
                  <a:srgbClr val="202031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El Equipo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7276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8757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Equipo directive con </a:t>
            </a:r>
            <a:r>
              <a:rPr lang="en-US" sz="1300" dirty="0" err="1">
                <a:solidFill>
                  <a:srgbClr val="58757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más</a:t>
            </a:r>
            <a:r>
              <a:rPr lang="en-US" sz="1300" dirty="0">
                <a:solidFill>
                  <a:srgbClr val="58757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de </a:t>
            </a:r>
            <a:r>
              <a:rPr lang="en-US" sz="1300" dirty="0">
                <a:solidFill>
                  <a:srgbClr val="587579"/>
                </a:solidFill>
                <a:latin typeface="Manrope" pitchFamily="2" charset="0"/>
                <a:ea typeface="Raleway" pitchFamily="34" charset="-122"/>
                <a:cs typeface="Raleway" pitchFamily="34" charset="-120"/>
              </a:rPr>
              <a:t>21</a:t>
            </a:r>
            <a:r>
              <a:rPr lang="en-US" sz="1300" dirty="0">
                <a:solidFill>
                  <a:srgbClr val="58757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</a:t>
            </a:r>
            <a:r>
              <a:rPr lang="en-US" sz="1300" dirty="0" err="1">
                <a:solidFill>
                  <a:srgbClr val="58757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consultores</a:t>
            </a:r>
            <a:r>
              <a:rPr lang="en-US" sz="1300" dirty="0">
                <a:solidFill>
                  <a:srgbClr val="58757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</a:t>
            </a:r>
            <a:r>
              <a:rPr lang="en-US" sz="1300" dirty="0" err="1">
                <a:solidFill>
                  <a:srgbClr val="58757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</a:t>
            </a:r>
            <a:r>
              <a:rPr lang="en-US" sz="1300" dirty="0">
                <a:solidFill>
                  <a:srgbClr val="58757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: </a:t>
            </a:r>
            <a:r>
              <a:rPr lang="en-US" sz="1300" dirty="0">
                <a:solidFill>
                  <a:srgbClr val="20203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Madrid, Bilbao y Oviedo</a:t>
            </a:r>
            <a:endParaRPr lang="en-US" sz="1300" dirty="0"/>
          </a:p>
        </p:txBody>
      </p:sp>
      <p:pic>
        <p:nvPicPr>
          <p:cNvPr id="8" name="Image 1" descr="/tmp/claude-0/-home-claude/6ecba087-9563-50f1-9ffc-6a20c07eac08/scratchpad/decks/kit/t_manu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148840"/>
            <a:ext cx="1528296" cy="191037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48640" y="4260378"/>
            <a:ext cx="24649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kern="0" spc="100" dirty="0">
                <a:solidFill>
                  <a:srgbClr val="20203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MANUEL PINA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4534698"/>
            <a:ext cx="24649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kern="0" spc="220" dirty="0">
                <a:solidFill>
                  <a:srgbClr val="587579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PARTNER - FINANCE</a:t>
            </a:r>
            <a:endParaRPr lang="en-US" sz="85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4991898"/>
            <a:ext cx="2464994" cy="1180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850" dirty="0">
                <a:solidFill>
                  <a:srgbClr val="4A4A5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Más de </a:t>
            </a:r>
            <a:r>
              <a:rPr lang="en-US" sz="850" dirty="0">
                <a:solidFill>
                  <a:srgbClr val="4A4A5C"/>
                </a:solidFill>
                <a:latin typeface="Manrope" pitchFamily="2" charset="0"/>
                <a:ea typeface="Raleway" pitchFamily="34" charset="-122"/>
                <a:cs typeface="Raleway" pitchFamily="34" charset="-120"/>
              </a:rPr>
              <a:t>10</a:t>
            </a:r>
            <a:r>
              <a:rPr lang="en-US" sz="850" dirty="0">
                <a:solidFill>
                  <a:srgbClr val="4A4A5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años en Big Four en auditoría, due diligence y M&amp;A, y posteriormente CFO en grandes pymes españolas. Lidera Tessera Finance, coordinando el equipo de CFOs, transacciones y asesoramiento financiero estratégico.</a:t>
            </a:r>
            <a:endParaRPr lang="en-US" sz="850" dirty="0"/>
          </a:p>
        </p:txBody>
      </p:sp>
      <p:pic>
        <p:nvPicPr>
          <p:cNvPr id="12" name="Image 2" descr="/tmp/claude-0/-home-claude/6ecba087-9563-50f1-9ffc-6a20c07eac08/scratchpad/decks/kit/t_eduard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25114" y="2148840"/>
            <a:ext cx="1528296" cy="191037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425114" y="4260378"/>
            <a:ext cx="24649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kern="0" spc="100" dirty="0">
                <a:solidFill>
                  <a:srgbClr val="20203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EDUARDO SERRANO</a:t>
            </a:r>
            <a:endParaRPr lang="en-US" sz="1200" dirty="0"/>
          </a:p>
        </p:txBody>
      </p:sp>
      <p:sp>
        <p:nvSpPr>
          <p:cNvPr id="14" name="Text 9"/>
          <p:cNvSpPr txBox="1"/>
          <p:nvPr/>
        </p:nvSpPr>
        <p:spPr>
          <a:xfrm>
            <a:off x="3425114" y="4534698"/>
            <a:ext cx="24649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kern="0" spc="220" dirty="0">
                <a:solidFill>
                  <a:srgbClr val="587579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PARTNER - FINANCE</a:t>
            </a:r>
            <a:endParaRPr lang="en-US" sz="850" dirty="0"/>
          </a:p>
        </p:txBody>
      </p:sp>
      <p:sp>
        <p:nvSpPr>
          <p:cNvPr id="15" name="Text 10"/>
          <p:cNvSpPr txBox="1"/>
          <p:nvPr/>
        </p:nvSpPr>
        <p:spPr>
          <a:xfrm>
            <a:off x="3425114" y="4991898"/>
            <a:ext cx="2464994" cy="1180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850" dirty="0">
                <a:solidFill>
                  <a:srgbClr val="4A4A5C"/>
                </a:solidFill>
                <a:latin typeface="Manrope" pitchFamily="2" charset="0"/>
                <a:ea typeface="Raleway" pitchFamily="34" charset="-122"/>
                <a:cs typeface="Raleway" pitchFamily="34" charset="-120"/>
              </a:rPr>
              <a:t>17</a:t>
            </a:r>
            <a:r>
              <a:rPr lang="en-US" sz="850" dirty="0">
                <a:solidFill>
                  <a:srgbClr val="4A4A5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años en el mundo del emprendimiento como CFO de startups internacionales y de fondos líderes de Venture Capital y Venture Builders. Especializado en aportar valor desde el área financiera, la tesorería y la consecución de financiación y capital.</a:t>
            </a:r>
            <a:endParaRPr lang="en-US" sz="850" dirty="0"/>
          </a:p>
        </p:txBody>
      </p:sp>
      <p:pic>
        <p:nvPicPr>
          <p:cNvPr id="16" name="Image 3" descr="/tmp/claude-0/-home-claude/6ecba087-9563-50f1-9ffc-6a20c07eac08/scratchpad/decks/kit/t_monic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1588" y="2148840"/>
            <a:ext cx="1528296" cy="191037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6301588" y="4260378"/>
            <a:ext cx="24649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kern="0" spc="100" dirty="0">
                <a:solidFill>
                  <a:srgbClr val="20203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MÓNICA MAYORAL</a:t>
            </a:r>
            <a:endParaRPr lang="en-US" sz="1200" dirty="0"/>
          </a:p>
        </p:txBody>
      </p:sp>
      <p:sp>
        <p:nvSpPr>
          <p:cNvPr id="18" name="Text 12"/>
          <p:cNvSpPr txBox="1"/>
          <p:nvPr/>
        </p:nvSpPr>
        <p:spPr>
          <a:xfrm>
            <a:off x="6301588" y="4534698"/>
            <a:ext cx="24649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kern="0" spc="220" dirty="0">
                <a:solidFill>
                  <a:srgbClr val="587579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PARTNER - FINANCE</a:t>
            </a:r>
            <a:endParaRPr lang="en-US" sz="850" dirty="0"/>
          </a:p>
        </p:txBody>
      </p:sp>
      <p:sp>
        <p:nvSpPr>
          <p:cNvPr id="19" name="Text 13"/>
          <p:cNvSpPr txBox="1"/>
          <p:nvPr/>
        </p:nvSpPr>
        <p:spPr>
          <a:xfrm>
            <a:off x="6301588" y="4991898"/>
            <a:ext cx="2464994" cy="1180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850" dirty="0">
                <a:solidFill>
                  <a:srgbClr val="4A4A5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Más de </a:t>
            </a:r>
            <a:r>
              <a:rPr lang="en-US" sz="850" dirty="0">
                <a:solidFill>
                  <a:srgbClr val="4A4A5C"/>
                </a:solidFill>
                <a:latin typeface="Manrope" pitchFamily="2" charset="0"/>
                <a:ea typeface="Raleway" pitchFamily="34" charset="-122"/>
                <a:cs typeface="Raleway" pitchFamily="34" charset="-120"/>
              </a:rPr>
              <a:t>20</a:t>
            </a:r>
            <a:r>
              <a:rPr lang="en-US" sz="850" dirty="0">
                <a:solidFill>
                  <a:srgbClr val="4A4A5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años como Directora Financiera en empresa multinacional, muy involucrada en el día a día de la compañía con visión y estrategia global: reducción de riesgos y planes de crecimiento. Amplia trayectoria en liderazgo y gestión financiera.</a:t>
            </a:r>
            <a:endParaRPr lang="en-US" sz="850" dirty="0"/>
          </a:p>
        </p:txBody>
      </p:sp>
      <p:pic>
        <p:nvPicPr>
          <p:cNvPr id="20" name="Image 4" descr="/tmp/claude-0/-home-claude/6ecba087-9563-50f1-9ffc-6a20c07eac08/scratchpad/decks/kit/t_edwar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78061" y="2148840"/>
            <a:ext cx="1528296" cy="191037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9178061" y="4260378"/>
            <a:ext cx="24649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kern="0" spc="100" dirty="0">
                <a:solidFill>
                  <a:srgbClr val="20203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EDWARD MANRIQUE</a:t>
            </a:r>
            <a:endParaRPr lang="en-US" sz="1200" dirty="0"/>
          </a:p>
        </p:txBody>
      </p:sp>
      <p:sp>
        <p:nvSpPr>
          <p:cNvPr id="22" name="Text 15"/>
          <p:cNvSpPr txBox="1"/>
          <p:nvPr/>
        </p:nvSpPr>
        <p:spPr>
          <a:xfrm>
            <a:off x="9178061" y="4534698"/>
            <a:ext cx="24649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kern="0" spc="220" dirty="0">
                <a:solidFill>
                  <a:srgbClr val="587579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HEAD OF RECRUITMENT &amp; TALENT OPERATIONS</a:t>
            </a:r>
            <a:endParaRPr lang="en-US" sz="850" dirty="0"/>
          </a:p>
        </p:txBody>
      </p:sp>
      <p:sp>
        <p:nvSpPr>
          <p:cNvPr id="23" name="Text 16"/>
          <p:cNvSpPr txBox="1"/>
          <p:nvPr/>
        </p:nvSpPr>
        <p:spPr>
          <a:xfrm>
            <a:off x="9178061" y="4991898"/>
            <a:ext cx="2464994" cy="1180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850" dirty="0">
                <a:solidFill>
                  <a:srgbClr val="4A4A5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Más de 8 años de experiencia en identificación y evaluación de talento. En Seedtag lideró la contratación de más de </a:t>
            </a:r>
            <a:r>
              <a:rPr lang="en-US" sz="850" dirty="0">
                <a:solidFill>
                  <a:srgbClr val="4A4A5C"/>
                </a:solidFill>
                <a:latin typeface="Manrope" pitchFamily="2" charset="0"/>
                <a:ea typeface="Raleway" pitchFamily="34" charset="-122"/>
                <a:cs typeface="Raleway" pitchFamily="34" charset="-120"/>
              </a:rPr>
              <a:t>200</a:t>
            </a:r>
            <a:r>
              <a:rPr lang="en-US" sz="850" dirty="0">
                <a:solidFill>
                  <a:srgbClr val="4A4A5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profesionales en </a:t>
            </a:r>
            <a:r>
              <a:rPr lang="en-US" sz="850" dirty="0">
                <a:solidFill>
                  <a:srgbClr val="4A4A5C"/>
                </a:solidFill>
                <a:latin typeface="Manrope" pitchFamily="2" charset="0"/>
                <a:ea typeface="Raleway" pitchFamily="34" charset="-122"/>
                <a:cs typeface="Raleway" pitchFamily="34" charset="-120"/>
              </a:rPr>
              <a:t>16</a:t>
            </a:r>
            <a:r>
              <a:rPr lang="en-US" sz="850" dirty="0">
                <a:solidFill>
                  <a:srgbClr val="4A4A5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países, y ha trabajado con grandes entidades financieras internacionales como Santander, BNP Paribas y BBVA.</a:t>
            </a:r>
            <a:endParaRPr lang="en-US" sz="850" dirty="0"/>
          </a:p>
        </p:txBody>
      </p:sp>
      <p:sp>
        <p:nvSpPr>
          <p:cNvPr id="24" name="Text 17"/>
          <p:cNvSpPr txBox="1"/>
          <p:nvPr/>
        </p:nvSpPr>
        <p:spPr>
          <a:xfrm>
            <a:off x="10545775" y="629107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kern="0" spc="100" dirty="0">
                <a:solidFill>
                  <a:srgbClr val="5C5C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6ecba087-9563-50f1-9ffc-6a20c07eac08/scratchpad/decks/kit/logo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84048"/>
            <a:ext cx="960120" cy="19007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057400" y="3657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60" dirty="0">
                <a:solidFill>
                  <a:srgbClr val="5C5C6E"/>
                </a:solidFill>
                <a:latin typeface="Raleway Medium" pitchFamily="34" charset="0"/>
                <a:ea typeface="Raleway Medium" pitchFamily="34" charset="-122"/>
                <a:cs typeface="Raleway Medium" pitchFamily="34" charset="-120"/>
              </a:rPr>
              <a:t>NOSOTROS</a:t>
            </a:r>
            <a:endParaRPr lang="en-US" sz="750" dirty="0"/>
          </a:p>
        </p:txBody>
      </p:sp>
      <p:sp>
        <p:nvSpPr>
          <p:cNvPr id="4" name="Text 1"/>
          <p:cNvSpPr txBox="1"/>
          <p:nvPr/>
        </p:nvSpPr>
        <p:spPr>
          <a:xfrm>
            <a:off x="5029200" y="36576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60" dirty="0">
                <a:solidFill>
                  <a:srgbClr val="5C5C6E"/>
                </a:solidFill>
                <a:latin typeface="Raleway Medium" pitchFamily="34" charset="0"/>
                <a:ea typeface="Raleway Medium" pitchFamily="34" charset="-122"/>
                <a:cs typeface="Raleway Medium" pitchFamily="34" charset="-120"/>
              </a:rPr>
              <a:t>PARA EL FONDO Y SUS PARTICIPADAS</a:t>
            </a:r>
            <a:endParaRPr lang="en-US" sz="750" dirty="0"/>
          </a:p>
        </p:txBody>
      </p:sp>
      <p:sp>
        <p:nvSpPr>
          <p:cNvPr id="5" name="Text 2"/>
          <p:cNvSpPr txBox="1"/>
          <p:nvPr/>
        </p:nvSpPr>
        <p:spPr>
          <a:xfrm>
            <a:off x="10728655" y="36576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50" kern="0" spc="160" dirty="0">
                <a:solidFill>
                  <a:srgbClr val="5C5C6E"/>
                </a:solidFill>
                <a:latin typeface="Manrope" pitchFamily="2" charset="0"/>
                <a:ea typeface="Raleway Medium" pitchFamily="34" charset="-122"/>
                <a:cs typeface="Raleway Medium" pitchFamily="34" charset="-120"/>
              </a:rPr>
              <a:t>2026</a:t>
            </a:r>
            <a:endParaRPr lang="en-US" sz="750" dirty="0">
              <a:latin typeface="Manrope" pitchFamily="2" charset="0"/>
            </a:endParaRPr>
          </a:p>
        </p:txBody>
      </p:sp>
      <p:sp>
        <p:nvSpPr>
          <p:cNvPr id="6" name="Text 3"/>
          <p:cNvSpPr txBox="1"/>
          <p:nvPr/>
        </p:nvSpPr>
        <p:spPr>
          <a:xfrm>
            <a:off x="548640" y="86868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kern="0" spc="-50" dirty="0">
                <a:solidFill>
                  <a:srgbClr val="202031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Un partner para el fondo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7276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8757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Finance y Human Capital en un mismo equipo, </a:t>
            </a:r>
            <a:r>
              <a:rPr lang="en-US" sz="1300" dirty="0">
                <a:solidFill>
                  <a:srgbClr val="20203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en cada fase del ciclo de inversión.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48640" y="2057400"/>
            <a:ext cx="3423818" cy="2743200"/>
          </a:xfrm>
          <a:prstGeom prst="rect">
            <a:avLst/>
          </a:prstGeom>
          <a:solidFill>
            <a:srgbClr val="6F8B8C"/>
          </a:solidFill>
          <a:ln w="12700">
            <a:solidFill>
              <a:srgbClr val="6F8B8C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6"/>
          <p:cNvSpPr txBox="1"/>
          <p:nvPr/>
        </p:nvSpPr>
        <p:spPr>
          <a:xfrm>
            <a:off x="822960" y="2194560"/>
            <a:ext cx="1097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dirty="0">
                <a:solidFill>
                  <a:srgbClr val="FFFFFF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01</a:t>
            </a:r>
            <a:endParaRPr lang="en-US" sz="4000" dirty="0"/>
          </a:p>
        </p:txBody>
      </p:sp>
      <p:sp>
        <p:nvSpPr>
          <p:cNvPr id="10" name="Text 7"/>
          <p:cNvSpPr txBox="1"/>
          <p:nvPr/>
        </p:nvSpPr>
        <p:spPr>
          <a:xfrm>
            <a:off x="1828800" y="2304288"/>
            <a:ext cx="205221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kern="0" spc="150" dirty="0">
                <a:solidFill>
                  <a:srgbClr val="FFFFFF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PRE-INVERSIÓN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1828800" y="2578608"/>
            <a:ext cx="205221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E6ECE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Antes de firmar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822960" y="3017520"/>
            <a:ext cx="2875178" cy="0"/>
          </a:xfrm>
          <a:prstGeom prst="line">
            <a:avLst/>
          </a:prstGeom>
          <a:noFill/>
          <a:ln w="12700">
            <a:solidFill>
              <a:srgbClr val="C9D6D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3" name="Text 10"/>
          <p:cNvSpPr txBox="1"/>
          <p:nvPr/>
        </p:nvSpPr>
        <p:spPr>
          <a:xfrm>
            <a:off x="822960" y="3154680"/>
            <a:ext cx="287517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Due diligence financiera del target</a:t>
            </a:r>
            <a:endParaRPr lang="en-US" sz="11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Valoración independiente</a:t>
            </a:r>
            <a:endParaRPr lang="en-US" sz="11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Revisión del business plan</a:t>
            </a:r>
            <a:endParaRPr lang="en-US" sz="11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Estructura de la operación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383938" y="2057400"/>
            <a:ext cx="3423818" cy="2743200"/>
          </a:xfrm>
          <a:prstGeom prst="rect">
            <a:avLst/>
          </a:prstGeom>
          <a:solidFill>
            <a:srgbClr val="587579"/>
          </a:solidFill>
          <a:ln w="12700">
            <a:solidFill>
              <a:srgbClr val="58757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5" name="Text 12"/>
          <p:cNvSpPr txBox="1"/>
          <p:nvPr/>
        </p:nvSpPr>
        <p:spPr>
          <a:xfrm>
            <a:off x="4658258" y="2194560"/>
            <a:ext cx="1097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dirty="0">
                <a:solidFill>
                  <a:srgbClr val="FFFFFF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02</a:t>
            </a:r>
            <a:endParaRPr lang="en-US" sz="4000" dirty="0"/>
          </a:p>
        </p:txBody>
      </p:sp>
      <p:sp>
        <p:nvSpPr>
          <p:cNvPr id="16" name="Text 13"/>
          <p:cNvSpPr txBox="1"/>
          <p:nvPr/>
        </p:nvSpPr>
        <p:spPr>
          <a:xfrm>
            <a:off x="5664098" y="2304288"/>
            <a:ext cx="205221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kern="0" spc="150" dirty="0">
                <a:solidFill>
                  <a:srgbClr val="FFFFFF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ACOMPAÑAMIENTO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664098" y="2578608"/>
            <a:ext cx="205221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E6ECE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Durante la inversión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4658258" y="3017520"/>
            <a:ext cx="2875178" cy="0"/>
          </a:xfrm>
          <a:prstGeom prst="line">
            <a:avLst/>
          </a:prstGeom>
          <a:noFill/>
          <a:ln w="12700">
            <a:solidFill>
              <a:srgbClr val="C9D6D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9" name="Text 16"/>
          <p:cNvSpPr txBox="1"/>
          <p:nvPr/>
        </p:nvSpPr>
        <p:spPr>
          <a:xfrm>
            <a:off x="4658258" y="3154680"/>
            <a:ext cx="287517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CFO part-time y reporting al fondo</a:t>
            </a:r>
            <a:endParaRPr lang="en-US" sz="11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Financiación y ahorro de costes</a:t>
            </a:r>
            <a:endParaRPr lang="en-US" sz="11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Headhunting de equipos directivos</a:t>
            </a:r>
            <a:endParaRPr lang="en-US" sz="11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Outsourcing y consultoría salarial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8219237" y="2057400"/>
            <a:ext cx="3423818" cy="2743200"/>
          </a:xfrm>
          <a:prstGeom prst="rect">
            <a:avLst/>
          </a:prstGeom>
          <a:solidFill>
            <a:srgbClr val="3F5A5E"/>
          </a:solidFill>
          <a:ln w="12700">
            <a:solidFill>
              <a:srgbClr val="3F5A5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1" name="Text 18"/>
          <p:cNvSpPr txBox="1"/>
          <p:nvPr/>
        </p:nvSpPr>
        <p:spPr>
          <a:xfrm>
            <a:off x="8493557" y="2194560"/>
            <a:ext cx="1097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dirty="0">
                <a:solidFill>
                  <a:srgbClr val="FFFFFF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03</a:t>
            </a:r>
            <a:endParaRPr lang="en-US" sz="4000" dirty="0"/>
          </a:p>
        </p:txBody>
      </p:sp>
      <p:sp>
        <p:nvSpPr>
          <p:cNvPr id="22" name="Text 19"/>
          <p:cNvSpPr txBox="1"/>
          <p:nvPr/>
        </p:nvSpPr>
        <p:spPr>
          <a:xfrm>
            <a:off x="9499397" y="2304288"/>
            <a:ext cx="205221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kern="0" spc="150" dirty="0">
                <a:solidFill>
                  <a:srgbClr val="FFFFFF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SALIDA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9499397" y="2578608"/>
            <a:ext cx="205221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E6ECE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Al preparar la venta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8493557" y="3017520"/>
            <a:ext cx="2875178" cy="0"/>
          </a:xfrm>
          <a:prstGeom prst="line">
            <a:avLst/>
          </a:prstGeom>
          <a:noFill/>
          <a:ln w="12700">
            <a:solidFill>
              <a:srgbClr val="C9D6D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5" name="Text 22"/>
          <p:cNvSpPr txBox="1"/>
          <p:nvPr/>
        </p:nvSpPr>
        <p:spPr>
          <a:xfrm>
            <a:off x="8493557" y="3154680"/>
            <a:ext cx="287517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Compañía preparada para la venta</a:t>
            </a:r>
            <a:endParaRPr lang="en-US" sz="11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Vendor due diligence y valoración</a:t>
            </a:r>
            <a:endParaRPr lang="en-US" sz="11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Proceso de M&amp;A hasta el cierre</a:t>
            </a:r>
            <a:endParaRPr lang="en-US" sz="11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Búsqueda del comprador o socio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548640" y="5074920"/>
            <a:ext cx="11094415" cy="1097280"/>
          </a:xfrm>
          <a:prstGeom prst="rect">
            <a:avLst/>
          </a:prstGeom>
          <a:solidFill>
            <a:srgbClr val="202031"/>
          </a:solidFill>
          <a:ln w="12700">
            <a:solidFill>
              <a:srgbClr val="202031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7" name="Text 24"/>
          <p:cNvSpPr txBox="1"/>
          <p:nvPr/>
        </p:nvSpPr>
        <p:spPr>
          <a:xfrm>
            <a:off x="822960" y="5170465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dirty="0">
                <a:solidFill>
                  <a:srgbClr val="8AA3A5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360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822960" y="5810545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E6ECE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Cobertura del ciclo de inversión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3474720" y="5303520"/>
            <a:ext cx="0" cy="640080"/>
          </a:xfrm>
          <a:prstGeom prst="line">
            <a:avLst/>
          </a:prstGeom>
          <a:noFill/>
          <a:ln w="9525">
            <a:solidFill>
              <a:srgbClr val="3A3A4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0" name="Text 27"/>
          <p:cNvSpPr txBox="1"/>
          <p:nvPr/>
        </p:nvSpPr>
        <p:spPr>
          <a:xfrm>
            <a:off x="3784396" y="5408676"/>
            <a:ext cx="74980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6ECE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Un único interlocutor para todo el ciclo de inversión, </a:t>
            </a:r>
            <a:r>
              <a:rPr lang="en-US" sz="1250" dirty="0">
                <a:solidFill>
                  <a:srgbClr val="FFFFFF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con visibilidad financiera homogénea entre participadas.</a:t>
            </a:r>
            <a:endParaRPr lang="en-US" sz="1250" dirty="0"/>
          </a:p>
        </p:txBody>
      </p:sp>
      <p:sp>
        <p:nvSpPr>
          <p:cNvPr id="31" name="Text 28"/>
          <p:cNvSpPr txBox="1"/>
          <p:nvPr/>
        </p:nvSpPr>
        <p:spPr>
          <a:xfrm>
            <a:off x="10545775" y="629107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kern="0" spc="100" dirty="0">
                <a:solidFill>
                  <a:srgbClr val="5C5C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6EC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6ecba087-9563-50f1-9ffc-6a20c07eac08/scratchpad/decks/kit/logo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84048"/>
            <a:ext cx="960120" cy="19007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057400" y="3657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60" dirty="0">
                <a:solidFill>
                  <a:srgbClr val="5C5C6E"/>
                </a:solidFill>
                <a:latin typeface="Raleway Medium" pitchFamily="34" charset="0"/>
                <a:ea typeface="Raleway Medium" pitchFamily="34" charset="-122"/>
                <a:cs typeface="Raleway Medium" pitchFamily="34" charset="-120"/>
              </a:rPr>
              <a:t>FINANCE</a:t>
            </a:r>
            <a:endParaRPr lang="en-US" sz="750" dirty="0"/>
          </a:p>
        </p:txBody>
      </p:sp>
      <p:sp>
        <p:nvSpPr>
          <p:cNvPr id="4" name="Text 1"/>
          <p:cNvSpPr txBox="1"/>
          <p:nvPr/>
        </p:nvSpPr>
        <p:spPr>
          <a:xfrm>
            <a:off x="5029200" y="36576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60" dirty="0">
                <a:solidFill>
                  <a:srgbClr val="5C5C6E"/>
                </a:solidFill>
                <a:latin typeface="Raleway Medium" pitchFamily="34" charset="0"/>
                <a:ea typeface="Raleway Medium" pitchFamily="34" charset="-122"/>
                <a:cs typeface="Raleway Medium" pitchFamily="34" charset="-120"/>
              </a:rPr>
              <a:t>SERVICIOS</a:t>
            </a:r>
            <a:endParaRPr lang="en-US" sz="750" dirty="0"/>
          </a:p>
        </p:txBody>
      </p:sp>
      <p:sp>
        <p:nvSpPr>
          <p:cNvPr id="5" name="Text 2"/>
          <p:cNvSpPr txBox="1"/>
          <p:nvPr/>
        </p:nvSpPr>
        <p:spPr>
          <a:xfrm>
            <a:off x="10728655" y="36576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50" kern="0" spc="160" dirty="0">
                <a:solidFill>
                  <a:srgbClr val="5C5C6E"/>
                </a:solidFill>
                <a:latin typeface="Manrope" pitchFamily="2" charset="0"/>
                <a:ea typeface="Raleway Medium" pitchFamily="34" charset="-122"/>
                <a:cs typeface="Raleway Medium" pitchFamily="34" charset="-120"/>
              </a:rPr>
              <a:t>2026</a:t>
            </a:r>
            <a:endParaRPr lang="en-US" sz="750" dirty="0">
              <a:latin typeface="Manrope" pitchFamily="2" charset="0"/>
            </a:endParaRPr>
          </a:p>
        </p:txBody>
      </p:sp>
      <p:sp>
        <p:nvSpPr>
          <p:cNvPr id="6" name="Text 3"/>
          <p:cNvSpPr txBox="1"/>
          <p:nvPr/>
        </p:nvSpPr>
        <p:spPr>
          <a:xfrm>
            <a:off x="548640" y="86868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kern="0" spc="-50" dirty="0">
                <a:solidFill>
                  <a:srgbClr val="202031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Finance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7276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8757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Todo el ciclo financiero de una participada, </a:t>
            </a:r>
            <a:r>
              <a:rPr lang="en-US" sz="1300" dirty="0">
                <a:solidFill>
                  <a:srgbClr val="20203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desde la due diligence hasta la salida.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48640" y="2148840"/>
            <a:ext cx="2533574" cy="1536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Shape 6"/>
          <p:cNvSpPr/>
          <p:nvPr/>
        </p:nvSpPr>
        <p:spPr>
          <a:xfrm>
            <a:off x="548640" y="2148840"/>
            <a:ext cx="2533574" cy="54864"/>
          </a:xfrm>
          <a:prstGeom prst="rect">
            <a:avLst/>
          </a:prstGeom>
          <a:solidFill>
            <a:srgbClr val="587579"/>
          </a:solidFill>
          <a:ln w="12700">
            <a:solidFill>
              <a:srgbClr val="58757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0" name="Text 7"/>
          <p:cNvSpPr txBox="1"/>
          <p:nvPr/>
        </p:nvSpPr>
        <p:spPr>
          <a:xfrm>
            <a:off x="749808" y="2331720"/>
            <a:ext cx="21678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20203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Due Diligence Financiera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749808" y="2679192"/>
            <a:ext cx="216781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C5C6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Calidad de ingresos, EBITDA ajustado, deuda neta, circulante y red flags antes de invertir.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402254" y="2148840"/>
            <a:ext cx="2533574" cy="1536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3" name="Shape 10"/>
          <p:cNvSpPr/>
          <p:nvPr/>
        </p:nvSpPr>
        <p:spPr>
          <a:xfrm>
            <a:off x="3402254" y="2148840"/>
            <a:ext cx="2533574" cy="54864"/>
          </a:xfrm>
          <a:prstGeom prst="rect">
            <a:avLst/>
          </a:prstGeom>
          <a:solidFill>
            <a:srgbClr val="587579"/>
          </a:solidFill>
          <a:ln w="12700">
            <a:solidFill>
              <a:srgbClr val="58757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4" name="Text 11"/>
          <p:cNvSpPr txBox="1"/>
          <p:nvPr/>
        </p:nvSpPr>
        <p:spPr>
          <a:xfrm>
            <a:off x="3603422" y="2331720"/>
            <a:ext cx="21678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20203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Valoraciones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3603422" y="2679192"/>
            <a:ext cx="216781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C5C6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DCF y múltiplos de mercado, con informe defendible ante compradores, inversores y auditores.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255868" y="2148840"/>
            <a:ext cx="2533574" cy="1536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7" name="Shape 14"/>
          <p:cNvSpPr/>
          <p:nvPr/>
        </p:nvSpPr>
        <p:spPr>
          <a:xfrm>
            <a:off x="6255868" y="2148840"/>
            <a:ext cx="2533574" cy="54864"/>
          </a:xfrm>
          <a:prstGeom prst="rect">
            <a:avLst/>
          </a:prstGeom>
          <a:solidFill>
            <a:srgbClr val="587579"/>
          </a:solidFill>
          <a:ln w="12700">
            <a:solidFill>
              <a:srgbClr val="58757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8" name="Text 15"/>
          <p:cNvSpPr txBox="1"/>
          <p:nvPr/>
        </p:nvSpPr>
        <p:spPr>
          <a:xfrm>
            <a:off x="6457036" y="2331720"/>
            <a:ext cx="21678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20203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Business Plan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6457036" y="2679192"/>
            <a:ext cx="216781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C5C6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Estrategia y proyecciones financieras completas, con escenarios y sensibilidad.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9109481" y="2148840"/>
            <a:ext cx="2533574" cy="1536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1" name="Shape 18"/>
          <p:cNvSpPr/>
          <p:nvPr/>
        </p:nvSpPr>
        <p:spPr>
          <a:xfrm>
            <a:off x="9109481" y="2148840"/>
            <a:ext cx="2533574" cy="54864"/>
          </a:xfrm>
          <a:prstGeom prst="rect">
            <a:avLst/>
          </a:prstGeom>
          <a:solidFill>
            <a:srgbClr val="587579"/>
          </a:solidFill>
          <a:ln w="12700">
            <a:solidFill>
              <a:srgbClr val="58757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2" name="Text 19"/>
          <p:cNvSpPr txBox="1"/>
          <p:nvPr/>
        </p:nvSpPr>
        <p:spPr>
          <a:xfrm>
            <a:off x="9310649" y="2331720"/>
            <a:ext cx="21678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20203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M&amp;A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9310649" y="2679192"/>
            <a:ext cx="216781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C5C6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Compra, venta y búsqueda de socios: del primer contacto al cierre, con red internacional.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548640" y="3867912"/>
            <a:ext cx="2533574" cy="1536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5" name="Shape 22"/>
          <p:cNvSpPr/>
          <p:nvPr/>
        </p:nvSpPr>
        <p:spPr>
          <a:xfrm>
            <a:off x="548640" y="3867912"/>
            <a:ext cx="2533574" cy="54864"/>
          </a:xfrm>
          <a:prstGeom prst="rect">
            <a:avLst/>
          </a:prstGeom>
          <a:solidFill>
            <a:srgbClr val="202031"/>
          </a:solidFill>
          <a:ln w="12700">
            <a:solidFill>
              <a:srgbClr val="202031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6" name="Text 23"/>
          <p:cNvSpPr txBox="1"/>
          <p:nvPr/>
        </p:nvSpPr>
        <p:spPr>
          <a:xfrm>
            <a:off x="749808" y="4050792"/>
            <a:ext cx="21678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20203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CFO part-time</a:t>
            </a:r>
            <a:endParaRPr lang="en-US" sz="1250" dirty="0"/>
          </a:p>
        </p:txBody>
      </p:sp>
      <p:sp>
        <p:nvSpPr>
          <p:cNvPr id="27" name="Text 24"/>
          <p:cNvSpPr txBox="1"/>
          <p:nvPr/>
        </p:nvSpPr>
        <p:spPr>
          <a:xfrm>
            <a:off x="749808" y="4398264"/>
            <a:ext cx="216781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C5C6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Dirección financiera senior para la participada y reporting homogéneo para el fondo.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3402254" y="3867912"/>
            <a:ext cx="2533574" cy="1536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9" name="Shape 26"/>
          <p:cNvSpPr/>
          <p:nvPr/>
        </p:nvSpPr>
        <p:spPr>
          <a:xfrm>
            <a:off x="3402254" y="3867912"/>
            <a:ext cx="2533574" cy="54864"/>
          </a:xfrm>
          <a:prstGeom prst="rect">
            <a:avLst/>
          </a:prstGeom>
          <a:solidFill>
            <a:srgbClr val="202031"/>
          </a:solidFill>
          <a:ln w="12700">
            <a:solidFill>
              <a:srgbClr val="202031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0" name="Text 27"/>
          <p:cNvSpPr txBox="1"/>
          <p:nvPr/>
        </p:nvSpPr>
        <p:spPr>
          <a:xfrm>
            <a:off x="3603422" y="4050792"/>
            <a:ext cx="21678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20203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Financiación</a:t>
            </a:r>
            <a:endParaRPr lang="en-US" sz="1250" dirty="0"/>
          </a:p>
        </p:txBody>
      </p:sp>
      <p:sp>
        <p:nvSpPr>
          <p:cNvPr id="31" name="Text 28"/>
          <p:cNvSpPr txBox="1"/>
          <p:nvPr/>
        </p:nvSpPr>
        <p:spPr>
          <a:xfrm>
            <a:off x="3603422" y="4398264"/>
            <a:ext cx="216781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C5C6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Capital, deuda bancaria y privada, circulante y financiación pública (</a:t>
            </a:r>
            <a:r>
              <a:rPr lang="en-US" sz="1000" dirty="0">
                <a:solidFill>
                  <a:srgbClr val="5C5C6E"/>
                </a:solidFill>
                <a:latin typeface="Manrope" pitchFamily="2" charset="0"/>
                <a:ea typeface="Raleway" pitchFamily="34" charset="-122"/>
                <a:cs typeface="Raleway" pitchFamily="34" charset="-120"/>
              </a:rPr>
              <a:t>93</a:t>
            </a:r>
            <a:r>
              <a:rPr lang="en-US" sz="1000" dirty="0">
                <a:solidFill>
                  <a:srgbClr val="5C5C6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% de éxito en ENISA).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6255868" y="3867912"/>
            <a:ext cx="2533574" cy="1536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3" name="Shape 30"/>
          <p:cNvSpPr/>
          <p:nvPr/>
        </p:nvSpPr>
        <p:spPr>
          <a:xfrm>
            <a:off x="6255868" y="3867912"/>
            <a:ext cx="2533574" cy="54864"/>
          </a:xfrm>
          <a:prstGeom prst="rect">
            <a:avLst/>
          </a:prstGeom>
          <a:solidFill>
            <a:srgbClr val="202031"/>
          </a:solidFill>
          <a:ln w="12700">
            <a:solidFill>
              <a:srgbClr val="202031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4" name="Text 31"/>
          <p:cNvSpPr txBox="1"/>
          <p:nvPr/>
        </p:nvSpPr>
        <p:spPr>
          <a:xfrm>
            <a:off x="6457036" y="4050792"/>
            <a:ext cx="21678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20203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Cost Down</a:t>
            </a:r>
            <a:endParaRPr lang="en-US" sz="1250" dirty="0"/>
          </a:p>
        </p:txBody>
      </p:sp>
      <p:sp>
        <p:nvSpPr>
          <p:cNvPr id="35" name="Text 32"/>
          <p:cNvSpPr txBox="1"/>
          <p:nvPr/>
        </p:nvSpPr>
        <p:spPr>
          <a:xfrm>
            <a:off x="6457036" y="4398264"/>
            <a:ext cx="216781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C5C6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Ahorro de costes a éxito: si no ahorramos, no cobramos. Media del </a:t>
            </a:r>
            <a:r>
              <a:rPr lang="en-US" sz="1000" dirty="0">
                <a:solidFill>
                  <a:srgbClr val="5C5C6E"/>
                </a:solidFill>
                <a:latin typeface="Manrope" pitchFamily="2" charset="0"/>
                <a:ea typeface="Raleway" pitchFamily="34" charset="-122"/>
                <a:cs typeface="Raleway" pitchFamily="34" charset="-120"/>
              </a:rPr>
              <a:t>30</a:t>
            </a:r>
            <a:r>
              <a:rPr lang="en-US" sz="1000" dirty="0">
                <a:solidFill>
                  <a:srgbClr val="5C5C6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% en los costes analizados.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9109481" y="3867912"/>
            <a:ext cx="2533574" cy="1536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7" name="Shape 34"/>
          <p:cNvSpPr/>
          <p:nvPr/>
        </p:nvSpPr>
        <p:spPr>
          <a:xfrm>
            <a:off x="9109481" y="3867912"/>
            <a:ext cx="2533574" cy="54864"/>
          </a:xfrm>
          <a:prstGeom prst="rect">
            <a:avLst/>
          </a:prstGeom>
          <a:solidFill>
            <a:srgbClr val="202031"/>
          </a:solidFill>
          <a:ln w="12700">
            <a:solidFill>
              <a:srgbClr val="202031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8" name="Text 35"/>
          <p:cNvSpPr txBox="1"/>
          <p:nvPr/>
        </p:nvSpPr>
        <p:spPr>
          <a:xfrm>
            <a:off x="9310649" y="4050792"/>
            <a:ext cx="21678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20203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Otros servicios</a:t>
            </a:r>
            <a:endParaRPr lang="en-US" sz="1250" dirty="0"/>
          </a:p>
        </p:txBody>
      </p:sp>
      <p:sp>
        <p:nvSpPr>
          <p:cNvPr id="39" name="Text 36"/>
          <p:cNvSpPr txBox="1"/>
          <p:nvPr/>
        </p:nvSpPr>
        <p:spPr>
          <a:xfrm>
            <a:off x="9310649" y="4398264"/>
            <a:ext cx="216781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C5C6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Restructuring, tesorería, recobros, interim team, integraciones contables y soporte a auditoría.</a:t>
            </a:r>
            <a:endParaRPr lang="en-US" sz="1000" dirty="0"/>
          </a:p>
        </p:txBody>
      </p:sp>
      <p:sp>
        <p:nvSpPr>
          <p:cNvPr id="40" name="Text 37"/>
          <p:cNvSpPr txBox="1"/>
          <p:nvPr/>
        </p:nvSpPr>
        <p:spPr>
          <a:xfrm>
            <a:off x="548640" y="57150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8757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Un solo equipo para el fondo y para cada compañía: </a:t>
            </a:r>
            <a:r>
              <a:rPr lang="en-US" sz="1200" dirty="0">
                <a:solidFill>
                  <a:srgbClr val="20203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menos interlocutores, más control.</a:t>
            </a:r>
            <a:endParaRPr lang="en-US" sz="1200" dirty="0"/>
          </a:p>
        </p:txBody>
      </p:sp>
      <p:sp>
        <p:nvSpPr>
          <p:cNvPr id="41" name="Text 38"/>
          <p:cNvSpPr txBox="1"/>
          <p:nvPr/>
        </p:nvSpPr>
        <p:spPr>
          <a:xfrm>
            <a:off x="10545775" y="629107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kern="0" spc="100" dirty="0">
                <a:solidFill>
                  <a:srgbClr val="5C5C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6ecba087-9563-50f1-9ffc-6a20c07eac08/scratchpad/decks/kit/logo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84048"/>
            <a:ext cx="960120" cy="19007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057400" y="3657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60" dirty="0">
                <a:solidFill>
                  <a:srgbClr val="5C5C6E"/>
                </a:solidFill>
                <a:latin typeface="Raleway Medium" pitchFamily="34" charset="0"/>
                <a:ea typeface="Raleway Medium" pitchFamily="34" charset="-122"/>
                <a:cs typeface="Raleway Medium" pitchFamily="34" charset="-120"/>
              </a:rPr>
              <a:t>HUMAN CAPITAL</a:t>
            </a:r>
            <a:endParaRPr lang="en-US" sz="750" dirty="0"/>
          </a:p>
        </p:txBody>
      </p:sp>
      <p:sp>
        <p:nvSpPr>
          <p:cNvPr id="4" name="Text 1"/>
          <p:cNvSpPr txBox="1"/>
          <p:nvPr/>
        </p:nvSpPr>
        <p:spPr>
          <a:xfrm>
            <a:off x="5029200" y="36576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60" dirty="0">
                <a:solidFill>
                  <a:srgbClr val="5C5C6E"/>
                </a:solidFill>
                <a:latin typeface="Raleway Medium" pitchFamily="34" charset="0"/>
                <a:ea typeface="Raleway Medium" pitchFamily="34" charset="-122"/>
                <a:cs typeface="Raleway Medium" pitchFamily="34" charset="-120"/>
              </a:rPr>
              <a:t>SERVICIOS</a:t>
            </a:r>
            <a:endParaRPr lang="en-US" sz="750" dirty="0"/>
          </a:p>
        </p:txBody>
      </p:sp>
      <p:sp>
        <p:nvSpPr>
          <p:cNvPr id="5" name="Text 2"/>
          <p:cNvSpPr txBox="1"/>
          <p:nvPr/>
        </p:nvSpPr>
        <p:spPr>
          <a:xfrm>
            <a:off x="10728655" y="36576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50" kern="0" spc="160" dirty="0">
                <a:solidFill>
                  <a:srgbClr val="5C5C6E"/>
                </a:solidFill>
                <a:latin typeface="Manrope" pitchFamily="2" charset="0"/>
                <a:ea typeface="Raleway Medium" pitchFamily="34" charset="-122"/>
                <a:cs typeface="Raleway Medium" pitchFamily="34" charset="-120"/>
              </a:rPr>
              <a:t>2026</a:t>
            </a:r>
            <a:endParaRPr lang="en-US" sz="750" dirty="0">
              <a:latin typeface="Manrope" pitchFamily="2" charset="0"/>
            </a:endParaRPr>
          </a:p>
        </p:txBody>
      </p:sp>
      <p:sp>
        <p:nvSpPr>
          <p:cNvPr id="6" name="Text 3"/>
          <p:cNvSpPr txBox="1"/>
          <p:nvPr/>
        </p:nvSpPr>
        <p:spPr>
          <a:xfrm>
            <a:off x="548640" y="86868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kern="0" spc="-50" dirty="0">
                <a:solidFill>
                  <a:srgbClr val="202031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Human Capital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7276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8757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Expertos en el flujo de talento: </a:t>
            </a:r>
            <a:r>
              <a:rPr lang="en-US" sz="1300" dirty="0">
                <a:solidFill>
                  <a:srgbClr val="20203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procesos claros y compromisos que se cumplen.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48640" y="2148840"/>
            <a:ext cx="2533574" cy="2514600"/>
          </a:xfrm>
          <a:prstGeom prst="rect">
            <a:avLst/>
          </a:prstGeom>
          <a:solidFill>
            <a:srgbClr val="E6ECEC"/>
          </a:solidFill>
          <a:ln w="12700">
            <a:solidFill>
              <a:srgbClr val="E6ECEC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Shape 6"/>
          <p:cNvSpPr/>
          <p:nvPr/>
        </p:nvSpPr>
        <p:spPr>
          <a:xfrm>
            <a:off x="548640" y="2148840"/>
            <a:ext cx="2533574" cy="64008"/>
          </a:xfrm>
          <a:prstGeom prst="rect">
            <a:avLst/>
          </a:prstGeom>
          <a:solidFill>
            <a:srgbClr val="8AA3A5"/>
          </a:solidFill>
          <a:ln w="12700">
            <a:solidFill>
              <a:srgbClr val="8AA3A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0" name="Text 7"/>
          <p:cNvSpPr txBox="1"/>
          <p:nvPr/>
        </p:nvSpPr>
        <p:spPr>
          <a:xfrm>
            <a:off x="749808" y="23591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8757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01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749808" y="2651760"/>
            <a:ext cx="21678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20203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Headhunting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749808" y="3108960"/>
            <a:ext cx="216781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5C5C6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Equipo senior en cada búsqueda y metodología propia apoyada en nuestra IA de selección (TESSA). Primera shortlist en </a:t>
            </a:r>
            <a:r>
              <a:rPr lang="en-US" sz="1000" dirty="0">
                <a:solidFill>
                  <a:srgbClr val="5C5C6E"/>
                </a:solidFill>
                <a:latin typeface="Manrope" pitchFamily="2" charset="0"/>
                <a:ea typeface="Raleway" pitchFamily="34" charset="-122"/>
                <a:cs typeface="Raleway" pitchFamily="34" charset="-120"/>
              </a:rPr>
              <a:t>72</a:t>
            </a:r>
            <a:r>
              <a:rPr lang="en-US" sz="1000" dirty="0">
                <a:solidFill>
                  <a:srgbClr val="5C5C6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horas y acompañamiento tras la incorporación.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3402254" y="2148840"/>
            <a:ext cx="2533574" cy="2514600"/>
          </a:xfrm>
          <a:prstGeom prst="rect">
            <a:avLst/>
          </a:prstGeom>
          <a:solidFill>
            <a:srgbClr val="E6ECEC"/>
          </a:solidFill>
          <a:ln w="12700">
            <a:solidFill>
              <a:srgbClr val="E6ECEC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4" name="Shape 11"/>
          <p:cNvSpPr/>
          <p:nvPr/>
        </p:nvSpPr>
        <p:spPr>
          <a:xfrm>
            <a:off x="3402254" y="2148840"/>
            <a:ext cx="2533574" cy="64008"/>
          </a:xfrm>
          <a:prstGeom prst="rect">
            <a:avLst/>
          </a:prstGeom>
          <a:solidFill>
            <a:srgbClr val="587579"/>
          </a:solidFill>
          <a:ln w="12700">
            <a:solidFill>
              <a:srgbClr val="58757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5" name="Text 12"/>
          <p:cNvSpPr txBox="1"/>
          <p:nvPr/>
        </p:nvSpPr>
        <p:spPr>
          <a:xfrm>
            <a:off x="3603422" y="23591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8757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02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3603422" y="2651760"/>
            <a:ext cx="21678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20203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Outsourcing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3603422" y="3108960"/>
            <a:ext cx="216781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5C5C6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Equipos que se ajustan a la actividad real: pagas por horas trabajadas, cubrimos bajas y vacaciones y nos ocupamos de nóminas y trámites.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255868" y="2148840"/>
            <a:ext cx="2533574" cy="2514600"/>
          </a:xfrm>
          <a:prstGeom prst="rect">
            <a:avLst/>
          </a:prstGeom>
          <a:solidFill>
            <a:srgbClr val="E6ECEC"/>
          </a:solidFill>
          <a:ln w="12700">
            <a:solidFill>
              <a:srgbClr val="E6ECEC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9" name="Shape 16"/>
          <p:cNvSpPr/>
          <p:nvPr/>
        </p:nvSpPr>
        <p:spPr>
          <a:xfrm>
            <a:off x="6255868" y="2148840"/>
            <a:ext cx="2533574" cy="64008"/>
          </a:xfrm>
          <a:prstGeom prst="rect">
            <a:avLst/>
          </a:prstGeom>
          <a:solidFill>
            <a:srgbClr val="3F5A5E"/>
          </a:solidFill>
          <a:ln w="12700">
            <a:solidFill>
              <a:srgbClr val="3F5A5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0" name="Text 17"/>
          <p:cNvSpPr txBox="1"/>
          <p:nvPr/>
        </p:nvSpPr>
        <p:spPr>
          <a:xfrm>
            <a:off x="6457036" y="23591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8757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03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6457036" y="2651760"/>
            <a:ext cx="21678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20203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Consultoría salarial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6457036" y="3108960"/>
            <a:ext cx="216781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5C5C6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Benchmarking, diseño de bandas y transparencia retributiva alineada con la Directiva EU </a:t>
            </a:r>
            <a:r>
              <a:rPr lang="en-US" sz="1000" dirty="0">
                <a:solidFill>
                  <a:srgbClr val="5C5C6E"/>
                </a:solidFill>
                <a:latin typeface="Manrope" pitchFamily="2" charset="0"/>
                <a:ea typeface="Raleway" pitchFamily="34" charset="-122"/>
                <a:cs typeface="Raleway" pitchFamily="34" charset="-120"/>
              </a:rPr>
              <a:t>2023/970</a:t>
            </a:r>
            <a:r>
              <a:rPr lang="en-US" sz="1000" dirty="0">
                <a:solidFill>
                  <a:srgbClr val="5C5C6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. Apoyo en ofertas, revisiones y retención.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9109481" y="2148840"/>
            <a:ext cx="2533574" cy="2514600"/>
          </a:xfrm>
          <a:prstGeom prst="rect">
            <a:avLst/>
          </a:prstGeom>
          <a:solidFill>
            <a:srgbClr val="E6ECEC"/>
          </a:solidFill>
          <a:ln w="12700">
            <a:solidFill>
              <a:srgbClr val="E6ECEC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4" name="Shape 21"/>
          <p:cNvSpPr/>
          <p:nvPr/>
        </p:nvSpPr>
        <p:spPr>
          <a:xfrm>
            <a:off x="9109481" y="2148840"/>
            <a:ext cx="2533574" cy="64008"/>
          </a:xfrm>
          <a:prstGeom prst="rect">
            <a:avLst/>
          </a:prstGeom>
          <a:solidFill>
            <a:srgbClr val="202031"/>
          </a:solidFill>
          <a:ln w="12700">
            <a:solidFill>
              <a:srgbClr val="202031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5" name="Text 22"/>
          <p:cNvSpPr txBox="1"/>
          <p:nvPr/>
        </p:nvSpPr>
        <p:spPr>
          <a:xfrm>
            <a:off x="9310649" y="23591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8757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04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9310649" y="2651760"/>
            <a:ext cx="21678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20203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Formación</a:t>
            </a:r>
            <a:endParaRPr lang="en-US" sz="1700" dirty="0"/>
          </a:p>
        </p:txBody>
      </p:sp>
      <p:sp>
        <p:nvSpPr>
          <p:cNvPr id="27" name="Text 24"/>
          <p:cNvSpPr txBox="1"/>
          <p:nvPr/>
        </p:nvSpPr>
        <p:spPr>
          <a:xfrm>
            <a:off x="9310649" y="3108960"/>
            <a:ext cx="216781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5C5C6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Programas a medida con metodología ágil: gestión del talento, employee experience, procesos de RRHH e IA aplicada a HR. Se mide en resultados.</a:t>
            </a:r>
            <a:endParaRPr lang="en-US" sz="1000" dirty="0"/>
          </a:p>
        </p:txBody>
      </p:sp>
      <p:pic>
        <p:nvPicPr>
          <p:cNvPr id="28" name="Image 1" descr="/tmp/claude-0/-home-claude/6ecba087-9563-50f1-9ffc-6a20c07eac08/scratchpad/decks/kit/band_gra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0" y="4937760"/>
            <a:ext cx="12191695" cy="1920240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548640" y="530352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Para un fondo:</a:t>
            </a:r>
            <a:r>
              <a:rPr lang="en-US" sz="1200" dirty="0">
                <a:solidFill>
                  <a:srgbClr val="E6ECE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equipos directivos para las participadas, cobertura de vacantes críticas sin pausas y estructuras salariales que retienen al talento clave.</a:t>
            </a:r>
            <a:endParaRPr lang="en-US" sz="1200" dirty="0"/>
          </a:p>
        </p:txBody>
      </p:sp>
      <p:sp>
        <p:nvSpPr>
          <p:cNvPr id="30" name="Shape 26"/>
          <p:cNvSpPr/>
          <p:nvPr/>
        </p:nvSpPr>
        <p:spPr>
          <a:xfrm>
            <a:off x="6027268" y="5349240"/>
            <a:ext cx="0" cy="914400"/>
          </a:xfrm>
          <a:prstGeom prst="line">
            <a:avLst/>
          </a:prstGeom>
          <a:noFill/>
          <a:ln w="9525">
            <a:solidFill>
              <a:srgbClr val="7F9A9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1" name="Text 27"/>
          <p:cNvSpPr txBox="1"/>
          <p:nvPr/>
        </p:nvSpPr>
        <p:spPr>
          <a:xfrm>
            <a:off x="6255868" y="5138928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400" dirty="0">
                <a:solidFill>
                  <a:srgbClr val="FFFFFF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72 </a:t>
            </a:r>
            <a:r>
              <a:rPr lang="en-US" sz="2200" dirty="0">
                <a:solidFill>
                  <a:srgbClr val="FFFFFF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h</a:t>
            </a:r>
            <a:endParaRPr lang="en-US" sz="1100" dirty="0"/>
          </a:p>
        </p:txBody>
      </p:sp>
      <p:sp>
        <p:nvSpPr>
          <p:cNvPr id="32" name="Text 28"/>
          <p:cNvSpPr txBox="1"/>
          <p:nvPr/>
        </p:nvSpPr>
        <p:spPr>
          <a:xfrm>
            <a:off x="6255868" y="58978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E6ECE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Primera shortlist sobre tu mesa</a:t>
            </a:r>
            <a:endParaRPr lang="en-US" sz="1000" dirty="0"/>
          </a:p>
        </p:txBody>
      </p:sp>
      <p:sp>
        <p:nvSpPr>
          <p:cNvPr id="33" name="Text 29"/>
          <p:cNvSpPr txBox="1"/>
          <p:nvPr/>
        </p:nvSpPr>
        <p:spPr>
          <a:xfrm>
            <a:off x="9109481" y="5138928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400" dirty="0">
                <a:solidFill>
                  <a:srgbClr val="FFFFFF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+200</a:t>
            </a:r>
            <a:endParaRPr lang="en-US" sz="4400" dirty="0"/>
          </a:p>
        </p:txBody>
      </p:sp>
      <p:sp>
        <p:nvSpPr>
          <p:cNvPr id="34" name="Text 30"/>
          <p:cNvSpPr txBox="1"/>
          <p:nvPr/>
        </p:nvSpPr>
        <p:spPr>
          <a:xfrm>
            <a:off x="9109481" y="58978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E6ECE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Contrataciones lideradas en 16 países</a:t>
            </a:r>
            <a:endParaRPr lang="en-US" sz="1000" dirty="0"/>
          </a:p>
        </p:txBody>
      </p:sp>
      <p:sp>
        <p:nvSpPr>
          <p:cNvPr id="35" name="Text 31"/>
          <p:cNvSpPr txBox="1"/>
          <p:nvPr/>
        </p:nvSpPr>
        <p:spPr>
          <a:xfrm>
            <a:off x="10545775" y="629107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kern="0" spc="100" dirty="0">
                <a:solidFill>
                  <a:srgbClr val="E6ECE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6ecba087-9563-50f1-9ffc-6a20c07eac08/scratchpad/decks/kit/logo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84048"/>
            <a:ext cx="960120" cy="19007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057400" y="3657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60" dirty="0">
                <a:solidFill>
                  <a:srgbClr val="5C5C6E"/>
                </a:solidFill>
                <a:latin typeface="Raleway Medium" pitchFamily="34" charset="0"/>
                <a:ea typeface="Raleway Medium" pitchFamily="34" charset="-122"/>
                <a:cs typeface="Raleway Medium" pitchFamily="34" charset="-120"/>
              </a:rPr>
              <a:t>NOSOTROS</a:t>
            </a:r>
            <a:endParaRPr lang="en-US" sz="750" dirty="0"/>
          </a:p>
        </p:txBody>
      </p:sp>
      <p:sp>
        <p:nvSpPr>
          <p:cNvPr id="4" name="Text 1"/>
          <p:cNvSpPr txBox="1"/>
          <p:nvPr/>
        </p:nvSpPr>
        <p:spPr>
          <a:xfrm>
            <a:off x="10728655" y="36576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50" kern="0" spc="160" dirty="0">
                <a:solidFill>
                  <a:srgbClr val="5C5C6E"/>
                </a:solidFill>
                <a:latin typeface="Manrope" pitchFamily="2" charset="0"/>
                <a:ea typeface="Raleway Medium" pitchFamily="34" charset="-122"/>
                <a:cs typeface="Raleway Medium" pitchFamily="34" charset="-120"/>
              </a:rPr>
              <a:t>2026</a:t>
            </a:r>
            <a:endParaRPr lang="en-US" sz="750" dirty="0">
              <a:latin typeface="Manrope" pitchFamily="2" charset="0"/>
            </a:endParaRPr>
          </a:p>
        </p:txBody>
      </p:sp>
      <p:sp>
        <p:nvSpPr>
          <p:cNvPr id="5" name="Text 2"/>
          <p:cNvSpPr txBox="1"/>
          <p:nvPr/>
        </p:nvSpPr>
        <p:spPr>
          <a:xfrm>
            <a:off x="548640" y="86868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kern="0" spc="-50" dirty="0">
                <a:solidFill>
                  <a:srgbClr val="202031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Por qué Tessera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57276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8757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Control, rigor financiero y talento </a:t>
            </a:r>
            <a:r>
              <a:rPr lang="en-US" sz="1300" dirty="0">
                <a:solidFill>
                  <a:srgbClr val="20203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al servicio de la tesis de inversión.</a:t>
            </a:r>
            <a:endParaRPr lang="en-US" sz="1300" dirty="0"/>
          </a:p>
        </p:txBody>
      </p:sp>
      <p:pic>
        <p:nvPicPr>
          <p:cNvPr id="7" name="Image 1" descr="/tmp/claude-0/-home-claude/6ecba087-9563-50f1-9ffc-6a20c07eac08/scratchpad/decks/kit/bg_grad_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574036"/>
            <a:ext cx="11094415" cy="54864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48640" y="2450592"/>
            <a:ext cx="301752" cy="301752"/>
          </a:xfrm>
          <a:prstGeom prst="ellipse">
            <a:avLst/>
          </a:prstGeom>
          <a:solidFill>
            <a:srgbClr val="8AA3A5"/>
          </a:solidFill>
          <a:ln w="317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5"/>
          <p:cNvSpPr txBox="1"/>
          <p:nvPr/>
        </p:nvSpPr>
        <p:spPr>
          <a:xfrm>
            <a:off x="548640" y="29260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dirty="0">
                <a:solidFill>
                  <a:srgbClr val="587579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01</a:t>
            </a:r>
            <a:endParaRPr lang="en-US" sz="30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352044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20203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Control</a:t>
            </a:r>
            <a:endParaRPr lang="en-US" sz="20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4005072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5C6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Visibilidad real del fondo sobre cada participada: reporting homogéneo, cuadro de mando y seguimiento de caja.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4383938" y="2450592"/>
            <a:ext cx="301752" cy="301752"/>
          </a:xfrm>
          <a:prstGeom prst="ellipse">
            <a:avLst/>
          </a:prstGeom>
          <a:solidFill>
            <a:srgbClr val="587579"/>
          </a:solidFill>
          <a:ln w="317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3" name="Text 9"/>
          <p:cNvSpPr txBox="1"/>
          <p:nvPr/>
        </p:nvSpPr>
        <p:spPr>
          <a:xfrm>
            <a:off x="4383938" y="29260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dirty="0">
                <a:solidFill>
                  <a:srgbClr val="587579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02</a:t>
            </a:r>
            <a:endParaRPr lang="en-US" sz="3000" dirty="0"/>
          </a:p>
        </p:txBody>
      </p:sp>
      <p:sp>
        <p:nvSpPr>
          <p:cNvPr id="14" name="Text 10"/>
          <p:cNvSpPr txBox="1"/>
          <p:nvPr/>
        </p:nvSpPr>
        <p:spPr>
          <a:xfrm>
            <a:off x="4383938" y="352044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20203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Rigor financiero</a:t>
            </a:r>
            <a:endParaRPr lang="en-US" sz="2000" dirty="0"/>
          </a:p>
        </p:txBody>
      </p:sp>
      <p:sp>
        <p:nvSpPr>
          <p:cNvPr id="15" name="Text 11"/>
          <p:cNvSpPr txBox="1"/>
          <p:nvPr/>
        </p:nvSpPr>
        <p:spPr>
          <a:xfrm>
            <a:off x="4383938" y="4005072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5C6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Metodología de Big Four y de CFOs en activo: información validada y decisiones basadas en datos.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8219237" y="2450592"/>
            <a:ext cx="301752" cy="301752"/>
          </a:xfrm>
          <a:prstGeom prst="ellipse">
            <a:avLst/>
          </a:prstGeom>
          <a:solidFill>
            <a:srgbClr val="202031"/>
          </a:solidFill>
          <a:ln w="317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7" name="Text 13"/>
          <p:cNvSpPr txBox="1"/>
          <p:nvPr/>
        </p:nvSpPr>
        <p:spPr>
          <a:xfrm>
            <a:off x="8219237" y="29260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dirty="0">
                <a:solidFill>
                  <a:srgbClr val="587579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03</a:t>
            </a:r>
            <a:endParaRPr lang="en-US" sz="3000" dirty="0"/>
          </a:p>
        </p:txBody>
      </p:sp>
      <p:sp>
        <p:nvSpPr>
          <p:cNvPr id="18" name="Text 14"/>
          <p:cNvSpPr txBox="1"/>
          <p:nvPr/>
        </p:nvSpPr>
        <p:spPr>
          <a:xfrm>
            <a:off x="8219237" y="352044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20203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Ejecución</a:t>
            </a:r>
            <a:endParaRPr lang="en-US" sz="2000" dirty="0"/>
          </a:p>
        </p:txBody>
      </p:sp>
      <p:sp>
        <p:nvSpPr>
          <p:cNvPr id="19" name="Text 15"/>
          <p:cNvSpPr txBox="1"/>
          <p:nvPr/>
        </p:nvSpPr>
        <p:spPr>
          <a:xfrm>
            <a:off x="8219237" y="4005072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5C6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nos quedamos en el diagnóstico: implantamos, acompañamos al equipo directivo y medimos el resultado.</a:t>
            </a:r>
            <a:endParaRPr lang="en-US" sz="1100" dirty="0"/>
          </a:p>
        </p:txBody>
      </p:sp>
      <p:pic>
        <p:nvPicPr>
          <p:cNvPr id="20" name="Image 2" descr="/tmp/claude-0/-home-claude/6ecba087-9563-50f1-9ffc-6a20c07eac08/scratchpad/decks/kit/band_gra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0" y="5074920"/>
            <a:ext cx="12191695" cy="178308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548640" y="548640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kern="0" spc="220" dirty="0">
                <a:solidFill>
                  <a:srgbClr val="D5DFE0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UN SOLO EQUIPO</a:t>
            </a:r>
            <a:endParaRPr lang="en-US" sz="850" dirty="0"/>
          </a:p>
        </p:txBody>
      </p:sp>
      <p:sp>
        <p:nvSpPr>
          <p:cNvPr id="22" name="Text 17"/>
          <p:cNvSpPr txBox="1"/>
          <p:nvPr/>
        </p:nvSpPr>
        <p:spPr>
          <a:xfrm>
            <a:off x="548640" y="57607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Finance y talento, un interlocutor.</a:t>
            </a:r>
            <a:endParaRPr lang="en-US" sz="1200" dirty="0"/>
          </a:p>
        </p:txBody>
      </p:sp>
      <p:sp>
        <p:nvSpPr>
          <p:cNvPr id="23" name="Shape 18"/>
          <p:cNvSpPr/>
          <p:nvPr/>
        </p:nvSpPr>
        <p:spPr>
          <a:xfrm>
            <a:off x="4155338" y="5440680"/>
            <a:ext cx="0" cy="822960"/>
          </a:xfrm>
          <a:prstGeom prst="line">
            <a:avLst/>
          </a:prstGeom>
          <a:noFill/>
          <a:ln w="9525">
            <a:solidFill>
              <a:srgbClr val="7F9A9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4" name="Text 19"/>
          <p:cNvSpPr txBox="1"/>
          <p:nvPr/>
        </p:nvSpPr>
        <p:spPr>
          <a:xfrm>
            <a:off x="4383938" y="548640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kern="0" spc="220" dirty="0">
                <a:solidFill>
                  <a:srgbClr val="D5DFE0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SOCIOS DENTRO</a:t>
            </a:r>
            <a:endParaRPr lang="en-US" sz="850" dirty="0"/>
          </a:p>
        </p:txBody>
      </p:sp>
      <p:sp>
        <p:nvSpPr>
          <p:cNvPr id="25" name="Text 20"/>
          <p:cNvSpPr txBox="1"/>
          <p:nvPr/>
        </p:nvSpPr>
        <p:spPr>
          <a:xfrm>
            <a:off x="4383938" y="57607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Los socios ejecutan el proyecto.</a:t>
            </a:r>
            <a:endParaRPr lang="en-US" sz="1200" dirty="0"/>
          </a:p>
        </p:txBody>
      </p:sp>
      <p:sp>
        <p:nvSpPr>
          <p:cNvPr id="26" name="Shape 21"/>
          <p:cNvSpPr/>
          <p:nvPr/>
        </p:nvSpPr>
        <p:spPr>
          <a:xfrm>
            <a:off x="7990637" y="5440680"/>
            <a:ext cx="0" cy="822960"/>
          </a:xfrm>
          <a:prstGeom prst="line">
            <a:avLst/>
          </a:prstGeom>
          <a:noFill/>
          <a:ln w="9525">
            <a:solidFill>
              <a:srgbClr val="7F9A9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7" name="Text 22"/>
          <p:cNvSpPr txBox="1"/>
          <p:nvPr/>
        </p:nvSpPr>
        <p:spPr>
          <a:xfrm>
            <a:off x="8219237" y="548640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kern="0" spc="220" dirty="0">
                <a:solidFill>
                  <a:srgbClr val="D5DFE0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INDEPENDENCIA</a:t>
            </a:r>
            <a:endParaRPr lang="en-US" sz="850" dirty="0"/>
          </a:p>
        </p:txBody>
      </p:sp>
      <p:sp>
        <p:nvSpPr>
          <p:cNvPr id="28" name="Text 23"/>
          <p:cNvSpPr txBox="1"/>
          <p:nvPr/>
        </p:nvSpPr>
        <p:spPr>
          <a:xfrm>
            <a:off x="8219237" y="57607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Decimos lo que vemos.</a:t>
            </a:r>
            <a:endParaRPr lang="en-US" sz="1200" dirty="0"/>
          </a:p>
        </p:txBody>
      </p:sp>
      <p:sp>
        <p:nvSpPr>
          <p:cNvPr id="29" name="Text 24"/>
          <p:cNvSpPr txBox="1"/>
          <p:nvPr/>
        </p:nvSpPr>
        <p:spPr>
          <a:xfrm>
            <a:off x="10545775" y="629107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kern="0" spc="100" dirty="0">
                <a:solidFill>
                  <a:srgbClr val="E6ECE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6EC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6ecba087-9563-50f1-9ffc-6a20c07eac08/scratchpad/decks/kit/logo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84048"/>
            <a:ext cx="960120" cy="19007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057400" y="3657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60" dirty="0">
                <a:solidFill>
                  <a:srgbClr val="5C5C6E"/>
                </a:solidFill>
                <a:latin typeface="Raleway Medium" pitchFamily="34" charset="0"/>
                <a:ea typeface="Raleway Medium" pitchFamily="34" charset="-122"/>
                <a:cs typeface="Raleway Medium" pitchFamily="34" charset="-120"/>
              </a:rPr>
              <a:t>TESSERA GROUP</a:t>
            </a:r>
            <a:endParaRPr lang="en-US" sz="750" dirty="0"/>
          </a:p>
        </p:txBody>
      </p:sp>
      <p:sp>
        <p:nvSpPr>
          <p:cNvPr id="4" name="Text 1"/>
          <p:cNvSpPr txBox="1"/>
          <p:nvPr/>
        </p:nvSpPr>
        <p:spPr>
          <a:xfrm>
            <a:off x="10728655" y="36576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50" kern="0" spc="160" dirty="0">
                <a:solidFill>
                  <a:srgbClr val="5C5C6E"/>
                </a:solidFill>
                <a:latin typeface="Raleway Medium" pitchFamily="34" charset="0"/>
                <a:ea typeface="Raleway Medium" pitchFamily="34" charset="-122"/>
                <a:cs typeface="Raleway Medium" pitchFamily="34" charset="-120"/>
              </a:rPr>
              <a:t>2026</a:t>
            </a:r>
            <a:endParaRPr lang="en-US" sz="75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86868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kern="0" spc="-50" dirty="0">
                <a:solidFill>
                  <a:srgbClr val="202031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Nuestros Partners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548640" y="1929384"/>
            <a:ext cx="175762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7" name="Image 1" descr="/tmp/claude-0/-home-claude/6ecba087-9563-50f1-9ffc-6a20c07eac08/scratchpad/decks/assets/logos/partners_sf_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7262" y="2238035"/>
            <a:ext cx="1220386" cy="297098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2415997" y="1929384"/>
            <a:ext cx="175762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9" name="Image 2" descr="/tmp/claude-0/-home-claude/6ecba087-9563-50f1-9ffc-6a20c07eac08/scratchpad/decks/assets/logos/partners_sf_0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84619" y="2286082"/>
            <a:ext cx="1220386" cy="201005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4283354" y="1929384"/>
            <a:ext cx="175762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11" name="Image 3" descr="/tmp/claude-0/-home-claude/6ecba087-9563-50f1-9ffc-6a20c07eac08/scratchpad/decks/assets/logos/partners_sf_0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51976" y="2197083"/>
            <a:ext cx="1220386" cy="379002"/>
          </a:xfrm>
          <a:prstGeom prst="rect">
            <a:avLst/>
          </a:prstGeom>
        </p:spPr>
      </p:pic>
      <p:sp>
        <p:nvSpPr>
          <p:cNvPr id="12" name="Shape 6"/>
          <p:cNvSpPr/>
          <p:nvPr/>
        </p:nvSpPr>
        <p:spPr>
          <a:xfrm>
            <a:off x="6150712" y="1929384"/>
            <a:ext cx="175762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13" name="Image 4" descr="/tmp/claude-0/-home-claude/6ecba087-9563-50f1-9ffc-6a20c07eac08/scratchpad/decks/assets/logos/partners_sf_0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50329" y="2130552"/>
            <a:ext cx="1158395" cy="512064"/>
          </a:xfrm>
          <a:prstGeom prst="rect">
            <a:avLst/>
          </a:prstGeom>
        </p:spPr>
      </p:pic>
      <p:sp>
        <p:nvSpPr>
          <p:cNvPr id="14" name="Shape 7"/>
          <p:cNvSpPr/>
          <p:nvPr/>
        </p:nvSpPr>
        <p:spPr>
          <a:xfrm>
            <a:off x="8018069" y="1929384"/>
            <a:ext cx="175762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15" name="Image 5" descr="/tmp/claude-0/-home-claude/6ecba087-9563-50f1-9ffc-6a20c07eac08/scratchpad/decks/assets/logos/partners_sf_0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86691" y="2255106"/>
            <a:ext cx="1220386" cy="262956"/>
          </a:xfrm>
          <a:prstGeom prst="rect">
            <a:avLst/>
          </a:prstGeom>
        </p:spPr>
      </p:pic>
      <p:sp>
        <p:nvSpPr>
          <p:cNvPr id="16" name="Shape 8"/>
          <p:cNvSpPr/>
          <p:nvPr/>
        </p:nvSpPr>
        <p:spPr>
          <a:xfrm>
            <a:off x="9885426" y="1929384"/>
            <a:ext cx="175762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17" name="Image 6" descr="/tmp/claude-0/-home-claude/6ecba087-9563-50f1-9ffc-6a20c07eac08/scratchpad/decks/assets/logos/partners_sf_0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54048" y="2212826"/>
            <a:ext cx="1220386" cy="347516"/>
          </a:xfrm>
          <a:prstGeom prst="rect">
            <a:avLst/>
          </a:prstGeom>
        </p:spPr>
      </p:pic>
      <p:sp>
        <p:nvSpPr>
          <p:cNvPr id="18" name="Shape 9"/>
          <p:cNvSpPr/>
          <p:nvPr/>
        </p:nvSpPr>
        <p:spPr>
          <a:xfrm>
            <a:off x="548640" y="2953512"/>
            <a:ext cx="175762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19" name="Image 7" descr="/tmp/claude-0/-home-claude/6ecba087-9563-50f1-9ffc-6a20c07eac08/scratchpad/decks/assets/logos/partners_sf_07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82866" y="3011302"/>
            <a:ext cx="689178" cy="798820"/>
          </a:xfrm>
          <a:prstGeom prst="rect">
            <a:avLst/>
          </a:prstGeom>
        </p:spPr>
      </p:pic>
      <p:sp>
        <p:nvSpPr>
          <p:cNvPr id="20" name="Shape 10"/>
          <p:cNvSpPr/>
          <p:nvPr/>
        </p:nvSpPr>
        <p:spPr>
          <a:xfrm>
            <a:off x="2415997" y="2953512"/>
            <a:ext cx="175762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21" name="Image 8" descr="/tmp/claude-0/-home-claude/6ecba087-9563-50f1-9ffc-6a20c07eac08/scratchpad/decks/assets/logos/partners_sf_08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84619" y="3286099"/>
            <a:ext cx="1220386" cy="249226"/>
          </a:xfrm>
          <a:prstGeom prst="rect">
            <a:avLst/>
          </a:prstGeom>
        </p:spPr>
      </p:pic>
      <p:sp>
        <p:nvSpPr>
          <p:cNvPr id="22" name="Shape 11"/>
          <p:cNvSpPr/>
          <p:nvPr/>
        </p:nvSpPr>
        <p:spPr>
          <a:xfrm>
            <a:off x="4283354" y="2953512"/>
            <a:ext cx="175762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23" name="Image 9" descr="/tmp/claude-0/-home-claude/6ecba087-9563-50f1-9ffc-6a20c07eac08/scratchpad/decks/assets/logos/partners_sf_09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51976" y="3206501"/>
            <a:ext cx="1220386" cy="408422"/>
          </a:xfrm>
          <a:prstGeom prst="rect">
            <a:avLst/>
          </a:prstGeom>
        </p:spPr>
      </p:pic>
      <p:sp>
        <p:nvSpPr>
          <p:cNvPr id="24" name="Shape 12"/>
          <p:cNvSpPr/>
          <p:nvPr/>
        </p:nvSpPr>
        <p:spPr>
          <a:xfrm>
            <a:off x="6150712" y="2953512"/>
            <a:ext cx="175762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25" name="Image 10" descr="/tmp/claude-0/-home-claude/6ecba087-9563-50f1-9ffc-6a20c07eac08/scratchpad/decks/assets/logos/partners_sf_10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19333" y="3329237"/>
            <a:ext cx="1220386" cy="162949"/>
          </a:xfrm>
          <a:prstGeom prst="rect">
            <a:avLst/>
          </a:prstGeom>
        </p:spPr>
      </p:pic>
      <p:sp>
        <p:nvSpPr>
          <p:cNvPr id="26" name="Shape 13"/>
          <p:cNvSpPr/>
          <p:nvPr/>
        </p:nvSpPr>
        <p:spPr>
          <a:xfrm>
            <a:off x="8018069" y="2953512"/>
            <a:ext cx="175762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27" name="Image 11" descr="/tmp/claude-0/-home-claude/6ecba087-9563-50f1-9ffc-6a20c07eac08/scratchpad/decks/assets/logos/partners_sf_11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465267" y="3154680"/>
            <a:ext cx="863234" cy="512064"/>
          </a:xfrm>
          <a:prstGeom prst="rect">
            <a:avLst/>
          </a:prstGeom>
        </p:spPr>
      </p:pic>
      <p:sp>
        <p:nvSpPr>
          <p:cNvPr id="28" name="Shape 14"/>
          <p:cNvSpPr/>
          <p:nvPr/>
        </p:nvSpPr>
        <p:spPr>
          <a:xfrm>
            <a:off x="9885426" y="2953512"/>
            <a:ext cx="175762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29" name="Image 12" descr="/tmp/claude-0/-home-claude/6ecba087-9563-50f1-9ffc-6a20c07eac08/scratchpad/decks/assets/logos/partners_sf_12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154048" y="3249677"/>
            <a:ext cx="1220386" cy="322070"/>
          </a:xfrm>
          <a:prstGeom prst="rect">
            <a:avLst/>
          </a:prstGeom>
        </p:spPr>
      </p:pic>
      <p:sp>
        <p:nvSpPr>
          <p:cNvPr id="30" name="Shape 15"/>
          <p:cNvSpPr/>
          <p:nvPr/>
        </p:nvSpPr>
        <p:spPr>
          <a:xfrm>
            <a:off x="548640" y="3977640"/>
            <a:ext cx="175762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31" name="Image 13" descr="/tmp/claude-0/-home-claude/6ecba087-9563-50f1-9ffc-6a20c07eac08/scratchpad/decks/assets/logos/partners_sf_13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47647" y="4178808"/>
            <a:ext cx="959616" cy="512064"/>
          </a:xfrm>
          <a:prstGeom prst="rect">
            <a:avLst/>
          </a:prstGeom>
        </p:spPr>
      </p:pic>
      <p:sp>
        <p:nvSpPr>
          <p:cNvPr id="32" name="Shape 16"/>
          <p:cNvSpPr/>
          <p:nvPr/>
        </p:nvSpPr>
        <p:spPr>
          <a:xfrm>
            <a:off x="2415997" y="3977640"/>
            <a:ext cx="175762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33" name="Image 14" descr="/tmp/claude-0/-home-claude/6ecba087-9563-50f1-9ffc-6a20c07eac08/scratchpad/decks/assets/logos/partners_sf_14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846892" y="4178808"/>
            <a:ext cx="895840" cy="512064"/>
          </a:xfrm>
          <a:prstGeom prst="rect">
            <a:avLst/>
          </a:prstGeom>
        </p:spPr>
      </p:pic>
      <p:sp>
        <p:nvSpPr>
          <p:cNvPr id="34" name="Shape 17"/>
          <p:cNvSpPr/>
          <p:nvPr/>
        </p:nvSpPr>
        <p:spPr>
          <a:xfrm>
            <a:off x="4283354" y="3977640"/>
            <a:ext cx="175762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35" name="Image 15" descr="/tmp/claude-0/-home-claude/6ecba087-9563-50f1-9ffc-6a20c07eac08/scratchpad/decks/assets/logos/partners_sf_15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551976" y="4258838"/>
            <a:ext cx="1220386" cy="352005"/>
          </a:xfrm>
          <a:prstGeom prst="rect">
            <a:avLst/>
          </a:prstGeom>
        </p:spPr>
      </p:pic>
      <p:sp>
        <p:nvSpPr>
          <p:cNvPr id="36" name="Shape 18"/>
          <p:cNvSpPr/>
          <p:nvPr/>
        </p:nvSpPr>
        <p:spPr>
          <a:xfrm>
            <a:off x="6150712" y="3977640"/>
            <a:ext cx="175762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37" name="Image 16" descr="/tmp/claude-0/-home-claude/6ecba087-9563-50f1-9ffc-6a20c07eac08/scratchpad/decks/assets/logos/partners_sf_16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607560" y="4178808"/>
            <a:ext cx="843933" cy="512064"/>
          </a:xfrm>
          <a:prstGeom prst="rect">
            <a:avLst/>
          </a:prstGeom>
        </p:spPr>
      </p:pic>
      <p:sp>
        <p:nvSpPr>
          <p:cNvPr id="38" name="Shape 19"/>
          <p:cNvSpPr/>
          <p:nvPr/>
        </p:nvSpPr>
        <p:spPr>
          <a:xfrm>
            <a:off x="8018069" y="3977640"/>
            <a:ext cx="175762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39" name="Image 17" descr="/tmp/claude-0/-home-claude/6ecba087-9563-50f1-9ffc-6a20c07eac08/scratchpad/decks/assets/logos/partners_sf_17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411770" y="4178808"/>
            <a:ext cx="970227" cy="512064"/>
          </a:xfrm>
          <a:prstGeom prst="rect">
            <a:avLst/>
          </a:prstGeom>
        </p:spPr>
      </p:pic>
      <p:sp>
        <p:nvSpPr>
          <p:cNvPr id="40" name="Shape 20"/>
          <p:cNvSpPr/>
          <p:nvPr/>
        </p:nvSpPr>
        <p:spPr>
          <a:xfrm>
            <a:off x="9885426" y="3977640"/>
            <a:ext cx="175762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41" name="Image 18" descr="/tmp/claude-0/-home-claude/6ecba087-9563-50f1-9ffc-6a20c07eac08/scratchpad/decks/assets/logos/partners_sf_18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154048" y="4298383"/>
            <a:ext cx="1220386" cy="272913"/>
          </a:xfrm>
          <a:prstGeom prst="rect">
            <a:avLst/>
          </a:prstGeom>
        </p:spPr>
      </p:pic>
      <p:sp>
        <p:nvSpPr>
          <p:cNvPr id="42" name="Shape 21"/>
          <p:cNvSpPr/>
          <p:nvPr/>
        </p:nvSpPr>
        <p:spPr>
          <a:xfrm>
            <a:off x="2415997" y="5001768"/>
            <a:ext cx="175762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43" name="Image 19" descr="/tmp/claude-0/-home-claude/6ecba087-9563-50f1-9ffc-6a20c07eac08/scratchpad/decks/assets/logos/partners_sf_19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2684619" y="5284393"/>
            <a:ext cx="1220386" cy="349150"/>
          </a:xfrm>
          <a:prstGeom prst="rect">
            <a:avLst/>
          </a:prstGeom>
        </p:spPr>
      </p:pic>
      <p:sp>
        <p:nvSpPr>
          <p:cNvPr id="44" name="Shape 22"/>
          <p:cNvSpPr/>
          <p:nvPr/>
        </p:nvSpPr>
        <p:spPr>
          <a:xfrm>
            <a:off x="4283354" y="5001768"/>
            <a:ext cx="175762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45" name="Image 20" descr="/tmp/claude-0/-home-claude/6ecba087-9563-50f1-9ffc-6a20c07eac08/scratchpad/decks/assets/logos/partners_sf_20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551976" y="5313979"/>
            <a:ext cx="1220386" cy="289977"/>
          </a:xfrm>
          <a:prstGeom prst="rect">
            <a:avLst/>
          </a:prstGeom>
        </p:spPr>
      </p:pic>
      <p:sp>
        <p:nvSpPr>
          <p:cNvPr id="46" name="Shape 23"/>
          <p:cNvSpPr/>
          <p:nvPr/>
        </p:nvSpPr>
        <p:spPr>
          <a:xfrm>
            <a:off x="6150712" y="5001768"/>
            <a:ext cx="175762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47" name="Image 21" descr="/tmp/claude-0/-home-claude/6ecba087-9563-50f1-9ffc-6a20c07eac08/scratchpad/decks/assets/logos/partners_sf_21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419333" y="5349703"/>
            <a:ext cx="1220386" cy="218531"/>
          </a:xfrm>
          <a:prstGeom prst="rect">
            <a:avLst/>
          </a:prstGeom>
        </p:spPr>
      </p:pic>
      <p:sp>
        <p:nvSpPr>
          <p:cNvPr id="48" name="Shape 24"/>
          <p:cNvSpPr/>
          <p:nvPr/>
        </p:nvSpPr>
        <p:spPr>
          <a:xfrm>
            <a:off x="8018069" y="5001768"/>
            <a:ext cx="175762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49" name="Image 22" descr="/tmp/claude-0/-home-claude/6ecba087-9563-50f1-9ffc-6a20c07eac08/scratchpad/decks/assets/logos/partners_sf_22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8286691" y="5360196"/>
            <a:ext cx="1220386" cy="197544"/>
          </a:xfrm>
          <a:prstGeom prst="rect">
            <a:avLst/>
          </a:prstGeom>
        </p:spPr>
      </p:pic>
      <p:sp>
        <p:nvSpPr>
          <p:cNvPr id="50" name="Text 25"/>
          <p:cNvSpPr txBox="1"/>
          <p:nvPr/>
        </p:nvSpPr>
        <p:spPr>
          <a:xfrm>
            <a:off x="10545775" y="629107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kern="0" spc="100" dirty="0">
                <a:solidFill>
                  <a:srgbClr val="5C5C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6ecba087-9563-50f1-9ffc-6a20c07eac08/scratchpad/decks/kit/panel_gra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092440" y="0"/>
            <a:ext cx="4099255" cy="6858000"/>
          </a:xfrm>
          <a:prstGeom prst="rect">
            <a:avLst/>
          </a:prstGeom>
        </p:spPr>
      </p:pic>
      <p:pic>
        <p:nvPicPr>
          <p:cNvPr id="4" name="Image 2" descr="/tmp/claude-0/-home-claude/6ecba087-9563-50f1-9ffc-6a20c07eac08/scratchpad/decks/kit/logo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84048"/>
            <a:ext cx="960120" cy="190070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2057400" y="3657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60" dirty="0">
                <a:solidFill>
                  <a:srgbClr val="5C5C6E"/>
                </a:solidFill>
                <a:latin typeface="Raleway Medium" pitchFamily="34" charset="0"/>
                <a:ea typeface="Raleway Medium" pitchFamily="34" charset="-122"/>
                <a:cs typeface="Raleway Medium" pitchFamily="34" charset="-120"/>
              </a:rPr>
              <a:t>TESSERA GROUP</a:t>
            </a:r>
            <a:endParaRPr lang="en-US" sz="750" dirty="0"/>
          </a:p>
        </p:txBody>
      </p:sp>
      <p:sp>
        <p:nvSpPr>
          <p:cNvPr id="6" name="Text 1"/>
          <p:cNvSpPr txBox="1"/>
          <p:nvPr/>
        </p:nvSpPr>
        <p:spPr>
          <a:xfrm>
            <a:off x="5029200" y="36576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60" dirty="0">
                <a:solidFill>
                  <a:srgbClr val="5C5C6E"/>
                </a:solidFill>
                <a:latin typeface="Raleway Medium" pitchFamily="34" charset="0"/>
                <a:ea typeface="Raleway Medium" pitchFamily="34" charset="-122"/>
                <a:cs typeface="Raleway Medium" pitchFamily="34" charset="-120"/>
              </a:rPr>
              <a:t>CONTACTO</a:t>
            </a:r>
            <a:endParaRPr lang="en-US" sz="750" dirty="0"/>
          </a:p>
        </p:txBody>
      </p:sp>
      <p:sp>
        <p:nvSpPr>
          <p:cNvPr id="7" name="Text 2"/>
          <p:cNvSpPr txBox="1"/>
          <p:nvPr/>
        </p:nvSpPr>
        <p:spPr>
          <a:xfrm>
            <a:off x="10728655" y="36576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50" kern="0" spc="160" dirty="0">
                <a:solidFill>
                  <a:srgbClr val="E6ECEC"/>
                </a:solidFill>
                <a:latin typeface="Raleway Medium" pitchFamily="34" charset="0"/>
                <a:ea typeface="Raleway Medium" pitchFamily="34" charset="-122"/>
                <a:cs typeface="Raleway Medium" pitchFamily="34" charset="-120"/>
              </a:rPr>
              <a:t>2026</a:t>
            </a:r>
            <a:endParaRPr lang="en-US" sz="750" dirty="0"/>
          </a:p>
        </p:txBody>
      </p:sp>
      <p:sp>
        <p:nvSpPr>
          <p:cNvPr id="8" name="Text 3"/>
          <p:cNvSpPr txBox="1"/>
          <p:nvPr/>
        </p:nvSpPr>
        <p:spPr>
          <a:xfrm>
            <a:off x="548640" y="868680"/>
            <a:ext cx="7315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kern="0" spc="-50" dirty="0">
                <a:solidFill>
                  <a:srgbClr val="202031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Contacta con nosotros</a:t>
            </a:r>
            <a:endParaRPr lang="en-US" sz="3400" dirty="0"/>
          </a:p>
        </p:txBody>
      </p:sp>
      <p:sp>
        <p:nvSpPr>
          <p:cNvPr id="9" name="Shape 4"/>
          <p:cNvSpPr/>
          <p:nvPr/>
        </p:nvSpPr>
        <p:spPr>
          <a:xfrm>
            <a:off x="548640" y="2011680"/>
            <a:ext cx="3383280" cy="0"/>
          </a:xfrm>
          <a:prstGeom prst="line">
            <a:avLst/>
          </a:prstGeom>
          <a:noFill/>
          <a:ln w="12700">
            <a:solidFill>
              <a:srgbClr val="58757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0" name="Text 5"/>
          <p:cNvSpPr txBox="1"/>
          <p:nvPr/>
        </p:nvSpPr>
        <p:spPr>
          <a:xfrm>
            <a:off x="548640" y="21762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kern="0" spc="100" dirty="0">
                <a:solidFill>
                  <a:srgbClr val="20203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MANUEL GARCÍA PINA</a:t>
            </a:r>
            <a:endParaRPr lang="en-US" sz="1150" dirty="0"/>
          </a:p>
        </p:txBody>
      </p:sp>
      <p:sp>
        <p:nvSpPr>
          <p:cNvPr id="11" name="Text 6"/>
          <p:cNvSpPr txBox="1"/>
          <p:nvPr/>
        </p:nvSpPr>
        <p:spPr>
          <a:xfrm>
            <a:off x="548640" y="24688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8757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Partner - Finance</a:t>
            </a:r>
            <a:endParaRPr lang="en-US" sz="1000" dirty="0"/>
          </a:p>
        </p:txBody>
      </p:sp>
      <p:sp>
        <p:nvSpPr>
          <p:cNvPr id="12" name="Text 7"/>
          <p:cNvSpPr txBox="1"/>
          <p:nvPr/>
        </p:nvSpPr>
        <p:spPr>
          <a:xfrm>
            <a:off x="548640" y="285292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0203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+34 669 01 49 58</a:t>
            </a:r>
            <a:endParaRPr lang="en-US" sz="1100" dirty="0"/>
          </a:p>
        </p:txBody>
      </p:sp>
      <p:sp>
        <p:nvSpPr>
          <p:cNvPr id="13" name="Text 8"/>
          <p:cNvSpPr txBox="1"/>
          <p:nvPr/>
        </p:nvSpPr>
        <p:spPr>
          <a:xfrm>
            <a:off x="548640" y="31089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C5C6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manuel.garcia@tesseraservices.com</a:t>
            </a:r>
            <a:endParaRPr lang="en-US" sz="1050" dirty="0"/>
          </a:p>
        </p:txBody>
      </p:sp>
      <p:sp>
        <p:nvSpPr>
          <p:cNvPr id="14" name="Shape 9"/>
          <p:cNvSpPr/>
          <p:nvPr/>
        </p:nvSpPr>
        <p:spPr>
          <a:xfrm>
            <a:off x="4297680" y="2011680"/>
            <a:ext cx="3383280" cy="0"/>
          </a:xfrm>
          <a:prstGeom prst="line">
            <a:avLst/>
          </a:prstGeom>
          <a:noFill/>
          <a:ln w="12700">
            <a:solidFill>
              <a:srgbClr val="58757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5" name="Text 10"/>
          <p:cNvSpPr txBox="1"/>
          <p:nvPr/>
        </p:nvSpPr>
        <p:spPr>
          <a:xfrm>
            <a:off x="4297680" y="21762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kern="0" spc="100" dirty="0">
                <a:solidFill>
                  <a:srgbClr val="20203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EDUARDO SERRANO CARRETERO</a:t>
            </a:r>
            <a:endParaRPr lang="en-US" sz="1150" dirty="0"/>
          </a:p>
        </p:txBody>
      </p:sp>
      <p:sp>
        <p:nvSpPr>
          <p:cNvPr id="16" name="Text 11"/>
          <p:cNvSpPr txBox="1"/>
          <p:nvPr/>
        </p:nvSpPr>
        <p:spPr>
          <a:xfrm>
            <a:off x="4297680" y="24688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8757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Partner - Finance</a:t>
            </a:r>
            <a:endParaRPr lang="en-US" sz="1000" dirty="0"/>
          </a:p>
        </p:txBody>
      </p:sp>
      <p:sp>
        <p:nvSpPr>
          <p:cNvPr id="17" name="Text 12"/>
          <p:cNvSpPr txBox="1"/>
          <p:nvPr/>
        </p:nvSpPr>
        <p:spPr>
          <a:xfrm>
            <a:off x="4297680" y="285292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0203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+34 619 51 11 55</a:t>
            </a:r>
            <a:endParaRPr lang="en-US" sz="1100" dirty="0"/>
          </a:p>
        </p:txBody>
      </p:sp>
      <p:sp>
        <p:nvSpPr>
          <p:cNvPr id="18" name="Text 13"/>
          <p:cNvSpPr txBox="1"/>
          <p:nvPr/>
        </p:nvSpPr>
        <p:spPr>
          <a:xfrm>
            <a:off x="4297680" y="31089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C5C6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eduardo.serrano@tesseraservices.com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548640" y="3977640"/>
            <a:ext cx="3383280" cy="0"/>
          </a:xfrm>
          <a:prstGeom prst="line">
            <a:avLst/>
          </a:prstGeom>
          <a:noFill/>
          <a:ln w="12700">
            <a:solidFill>
              <a:srgbClr val="58757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0" name="Text 15"/>
          <p:cNvSpPr txBox="1"/>
          <p:nvPr/>
        </p:nvSpPr>
        <p:spPr>
          <a:xfrm>
            <a:off x="548640" y="414223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kern="0" spc="100" dirty="0">
                <a:solidFill>
                  <a:srgbClr val="20203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MÓNICA MAYORAL</a:t>
            </a:r>
            <a:endParaRPr lang="en-US" sz="1150" dirty="0"/>
          </a:p>
        </p:txBody>
      </p:sp>
      <p:sp>
        <p:nvSpPr>
          <p:cNvPr id="21" name="Text 16"/>
          <p:cNvSpPr txBox="1"/>
          <p:nvPr/>
        </p:nvSpPr>
        <p:spPr>
          <a:xfrm>
            <a:off x="548640" y="44348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8757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Partner - Finance</a:t>
            </a:r>
            <a:endParaRPr lang="en-US" sz="1000" dirty="0"/>
          </a:p>
        </p:txBody>
      </p:sp>
      <p:sp>
        <p:nvSpPr>
          <p:cNvPr id="22" name="Text 17"/>
          <p:cNvSpPr txBox="1"/>
          <p:nvPr/>
        </p:nvSpPr>
        <p:spPr>
          <a:xfrm>
            <a:off x="548640" y="481888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0203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+34 696 39 38 49</a:t>
            </a:r>
            <a:endParaRPr lang="en-US" sz="1100" dirty="0"/>
          </a:p>
        </p:txBody>
      </p:sp>
      <p:sp>
        <p:nvSpPr>
          <p:cNvPr id="23" name="Text 18"/>
          <p:cNvSpPr txBox="1"/>
          <p:nvPr/>
        </p:nvSpPr>
        <p:spPr>
          <a:xfrm>
            <a:off x="548640" y="50749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C5C6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monica.mayoral@tesseraservices.com</a:t>
            </a:r>
            <a:endParaRPr lang="en-US" sz="1050" dirty="0"/>
          </a:p>
        </p:txBody>
      </p:sp>
      <p:sp>
        <p:nvSpPr>
          <p:cNvPr id="24" name="Shape 19"/>
          <p:cNvSpPr/>
          <p:nvPr/>
        </p:nvSpPr>
        <p:spPr>
          <a:xfrm>
            <a:off x="4297680" y="3977640"/>
            <a:ext cx="3383280" cy="0"/>
          </a:xfrm>
          <a:prstGeom prst="line">
            <a:avLst/>
          </a:prstGeom>
          <a:noFill/>
          <a:ln w="12700">
            <a:solidFill>
              <a:srgbClr val="58757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5" name="Text 20"/>
          <p:cNvSpPr txBox="1"/>
          <p:nvPr/>
        </p:nvSpPr>
        <p:spPr>
          <a:xfrm>
            <a:off x="4297680" y="414223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kern="0" spc="100" dirty="0">
                <a:solidFill>
                  <a:srgbClr val="20203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EDWARD MANRIQUE</a:t>
            </a:r>
            <a:endParaRPr lang="en-US" sz="1150" dirty="0"/>
          </a:p>
        </p:txBody>
      </p:sp>
      <p:sp>
        <p:nvSpPr>
          <p:cNvPr id="26" name="Text 21"/>
          <p:cNvSpPr txBox="1"/>
          <p:nvPr/>
        </p:nvSpPr>
        <p:spPr>
          <a:xfrm>
            <a:off x="4297680" y="44348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8757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Head of Recruitment &amp; Talent Operations</a:t>
            </a:r>
            <a:endParaRPr lang="en-US" sz="1000" dirty="0"/>
          </a:p>
        </p:txBody>
      </p:sp>
      <p:sp>
        <p:nvSpPr>
          <p:cNvPr id="27" name="Text 22"/>
          <p:cNvSpPr txBox="1"/>
          <p:nvPr/>
        </p:nvSpPr>
        <p:spPr>
          <a:xfrm>
            <a:off x="4297680" y="481888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0203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+34 695 02 19 78</a:t>
            </a:r>
            <a:endParaRPr lang="en-US" sz="1100" dirty="0"/>
          </a:p>
        </p:txBody>
      </p:sp>
      <p:sp>
        <p:nvSpPr>
          <p:cNvPr id="28" name="Text 23"/>
          <p:cNvSpPr txBox="1"/>
          <p:nvPr/>
        </p:nvSpPr>
        <p:spPr>
          <a:xfrm>
            <a:off x="4297680" y="50749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C5C6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edward@tesseraservices.com</a:t>
            </a:r>
            <a:endParaRPr lang="en-US" sz="1050" dirty="0"/>
          </a:p>
        </p:txBody>
      </p:sp>
      <p:pic>
        <p:nvPicPr>
          <p:cNvPr id="29" name="Image 3" descr="/tmp/claude-0/-home-claude/6ecba087-9563-50f1-9ffc-6a20c07eac08/scratchpad/decks/kit/tfs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0468" y="2743200"/>
            <a:ext cx="2743200" cy="799360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8496148" y="37947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6ECE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tesseraservices.com</a:t>
            </a:r>
            <a:endParaRPr lang="en-US" sz="1100" dirty="0"/>
          </a:p>
        </p:txBody>
      </p:sp>
      <p:sp>
        <p:nvSpPr>
          <p:cNvPr id="31" name="Text 25"/>
          <p:cNvSpPr txBox="1"/>
          <p:nvPr/>
        </p:nvSpPr>
        <p:spPr>
          <a:xfrm>
            <a:off x="10545775" y="629107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kern="0" spc="100" dirty="0">
                <a:solidFill>
                  <a:srgbClr val="E6ECE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6ecba087-9563-50f1-9ffc-6a20c07eac08/scratchpad/decks/kit/bg_grad_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Image 2" descr="/tmp/claude-0/-home-claude/6ecba087-9563-50f1-9ffc-6a20c07eac08/scratchpad/decks/kit/logo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548640"/>
            <a:ext cx="1554480" cy="30773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548640" y="2011680"/>
            <a:ext cx="9144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lnSpc>
                <a:spcPct val="95000"/>
              </a:lnSpc>
              <a:buNone/>
            </a:pPr>
            <a:r>
              <a:rPr lang="en-US" sz="4800" kern="0" spc="-50" dirty="0">
                <a:solidFill>
                  <a:srgbClr val="FFFFFF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Better decisions,</a:t>
            </a:r>
            <a:endParaRPr lang="en-US" sz="48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4800" kern="0" spc="-50" dirty="0">
                <a:solidFill>
                  <a:srgbClr val="FFFFFF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together.</a:t>
            </a:r>
            <a:endParaRPr lang="en-US" sz="4800" dirty="0"/>
          </a:p>
        </p:txBody>
      </p:sp>
      <p:sp>
        <p:nvSpPr>
          <p:cNvPr id="6" name="Text 1"/>
          <p:cNvSpPr txBox="1"/>
          <p:nvPr/>
        </p:nvSpPr>
        <p:spPr>
          <a:xfrm>
            <a:off x="548640" y="3931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Gracias</a:t>
            </a:r>
            <a:r>
              <a:rPr lang="en-US" sz="1500" dirty="0">
                <a:solidFill>
                  <a:srgbClr val="E6ECE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por tu tiempo.</a:t>
            </a:r>
            <a:endParaRPr lang="en-US" sz="1500" dirty="0"/>
          </a:p>
        </p:txBody>
      </p:sp>
      <p:sp>
        <p:nvSpPr>
          <p:cNvPr id="7" name="Text 2"/>
          <p:cNvSpPr txBox="1"/>
          <p:nvPr/>
        </p:nvSpPr>
        <p:spPr>
          <a:xfrm>
            <a:off x="548640" y="4315968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E6ECE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Estaremos encantados de concretar cómo podemos acompañar al fondo y a sus participadas.</a:t>
            </a:r>
            <a:endParaRPr lang="en-US" sz="1200" dirty="0"/>
          </a:p>
        </p:txBody>
      </p:sp>
      <p:sp>
        <p:nvSpPr>
          <p:cNvPr id="8" name="Text 3"/>
          <p:cNvSpPr txBox="1"/>
          <p:nvPr/>
        </p:nvSpPr>
        <p:spPr>
          <a:xfrm>
            <a:off x="548640" y="5989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E6ECE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tesseraservices.com     LinkedIn @tesseraservices</a:t>
            </a:r>
            <a:endParaRPr lang="en-US" sz="1200" dirty="0"/>
          </a:p>
        </p:txBody>
      </p:sp>
      <p:pic>
        <p:nvPicPr>
          <p:cNvPr id="9" name="Logo client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12000" y="1905000"/>
            <a:ext cx="4318000" cy="3302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Raleway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Raleway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446</TotalTime>
  <Words>1239</Words>
  <Application>Microsoft Office PowerPoint</Application>
  <PresentationFormat>Panorámica</PresentationFormat>
  <Paragraphs>202</Paragraphs>
  <Slides>11</Slides>
  <Notes>11</Notes>
  <HiddenSlides>1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11</vt:i4>
      </vt:variant>
    </vt:vector>
  </HeadingPairs>
  <TitlesOfParts>
    <vt:vector size="19" baseType="lpstr">
      <vt:lpstr>Arial</vt:lpstr>
      <vt:lpstr>Manrope</vt:lpstr>
      <vt:lpstr>Manrope Light</vt:lpstr>
      <vt:lpstr>Raleway</vt:lpstr>
      <vt:lpstr>Raleway Light</vt:lpstr>
      <vt:lpstr>Raleway Medium</vt:lpstr>
      <vt:lpstr>Raleway SemiBold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Tessera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Catálogo de servicios Tessera</dc:title>
  <dc:subject>PptxGenJS Presentation</dc:subject>
  <dc:creator>Tessera</dc:creator>
  <cp:lastModifiedBy>Jaime Amaya</cp:lastModifiedBy>
  <cp:revision>3</cp:revision>
  <dcterms:created xsi:type="dcterms:W3CDTF">2026-10-13T09:53:21Z</dcterms:created>
  <dcterms:modified xsi:type="dcterms:W3CDTF">2026-10-15T15:04:11Z</dcterms:modified>
</cp:coreProperties>
</file>