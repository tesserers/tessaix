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slideLayouts/slideLayout6.xml" ContentType="application/vnd.openxmlformats-officedocument.presentationml.slideLayout+xml"/>
  <Override PartName="/ppt/theme/theme3.xml" ContentType="application/vnd.openxmlformats-officedocument.theme+xml"/>
  <Override PartName="/ppt/slideLayouts/slideLayout7.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media/image16.svg" ContentType="image/svg+xml"/>
  <Override PartName="/ppt/media/image17.svg" ContentType="image/svg+xml"/>
  <Override PartName="/ppt/media/image18.svg" ContentType="image/svg+xml"/>
  <Override PartName="/ppt/media/image19.svg" ContentType="image/svg+xml"/>
  <Override PartName="/ppt/notesSlides/notesSlide4.xml" ContentType="application/vnd.openxmlformats-officedocument.presentationml.notesSlide+xml"/>
  <Override PartName="/ppt/comments/modernComment_20F_CC466DB.xml" ContentType="application/vnd.ms-powerpoint.comments+xml"/>
  <Override PartName="/ppt/notesSlides/notesSlide5.xml" ContentType="application/vnd.openxmlformats-officedocument.presentationml.notesSlide+xml"/>
  <Override PartName="/ppt/media/image25.svg" ContentType="image/svg+xml"/>
  <Override PartName="/ppt/media/image26.svg" ContentType="image/svg+xml"/>
  <Override PartName="/ppt/notesSlides/notesSlide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Props/core0.xml" ContentType="application/vnd.openxmlformats-package.core-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7" Type="http://schemas.openxmlformats.org/officedocument/2006/relationships/metadata/core-properties" Target="docProps/core0.xml"/><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52" r:id="rId4"/>
    <p:sldMasterId id="2147483663" r:id="rId5"/>
    <p:sldMasterId id="2147483673" r:id="rId6"/>
    <p:sldMasterId id="2147483679" r:id="rId7"/>
  </p:sldMasterIdLst>
  <p:notesMasterIdLst>
    <p:notesMasterId r:id="rId23"/>
  </p:notesMasterIdLst>
  <p:sldIdLst>
    <p:sldId id="256" r:id="rId8"/>
    <p:sldId id="294" r:id="rId9"/>
    <p:sldId id="296" r:id="rId10"/>
    <p:sldId id="257" r:id="rId11"/>
    <p:sldId id="295" r:id="rId12"/>
    <p:sldId id="286" r:id="rId13"/>
    <p:sldId id="287" r:id="rId14"/>
    <p:sldId id="288" r:id="rId15"/>
    <p:sldId id="289" r:id="rId16"/>
    <p:sldId id="527" r:id="rId17"/>
    <p:sldId id="528" r:id="rId18"/>
    <p:sldId id="457" r:id="rId19"/>
    <p:sldId id="266" r:id="rId20"/>
    <p:sldId id="283" r:id="rId21"/>
    <p:sldId id="284" r:id="rId22"/>
  </p:sldIdLst>
  <p:sldSz cx="12192000" cy="6858000"/>
  <p:notesSz cx="6858000" cy="9144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615EB06-6C81-9147-EE2B-EFB48619A565}" name="Eddy" initials="Ed" userId="S::edward@tesseraservices.com::932a1d4b-fc19-47b2-a905-1d5f3118845a"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EB174"/>
    <a:srgbClr val="587579"/>
    <a:srgbClr val="F0E8D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4BEE71-48BA-AC06-EAC4-2A180CE4B5C4}" v="5" dt="2026-09-15T10:59:25.132"/>
    <p1510:client id="{85D4D6E9-81A5-9324-D8AC-2A55B357C88B}" v="31" dt="2026-09-15T13:19:38.206"/>
    <p1510:client id="{D0CE1C97-A984-5E80-99D1-9DC91AC46404}" v="3" dt="2026-09-15T10:56:58.92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1.xml"/><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4.xml"/><Relationship Id="rId7" Type="http://schemas.openxmlformats.org/officeDocument/2006/relationships/slideMaster" Target="slideMasters/slideMaster4.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presProps" Target="presProps.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notesMaster" Target="notesMasters/notesMaster1.xml"/><Relationship Id="rId28" Type="http://schemas.microsoft.com/office/2015/10/relationships/revisionInfo" Target="revisionInfo.xml"/><Relationship Id="rId10" Type="http://schemas.openxmlformats.org/officeDocument/2006/relationships/slide" Target="slides/slide3.xml"/><Relationship Id="rId19" Type="http://schemas.openxmlformats.org/officeDocument/2006/relationships/slide" Target="slides/slide12.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tableStyles" Target="tableStyles.xml"/></Relationships>
</file>

<file path=ppt/comments/modernComment_20F_CC466DB.xml><?xml version="1.0" encoding="utf-8"?>
<p188:cmLst xmlns:a="http://schemas.openxmlformats.org/drawingml/2006/main" xmlns:r="http://schemas.openxmlformats.org/officeDocument/2006/relationships" xmlns:p188="http://schemas.microsoft.com/office/powerpoint/2018/8/main">
  <p188:cm id="{AB6D3408-F2FE-4077-B1E1-206C3078B357}" authorId="{B615EB06-6C81-9147-EE2B-EFB48619A565}" created="2026-09-15T10:59:25.132">
    <ac:txMkLst xmlns:ac="http://schemas.microsoft.com/office/drawing/2013/main/command">
      <pc:docMk xmlns:pc="http://schemas.microsoft.com/office/powerpoint/2013/main/command"/>
      <pc:sldMk xmlns:pc="http://schemas.microsoft.com/office/powerpoint/2013/main/command" cId="214197979" sldId="527"/>
      <ac:spMk id="5" creationId="{5A20455F-D0BF-C1CE-0C3C-BF9004711778}"/>
      <ac:txMk cp="690" len="7">
        <ac:context len="1727" hash="3596641532"/>
      </ac:txMk>
    </ac:txMkLst>
    <p188:pos x="4927106" y="1886504"/>
    <p188:txBody>
      <a:bodyPr/>
      <a:lstStyle/>
      <a:p>
        <a:r>
          <a:rPr lang="es-ES"/>
          <a:t>CHG</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5" name="PlaceHolder 1"/>
          <p:cNvSpPr>
            <a:spLocks noGrp="1"/>
          </p:cNvSpPr>
          <p:nvPr>
            <p:ph type="hdr"/>
          </p:nvPr>
        </p:nvSpPr>
        <p:spPr>
          <a:xfrm>
            <a:off x="0" y="0"/>
            <a:ext cx="2971800" cy="458640"/>
          </a:xfrm>
          <a:prstGeom prst="rect">
            <a:avLst/>
          </a:prstGeom>
          <a:noFill/>
          <a:ln w="19080">
            <a:noFill/>
          </a:ln>
        </p:spPr>
        <p:txBody>
          <a:bodyPr lIns="91440" tIns="45720" rIns="91440" bIns="45720" anchor="t">
            <a:noAutofit/>
          </a:bodyPr>
          <a:lstStyle/>
          <a:p>
            <a:pPr indent="0">
              <a:buNone/>
            </a:pPr>
            <a:endParaRPr lang="en-US" sz="2400" b="0" strike="noStrike" spc="-1">
              <a:solidFill>
                <a:srgbClr val="000000"/>
              </a:solidFill>
              <a:latin typeface="Times New Roman"/>
            </a:endParaRPr>
          </a:p>
        </p:txBody>
      </p:sp>
      <p:sp>
        <p:nvSpPr>
          <p:cNvPr id="106" name="PlaceHolder 2"/>
          <p:cNvSpPr>
            <a:spLocks noGrp="1"/>
          </p:cNvSpPr>
          <p:nvPr>
            <p:ph type="dt" idx="37"/>
          </p:nvPr>
        </p:nvSpPr>
        <p:spPr>
          <a:xfrm>
            <a:off x="3884760" y="0"/>
            <a:ext cx="2971800" cy="458640"/>
          </a:xfrm>
          <a:prstGeom prst="rect">
            <a:avLst/>
          </a:prstGeom>
          <a:noFill/>
          <a:ln w="19080">
            <a:noFill/>
          </a:ln>
        </p:spPr>
        <p:txBody>
          <a:bodyPr lIns="91440" tIns="45720" rIns="91440" bIns="45720" anchor="t">
            <a:noAutofit/>
          </a:bodyPr>
          <a:lstStyle>
            <a:lvl1pPr indent="0" algn="r">
              <a:lnSpc>
                <a:spcPct val="100000"/>
              </a:lnSpc>
              <a:buNone/>
              <a:defRPr lang="es-ES" sz="1200" b="0" strike="noStrike" spc="-1">
                <a:solidFill>
                  <a:srgbClr val="000000"/>
                </a:solidFill>
                <a:latin typeface="Aptos"/>
              </a:defRPr>
            </a:lvl1pPr>
          </a:lstStyle>
          <a:p>
            <a:pPr indent="0" algn="r">
              <a:lnSpc>
                <a:spcPct val="100000"/>
              </a:lnSpc>
              <a:buNone/>
            </a:pPr>
            <a:fld id="{BF1C091B-8657-4E4E-B9EF-7D8561AD3119}" type="datetime">
              <a:rPr lang="es-ES" sz="1200" b="0" strike="noStrike" spc="-1">
                <a:solidFill>
                  <a:srgbClr val="000000"/>
                </a:solidFill>
                <a:latin typeface="Aptos"/>
              </a:rPr>
              <a:t>15/09/2026</a:t>
            </a:fld>
            <a:endParaRPr lang="en-US" sz="1200" b="0" strike="noStrike" spc="-1">
              <a:solidFill>
                <a:srgbClr val="000000"/>
              </a:solidFill>
              <a:latin typeface="Times New Roman"/>
            </a:endParaRPr>
          </a:p>
        </p:txBody>
      </p:sp>
      <p:sp>
        <p:nvSpPr>
          <p:cNvPr id="107" name="PlaceHolder 3"/>
          <p:cNvSpPr>
            <a:spLocks noGrp="1" noRot="1" noChangeAspect="1"/>
          </p:cNvSpPr>
          <p:nvPr>
            <p:ph type="sldImg"/>
          </p:nvPr>
        </p:nvSpPr>
        <p:spPr>
          <a:xfrm>
            <a:off x="685800" y="1143000"/>
            <a:ext cx="5486400" cy="3085920"/>
          </a:xfrm>
          <a:prstGeom prst="rect">
            <a:avLst/>
          </a:prstGeom>
          <a:noFill/>
          <a:ln w="19080">
            <a:noFill/>
          </a:ln>
        </p:spPr>
        <p:txBody>
          <a:bodyPr lIns="0" tIns="0" rIns="0" bIns="0" anchor="ctr">
            <a:noAutofit/>
          </a:bodyPr>
          <a:lstStyle/>
          <a:p>
            <a:pPr indent="0" algn="ctr">
              <a:buNone/>
            </a:pPr>
            <a:r>
              <a:rPr lang="en-US" sz="4400" b="0" strike="noStrike" spc="-1">
                <a:solidFill>
                  <a:srgbClr val="000000"/>
                </a:solidFill>
                <a:latin typeface="Arial"/>
              </a:rPr>
              <a:t>Click to move the slide</a:t>
            </a:r>
          </a:p>
        </p:txBody>
      </p:sp>
      <p:sp>
        <p:nvSpPr>
          <p:cNvPr id="108" name="PlaceHolder 4"/>
          <p:cNvSpPr>
            <a:spLocks noGrp="1"/>
          </p:cNvSpPr>
          <p:nvPr>
            <p:ph type="body"/>
          </p:nvPr>
        </p:nvSpPr>
        <p:spPr>
          <a:xfrm>
            <a:off x="685800" y="4400640"/>
            <a:ext cx="5486400" cy="3600360"/>
          </a:xfrm>
          <a:prstGeom prst="rect">
            <a:avLst/>
          </a:prstGeom>
          <a:noFill/>
          <a:ln w="19080">
            <a:noFill/>
          </a:ln>
        </p:spPr>
        <p:txBody>
          <a:bodyPr lIns="91440" tIns="45720" rIns="91440" bIns="45720" anchor="t">
            <a:noAutofit/>
          </a:bodyPr>
          <a:lstStyle/>
          <a:p>
            <a:pPr indent="0">
              <a:lnSpc>
                <a:spcPct val="100000"/>
              </a:lnSpc>
              <a:buNone/>
            </a:pPr>
            <a:r>
              <a:rPr lang="en-US" sz="1200" b="0" strike="noStrike" spc="-1">
                <a:solidFill>
                  <a:srgbClr val="000000"/>
                </a:solidFill>
                <a:latin typeface="Aptos"/>
              </a:rPr>
              <a:t>Click to edit Master text styles</a:t>
            </a:r>
            <a:endParaRPr lang="en-US" sz="1200" b="0" strike="noStrike" spc="-1">
              <a:solidFill>
                <a:srgbClr val="000000"/>
              </a:solidFill>
              <a:latin typeface="Arial"/>
            </a:endParaRPr>
          </a:p>
          <a:p>
            <a:pPr marL="457200" lvl="1" indent="0">
              <a:lnSpc>
                <a:spcPct val="100000"/>
              </a:lnSpc>
            </a:pPr>
            <a:r>
              <a:rPr lang="en-US" sz="1200" b="0" strike="noStrike" spc="-1">
                <a:solidFill>
                  <a:srgbClr val="000000"/>
                </a:solidFill>
                <a:latin typeface="Aptos"/>
              </a:rPr>
              <a:t>Second level</a:t>
            </a:r>
            <a:endParaRPr lang="en-US" sz="1200" b="0" strike="noStrike" spc="-1">
              <a:solidFill>
                <a:srgbClr val="000000"/>
              </a:solidFill>
              <a:latin typeface="Arial"/>
            </a:endParaRPr>
          </a:p>
          <a:p>
            <a:pPr marL="914400" lvl="2" indent="0">
              <a:lnSpc>
                <a:spcPct val="100000"/>
              </a:lnSpc>
            </a:pPr>
            <a:r>
              <a:rPr lang="en-US" sz="1200" b="0" strike="noStrike" spc="-1">
                <a:solidFill>
                  <a:srgbClr val="000000"/>
                </a:solidFill>
                <a:latin typeface="Aptos"/>
              </a:rPr>
              <a:t>Third level</a:t>
            </a:r>
            <a:endParaRPr lang="en-US" sz="1200" b="0" strike="noStrike" spc="-1">
              <a:solidFill>
                <a:srgbClr val="000000"/>
              </a:solidFill>
              <a:latin typeface="Arial"/>
            </a:endParaRPr>
          </a:p>
          <a:p>
            <a:pPr marL="1371600" lvl="3" indent="0">
              <a:lnSpc>
                <a:spcPct val="100000"/>
              </a:lnSpc>
            </a:pPr>
            <a:r>
              <a:rPr lang="en-US" sz="1200" b="0" strike="noStrike" spc="-1">
                <a:solidFill>
                  <a:srgbClr val="000000"/>
                </a:solidFill>
                <a:latin typeface="Aptos"/>
              </a:rPr>
              <a:t>Fourth level</a:t>
            </a:r>
            <a:endParaRPr lang="en-US" sz="1200" b="0" strike="noStrike" spc="-1">
              <a:solidFill>
                <a:srgbClr val="000000"/>
              </a:solidFill>
              <a:latin typeface="Arial"/>
            </a:endParaRPr>
          </a:p>
          <a:p>
            <a:pPr marL="1828800" lvl="4" indent="0">
              <a:lnSpc>
                <a:spcPct val="100000"/>
              </a:lnSpc>
            </a:pPr>
            <a:r>
              <a:rPr lang="en-US" sz="1200" b="0" strike="noStrike" spc="-1">
                <a:solidFill>
                  <a:srgbClr val="000000"/>
                </a:solidFill>
                <a:latin typeface="Aptos"/>
              </a:rPr>
              <a:t>Fifth level</a:t>
            </a:r>
            <a:endParaRPr lang="en-US" sz="1200" b="0" strike="noStrike" spc="-1">
              <a:solidFill>
                <a:srgbClr val="000000"/>
              </a:solidFill>
              <a:latin typeface="Arial"/>
            </a:endParaRPr>
          </a:p>
        </p:txBody>
      </p:sp>
      <p:sp>
        <p:nvSpPr>
          <p:cNvPr id="109" name="PlaceHolder 5"/>
          <p:cNvSpPr>
            <a:spLocks noGrp="1"/>
          </p:cNvSpPr>
          <p:nvPr>
            <p:ph type="ftr" idx="38"/>
          </p:nvPr>
        </p:nvSpPr>
        <p:spPr>
          <a:xfrm>
            <a:off x="0" y="8685360"/>
            <a:ext cx="2971800" cy="458640"/>
          </a:xfrm>
          <a:prstGeom prst="rect">
            <a:avLst/>
          </a:prstGeom>
          <a:noFill/>
          <a:ln w="19080">
            <a:noFill/>
          </a:ln>
        </p:spPr>
        <p:txBody>
          <a:bodyPr lIns="91440" tIns="45720" rIns="91440" bIns="45720" anchor="b">
            <a:noAutofit/>
          </a:bodyPr>
          <a:lstStyle/>
          <a:p>
            <a:pPr indent="0">
              <a:buNone/>
            </a:pPr>
            <a:endParaRPr lang="en-US" sz="2400" b="0" strike="noStrike" spc="-1">
              <a:solidFill>
                <a:srgbClr val="000000"/>
              </a:solidFill>
              <a:latin typeface="Times New Roman"/>
            </a:endParaRPr>
          </a:p>
        </p:txBody>
      </p:sp>
      <p:sp>
        <p:nvSpPr>
          <p:cNvPr id="110" name="PlaceHolder 6"/>
          <p:cNvSpPr>
            <a:spLocks noGrp="1"/>
          </p:cNvSpPr>
          <p:nvPr>
            <p:ph type="sldNum" idx="39"/>
          </p:nvPr>
        </p:nvSpPr>
        <p:spPr>
          <a:xfrm>
            <a:off x="3884760" y="8685360"/>
            <a:ext cx="2971800" cy="458640"/>
          </a:xfrm>
          <a:prstGeom prst="rect">
            <a:avLst/>
          </a:prstGeom>
          <a:noFill/>
          <a:ln w="19080">
            <a:noFill/>
          </a:ln>
        </p:spPr>
        <p:txBody>
          <a:bodyPr lIns="91440" tIns="45720" rIns="91440" bIns="45720" anchor="b">
            <a:noAutofit/>
          </a:bodyPr>
          <a:lstStyle>
            <a:lvl1pPr indent="0" algn="r">
              <a:lnSpc>
                <a:spcPct val="100000"/>
              </a:lnSpc>
              <a:buNone/>
              <a:defRPr lang="es-ES" sz="1200" b="0" strike="noStrike" spc="-1">
                <a:solidFill>
                  <a:srgbClr val="000000"/>
                </a:solidFill>
                <a:latin typeface="Aptos"/>
              </a:defRPr>
            </a:lvl1pPr>
          </a:lstStyle>
          <a:p>
            <a:pPr indent="0" algn="r">
              <a:lnSpc>
                <a:spcPct val="100000"/>
              </a:lnSpc>
              <a:buNone/>
            </a:pPr>
            <a:fld id="{7A8FC9CA-B838-429E-AABA-12123A887CB5}" type="slidenum">
              <a:rPr lang="es-ES" sz="1200" b="0" strike="noStrike" spc="-1">
                <a:solidFill>
                  <a:srgbClr val="000000"/>
                </a:solidFill>
                <a:latin typeface="Aptos"/>
              </a:rPr>
              <a:t>‹Nº›</a:t>
            </a:fld>
            <a:endParaRPr lang="en-US" sz="1200" b="0" strike="noStrike" spc="-1">
              <a:solidFill>
                <a:srgbClr val="000000"/>
              </a:solidFill>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3" name="PlaceHolder 1"/>
          <p:cNvSpPr>
            <a:spLocks noGrp="1" noRot="1" noChangeAspect="1"/>
          </p:cNvSpPr>
          <p:nvPr>
            <p:ph type="sldImg"/>
          </p:nvPr>
        </p:nvSpPr>
        <p:spPr>
          <a:xfrm>
            <a:off x="685800" y="1143000"/>
            <a:ext cx="5486400" cy="3086100"/>
          </a:xfrm>
          <a:prstGeom prst="rect">
            <a:avLst/>
          </a:prstGeom>
          <a:ln w="0">
            <a:noFill/>
          </a:ln>
        </p:spPr>
      </p:sp>
      <p:sp>
        <p:nvSpPr>
          <p:cNvPr id="404" name="PlaceHolder 2"/>
          <p:cNvSpPr>
            <a:spLocks noGrp="1"/>
          </p:cNvSpPr>
          <p:nvPr>
            <p:ph type="body"/>
          </p:nvPr>
        </p:nvSpPr>
        <p:spPr>
          <a:xfrm>
            <a:off x="685800" y="4400640"/>
            <a:ext cx="5486400" cy="3600360"/>
          </a:xfrm>
          <a:prstGeom prst="rect">
            <a:avLst/>
          </a:prstGeom>
          <a:noFill/>
          <a:ln w="19080">
            <a:noFill/>
          </a:ln>
        </p:spPr>
        <p:txBody>
          <a:bodyPr lIns="91440" tIns="45720" rIns="91440" bIns="45720" anchor="t">
            <a:noAutofit/>
          </a:bodyPr>
          <a:lstStyle/>
          <a:p>
            <a:pPr marL="216000" indent="-216000">
              <a:buNone/>
            </a:pPr>
            <a:endParaRPr lang="en-US" sz="2000" b="0" strike="noStrike" spc="-1">
              <a:solidFill>
                <a:srgbClr val="000000"/>
              </a:solidFill>
              <a:latin typeface="Arial"/>
            </a:endParaRPr>
          </a:p>
        </p:txBody>
      </p:sp>
      <p:sp>
        <p:nvSpPr>
          <p:cNvPr id="405" name="PlaceHolder 3"/>
          <p:cNvSpPr>
            <a:spLocks noGrp="1"/>
          </p:cNvSpPr>
          <p:nvPr>
            <p:ph type="sldNum" idx="41"/>
          </p:nvPr>
        </p:nvSpPr>
        <p:spPr>
          <a:xfrm>
            <a:off x="3884760" y="8685360"/>
            <a:ext cx="2971800" cy="458640"/>
          </a:xfrm>
          <a:prstGeom prst="rect">
            <a:avLst/>
          </a:prstGeom>
          <a:noFill/>
          <a:ln w="19080">
            <a:noFill/>
          </a:ln>
        </p:spPr>
        <p:txBody>
          <a:bodyPr lIns="91440" tIns="45720" rIns="91440" bIns="45720" anchor="b">
            <a:noAutofit/>
          </a:bodyPr>
          <a:lstStyle>
            <a:lvl1pPr indent="0">
              <a:lnSpc>
                <a:spcPct val="100000"/>
              </a:lnSpc>
              <a:buNone/>
              <a:defRPr lang="en-US" sz="1800" b="0" strike="noStrike" spc="-1">
                <a:solidFill>
                  <a:srgbClr val="000000"/>
                </a:solidFill>
                <a:latin typeface="Aptos"/>
              </a:defRPr>
            </a:lvl1pPr>
          </a:lstStyle>
          <a:p>
            <a:pPr indent="0">
              <a:lnSpc>
                <a:spcPct val="100000"/>
              </a:lnSpc>
              <a:buNone/>
            </a:pPr>
            <a:fld id="{736D545A-A9F7-40F9-A433-E9B191A7A5D0}" type="slidenum">
              <a:rPr lang="en-US" sz="1800" b="0" strike="noStrike" spc="-1">
                <a:solidFill>
                  <a:srgbClr val="000000"/>
                </a:solidFill>
                <a:latin typeface="Aptos"/>
              </a:rPr>
              <a:t>1</a:t>
            </a:fld>
            <a:endParaRPr lang="en-US" sz="1800" b="0" strike="noStrike" spc="-1">
              <a:solidFill>
                <a:srgbClr val="000000"/>
              </a:solidFill>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6" name="PlaceHolder 1"/>
          <p:cNvSpPr>
            <a:spLocks noGrp="1" noRot="1" noChangeAspect="1"/>
          </p:cNvSpPr>
          <p:nvPr>
            <p:ph type="sldImg"/>
          </p:nvPr>
        </p:nvSpPr>
        <p:spPr>
          <a:xfrm>
            <a:off x="685800" y="1143000"/>
            <a:ext cx="5486400" cy="3086100"/>
          </a:xfrm>
          <a:prstGeom prst="rect">
            <a:avLst/>
          </a:prstGeom>
          <a:ln w="0">
            <a:noFill/>
          </a:ln>
        </p:spPr>
      </p:sp>
      <p:sp>
        <p:nvSpPr>
          <p:cNvPr id="407" name="PlaceHolder 2"/>
          <p:cNvSpPr>
            <a:spLocks noGrp="1"/>
          </p:cNvSpPr>
          <p:nvPr>
            <p:ph type="body"/>
          </p:nvPr>
        </p:nvSpPr>
        <p:spPr>
          <a:xfrm>
            <a:off x="685800" y="4400640"/>
            <a:ext cx="5486400" cy="3600360"/>
          </a:xfrm>
          <a:prstGeom prst="rect">
            <a:avLst/>
          </a:prstGeom>
          <a:noFill/>
          <a:ln w="19080">
            <a:noFill/>
          </a:ln>
        </p:spPr>
        <p:txBody>
          <a:bodyPr lIns="91440" tIns="45720" rIns="91440" bIns="45720" anchor="t">
            <a:noAutofit/>
          </a:bodyPr>
          <a:lstStyle/>
          <a:p>
            <a:pPr marL="216000" indent="-216000">
              <a:buNone/>
            </a:pPr>
            <a:endParaRPr lang="en-US" sz="2000" b="0" strike="noStrike" spc="-1">
              <a:solidFill>
                <a:srgbClr val="000000"/>
              </a:solidFill>
              <a:latin typeface="Arial"/>
            </a:endParaRPr>
          </a:p>
        </p:txBody>
      </p:sp>
      <p:sp>
        <p:nvSpPr>
          <p:cNvPr id="408" name="PlaceHolder 3"/>
          <p:cNvSpPr>
            <a:spLocks noGrp="1"/>
          </p:cNvSpPr>
          <p:nvPr>
            <p:ph type="sldNum" idx="42"/>
          </p:nvPr>
        </p:nvSpPr>
        <p:spPr>
          <a:xfrm>
            <a:off x="3884760" y="8685360"/>
            <a:ext cx="2971800" cy="458640"/>
          </a:xfrm>
          <a:prstGeom prst="rect">
            <a:avLst/>
          </a:prstGeom>
          <a:noFill/>
          <a:ln w="19080">
            <a:noFill/>
          </a:ln>
        </p:spPr>
        <p:txBody>
          <a:bodyPr lIns="91440" tIns="45720" rIns="91440" bIns="45720" anchor="b">
            <a:noAutofit/>
          </a:bodyPr>
          <a:lstStyle>
            <a:lvl1pPr indent="0" algn="r">
              <a:lnSpc>
                <a:spcPct val="100000"/>
              </a:lnSpc>
              <a:buNone/>
              <a:defRPr lang="es-ES" sz="1200" b="0" strike="noStrike" spc="-1">
                <a:solidFill>
                  <a:srgbClr val="000000"/>
                </a:solidFill>
                <a:latin typeface="Aptos"/>
              </a:defRPr>
            </a:lvl1pPr>
          </a:lstStyle>
          <a:p>
            <a:pPr indent="0" algn="r">
              <a:lnSpc>
                <a:spcPct val="100000"/>
              </a:lnSpc>
              <a:buNone/>
            </a:pPr>
            <a:fld id="{2A6F08FD-A611-46F0-AEF6-03D0A8ABDF6C}" type="slidenum">
              <a:rPr lang="es-ES" sz="1200" b="0" strike="noStrike" spc="-1">
                <a:solidFill>
                  <a:srgbClr val="000000"/>
                </a:solidFill>
                <a:latin typeface="Aptos"/>
              </a:rPr>
              <a:t>4</a:t>
            </a:fld>
            <a:endParaRPr lang="en-US" sz="1200" b="0" strike="noStrike" spc="-1">
              <a:solidFill>
                <a:srgbClr val="000000"/>
              </a:solidFill>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2F2-2AF6-ACCC-2D48-DA1320756FEB}"/>
            </a:ext>
          </a:extLst>
        </p:cNvPr>
        <p:cNvGrpSpPr/>
        <p:nvPr/>
      </p:nvGrpSpPr>
      <p:grpSpPr>
        <a:xfrm>
          <a:off x="0" y="0"/>
          <a:ext cx="0" cy="0"/>
          <a:chOff x="0" y="0"/>
          <a:chExt cx="0" cy="0"/>
        </a:xfrm>
      </p:grpSpPr>
      <p:sp>
        <p:nvSpPr>
          <p:cNvPr id="406" name="PlaceHolder 1">
            <a:extLst>
              <a:ext uri="{FF2B5EF4-FFF2-40B4-BE49-F238E27FC236}">
                <a16:creationId xmlns:a16="http://schemas.microsoft.com/office/drawing/2014/main" id="{842C1E6E-8067-A65B-8040-2D6AC17A3CC5}"/>
              </a:ext>
            </a:extLst>
          </p:cNvPr>
          <p:cNvSpPr>
            <a:spLocks noGrp="1" noRot="1" noChangeAspect="1"/>
          </p:cNvSpPr>
          <p:nvPr>
            <p:ph type="sldImg"/>
          </p:nvPr>
        </p:nvSpPr>
        <p:spPr>
          <a:xfrm>
            <a:off x="685800" y="1143000"/>
            <a:ext cx="5486400" cy="3086100"/>
          </a:xfrm>
          <a:prstGeom prst="rect">
            <a:avLst/>
          </a:prstGeom>
          <a:ln w="0">
            <a:noFill/>
          </a:ln>
        </p:spPr>
      </p:sp>
      <p:sp>
        <p:nvSpPr>
          <p:cNvPr id="407" name="PlaceHolder 2">
            <a:extLst>
              <a:ext uri="{FF2B5EF4-FFF2-40B4-BE49-F238E27FC236}">
                <a16:creationId xmlns:a16="http://schemas.microsoft.com/office/drawing/2014/main" id="{A78EC2F6-317E-9F20-DFCB-1C571609091E}"/>
              </a:ext>
            </a:extLst>
          </p:cNvPr>
          <p:cNvSpPr>
            <a:spLocks noGrp="1"/>
          </p:cNvSpPr>
          <p:nvPr>
            <p:ph type="body"/>
          </p:nvPr>
        </p:nvSpPr>
        <p:spPr>
          <a:xfrm>
            <a:off x="685800" y="4400640"/>
            <a:ext cx="5486400" cy="3600360"/>
          </a:xfrm>
          <a:prstGeom prst="rect">
            <a:avLst/>
          </a:prstGeom>
          <a:noFill/>
          <a:ln w="19080">
            <a:noFill/>
          </a:ln>
        </p:spPr>
        <p:txBody>
          <a:bodyPr lIns="91440" tIns="45720" rIns="91440" bIns="45720" anchor="t">
            <a:noAutofit/>
          </a:bodyPr>
          <a:lstStyle/>
          <a:p>
            <a:pPr marL="216000" indent="-216000">
              <a:buNone/>
            </a:pPr>
            <a:endParaRPr lang="en-US" sz="2000" b="0" strike="noStrike" spc="-1">
              <a:solidFill>
                <a:srgbClr val="000000"/>
              </a:solidFill>
              <a:latin typeface="Arial"/>
            </a:endParaRPr>
          </a:p>
        </p:txBody>
      </p:sp>
      <p:sp>
        <p:nvSpPr>
          <p:cNvPr id="408" name="PlaceHolder 3">
            <a:extLst>
              <a:ext uri="{FF2B5EF4-FFF2-40B4-BE49-F238E27FC236}">
                <a16:creationId xmlns:a16="http://schemas.microsoft.com/office/drawing/2014/main" id="{56CE2A8F-B0EE-1BFC-0207-2B2820D8DBA5}"/>
              </a:ext>
            </a:extLst>
          </p:cNvPr>
          <p:cNvSpPr>
            <a:spLocks noGrp="1"/>
          </p:cNvSpPr>
          <p:nvPr>
            <p:ph type="sldNum" idx="42"/>
          </p:nvPr>
        </p:nvSpPr>
        <p:spPr>
          <a:xfrm>
            <a:off x="3884760" y="8685360"/>
            <a:ext cx="2971800" cy="458640"/>
          </a:xfrm>
          <a:prstGeom prst="rect">
            <a:avLst/>
          </a:prstGeom>
          <a:noFill/>
          <a:ln w="19080">
            <a:noFill/>
          </a:ln>
        </p:spPr>
        <p:txBody>
          <a:bodyPr lIns="91440" tIns="45720" rIns="91440" bIns="45720" anchor="b">
            <a:noAutofit/>
          </a:bodyPr>
          <a:lstStyle>
            <a:lvl1pPr indent="0" algn="r">
              <a:lnSpc>
                <a:spcPct val="100000"/>
              </a:lnSpc>
              <a:buNone/>
              <a:defRPr lang="es-ES" sz="1200" b="0" strike="noStrike" spc="-1">
                <a:solidFill>
                  <a:srgbClr val="000000"/>
                </a:solidFill>
                <a:latin typeface="Aptos"/>
              </a:defRPr>
            </a:lvl1pPr>
          </a:lstStyle>
          <a:p>
            <a:pPr indent="0" algn="r">
              <a:lnSpc>
                <a:spcPct val="100000"/>
              </a:lnSpc>
              <a:buNone/>
            </a:pPr>
            <a:fld id="{2A6F08FD-A611-46F0-AEF6-03D0A8ABDF6C}" type="slidenum">
              <a:rPr lang="es-ES" sz="1200" b="0" strike="noStrike" spc="-1">
                <a:solidFill>
                  <a:srgbClr val="000000"/>
                </a:solidFill>
                <a:latin typeface="Aptos"/>
              </a:rPr>
              <a:t>5</a:t>
            </a:fld>
            <a:endParaRPr lang="en-US" sz="1200" b="0" strike="noStrike" spc="-1">
              <a:solidFill>
                <a:srgbClr val="000000"/>
              </a:solidFill>
              <a:latin typeface="Times New Roman"/>
            </a:endParaRPr>
          </a:p>
        </p:txBody>
      </p:sp>
    </p:spTree>
    <p:extLst>
      <p:ext uri="{BB962C8B-B14F-4D97-AF65-F5344CB8AC3E}">
        <p14:creationId xmlns:p14="http://schemas.microsoft.com/office/powerpoint/2010/main" val="148150238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p:cNvGrpSpPr/>
        <p:nvPr/>
      </p:nvGrpSpPr>
      <p:grpSpPr>
        <a:xfrm>
          <a:off x="0" y="0"/>
          <a:ext cx="0" cy="0"/>
          <a:chOff x="0" y="0"/>
          <a:chExt cx="0" cy="0"/>
        </a:xfrm>
      </p:grpSpPr>
      <p:sp>
        <p:nvSpPr>
          <p:cNvPr id="406" name="Google Shape;406;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7" name="Google Shape;407;p1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314103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5">
          <a:extLst>
            <a:ext uri="{FF2B5EF4-FFF2-40B4-BE49-F238E27FC236}">
              <a16:creationId xmlns:a16="http://schemas.microsoft.com/office/drawing/2014/main" id="{5BCC4BD7-4F33-E52A-3B97-7F054CE29FB1}"/>
            </a:ext>
          </a:extLst>
        </p:cNvPr>
        <p:cNvGrpSpPr/>
        <p:nvPr/>
      </p:nvGrpSpPr>
      <p:grpSpPr>
        <a:xfrm>
          <a:off x="0" y="0"/>
          <a:ext cx="0" cy="0"/>
          <a:chOff x="0" y="0"/>
          <a:chExt cx="0" cy="0"/>
        </a:xfrm>
      </p:grpSpPr>
      <p:sp>
        <p:nvSpPr>
          <p:cNvPr id="406" name="Google Shape;406;p12:notes">
            <a:extLst>
              <a:ext uri="{FF2B5EF4-FFF2-40B4-BE49-F238E27FC236}">
                <a16:creationId xmlns:a16="http://schemas.microsoft.com/office/drawing/2014/main" id="{561DC09C-DB7C-60AD-39F3-3DF89511DD6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7" name="Google Shape;407;p12:notes">
            <a:extLst>
              <a:ext uri="{FF2B5EF4-FFF2-40B4-BE49-F238E27FC236}">
                <a16:creationId xmlns:a16="http://schemas.microsoft.com/office/drawing/2014/main" id="{0074D757-8616-6B58-18C3-731B91F6A11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243957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8" name="PlaceHolder 1"/>
          <p:cNvSpPr>
            <a:spLocks noGrp="1" noRot="1" noChangeAspect="1"/>
          </p:cNvSpPr>
          <p:nvPr>
            <p:ph type="sldImg"/>
          </p:nvPr>
        </p:nvSpPr>
        <p:spPr>
          <a:xfrm>
            <a:off x="381000" y="685800"/>
            <a:ext cx="6096000" cy="3429000"/>
          </a:xfrm>
          <a:prstGeom prst="rect">
            <a:avLst/>
          </a:prstGeom>
          <a:ln w="0">
            <a:noFill/>
          </a:ln>
        </p:spPr>
      </p:sp>
      <p:sp>
        <p:nvSpPr>
          <p:cNvPr id="419" name="PlaceHolder 2"/>
          <p:cNvSpPr>
            <a:spLocks noGrp="1"/>
          </p:cNvSpPr>
          <p:nvPr>
            <p:ph type="body"/>
          </p:nvPr>
        </p:nvSpPr>
        <p:spPr>
          <a:xfrm>
            <a:off x="685800" y="4343400"/>
            <a:ext cx="5486400" cy="4114800"/>
          </a:xfrm>
          <a:prstGeom prst="rect">
            <a:avLst/>
          </a:prstGeom>
          <a:noFill/>
          <a:ln w="19080">
            <a:noFill/>
          </a:ln>
        </p:spPr>
        <p:txBody>
          <a:bodyPr lIns="91440" tIns="45720" rIns="91440" bIns="45720" anchor="t">
            <a:noAutofit/>
          </a:bodyPr>
          <a:lstStyle/>
          <a:p>
            <a:pPr marL="216000" indent="-216000">
              <a:buNone/>
            </a:pPr>
            <a:endParaRPr lang="en-US" sz="2000" b="0" strike="noStrike" spc="-1">
              <a:solidFill>
                <a:srgbClr val="000000"/>
              </a:solidFill>
              <a:latin typeface="Arial"/>
            </a:endParaRPr>
          </a:p>
        </p:txBody>
      </p:sp>
      <p:sp>
        <p:nvSpPr>
          <p:cNvPr id="420" name="PlaceHolder 3"/>
          <p:cNvSpPr>
            <a:spLocks noGrp="1"/>
          </p:cNvSpPr>
          <p:nvPr>
            <p:ph type="sldNum" idx="46"/>
          </p:nvPr>
        </p:nvSpPr>
        <p:spPr>
          <a:xfrm>
            <a:off x="3884760" y="8685360"/>
            <a:ext cx="2971800" cy="457200"/>
          </a:xfrm>
          <a:prstGeom prst="rect">
            <a:avLst/>
          </a:prstGeom>
          <a:noFill/>
          <a:ln w="19080">
            <a:noFill/>
          </a:ln>
        </p:spPr>
        <p:txBody>
          <a:bodyPr lIns="91440" tIns="45720" rIns="91440" bIns="45720" anchor="b">
            <a:noAutofit/>
          </a:bodyPr>
          <a:lstStyle>
            <a:lvl1pPr indent="0" algn="r">
              <a:lnSpc>
                <a:spcPct val="100000"/>
              </a:lnSpc>
              <a:buNone/>
              <a:defRPr lang="en-US" sz="1200" b="0" strike="noStrike" spc="-1">
                <a:solidFill>
                  <a:srgbClr val="000000"/>
                </a:solidFill>
                <a:latin typeface="Aptos"/>
              </a:defRPr>
            </a:lvl1pPr>
          </a:lstStyle>
          <a:p>
            <a:pPr indent="0" algn="r">
              <a:lnSpc>
                <a:spcPct val="100000"/>
              </a:lnSpc>
              <a:buNone/>
            </a:pPr>
            <a:fld id="{FFD3EBAD-B295-44E7-8BFB-9C6D146078CE}" type="slidenum">
              <a:rPr lang="en-US" sz="1200" b="0" strike="noStrike" spc="-1">
                <a:solidFill>
                  <a:srgbClr val="000000"/>
                </a:solidFill>
                <a:latin typeface="Aptos"/>
              </a:rPr>
              <a:t>13</a:t>
            </a:fld>
            <a:endParaRPr lang="en-US" sz="1200" b="0" strike="noStrike" spc="-1">
              <a:solidFill>
                <a:srgbClr val="000000"/>
              </a:solidFill>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AndTx" preserve="1">
  <p:cSld name="Master1-Layout2-obj-Title-and-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440" cy="1144800"/>
          </a:xfrm>
          <a:prstGeom prst="rect">
            <a:avLst/>
          </a:prstGeom>
          <a:noFill/>
          <a:ln w="1908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22" name="PlaceHolder 2"/>
          <p:cNvSpPr>
            <a:spLocks noGrp="1"/>
          </p:cNvSpPr>
          <p:nvPr>
            <p:ph/>
          </p:nvPr>
        </p:nvSpPr>
        <p:spPr>
          <a:xfrm>
            <a:off x="609480" y="1604520"/>
            <a:ext cx="10972440" cy="397728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23" name="PlaceHolder 3"/>
          <p:cNvSpPr>
            <a:spLocks noGrp="1"/>
          </p:cNvSpPr>
          <p:nvPr>
            <p:ph/>
          </p:nvPr>
        </p:nvSpPr>
        <p:spPr>
          <a:xfrm>
            <a:off x="609480" y="1604520"/>
            <a:ext cx="10972440" cy="397728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5" name="PlaceHolder 4"/>
          <p:cNvSpPr>
            <a:spLocks noGrp="1"/>
          </p:cNvSpPr>
          <p:nvPr>
            <p:ph type="ftr" idx="8"/>
          </p:nvPr>
        </p:nvSpPr>
        <p:spPr/>
        <p:txBody>
          <a:bodyPr/>
          <a:lstStyle/>
          <a:p>
            <a:r>
              <a:t>Footer</a:t>
            </a:r>
          </a:p>
        </p:txBody>
      </p:sp>
      <p:sp>
        <p:nvSpPr>
          <p:cNvPr id="6" name="PlaceHolder 5"/>
          <p:cNvSpPr>
            <a:spLocks noGrp="1"/>
          </p:cNvSpPr>
          <p:nvPr>
            <p:ph type="sldNum" idx="9"/>
          </p:nvPr>
        </p:nvSpPr>
        <p:spPr/>
        <p:txBody>
          <a:bodyPr/>
          <a:lstStyle/>
          <a:p>
            <a:fld id="{EF404290-B6B9-41D9-81B6-24E6911FE217}" type="slidenum">
              <a:t>‹Nº›</a:t>
            </a:fld>
            <a:endParaRPr/>
          </a:p>
        </p:txBody>
      </p:sp>
      <p:sp>
        <p:nvSpPr>
          <p:cNvPr id="7" name="PlaceHolder 6"/>
          <p:cNvSpPr>
            <a:spLocks noGrp="1"/>
          </p:cNvSpPr>
          <p:nvPr>
            <p:ph type="dt" idx="7"/>
          </p:nvPr>
        </p:nvSpPr>
        <p:spPr/>
        <p:txBody>
          <a:body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fourObj" preserve="1">
  <p:cSld name="Master1-Layout2-obj-Title-and-Content">
    <p:spTree>
      <p:nvGrpSpPr>
        <p:cNvPr id="1" name=""/>
        <p:cNvGrpSpPr/>
        <p:nvPr/>
      </p:nvGrpSpPr>
      <p:grpSpPr>
        <a:xfrm>
          <a:off x="0" y="0"/>
          <a:ext cx="0" cy="0"/>
          <a:chOff x="0" y="0"/>
          <a:chExt cx="0" cy="0"/>
        </a:xfrm>
      </p:grpSpPr>
      <p:sp>
        <p:nvSpPr>
          <p:cNvPr id="24" name="PlaceHolder 1"/>
          <p:cNvSpPr>
            <a:spLocks noGrp="1"/>
          </p:cNvSpPr>
          <p:nvPr>
            <p:ph type="title"/>
          </p:nvPr>
        </p:nvSpPr>
        <p:spPr>
          <a:xfrm>
            <a:off x="609480" y="273600"/>
            <a:ext cx="10972440" cy="1144800"/>
          </a:xfrm>
          <a:prstGeom prst="rect">
            <a:avLst/>
          </a:prstGeom>
          <a:noFill/>
          <a:ln w="1908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25" name="PlaceHolder 2"/>
          <p:cNvSpPr>
            <a:spLocks noGrp="1"/>
          </p:cNvSpPr>
          <p:nvPr>
            <p:ph/>
          </p:nvPr>
        </p:nvSpPr>
        <p:spPr>
          <a:xfrm>
            <a:off x="609480" y="1604520"/>
            <a:ext cx="5354280" cy="189684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26" name="PlaceHolder 3"/>
          <p:cNvSpPr>
            <a:spLocks noGrp="1"/>
          </p:cNvSpPr>
          <p:nvPr>
            <p:ph/>
          </p:nvPr>
        </p:nvSpPr>
        <p:spPr>
          <a:xfrm>
            <a:off x="6231960" y="1604520"/>
            <a:ext cx="5354280" cy="189684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27" name="PlaceHolder 4"/>
          <p:cNvSpPr>
            <a:spLocks noGrp="1"/>
          </p:cNvSpPr>
          <p:nvPr>
            <p:ph/>
          </p:nvPr>
        </p:nvSpPr>
        <p:spPr>
          <a:xfrm>
            <a:off x="609480" y="3682080"/>
            <a:ext cx="5354280" cy="189684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28" name="PlaceHolder 5"/>
          <p:cNvSpPr>
            <a:spLocks noGrp="1"/>
          </p:cNvSpPr>
          <p:nvPr>
            <p:ph/>
          </p:nvPr>
        </p:nvSpPr>
        <p:spPr>
          <a:xfrm>
            <a:off x="6231960" y="3682080"/>
            <a:ext cx="5354280" cy="189684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7" name="PlaceHolder 6"/>
          <p:cNvSpPr>
            <a:spLocks noGrp="1"/>
          </p:cNvSpPr>
          <p:nvPr>
            <p:ph type="ftr" idx="8"/>
          </p:nvPr>
        </p:nvSpPr>
        <p:spPr/>
        <p:txBody>
          <a:bodyPr/>
          <a:lstStyle/>
          <a:p>
            <a:r>
              <a:t>Footer</a:t>
            </a:r>
          </a:p>
        </p:txBody>
      </p:sp>
      <p:sp>
        <p:nvSpPr>
          <p:cNvPr id="8" name="PlaceHolder 7"/>
          <p:cNvSpPr>
            <a:spLocks noGrp="1"/>
          </p:cNvSpPr>
          <p:nvPr>
            <p:ph type="sldNum" idx="9"/>
          </p:nvPr>
        </p:nvSpPr>
        <p:spPr/>
        <p:txBody>
          <a:bodyPr/>
          <a:lstStyle/>
          <a:p>
            <a:fld id="{BD72A98E-BCC9-4526-80D8-E55D5CCC0A27}" type="slidenum">
              <a:t>‹Nº›</a:t>
            </a:fld>
            <a:endParaRPr/>
          </a:p>
        </p:txBody>
      </p:sp>
      <p:sp>
        <p:nvSpPr>
          <p:cNvPr id="9" name="PlaceHolder 8"/>
          <p:cNvSpPr>
            <a:spLocks noGrp="1"/>
          </p:cNvSpPr>
          <p:nvPr>
            <p:ph type="dt" idx="7"/>
          </p:nvPr>
        </p:nvSpPr>
        <p:spPr/>
        <p:txBody>
          <a:body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AndTx" preserve="1">
  <p:cSld name="Master1-Layout7-blank-Blank">
    <p:spTree>
      <p:nvGrpSpPr>
        <p:cNvPr id="1" name=""/>
        <p:cNvGrpSpPr/>
        <p:nvPr/>
      </p:nvGrpSpPr>
      <p:grpSpPr>
        <a:xfrm>
          <a:off x="0" y="0"/>
          <a:ext cx="0" cy="0"/>
          <a:chOff x="0" y="0"/>
          <a:chExt cx="0" cy="0"/>
        </a:xfrm>
      </p:grpSpPr>
      <p:sp>
        <p:nvSpPr>
          <p:cNvPr id="69" name="PlaceHolder 1"/>
          <p:cNvSpPr>
            <a:spLocks noGrp="1"/>
          </p:cNvSpPr>
          <p:nvPr>
            <p:ph type="title"/>
          </p:nvPr>
        </p:nvSpPr>
        <p:spPr>
          <a:xfrm>
            <a:off x="609480" y="273600"/>
            <a:ext cx="10972440" cy="1144800"/>
          </a:xfrm>
          <a:prstGeom prst="rect">
            <a:avLst/>
          </a:prstGeom>
          <a:noFill/>
          <a:ln w="19080">
            <a:noFill/>
          </a:ln>
        </p:spPr>
        <p:txBody>
          <a:bodyPr lIns="0" tIns="0" rIns="0" bIns="0" anchor="ctr">
            <a:noAutofit/>
          </a:bodyPr>
          <a:lstStyle/>
          <a:p>
            <a:pPr indent="0" algn="ctr">
              <a:buNone/>
            </a:pPr>
            <a:endParaRPr lang="en-US" sz="4400" b="0" strike="noStrike" spc="-1">
              <a:solidFill>
                <a:srgbClr val="000000"/>
              </a:solidFill>
              <a:latin typeface="Arial"/>
            </a:endParaRPr>
          </a:p>
        </p:txBody>
      </p:sp>
      <p:sp>
        <p:nvSpPr>
          <p:cNvPr id="70" name="PlaceHolder 2"/>
          <p:cNvSpPr>
            <a:spLocks noGrp="1"/>
          </p:cNvSpPr>
          <p:nvPr>
            <p:ph/>
          </p:nvPr>
        </p:nvSpPr>
        <p:spPr>
          <a:xfrm>
            <a:off x="609480" y="1604520"/>
            <a:ext cx="10972440" cy="397728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71" name="PlaceHolder 3"/>
          <p:cNvSpPr>
            <a:spLocks noGrp="1"/>
          </p:cNvSpPr>
          <p:nvPr>
            <p:ph/>
          </p:nvPr>
        </p:nvSpPr>
        <p:spPr>
          <a:xfrm>
            <a:off x="609480" y="1604520"/>
            <a:ext cx="10972440" cy="3977280"/>
          </a:xfrm>
          <a:prstGeom prst="rect">
            <a:avLst/>
          </a:prstGeom>
          <a:noFill/>
          <a:ln w="19080">
            <a:noFill/>
          </a:ln>
        </p:spPr>
        <p:txBody>
          <a:bodyPr lIns="0" tIns="0" rIns="0" bIns="0" anchor="t">
            <a:normAutofit/>
          </a:bodyPr>
          <a:lstStyle/>
          <a:p>
            <a:pPr indent="0">
              <a:spcBef>
                <a:spcPts val="1417"/>
              </a:spcBef>
              <a:buNone/>
            </a:pPr>
            <a:endParaRPr lang="en-US" sz="3200" b="0" strike="noStrike" spc="-1">
              <a:solidFill>
                <a:srgbClr val="000000"/>
              </a:solidFill>
              <a:latin typeface="Arial"/>
            </a:endParaRPr>
          </a:p>
        </p:txBody>
      </p:sp>
      <p:sp>
        <p:nvSpPr>
          <p:cNvPr id="5" name="PlaceHolder 4"/>
          <p:cNvSpPr>
            <a:spLocks noGrp="1"/>
          </p:cNvSpPr>
          <p:nvPr>
            <p:ph type="ftr" idx="23"/>
          </p:nvPr>
        </p:nvSpPr>
        <p:spPr/>
        <p:txBody>
          <a:bodyPr/>
          <a:lstStyle/>
          <a:p>
            <a:r>
              <a:t>Footer</a:t>
            </a:r>
          </a:p>
        </p:txBody>
      </p:sp>
      <p:sp>
        <p:nvSpPr>
          <p:cNvPr id="6" name="PlaceHolder 5"/>
          <p:cNvSpPr>
            <a:spLocks noGrp="1"/>
          </p:cNvSpPr>
          <p:nvPr>
            <p:ph type="sldNum" idx="24"/>
          </p:nvPr>
        </p:nvSpPr>
        <p:spPr/>
        <p:txBody>
          <a:bodyPr/>
          <a:lstStyle/>
          <a:p>
            <a:fld id="{2833B95D-D551-45A6-AAB1-30135C0AA880}" type="slidenum">
              <a:t>‹Nº›</a:t>
            </a:fld>
            <a:endParaRPr/>
          </a:p>
        </p:txBody>
      </p:sp>
      <p:sp>
        <p:nvSpPr>
          <p:cNvPr id="7" name="PlaceHolder 6"/>
          <p:cNvSpPr>
            <a:spLocks noGrp="1"/>
          </p:cNvSpPr>
          <p:nvPr>
            <p:ph type="dt" idx="22"/>
          </p:nvPr>
        </p:nvSpPr>
        <p:spPr/>
        <p:txBody>
          <a:body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F10FCE-B642-DCA5-E443-0135756F45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0739EE-FCCD-66F8-5E13-E5AC92C355C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31720A1-ABCB-7468-67E9-5C2C95BBA744}"/>
              </a:ext>
            </a:extLst>
          </p:cNvPr>
          <p:cNvSpPr>
            <a:spLocks noGrp="1"/>
          </p:cNvSpPr>
          <p:nvPr>
            <p:ph type="dt" sz="half" idx="10"/>
          </p:nvPr>
        </p:nvSpPr>
        <p:spPr/>
        <p:txBody>
          <a:bodyPr/>
          <a:lstStyle/>
          <a:p>
            <a:fld id="{3FBD61EB-5A7B-4708-974D-EE3EF63D636B}" type="datetimeFigureOut">
              <a:rPr lang="en-US" smtClean="0"/>
              <a:t>9/15/2026</a:t>
            </a:fld>
            <a:endParaRPr lang="en-US"/>
          </a:p>
        </p:txBody>
      </p:sp>
      <p:sp>
        <p:nvSpPr>
          <p:cNvPr id="5" name="Footer Placeholder 4">
            <a:extLst>
              <a:ext uri="{FF2B5EF4-FFF2-40B4-BE49-F238E27FC236}">
                <a16:creationId xmlns:a16="http://schemas.microsoft.com/office/drawing/2014/main" id="{AE9ED41B-4320-E08D-2615-A4FA9D56F18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916AA9-EE31-99F6-B6EB-620A87A78C70}"/>
              </a:ext>
            </a:extLst>
          </p:cNvPr>
          <p:cNvSpPr>
            <a:spLocks noGrp="1"/>
          </p:cNvSpPr>
          <p:nvPr>
            <p:ph type="sldNum" sz="quarter" idx="12"/>
          </p:nvPr>
        </p:nvSpPr>
        <p:spPr/>
        <p:txBody>
          <a:bodyPr/>
          <a:lstStyle/>
          <a:p>
            <a:fld id="{4F0A69C1-7F97-48C1-ABE8-438D969A05F2}" type="slidenum">
              <a:rPr lang="en-US" smtClean="0"/>
              <a:t>‹Nº›</a:t>
            </a:fld>
            <a:endParaRPr lang="en-US"/>
          </a:p>
        </p:txBody>
      </p:sp>
    </p:spTree>
    <p:extLst>
      <p:ext uri="{BB962C8B-B14F-4D97-AF65-F5344CB8AC3E}">
        <p14:creationId xmlns:p14="http://schemas.microsoft.com/office/powerpoint/2010/main" val="22709771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8FCAB59-6264-F16D-0318-8CEF5A101630}"/>
              </a:ext>
            </a:extLst>
          </p:cNvPr>
          <p:cNvSpPr>
            <a:spLocks noGrp="1"/>
          </p:cNvSpPr>
          <p:nvPr>
            <p:ph type="dt" sz="half" idx="10"/>
          </p:nvPr>
        </p:nvSpPr>
        <p:spPr/>
        <p:txBody>
          <a:bodyPr/>
          <a:lstStyle/>
          <a:p>
            <a:fld id="{3FBD61EB-5A7B-4708-974D-EE3EF63D636B}" type="datetimeFigureOut">
              <a:rPr lang="en-US" smtClean="0"/>
              <a:t>9/15/2026</a:t>
            </a:fld>
            <a:endParaRPr lang="en-US"/>
          </a:p>
        </p:txBody>
      </p:sp>
      <p:sp>
        <p:nvSpPr>
          <p:cNvPr id="3" name="Footer Placeholder 2">
            <a:extLst>
              <a:ext uri="{FF2B5EF4-FFF2-40B4-BE49-F238E27FC236}">
                <a16:creationId xmlns:a16="http://schemas.microsoft.com/office/drawing/2014/main" id="{362C43E2-A457-96D4-87BE-378D364D6568}"/>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18288F0-55D3-C7E6-8E9B-7A1A09728C66}"/>
              </a:ext>
            </a:extLst>
          </p:cNvPr>
          <p:cNvSpPr>
            <a:spLocks noGrp="1"/>
          </p:cNvSpPr>
          <p:nvPr>
            <p:ph type="sldNum" sz="quarter" idx="12"/>
          </p:nvPr>
        </p:nvSpPr>
        <p:spPr/>
        <p:txBody>
          <a:bodyPr/>
          <a:lstStyle/>
          <a:p>
            <a:fld id="{4F0A69C1-7F97-48C1-ABE8-438D969A05F2}" type="slidenum">
              <a:rPr lang="en-US" smtClean="0"/>
              <a:t>‹Nº›</a:t>
            </a:fld>
            <a:endParaRPr lang="en-US"/>
          </a:p>
        </p:txBody>
      </p:sp>
    </p:spTree>
    <p:extLst>
      <p:ext uri="{BB962C8B-B14F-4D97-AF65-F5344CB8AC3E}">
        <p14:creationId xmlns:p14="http://schemas.microsoft.com/office/powerpoint/2010/main" val="1496527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Master1-Layout12-cust-2_Custom-Layout">
    <p:spTree>
      <p:nvGrpSpPr>
        <p:cNvPr id="1" name=""/>
        <p:cNvGrpSpPr/>
        <p:nvPr/>
      </p:nvGrpSpPr>
      <p:grpSpPr>
        <a:xfrm>
          <a:off x="0" y="0"/>
          <a:ext cx="0" cy="0"/>
          <a:chOff x="0" y="0"/>
          <a:chExt cx="0" cy="0"/>
        </a:xfrm>
      </p:grpSpPr>
      <p:sp>
        <p:nvSpPr>
          <p:cNvPr id="100" name="PlaceHolder 1"/>
          <p:cNvSpPr>
            <a:spLocks noGrp="1"/>
          </p:cNvSpPr>
          <p:nvPr>
            <p:ph type="title"/>
          </p:nvPr>
        </p:nvSpPr>
        <p:spPr>
          <a:xfrm>
            <a:off x="609480" y="273600"/>
            <a:ext cx="10972440" cy="1144800"/>
          </a:xfrm>
          <a:prstGeom prst="rect">
            <a:avLst/>
          </a:prstGeom>
          <a:noFill/>
          <a:ln w="19080">
            <a:noFill/>
          </a:ln>
        </p:spPr>
        <p:txBody>
          <a:bodyPr lIns="0" tIns="0" rIns="0" bIns="0" anchor="ctr">
            <a:noAutofit/>
          </a:bodyPr>
          <a:lstStyle/>
          <a:p>
            <a:pPr indent="0" algn="ctr">
              <a:buNone/>
            </a:pPr>
            <a:endParaRPr lang="en-US" sz="4400" b="0" strike="noStrike" spc="-1">
              <a:solidFill>
                <a:srgbClr val="000000"/>
              </a:solidFill>
              <a:latin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Master2-Layout1-cust-DEFAULT">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slideLayout" Target="../slideLayouts/slideLayout4.xml"/><Relationship Id="rId1" Type="http://schemas.openxmlformats.org/officeDocument/2006/relationships/slideLayout" Target="../slideLayouts/slideLayout3.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2" Type="http://schemas.openxmlformats.org/officeDocument/2006/relationships/theme" Target="../theme/theme3.xml"/><Relationship Id="rId1" Type="http://schemas.openxmlformats.org/officeDocument/2006/relationships/slideLayout" Target="../slideLayouts/slideLayout6.xml"/></Relationships>
</file>

<file path=ppt/slideMasters/_rels/slideMaster4.xml.rels><?xml version="1.0" encoding="UTF-8" standalone="yes"?>
<Relationships xmlns="http://schemas.openxmlformats.org/package/2006/relationships"><Relationship Id="rId2" Type="http://schemas.openxmlformats.org/officeDocument/2006/relationships/theme" Target="../theme/theme4.xml"/><Relationship Id="rId1" Type="http://schemas.openxmlformats.org/officeDocument/2006/relationships/slideLayout" Target="../slideLayouts/slideLayout7.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838080" y="365040"/>
            <a:ext cx="10515600" cy="1325520"/>
          </a:xfrm>
          <a:prstGeom prst="rect">
            <a:avLst/>
          </a:prstGeom>
          <a:noFill/>
          <a:ln w="19080">
            <a:noFill/>
          </a:ln>
        </p:spPr>
        <p:txBody>
          <a:bodyPr lIns="91440" tIns="45720" rIns="91440" bIns="45720" anchor="ctr">
            <a:normAutofit/>
          </a:bodyPr>
          <a:lstStyle/>
          <a:p>
            <a:pPr indent="0">
              <a:lnSpc>
                <a:spcPct val="90000"/>
              </a:lnSpc>
              <a:buNone/>
            </a:pPr>
            <a:r>
              <a:rPr lang="en-US" sz="4400" b="0" strike="noStrike" spc="-1">
                <a:solidFill>
                  <a:srgbClr val="202031"/>
                </a:solidFill>
                <a:latin typeface="Aptos Display"/>
              </a:rPr>
              <a:t>Click to edit Master title style</a:t>
            </a:r>
            <a:endParaRPr lang="en-US" sz="4400" b="0" strike="noStrike" spc="-1">
              <a:solidFill>
                <a:srgbClr val="000000"/>
              </a:solidFill>
              <a:latin typeface="Arial"/>
            </a:endParaRPr>
          </a:p>
        </p:txBody>
      </p:sp>
      <p:sp>
        <p:nvSpPr>
          <p:cNvPr id="16" name="PlaceHolder 2"/>
          <p:cNvSpPr>
            <a:spLocks noGrp="1"/>
          </p:cNvSpPr>
          <p:nvPr>
            <p:ph type="title"/>
          </p:nvPr>
        </p:nvSpPr>
        <p:spPr>
          <a:xfrm>
            <a:off x="838080" y="1825560"/>
            <a:ext cx="10515600" cy="4351320"/>
          </a:xfrm>
          <a:prstGeom prst="rect">
            <a:avLst/>
          </a:prstGeom>
          <a:noFill/>
          <a:ln w="19080">
            <a:noFill/>
          </a:ln>
        </p:spPr>
        <p:txBody>
          <a:bodyPr lIns="91440" tIns="45720" rIns="91440" bIns="45720" anchor="t">
            <a:normAutofit/>
          </a:bodyPr>
          <a:lstStyle/>
          <a:p>
            <a:pPr marL="228600" indent="-228600">
              <a:lnSpc>
                <a:spcPct val="90000"/>
              </a:lnSpc>
              <a:spcBef>
                <a:spcPts val="1001"/>
              </a:spcBef>
              <a:buClr>
                <a:srgbClr val="000000"/>
              </a:buClr>
              <a:buFont typeface="Arial"/>
              <a:buChar char="•"/>
            </a:pPr>
            <a:r>
              <a:rPr lang="en-US" sz="2800" b="0" strike="noStrike" spc="-1">
                <a:solidFill>
                  <a:srgbClr val="202031"/>
                </a:solidFill>
                <a:latin typeface="Aptos"/>
              </a:rPr>
              <a:t>Click to edit Master text styles</a:t>
            </a:r>
            <a:endParaRPr lang="en-US" sz="2800" b="0" strike="noStrike" spc="-1">
              <a:solidFill>
                <a:srgbClr val="000000"/>
              </a:solidFill>
              <a:latin typeface="Arial"/>
            </a:endParaRPr>
          </a:p>
          <a:p>
            <a:pPr marL="685800" lvl="1" indent="-228600">
              <a:lnSpc>
                <a:spcPct val="90000"/>
              </a:lnSpc>
              <a:spcBef>
                <a:spcPts val="499"/>
              </a:spcBef>
              <a:buClr>
                <a:srgbClr val="000000"/>
              </a:buClr>
              <a:buFont typeface="Arial"/>
              <a:buChar char="•"/>
            </a:pPr>
            <a:r>
              <a:rPr lang="en-US" sz="2400" b="0" strike="noStrike" spc="-1">
                <a:solidFill>
                  <a:srgbClr val="202031"/>
                </a:solidFill>
                <a:latin typeface="Aptos"/>
              </a:rPr>
              <a:t>Second level</a:t>
            </a:r>
            <a:endParaRPr lang="en-US" sz="2400" b="0" strike="noStrike" spc="-1">
              <a:solidFill>
                <a:srgbClr val="000000"/>
              </a:solidFill>
              <a:latin typeface="Arial"/>
            </a:endParaRPr>
          </a:p>
          <a:p>
            <a:pPr marL="1143000" lvl="2" indent="-228600">
              <a:lnSpc>
                <a:spcPct val="90000"/>
              </a:lnSpc>
              <a:spcBef>
                <a:spcPts val="499"/>
              </a:spcBef>
              <a:buClr>
                <a:srgbClr val="000000"/>
              </a:buClr>
              <a:buFont typeface="Arial"/>
              <a:buChar char="•"/>
            </a:pPr>
            <a:r>
              <a:rPr lang="en-US" sz="2000" b="0" strike="noStrike" spc="-1">
                <a:solidFill>
                  <a:srgbClr val="202031"/>
                </a:solidFill>
                <a:latin typeface="Aptos"/>
              </a:rPr>
              <a:t>Third level</a:t>
            </a:r>
            <a:endParaRPr lang="en-US" sz="2000" b="0" strike="noStrike" spc="-1">
              <a:solidFill>
                <a:srgbClr val="000000"/>
              </a:solidFill>
              <a:latin typeface="Arial"/>
            </a:endParaRPr>
          </a:p>
          <a:p>
            <a:pPr marL="1600200" lvl="3" indent="-228600">
              <a:lnSpc>
                <a:spcPct val="90000"/>
              </a:lnSpc>
              <a:spcBef>
                <a:spcPts val="499"/>
              </a:spcBef>
              <a:buClr>
                <a:srgbClr val="000000"/>
              </a:buClr>
              <a:buFont typeface="Arial"/>
              <a:buChar char="•"/>
            </a:pPr>
            <a:r>
              <a:rPr lang="en-US" sz="1800" b="0" strike="noStrike" spc="-1">
                <a:solidFill>
                  <a:srgbClr val="202031"/>
                </a:solidFill>
                <a:latin typeface="Aptos"/>
              </a:rPr>
              <a:t>Fourth level</a:t>
            </a:r>
            <a:endParaRPr lang="en-US" sz="1800" b="0" strike="noStrike" spc="-1">
              <a:solidFill>
                <a:srgbClr val="000000"/>
              </a:solidFill>
              <a:latin typeface="Arial"/>
            </a:endParaRPr>
          </a:p>
          <a:p>
            <a:pPr marL="2057400" lvl="4" indent="-228600">
              <a:lnSpc>
                <a:spcPct val="90000"/>
              </a:lnSpc>
              <a:spcBef>
                <a:spcPts val="499"/>
              </a:spcBef>
              <a:buClr>
                <a:srgbClr val="000000"/>
              </a:buClr>
              <a:buFont typeface="Arial"/>
              <a:buChar char="•"/>
            </a:pPr>
            <a:r>
              <a:rPr lang="en-US" sz="1800" b="0" strike="noStrike" spc="-1">
                <a:solidFill>
                  <a:srgbClr val="202031"/>
                </a:solidFill>
                <a:latin typeface="Aptos"/>
              </a:rPr>
              <a:t>Fifth level</a:t>
            </a:r>
            <a:endParaRPr lang="en-US" sz="1800" b="0" strike="noStrike" spc="-1">
              <a:solidFill>
                <a:srgbClr val="000000"/>
              </a:solidFill>
              <a:latin typeface="Arial"/>
            </a:endParaRPr>
          </a:p>
        </p:txBody>
      </p:sp>
      <p:sp>
        <p:nvSpPr>
          <p:cNvPr id="17" name="PlaceHolder 3"/>
          <p:cNvSpPr>
            <a:spLocks noGrp="1"/>
          </p:cNvSpPr>
          <p:nvPr>
            <p:ph type="dt" idx="7"/>
          </p:nvPr>
        </p:nvSpPr>
        <p:spPr>
          <a:xfrm>
            <a:off x="838080" y="6356520"/>
            <a:ext cx="2743200" cy="365040"/>
          </a:xfrm>
          <a:prstGeom prst="rect">
            <a:avLst/>
          </a:prstGeom>
          <a:noFill/>
          <a:ln w="19080">
            <a:noFill/>
          </a:ln>
        </p:spPr>
        <p:txBody>
          <a:bodyPr lIns="91440" tIns="45720" rIns="91440" bIns="45720" anchor="ctr">
            <a:noAutofit/>
          </a:bodyPr>
          <a:lstStyle>
            <a:lvl1pPr indent="0">
              <a:lnSpc>
                <a:spcPct val="100000"/>
              </a:lnSpc>
              <a:buNone/>
              <a:defRPr lang="en-US" sz="1200" b="0" strike="noStrike" spc="-1">
                <a:solidFill>
                  <a:srgbClr val="79797D"/>
                </a:solidFill>
                <a:latin typeface="Aptos"/>
              </a:defRPr>
            </a:lvl1pPr>
          </a:lstStyle>
          <a:p>
            <a:pPr indent="0">
              <a:lnSpc>
                <a:spcPct val="100000"/>
              </a:lnSpc>
              <a:buNone/>
            </a:pPr>
            <a:fld id="{7E41AAD4-EE12-4981-992C-D4E5EC5AA9F1}" type="datetime">
              <a:rPr lang="en-US" sz="1200" b="0" strike="noStrike" spc="-1">
                <a:solidFill>
                  <a:srgbClr val="79797D"/>
                </a:solidFill>
                <a:latin typeface="Aptos"/>
              </a:rPr>
              <a:t>9/15/2026</a:t>
            </a:fld>
            <a:endParaRPr lang="en-US" sz="1200" b="0" strike="noStrike" spc="-1">
              <a:solidFill>
                <a:srgbClr val="000000"/>
              </a:solidFill>
              <a:latin typeface="Times New Roman"/>
            </a:endParaRPr>
          </a:p>
        </p:txBody>
      </p:sp>
      <p:sp>
        <p:nvSpPr>
          <p:cNvPr id="18" name="PlaceHolder 4"/>
          <p:cNvSpPr>
            <a:spLocks noGrp="1"/>
          </p:cNvSpPr>
          <p:nvPr>
            <p:ph type="ftr" idx="8"/>
          </p:nvPr>
        </p:nvSpPr>
        <p:spPr>
          <a:xfrm>
            <a:off x="4038480" y="6356520"/>
            <a:ext cx="4114800" cy="365040"/>
          </a:xfrm>
          <a:prstGeom prst="rect">
            <a:avLst/>
          </a:prstGeom>
          <a:noFill/>
          <a:ln w="19080">
            <a:noFill/>
          </a:ln>
        </p:spPr>
        <p:txBody>
          <a:bodyPr lIns="91440" tIns="45720" rIns="91440" bIns="45720" anchor="ctr" anchorCtr="1">
            <a:noAutofit/>
          </a:bodyPr>
          <a:lstStyle/>
          <a:p>
            <a:pPr indent="0">
              <a:buNone/>
            </a:pPr>
            <a:endParaRPr lang="en-US" sz="2400" b="0" strike="noStrike" spc="-1">
              <a:solidFill>
                <a:srgbClr val="000000"/>
              </a:solidFill>
              <a:latin typeface="Times New Roman"/>
            </a:endParaRPr>
          </a:p>
        </p:txBody>
      </p:sp>
      <p:sp>
        <p:nvSpPr>
          <p:cNvPr id="19" name="PlaceHolder 5"/>
          <p:cNvSpPr>
            <a:spLocks noGrp="1"/>
          </p:cNvSpPr>
          <p:nvPr>
            <p:ph type="sldNum" idx="9"/>
          </p:nvPr>
        </p:nvSpPr>
        <p:spPr>
          <a:xfrm>
            <a:off x="8610480" y="6356520"/>
            <a:ext cx="2743200" cy="365040"/>
          </a:xfrm>
          <a:prstGeom prst="rect">
            <a:avLst/>
          </a:prstGeom>
          <a:noFill/>
          <a:ln w="19080">
            <a:noFill/>
          </a:ln>
        </p:spPr>
        <p:txBody>
          <a:bodyPr lIns="91440" tIns="45720" rIns="91440" bIns="45720" anchor="ctr">
            <a:noAutofit/>
          </a:bodyPr>
          <a:lstStyle>
            <a:lvl1pPr indent="0" algn="r">
              <a:lnSpc>
                <a:spcPct val="100000"/>
              </a:lnSpc>
              <a:buNone/>
              <a:defRPr lang="en-US" sz="1200" b="0" strike="noStrike" spc="-1">
                <a:solidFill>
                  <a:srgbClr val="79797D"/>
                </a:solidFill>
                <a:latin typeface="Aptos"/>
              </a:defRPr>
            </a:lvl1pPr>
          </a:lstStyle>
          <a:p>
            <a:pPr indent="0" algn="r">
              <a:lnSpc>
                <a:spcPct val="100000"/>
              </a:lnSpc>
              <a:buNone/>
            </a:pPr>
            <a:fld id="{0D30D539-8ADE-40C2-BA85-F284454E514D}" type="slidenum">
              <a:rPr lang="en-US" sz="1200" b="0" strike="noStrike" spc="-1">
                <a:solidFill>
                  <a:srgbClr val="79797D"/>
                </a:solidFill>
                <a:latin typeface="Aptos"/>
              </a:rPr>
              <a:t>‹Nº›</a:t>
            </a:fld>
            <a:endParaRPr lang="en-US" sz="1200" b="0" strike="noStrike" spc="-1">
              <a:solidFill>
                <a:srgbClr val="000000"/>
              </a:solidFill>
              <a:latin typeface="Times New Roman"/>
            </a:endParaRPr>
          </a:p>
        </p:txBody>
      </p:sp>
      <p:sp>
        <p:nvSpPr>
          <p:cNvPr id="20" name="PlaceHolder 6"/>
          <p:cNvSpPr>
            <a:spLocks noGrp="1"/>
          </p:cNvSpPr>
          <p:nvPr>
            <p:ph type="body"/>
          </p:nvPr>
        </p:nvSpPr>
        <p:spPr>
          <a:xfrm>
            <a:off x="609480" y="1604520"/>
            <a:ext cx="10972440" cy="3977280"/>
          </a:xfrm>
          <a:prstGeom prst="rect">
            <a:avLst/>
          </a:prstGeom>
          <a:noFill/>
          <a:ln w="1908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53" r:id="rId1"/>
    <p:sldLayoutId id="2147483654"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4" name="PlaceHolder 1"/>
          <p:cNvSpPr>
            <a:spLocks noGrp="1"/>
          </p:cNvSpPr>
          <p:nvPr>
            <p:ph type="dt" idx="22"/>
          </p:nvPr>
        </p:nvSpPr>
        <p:spPr>
          <a:xfrm>
            <a:off x="838080" y="6356520"/>
            <a:ext cx="2743200" cy="365040"/>
          </a:xfrm>
          <a:prstGeom prst="rect">
            <a:avLst/>
          </a:prstGeom>
          <a:noFill/>
          <a:ln w="19080">
            <a:noFill/>
          </a:ln>
        </p:spPr>
        <p:txBody>
          <a:bodyPr lIns="91440" tIns="45720" rIns="91440" bIns="45720" anchor="ctr">
            <a:noAutofit/>
          </a:bodyPr>
          <a:lstStyle>
            <a:lvl1pPr indent="0">
              <a:lnSpc>
                <a:spcPct val="100000"/>
              </a:lnSpc>
              <a:buNone/>
              <a:defRPr lang="en-US" sz="1200" b="0" strike="noStrike" spc="-1">
                <a:solidFill>
                  <a:srgbClr val="79797D"/>
                </a:solidFill>
                <a:latin typeface="Aptos"/>
              </a:defRPr>
            </a:lvl1pPr>
          </a:lstStyle>
          <a:p>
            <a:pPr indent="0">
              <a:lnSpc>
                <a:spcPct val="100000"/>
              </a:lnSpc>
              <a:buNone/>
            </a:pPr>
            <a:fld id="{90869E92-2FB6-488E-970B-62F57DCC6423}" type="datetime">
              <a:rPr lang="en-US" sz="1200" b="0" strike="noStrike" spc="-1">
                <a:solidFill>
                  <a:srgbClr val="79797D"/>
                </a:solidFill>
                <a:latin typeface="Aptos"/>
              </a:rPr>
              <a:t>9/15/2026</a:t>
            </a:fld>
            <a:endParaRPr lang="en-US" sz="1200" b="0" strike="noStrike" spc="-1">
              <a:solidFill>
                <a:srgbClr val="000000"/>
              </a:solidFill>
              <a:latin typeface="Times New Roman"/>
            </a:endParaRPr>
          </a:p>
        </p:txBody>
      </p:sp>
      <p:sp>
        <p:nvSpPr>
          <p:cNvPr id="65" name="PlaceHolder 2"/>
          <p:cNvSpPr>
            <a:spLocks noGrp="1"/>
          </p:cNvSpPr>
          <p:nvPr>
            <p:ph type="ftr" idx="23"/>
          </p:nvPr>
        </p:nvSpPr>
        <p:spPr>
          <a:xfrm>
            <a:off x="4038480" y="6356520"/>
            <a:ext cx="4114800" cy="365040"/>
          </a:xfrm>
          <a:prstGeom prst="rect">
            <a:avLst/>
          </a:prstGeom>
          <a:noFill/>
          <a:ln w="19080">
            <a:noFill/>
          </a:ln>
        </p:spPr>
        <p:txBody>
          <a:bodyPr lIns="91440" tIns="45720" rIns="91440" bIns="45720" anchor="ctr" anchorCtr="1">
            <a:noAutofit/>
          </a:bodyPr>
          <a:lstStyle/>
          <a:p>
            <a:pPr indent="0">
              <a:buNone/>
            </a:pPr>
            <a:endParaRPr lang="en-US" sz="2400" b="0" strike="noStrike" spc="-1">
              <a:solidFill>
                <a:srgbClr val="000000"/>
              </a:solidFill>
              <a:latin typeface="Times New Roman"/>
            </a:endParaRPr>
          </a:p>
        </p:txBody>
      </p:sp>
      <p:sp>
        <p:nvSpPr>
          <p:cNvPr id="66" name="PlaceHolder 3"/>
          <p:cNvSpPr>
            <a:spLocks noGrp="1"/>
          </p:cNvSpPr>
          <p:nvPr>
            <p:ph type="sldNum" idx="24"/>
          </p:nvPr>
        </p:nvSpPr>
        <p:spPr>
          <a:xfrm>
            <a:off x="8610480" y="6356520"/>
            <a:ext cx="2743200" cy="365040"/>
          </a:xfrm>
          <a:prstGeom prst="rect">
            <a:avLst/>
          </a:prstGeom>
          <a:noFill/>
          <a:ln w="19080">
            <a:noFill/>
          </a:ln>
        </p:spPr>
        <p:txBody>
          <a:bodyPr lIns="91440" tIns="45720" rIns="91440" bIns="45720" anchor="ctr">
            <a:noAutofit/>
          </a:bodyPr>
          <a:lstStyle>
            <a:lvl1pPr indent="0" algn="r">
              <a:lnSpc>
                <a:spcPct val="100000"/>
              </a:lnSpc>
              <a:buNone/>
              <a:defRPr lang="en-US" sz="1200" b="0" strike="noStrike" spc="-1">
                <a:solidFill>
                  <a:srgbClr val="79797D"/>
                </a:solidFill>
                <a:latin typeface="Aptos"/>
              </a:defRPr>
            </a:lvl1pPr>
          </a:lstStyle>
          <a:p>
            <a:pPr indent="0" algn="r">
              <a:lnSpc>
                <a:spcPct val="100000"/>
              </a:lnSpc>
              <a:buNone/>
            </a:pPr>
            <a:fld id="{491AA158-FF24-4447-8608-456B01166021}" type="slidenum">
              <a:rPr lang="en-US" sz="1200" b="0" strike="noStrike" spc="-1">
                <a:solidFill>
                  <a:srgbClr val="79797D"/>
                </a:solidFill>
                <a:latin typeface="Aptos"/>
              </a:rPr>
              <a:t>‹Nº›</a:t>
            </a:fld>
            <a:endParaRPr lang="en-US" sz="1200" b="0" strike="noStrike" spc="-1">
              <a:solidFill>
                <a:srgbClr val="000000"/>
              </a:solidFill>
              <a:latin typeface="Times New Roman"/>
            </a:endParaRPr>
          </a:p>
        </p:txBody>
      </p:sp>
      <p:sp>
        <p:nvSpPr>
          <p:cNvPr id="67" name="PlaceHolder 4"/>
          <p:cNvSpPr>
            <a:spLocks noGrp="1"/>
          </p:cNvSpPr>
          <p:nvPr>
            <p:ph type="title"/>
          </p:nvPr>
        </p:nvSpPr>
        <p:spPr>
          <a:xfrm>
            <a:off x="609480" y="273600"/>
            <a:ext cx="10972440" cy="1144800"/>
          </a:xfrm>
          <a:prstGeom prst="rect">
            <a:avLst/>
          </a:prstGeom>
          <a:noFill/>
          <a:ln w="1908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68" name="PlaceHolder 5"/>
          <p:cNvSpPr>
            <a:spLocks noGrp="1"/>
          </p:cNvSpPr>
          <p:nvPr>
            <p:ph type="body"/>
          </p:nvPr>
        </p:nvSpPr>
        <p:spPr>
          <a:xfrm>
            <a:off x="609480" y="1604520"/>
            <a:ext cx="10972440" cy="3977280"/>
          </a:xfrm>
          <a:prstGeom prst="rect">
            <a:avLst/>
          </a:prstGeom>
          <a:noFill/>
          <a:ln w="1908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64" r:id="rId1"/>
    <p:sldLayoutId id="2147483665" r:id="rId2"/>
    <p:sldLayoutId id="2147483666"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8" name="PlaceHolder 1"/>
          <p:cNvSpPr>
            <a:spLocks noGrp="1"/>
          </p:cNvSpPr>
          <p:nvPr>
            <p:ph type="title"/>
          </p:nvPr>
        </p:nvSpPr>
        <p:spPr>
          <a:xfrm>
            <a:off x="609480" y="274680"/>
            <a:ext cx="10972800" cy="1143000"/>
          </a:xfrm>
          <a:prstGeom prst="rect">
            <a:avLst/>
          </a:prstGeom>
          <a:noFill/>
          <a:ln w="19080">
            <a:noFill/>
          </a:ln>
        </p:spPr>
        <p:txBody>
          <a:bodyPr lIns="91440" tIns="45720" rIns="91440" bIns="45720" anchor="ctr" anchorCtr="1">
            <a:normAutofit/>
          </a:bodyPr>
          <a:lstStyle/>
          <a:p>
            <a:pPr indent="0" algn="ctr">
              <a:buNone/>
            </a:pPr>
            <a:endParaRPr lang="en-US" sz="4400" b="0" strike="noStrike" spc="-1">
              <a:solidFill>
                <a:srgbClr val="000000"/>
              </a:solidFill>
              <a:latin typeface="Arial"/>
            </a:endParaRPr>
          </a:p>
        </p:txBody>
      </p:sp>
      <p:sp>
        <p:nvSpPr>
          <p:cNvPr id="99" name="PlaceHolder 2"/>
          <p:cNvSpPr>
            <a:spLocks noGrp="1"/>
          </p:cNvSpPr>
          <p:nvPr>
            <p:ph type="body"/>
          </p:nvPr>
        </p:nvSpPr>
        <p:spPr>
          <a:xfrm>
            <a:off x="609480" y="1604520"/>
            <a:ext cx="10972440" cy="3977280"/>
          </a:xfrm>
          <a:prstGeom prst="rect">
            <a:avLst/>
          </a:prstGeom>
          <a:noFill/>
          <a:ln w="1908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74"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3" name="PlaceHolder 1"/>
          <p:cNvSpPr>
            <a:spLocks noGrp="1"/>
          </p:cNvSpPr>
          <p:nvPr>
            <p:ph type="title"/>
          </p:nvPr>
        </p:nvSpPr>
        <p:spPr>
          <a:xfrm>
            <a:off x="609480" y="273600"/>
            <a:ext cx="10972440" cy="1144800"/>
          </a:xfrm>
          <a:prstGeom prst="rect">
            <a:avLst/>
          </a:prstGeom>
          <a:noFill/>
          <a:ln w="19080">
            <a:noFill/>
          </a:ln>
        </p:spPr>
        <p:txBody>
          <a:bodyPr lIns="0" tIns="0" rIns="0" bIns="0" anchor="ctr">
            <a:noAutofit/>
          </a:bodyPr>
          <a:lstStyle/>
          <a:p>
            <a:pPr indent="0" algn="ctr">
              <a:buNone/>
            </a:pPr>
            <a:r>
              <a:rPr lang="en-US" sz="4400" b="0" strike="noStrike" spc="-1">
                <a:solidFill>
                  <a:srgbClr val="000000"/>
                </a:solidFill>
                <a:latin typeface="Arial"/>
              </a:rPr>
              <a:t>Click to edit the title text format</a:t>
            </a:r>
          </a:p>
        </p:txBody>
      </p:sp>
      <p:sp>
        <p:nvSpPr>
          <p:cNvPr id="104" name="PlaceHolder 2"/>
          <p:cNvSpPr>
            <a:spLocks noGrp="1"/>
          </p:cNvSpPr>
          <p:nvPr>
            <p:ph type="body"/>
          </p:nvPr>
        </p:nvSpPr>
        <p:spPr>
          <a:xfrm>
            <a:off x="609480" y="1604520"/>
            <a:ext cx="10972440" cy="3977280"/>
          </a:xfrm>
          <a:prstGeom prst="rect">
            <a:avLst/>
          </a:prstGeom>
          <a:noFill/>
          <a:ln w="1908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strike="noStrike" spc="-1">
                <a:solidFill>
                  <a:srgbClr val="000000"/>
                </a:solidFill>
                <a:latin typeface="Arial"/>
              </a:rPr>
              <a:t>Click to edit the outline text format</a:t>
            </a:r>
          </a:p>
          <a:p>
            <a:pPr marL="864000" lvl="1" indent="-324000">
              <a:spcBef>
                <a:spcPts val="1134"/>
              </a:spcBef>
              <a:buClr>
                <a:srgbClr val="000000"/>
              </a:buClr>
              <a:buSzPct val="75000"/>
              <a:buFont typeface="Symbol" charset="2"/>
              <a:buChar char=""/>
            </a:pPr>
            <a:r>
              <a:rPr lang="en-US" sz="2800" b="0" strike="noStrike" spc="-1">
                <a:solidFill>
                  <a:srgbClr val="000000"/>
                </a:solidFill>
                <a:latin typeface="Arial"/>
              </a:rPr>
              <a:t>Second Outline Level</a:t>
            </a:r>
          </a:p>
          <a:p>
            <a:pPr marL="1296000" lvl="2" indent="-288000">
              <a:spcBef>
                <a:spcPts val="850"/>
              </a:spcBef>
              <a:buClr>
                <a:srgbClr val="000000"/>
              </a:buClr>
              <a:buSzPct val="45000"/>
              <a:buFont typeface="Wingdings" charset="2"/>
              <a:buChar char=""/>
            </a:pPr>
            <a:r>
              <a:rPr lang="en-US" sz="2400" b="0" strike="noStrike" spc="-1">
                <a:solidFill>
                  <a:srgbClr val="000000"/>
                </a:solidFill>
                <a:latin typeface="Arial"/>
              </a:rPr>
              <a:t>Third Outline Level</a:t>
            </a:r>
          </a:p>
          <a:p>
            <a:pPr marL="1728000" lvl="3" indent="-216000">
              <a:spcBef>
                <a:spcPts val="567"/>
              </a:spcBef>
              <a:buClr>
                <a:srgbClr val="000000"/>
              </a:buClr>
              <a:buSzPct val="75000"/>
              <a:buFont typeface="Symbol" charset="2"/>
              <a:buChar char=""/>
            </a:pPr>
            <a:r>
              <a:rPr lang="en-US" sz="2000" b="0" strike="noStrike" spc="-1">
                <a:solidFill>
                  <a:srgbClr val="000000"/>
                </a:solidFill>
                <a:latin typeface="Arial"/>
              </a:rPr>
              <a:t>Fourth Outline Level</a:t>
            </a:r>
          </a:p>
          <a:p>
            <a:pPr marL="2160000" lvl="4" indent="-216000">
              <a:spcBef>
                <a:spcPts val="283"/>
              </a:spcBef>
              <a:buClr>
                <a:srgbClr val="000000"/>
              </a:buClr>
              <a:buSzPct val="45000"/>
              <a:buFont typeface="Wingdings" charset="2"/>
              <a:buChar char=""/>
            </a:pPr>
            <a:r>
              <a:rPr lang="en-US" sz="2000" b="0" strike="noStrike" spc="-1">
                <a:solidFill>
                  <a:srgbClr val="000000"/>
                </a:solidFill>
                <a:latin typeface="Arial"/>
              </a:rPr>
              <a:t>Fifth Outline Level</a:t>
            </a:r>
          </a:p>
          <a:p>
            <a:pPr marL="2592000" lvl="5" indent="-216000">
              <a:spcBef>
                <a:spcPts val="283"/>
              </a:spcBef>
              <a:buClr>
                <a:srgbClr val="000000"/>
              </a:buClr>
              <a:buSzPct val="45000"/>
              <a:buFont typeface="Wingdings" charset="2"/>
              <a:buChar char=""/>
            </a:pPr>
            <a:r>
              <a:rPr lang="en-US" sz="2000" b="0" strike="noStrike" spc="-1">
                <a:solidFill>
                  <a:srgbClr val="000000"/>
                </a:solidFill>
                <a:latin typeface="Arial"/>
              </a:rPr>
              <a:t>Sixth Outline Level</a:t>
            </a:r>
          </a:p>
          <a:p>
            <a:pPr marL="3024000" lvl="6" indent="-216000">
              <a:spcBef>
                <a:spcPts val="283"/>
              </a:spcBef>
              <a:buClr>
                <a:srgbClr val="000000"/>
              </a:buClr>
              <a:buSzPct val="45000"/>
              <a:buFont typeface="Wingdings" charset="2"/>
              <a:buChar char=""/>
            </a:pPr>
            <a:r>
              <a:rPr lang="en-US" sz="2000" b="0" strike="noStrike" spc="-1">
                <a:solidFill>
                  <a:srgbClr val="000000"/>
                </a:solidFill>
                <a:latin typeface="Arial"/>
              </a:rPr>
              <a:t>Seventh Outline Level</a:t>
            </a:r>
          </a:p>
        </p:txBody>
      </p:sp>
    </p:spTree>
  </p:cSld>
  <p:clrMap bg1="lt1" tx1="dk1" bg2="lt2" tx2="dk2" accent1="accent1" accent2="accent2" accent3="accent3" accent4="accent4" accent5="accent5" accent6="accent6" hlink="hlink" folHlink="folHlink"/>
  <p:sldLayoutIdLst>
    <p:sldLayoutId id="2147483680"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6" Type="http://schemas.openxmlformats.org/officeDocument/2006/relationships/image" Target="../media/image7.jpeg"/><Relationship Id="rId5" Type="http://schemas.openxmlformats.org/officeDocument/2006/relationships/image" Target="../media/image6.jpe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3.xml"/><Relationship Id="rId4" Type="http://schemas.openxmlformats.org/officeDocument/2006/relationships/image" Target="../media/image7.jpeg"/></Relationships>
</file>

<file path=ppt/slides/_rels/slide4.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jpeg"/><Relationship Id="rId4" Type="http://schemas.openxmlformats.org/officeDocument/2006/relationships/image" Target="../media/image9.svg"/><Relationship Id="rId9" Type="http://schemas.openxmlformats.org/officeDocument/2006/relationships/image" Target="../media/image14.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10.jpeg"/><Relationship Id="rId5" Type="http://schemas.openxmlformats.org/officeDocument/2006/relationships/image" Target="../media/image9.svg"/><Relationship Id="rId10" Type="http://schemas.openxmlformats.org/officeDocument/2006/relationships/image" Target="../media/image14.pn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6.svg"/><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19.svg"/></Relationships>
</file>

<file path=ppt/slides/_rels/slide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22.png"/><Relationship Id="rId1" Type="http://schemas.openxmlformats.org/officeDocument/2006/relationships/slideLayout" Target="../slideLayouts/slideLayout3.xml"/><Relationship Id="rId5" Type="http://schemas.openxmlformats.org/officeDocument/2006/relationships/image" Target="../media/image19.svg"/><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3" Type="http://schemas.microsoft.com/office/2018/10/relationships/comments" Target="../comments/modernComment_20F_CC466DB.xml"/><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4.xml"/><Relationship Id="rId4"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5.svg"/><Relationship Id="rId2" Type="http://schemas.openxmlformats.org/officeDocument/2006/relationships/image" Target="../media/image9.svg"/><Relationship Id="rId1" Type="http://schemas.openxmlformats.org/officeDocument/2006/relationships/slideLayout" Target="../slideLayouts/slideLayout5.xml"/><Relationship Id="rId4" Type="http://schemas.openxmlformats.org/officeDocument/2006/relationships/image" Target="../media/image26.svg"/></Relationships>
</file>

<file path=ppt/slides/_rels/slide13.xml.rels><?xml version="1.0" encoding="UTF-8" standalone="yes"?>
<Relationships xmlns="http://schemas.openxmlformats.org/package/2006/relationships"><Relationship Id="rId8" Type="http://schemas.openxmlformats.org/officeDocument/2006/relationships/image" Target="../media/image31.png"/><Relationship Id="rId13" Type="http://schemas.openxmlformats.org/officeDocument/2006/relationships/image" Target="../media/image36.png"/><Relationship Id="rId18" Type="http://schemas.openxmlformats.org/officeDocument/2006/relationships/image" Target="../media/image41.png"/><Relationship Id="rId3" Type="http://schemas.openxmlformats.org/officeDocument/2006/relationships/image" Target="../media/image27.png"/><Relationship Id="rId21" Type="http://schemas.openxmlformats.org/officeDocument/2006/relationships/image" Target="../media/image44.png"/><Relationship Id="rId7" Type="http://schemas.openxmlformats.org/officeDocument/2006/relationships/image" Target="../media/image30.png"/><Relationship Id="rId12" Type="http://schemas.openxmlformats.org/officeDocument/2006/relationships/image" Target="../media/image35.png"/><Relationship Id="rId17" Type="http://schemas.openxmlformats.org/officeDocument/2006/relationships/image" Target="../media/image40.png"/><Relationship Id="rId2" Type="http://schemas.openxmlformats.org/officeDocument/2006/relationships/notesSlide" Target="../notesSlides/notesSlide6.xml"/><Relationship Id="rId16" Type="http://schemas.openxmlformats.org/officeDocument/2006/relationships/image" Target="../media/image39.png"/><Relationship Id="rId20" Type="http://schemas.openxmlformats.org/officeDocument/2006/relationships/image" Target="../media/image43.png"/><Relationship Id="rId1" Type="http://schemas.openxmlformats.org/officeDocument/2006/relationships/slideLayout" Target="../slideLayouts/slideLayout6.xml"/><Relationship Id="rId6" Type="http://schemas.openxmlformats.org/officeDocument/2006/relationships/image" Target="../media/image29.png"/><Relationship Id="rId11" Type="http://schemas.openxmlformats.org/officeDocument/2006/relationships/image" Target="../media/image34.png"/><Relationship Id="rId24" Type="http://schemas.openxmlformats.org/officeDocument/2006/relationships/image" Target="../media/image47.png"/><Relationship Id="rId5" Type="http://schemas.openxmlformats.org/officeDocument/2006/relationships/image" Target="../media/image9.svg"/><Relationship Id="rId15" Type="http://schemas.openxmlformats.org/officeDocument/2006/relationships/image" Target="../media/image38.png"/><Relationship Id="rId23" Type="http://schemas.openxmlformats.org/officeDocument/2006/relationships/image" Target="../media/image46.png"/><Relationship Id="rId10" Type="http://schemas.openxmlformats.org/officeDocument/2006/relationships/image" Target="../media/image33.png"/><Relationship Id="rId19" Type="http://schemas.openxmlformats.org/officeDocument/2006/relationships/image" Target="../media/image42.png"/><Relationship Id="rId4" Type="http://schemas.openxmlformats.org/officeDocument/2006/relationships/image" Target="../media/image28.png"/><Relationship Id="rId9" Type="http://schemas.openxmlformats.org/officeDocument/2006/relationships/image" Target="../media/image32.png"/><Relationship Id="rId14" Type="http://schemas.openxmlformats.org/officeDocument/2006/relationships/image" Target="../media/image37.png"/><Relationship Id="rId22" Type="http://schemas.openxmlformats.org/officeDocument/2006/relationships/image" Target="../media/image45.png"/></Relationships>
</file>

<file path=ppt/slides/_rels/slide1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png"/><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0">
          <a:blip r:embed="rId3"/>
          <a:stretch/>
        </a:blipFill>
        <a:effectLst/>
      </p:bgPr>
    </p:bg>
    <p:spTree>
      <p:nvGrpSpPr>
        <p:cNvPr id="1" name=""/>
        <p:cNvGrpSpPr/>
        <p:nvPr/>
      </p:nvGrpSpPr>
      <p:grpSpPr>
        <a:xfrm>
          <a:off x="0" y="0"/>
          <a:ext cx="0" cy="0"/>
          <a:chOff x="0" y="0"/>
          <a:chExt cx="0" cy="0"/>
        </a:xfrm>
      </p:grpSpPr>
      <p:sp>
        <p:nvSpPr>
          <p:cNvPr id="111" name="Text 0"/>
          <p:cNvSpPr/>
          <p:nvPr/>
        </p:nvSpPr>
        <p:spPr>
          <a:xfrm>
            <a:off x="10180080" y="567000"/>
            <a:ext cx="1463040" cy="27432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pPr algn="r">
              <a:lnSpc>
                <a:spcPct val="100000"/>
              </a:lnSpc>
            </a:pPr>
            <a:r>
              <a:rPr lang="en-US" sz="1100" b="0" strike="noStrike" spc="199">
                <a:solidFill>
                  <a:srgbClr val="AFB2BE"/>
                </a:solidFill>
                <a:latin typeface="Manrope"/>
                <a:ea typeface="Raleway Medium"/>
              </a:rPr>
              <a:t>2026</a:t>
            </a:r>
            <a:endParaRPr lang="en-US" sz="1100" b="0" strike="noStrike" spc="-1">
              <a:solidFill>
                <a:srgbClr val="FFFFFF"/>
              </a:solidFill>
              <a:latin typeface="Arial"/>
            </a:endParaRPr>
          </a:p>
        </p:txBody>
      </p:sp>
      <p:sp>
        <p:nvSpPr>
          <p:cNvPr id="112" name="Text 1"/>
          <p:cNvSpPr/>
          <p:nvPr/>
        </p:nvSpPr>
        <p:spPr>
          <a:xfrm>
            <a:off x="414000" y="2926800"/>
            <a:ext cx="7356910" cy="91440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lIns="91440" tIns="45720" rIns="91440" bIns="45720" anchor="ctr">
            <a:noAutofit/>
          </a:bodyPr>
          <a:lstStyle/>
          <a:p>
            <a:r>
              <a:rPr lang="en-US" sz="5800" spc="97" err="1">
                <a:solidFill>
                  <a:srgbClr val="F0E8DE"/>
                </a:solidFill>
                <a:latin typeface="Raleway ExtraBold"/>
              </a:rPr>
              <a:t>Queremos</a:t>
            </a:r>
            <a:r>
              <a:rPr lang="en-US" sz="5800" spc="97">
                <a:solidFill>
                  <a:srgbClr val="F0E8DE"/>
                </a:solidFill>
                <a:latin typeface="Raleway ExtraBold"/>
              </a:rPr>
              <a:t> ser </a:t>
            </a:r>
            <a:r>
              <a:rPr lang="en-US" sz="5800" spc="97" err="1">
                <a:solidFill>
                  <a:srgbClr val="F0E8DE"/>
                </a:solidFill>
                <a:latin typeface="Raleway ExtraBold"/>
              </a:rPr>
              <a:t>tu</a:t>
            </a:r>
            <a:r>
              <a:rPr lang="en-US" sz="5800" spc="97">
                <a:solidFill>
                  <a:srgbClr val="F0E8DE"/>
                </a:solidFill>
                <a:latin typeface="Raleway ExtraBold"/>
              </a:rPr>
              <a:t> partner</a:t>
            </a:r>
            <a:endParaRPr lang="en-US" sz="5800" b="0" strike="noStrike" spc="97">
              <a:solidFill>
                <a:srgbClr val="F0E8DE"/>
              </a:solidFill>
              <a:latin typeface="Raleway ExtraBold"/>
            </a:endParaRPr>
          </a:p>
        </p:txBody>
      </p:sp>
      <p:sp>
        <p:nvSpPr>
          <p:cNvPr id="113" name="Text 2"/>
          <p:cNvSpPr/>
          <p:nvPr/>
        </p:nvSpPr>
        <p:spPr>
          <a:xfrm>
            <a:off x="658440" y="3200400"/>
            <a:ext cx="8229600" cy="91440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endParaRPr lang="en-US" sz="1800" b="0" strike="noStrike" spc="-1">
              <a:solidFill>
                <a:srgbClr val="FFFFFF"/>
              </a:solidFill>
              <a:latin typeface="Arial"/>
            </a:endParaRPr>
          </a:p>
        </p:txBody>
      </p:sp>
      <p:sp>
        <p:nvSpPr>
          <p:cNvPr id="114" name="Text 3"/>
          <p:cNvSpPr/>
          <p:nvPr/>
        </p:nvSpPr>
        <p:spPr>
          <a:xfrm>
            <a:off x="676800" y="4251960"/>
            <a:ext cx="8229600" cy="36576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endParaRPr lang="en-US" sz="1800" b="0" strike="noStrike" spc="-1">
              <a:solidFill>
                <a:srgbClr val="FFFFFF"/>
              </a:solidFill>
              <a:latin typeface="Arial"/>
            </a:endParaRPr>
          </a:p>
        </p:txBody>
      </p:sp>
      <p:sp>
        <p:nvSpPr>
          <p:cNvPr id="115" name="Text 4"/>
          <p:cNvSpPr/>
          <p:nvPr/>
        </p:nvSpPr>
        <p:spPr>
          <a:xfrm>
            <a:off x="414000" y="4525938"/>
            <a:ext cx="8229600" cy="67104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lIns="91440" tIns="45720" rIns="91440" bIns="45720" anchor="ctr">
            <a:noAutofit/>
          </a:bodyPr>
          <a:lstStyle/>
          <a:p>
            <a:pPr>
              <a:lnSpc>
                <a:spcPct val="100000"/>
              </a:lnSpc>
            </a:pPr>
            <a:endParaRPr lang="en-US" sz="1400" b="0" strike="noStrike" spc="-1">
              <a:solidFill>
                <a:srgbClr val="FFFFFF"/>
              </a:solidFill>
              <a:latin typeface="Arial"/>
            </a:endParaRPr>
          </a:p>
          <a:p>
            <a:pPr>
              <a:lnSpc>
                <a:spcPct val="100000"/>
              </a:lnSpc>
            </a:pPr>
            <a:r>
              <a:rPr lang="es-ES" b="0" strike="noStrike" spc="-1" err="1">
                <a:solidFill>
                  <a:srgbClr val="FBE0A0"/>
                </a:solidFill>
                <a:latin typeface="Raleway Black"/>
              </a:rPr>
              <a:t>Finance</a:t>
            </a:r>
            <a:r>
              <a:rPr lang="es-ES" b="0" strike="noStrike" spc="-1">
                <a:solidFill>
                  <a:srgbClr val="FBE0A0"/>
                </a:solidFill>
                <a:latin typeface="Raleway Black"/>
              </a:rPr>
              <a:t> &amp; </a:t>
            </a:r>
            <a:r>
              <a:rPr lang="es-ES" b="1" strike="noStrike" spc="-1">
                <a:solidFill>
                  <a:srgbClr val="FBE0A0"/>
                </a:solidFill>
                <a:latin typeface="Raleway Black"/>
              </a:rPr>
              <a:t>Human Capital</a:t>
            </a:r>
            <a:r>
              <a:rPr lang="es-ES" b="0" strike="noStrike" spc="-1">
                <a:solidFill>
                  <a:srgbClr val="FBE0A0"/>
                </a:solidFill>
                <a:latin typeface="Raleway Black"/>
              </a:rPr>
              <a:t>.</a:t>
            </a:r>
            <a:endParaRPr lang="en-US" b="0" strike="noStrike" spc="-1">
              <a:solidFill>
                <a:srgbClr val="FFFFFF"/>
              </a:solidFill>
              <a:latin typeface="Raleway Black"/>
            </a:endParaRPr>
          </a:p>
          <a:p>
            <a:pPr>
              <a:lnSpc>
                <a:spcPct val="100000"/>
              </a:lnSpc>
            </a:pPr>
            <a:r>
              <a:rPr lang="es-ES" b="0" strike="noStrike" spc="-1">
                <a:solidFill>
                  <a:srgbClr val="FBE0A0"/>
                </a:solidFill>
                <a:latin typeface="Raleway Light"/>
              </a:rPr>
              <a:t>Soluciones financieras y de talento para fondos de inversión y sus compañías participadas.</a:t>
            </a:r>
            <a:endParaRPr lang="en-US" b="0" strike="noStrike" spc="-1">
              <a:solidFill>
                <a:srgbClr val="FFFFFF"/>
              </a:solidFill>
              <a:latin typeface="Arial"/>
            </a:endParaRPr>
          </a:p>
          <a:p>
            <a:pPr>
              <a:lnSpc>
                <a:spcPct val="100000"/>
              </a:lnSpc>
            </a:pPr>
            <a:endParaRPr lang="en-US" sz="1400" b="0" strike="noStrike" spc="-1">
              <a:solidFill>
                <a:srgbClr val="FFFFFF"/>
              </a:solidFill>
              <a:latin typeface="Arial"/>
            </a:endParaRPr>
          </a:p>
        </p:txBody>
      </p:sp>
      <p:sp>
        <p:nvSpPr>
          <p:cNvPr id="116" name="Text 5"/>
          <p:cNvSpPr/>
          <p:nvPr/>
        </p:nvSpPr>
        <p:spPr>
          <a:xfrm>
            <a:off x="414000" y="6303240"/>
            <a:ext cx="6400800" cy="36576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pPr>
              <a:lnSpc>
                <a:spcPct val="100000"/>
              </a:lnSpc>
            </a:pPr>
            <a:r>
              <a:rPr lang="en-US" sz="1600" b="0" strike="noStrike" spc="-1">
                <a:solidFill>
                  <a:srgbClr val="F0E8DE"/>
                </a:solidFill>
                <a:latin typeface="Raleway Medium"/>
                <a:ea typeface="Raleway Medium"/>
              </a:rPr>
              <a:t>Better decisions, </a:t>
            </a:r>
            <a:r>
              <a:rPr lang="en-US" sz="1600" b="1" strike="noStrike" spc="-1">
                <a:solidFill>
                  <a:srgbClr val="F0E8DE"/>
                </a:solidFill>
                <a:latin typeface="Raleway Medium"/>
                <a:ea typeface="Raleway Bold"/>
              </a:rPr>
              <a:t>together</a:t>
            </a:r>
            <a:r>
              <a:rPr lang="en-US" sz="1600" b="0" strike="noStrike" spc="-1">
                <a:solidFill>
                  <a:srgbClr val="F0E8DE"/>
                </a:solidFill>
                <a:latin typeface="Raleway Medium"/>
                <a:ea typeface="Raleway Bold"/>
              </a:rPr>
              <a:t>.</a:t>
            </a:r>
            <a:endParaRPr lang="en-US" sz="1600" b="0" strike="noStrike" spc="-1">
              <a:solidFill>
                <a:srgbClr val="FFFFFF"/>
              </a:solidFill>
              <a:latin typeface="Arial"/>
            </a:endParaRPr>
          </a:p>
        </p:txBody>
      </p:sp>
      <p:pic>
        <p:nvPicPr>
          <p:cNvPr id="117" name="Imagen 11"/>
          <p:cNvPicPr/>
          <p:nvPr/>
        </p:nvPicPr>
        <p:blipFill>
          <a:blip r:embed="rId4"/>
          <a:stretch/>
        </p:blipFill>
        <p:spPr>
          <a:xfrm>
            <a:off x="314280" y="469800"/>
            <a:ext cx="2754360" cy="743040"/>
          </a:xfrm>
          <a:prstGeom prst="rect">
            <a:avLst/>
          </a:prstGeom>
          <a:ln w="19080">
            <a:noFill/>
          </a:ln>
        </p:spPr>
      </p:pic>
      <p:sp>
        <p:nvSpPr>
          <p:cNvPr id="118" name="Text 5"/>
          <p:cNvSpPr/>
          <p:nvPr/>
        </p:nvSpPr>
        <p:spPr>
          <a:xfrm>
            <a:off x="314280" y="6217200"/>
            <a:ext cx="6400800" cy="36576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endParaRPr lang="en-US" sz="1800" b="0" strike="noStrike" spc="-1">
              <a:solidFill>
                <a:srgbClr val="FFFFFF"/>
              </a:solidFill>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pic>
        <p:nvPicPr>
          <p:cNvPr id="276" name="Image 0" descr="preencoded.png"/>
          <p:cNvPicPr/>
          <p:nvPr/>
        </p:nvPicPr>
        <p:blipFill>
          <a:blip r:embed="rId3"/>
          <a:stretch/>
        </p:blipFill>
        <p:spPr>
          <a:xfrm>
            <a:off x="128160" y="-18360"/>
            <a:ext cx="887040" cy="237600"/>
          </a:xfrm>
          <a:prstGeom prst="rect">
            <a:avLst/>
          </a:prstGeom>
          <a:ln w="19080">
            <a:noFill/>
          </a:ln>
        </p:spPr>
      </p:pic>
      <p:cxnSp>
        <p:nvCxnSpPr>
          <p:cNvPr id="321" name="Straight Connector 5"/>
          <p:cNvCxnSpPr/>
          <p:nvPr/>
        </p:nvCxnSpPr>
        <p:spPr>
          <a:xfrm>
            <a:off x="0" y="190440"/>
            <a:ext cx="12279600" cy="360"/>
          </a:xfrm>
          <a:prstGeom prst="straightConnector1">
            <a:avLst/>
          </a:prstGeom>
          <a:ln w="19080">
            <a:solidFill>
              <a:srgbClr val="202031"/>
            </a:solidFill>
            <a:miter/>
          </a:ln>
        </p:spPr>
      </p:cxnSp>
      <p:sp>
        <p:nvSpPr>
          <p:cNvPr id="319" name="TextBox 13"/>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NOSOTROS</a:t>
            </a:r>
            <a:endParaRPr lang="en-US" sz="1000" b="0" strike="noStrike" spc="-1">
              <a:solidFill>
                <a:srgbClr val="000000"/>
              </a:solidFill>
              <a:latin typeface="Arial"/>
            </a:endParaRPr>
          </a:p>
        </p:txBody>
      </p:sp>
      <p:sp>
        <p:nvSpPr>
          <p:cNvPr id="318"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320" name="TextBox 19"/>
          <p:cNvSpPr txBox="1"/>
          <p:nvPr/>
        </p:nvSpPr>
        <p:spPr>
          <a:xfrm>
            <a:off x="8281800" y="-23760"/>
            <a:ext cx="31788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TESSERA EN UNA PÁGINA</a:t>
            </a:r>
            <a:endParaRPr lang="en-US" sz="1000" b="0" strike="noStrike" spc="-1">
              <a:solidFill>
                <a:srgbClr val="000000"/>
              </a:solidFill>
              <a:latin typeface="Arial"/>
            </a:endParaRPr>
          </a:p>
        </p:txBody>
      </p:sp>
      <p:sp>
        <p:nvSpPr>
          <p:cNvPr id="322" name="TextBox 321"/>
          <p:cNvSpPr txBox="1"/>
          <p:nvPr/>
        </p:nvSpPr>
        <p:spPr>
          <a:xfrm>
            <a:off x="411480" y="625793"/>
            <a:ext cx="11247120" cy="794064"/>
          </a:xfrm>
          <a:prstGeom prst="rect">
            <a:avLst/>
          </a:prstGeom>
          <a:noFill/>
        </p:spPr>
        <p:txBody>
          <a:bodyPr wrap="square" lIns="45720" tIns="27432" rIns="45720" bIns="27432" anchor="t">
            <a:spAutoFit/>
          </a:bodyPr>
          <a:lstStyle/>
          <a:p>
            <a:r>
              <a:rPr sz="4800" spc="-151" err="1">
                <a:solidFill>
                  <a:srgbClr val="202031"/>
                </a:solidFill>
                <a:latin typeface="Raleway Medium"/>
              </a:rPr>
              <a:t>Tessera</a:t>
            </a:r>
            <a:r>
              <a:rPr sz="4800" spc="-151">
                <a:solidFill>
                  <a:srgbClr val="202031"/>
                </a:solidFill>
                <a:latin typeface="Raleway Medium"/>
              </a:rPr>
              <a:t> en una página</a:t>
            </a:r>
            <a:endParaRPr lang="es-ES" sz="4800" spc="-151">
              <a:solidFill>
                <a:srgbClr val="202031"/>
              </a:solidFill>
              <a:latin typeface="Raleway Medium"/>
            </a:endParaRPr>
          </a:p>
        </p:txBody>
      </p:sp>
      <p:sp>
        <p:nvSpPr>
          <p:cNvPr id="31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02</a:t>
            </a:r>
            <a:endParaRPr lang="en-US" sz="4000" b="0" strike="noStrike" spc="-1">
              <a:solidFill>
                <a:srgbClr val="000000"/>
              </a:solidFill>
              <a:latin typeface="Arial"/>
            </a:endParaRPr>
          </a:p>
        </p:txBody>
      </p:sp>
      <p:sp>
        <p:nvSpPr>
          <p:cNvPr id="323" name="TextBox 322"/>
          <p:cNvSpPr txBox="1"/>
          <p:nvPr/>
        </p:nvSpPr>
        <p:spPr>
          <a:xfrm>
            <a:off x="457200" y="1280160"/>
            <a:ext cx="5486400" cy="393954"/>
          </a:xfrm>
          <a:prstGeom prst="rect">
            <a:avLst/>
          </a:prstGeom>
          <a:noFill/>
        </p:spPr>
        <p:txBody>
          <a:bodyPr wrap="square" lIns="45720" tIns="27432" rIns="45720" bIns="27432" anchor="t">
            <a:spAutoFit/>
          </a:bodyPr>
          <a:lstStyle/>
          <a:p>
            <a:pPr algn="l"/>
            <a:r>
              <a:rPr sz="2200" b="0">
                <a:solidFill>
                  <a:srgbClr val="202031"/>
                </a:solidFill>
                <a:latin typeface="Raleway Light"/>
              </a:rPr>
              <a:t>Mejores </a:t>
            </a:r>
            <a:r>
              <a:rPr sz="2200" b="0" err="1">
                <a:solidFill>
                  <a:srgbClr val="202031"/>
                </a:solidFill>
                <a:latin typeface="Raleway Light"/>
              </a:rPr>
              <a:t>decisiones</a:t>
            </a:r>
            <a:r>
              <a:rPr sz="2200" b="0">
                <a:solidFill>
                  <a:srgbClr val="202031"/>
                </a:solidFill>
                <a:latin typeface="Raleway Light"/>
              </a:rPr>
              <a:t>, </a:t>
            </a:r>
            <a:r>
              <a:rPr sz="2200" b="1" err="1">
                <a:solidFill>
                  <a:srgbClr val="587579"/>
                </a:solidFill>
                <a:latin typeface="Raleway ExtraBold"/>
              </a:rPr>
              <a:t>juntos</a:t>
            </a:r>
            <a:r>
              <a:rPr sz="2200" b="0">
                <a:solidFill>
                  <a:srgbClr val="202031"/>
                </a:solidFill>
                <a:latin typeface="Raleway Light"/>
              </a:rPr>
              <a:t>.</a:t>
            </a:r>
          </a:p>
        </p:txBody>
      </p:sp>
      <p:sp>
        <p:nvSpPr>
          <p:cNvPr id="324" name="TextBox 323"/>
          <p:cNvSpPr txBox="1"/>
          <p:nvPr/>
        </p:nvSpPr>
        <p:spPr>
          <a:xfrm>
            <a:off x="457200" y="1874519"/>
            <a:ext cx="5394960" cy="1005840"/>
          </a:xfrm>
          <a:prstGeom prst="rect">
            <a:avLst/>
          </a:prstGeom>
          <a:noFill/>
        </p:spPr>
        <p:txBody>
          <a:bodyPr wrap="square" lIns="45720" tIns="27432" rIns="45720" bIns="27432" anchor="t">
            <a:spAutoFit/>
          </a:bodyPr>
          <a:lstStyle/>
          <a:p>
            <a:pPr algn="l"/>
            <a:r>
              <a:rPr sz="1200" b="0">
                <a:solidFill>
                  <a:srgbClr val="202031"/>
                </a:solidFill>
                <a:latin typeface="Raleway"/>
              </a:rPr>
              <a:t>Consultoría estratégica en Finanzas y Talento para compañías, inversores y sus participadas. Un equipo senior que se integra en el proyecto y responde por el resultado.</a:t>
            </a:r>
          </a:p>
        </p:txBody>
      </p:sp>
      <p:sp>
        <p:nvSpPr>
          <p:cNvPr id="325" name="Rounded Rectangle 324"/>
          <p:cNvSpPr/>
          <p:nvPr/>
        </p:nvSpPr>
        <p:spPr>
          <a:xfrm>
            <a:off x="457200" y="3017520"/>
            <a:ext cx="5486400" cy="1417320"/>
          </a:xfrm>
          <a:prstGeom prst="roundRect">
            <a:avLst>
              <a:gd name="adj" fmla="val 14000"/>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6" name="TextBox 325"/>
          <p:cNvSpPr txBox="1"/>
          <p:nvPr/>
        </p:nvSpPr>
        <p:spPr>
          <a:xfrm>
            <a:off x="685800" y="3127248"/>
            <a:ext cx="1737360" cy="547842"/>
          </a:xfrm>
          <a:prstGeom prst="rect">
            <a:avLst/>
          </a:prstGeom>
          <a:noFill/>
        </p:spPr>
        <p:txBody>
          <a:bodyPr wrap="square" lIns="45720" tIns="27432" rIns="45720" bIns="27432" anchor="t">
            <a:spAutoFit/>
          </a:bodyPr>
          <a:lstStyle/>
          <a:p>
            <a:pPr algn="l"/>
            <a:r>
              <a:rPr sz="3200" b="0">
                <a:solidFill>
                  <a:srgbClr val="FBE0A0"/>
                </a:solidFill>
                <a:latin typeface="Ailerons"/>
              </a:rPr>
              <a:t>2</a:t>
            </a:r>
            <a:endParaRPr lang="es-ES" sz="3200" b="0">
              <a:solidFill>
                <a:srgbClr val="FBE0A0"/>
              </a:solidFill>
              <a:latin typeface="Ailerons"/>
            </a:endParaRPr>
          </a:p>
        </p:txBody>
      </p:sp>
      <p:sp>
        <p:nvSpPr>
          <p:cNvPr id="327" name="TextBox 326"/>
          <p:cNvSpPr txBox="1"/>
          <p:nvPr/>
        </p:nvSpPr>
        <p:spPr>
          <a:xfrm>
            <a:off x="685800" y="3749039"/>
            <a:ext cx="1691640" cy="424732"/>
          </a:xfrm>
          <a:prstGeom prst="rect">
            <a:avLst/>
          </a:prstGeom>
          <a:noFill/>
        </p:spPr>
        <p:txBody>
          <a:bodyPr wrap="square" lIns="45720" tIns="27432" rIns="45720" bIns="27432" anchor="t">
            <a:spAutoFit/>
          </a:bodyPr>
          <a:lstStyle/>
          <a:p>
            <a:pPr algn="l"/>
            <a:r>
              <a:rPr sz="1200" b="0">
                <a:solidFill>
                  <a:schemeClr val="bg1"/>
                </a:solidFill>
                <a:latin typeface="Raleway"/>
              </a:rPr>
              <a:t>áreas: </a:t>
            </a:r>
            <a:r>
              <a:rPr sz="1200" b="0" err="1">
                <a:solidFill>
                  <a:schemeClr val="bg1"/>
                </a:solidFill>
                <a:latin typeface="Raleway"/>
              </a:rPr>
              <a:t>Finance</a:t>
            </a:r>
            <a:r>
              <a:rPr sz="1200" b="0">
                <a:solidFill>
                  <a:schemeClr val="bg1"/>
                </a:solidFill>
                <a:latin typeface="Raleway"/>
              </a:rPr>
              <a:t> y Human Capital</a:t>
            </a:r>
            <a:endParaRPr lang="es-ES" sz="1200" b="0">
              <a:solidFill>
                <a:schemeClr val="bg1"/>
              </a:solidFill>
              <a:latin typeface="Raleway"/>
            </a:endParaRPr>
          </a:p>
        </p:txBody>
      </p:sp>
      <p:cxnSp>
        <p:nvCxnSpPr>
          <p:cNvPr id="328" name="Connector 327"/>
          <p:cNvCxnSpPr/>
          <p:nvPr/>
        </p:nvCxnSpPr>
        <p:spPr>
          <a:xfrm>
            <a:off x="2331720" y="3246120"/>
            <a:ext cx="0" cy="1005840"/>
          </a:xfrm>
          <a:prstGeom prst="line">
            <a:avLst/>
          </a:prstGeom>
          <a:ln w="9525">
            <a:solidFill>
              <a:srgbClr val="FBE0A0"/>
            </a:solidFill>
          </a:ln>
        </p:spPr>
        <p:style>
          <a:lnRef idx="2">
            <a:schemeClr val="accent1"/>
          </a:lnRef>
          <a:fillRef idx="0">
            <a:schemeClr val="accent1"/>
          </a:fillRef>
          <a:effectRef idx="1">
            <a:schemeClr val="accent1"/>
          </a:effectRef>
          <a:fontRef idx="minor">
            <a:schemeClr val="tx1"/>
          </a:fontRef>
        </p:style>
      </p:cxnSp>
      <p:sp>
        <p:nvSpPr>
          <p:cNvPr id="329" name="TextBox 328"/>
          <p:cNvSpPr txBox="1"/>
          <p:nvPr/>
        </p:nvSpPr>
        <p:spPr>
          <a:xfrm>
            <a:off x="2468880" y="3127248"/>
            <a:ext cx="1737360" cy="640080"/>
          </a:xfrm>
          <a:prstGeom prst="rect">
            <a:avLst/>
          </a:prstGeom>
          <a:noFill/>
        </p:spPr>
        <p:txBody>
          <a:bodyPr wrap="square" lIns="45720" tIns="27432" rIns="45720" bIns="27432" anchor="t">
            <a:spAutoFit/>
          </a:bodyPr>
          <a:lstStyle/>
          <a:p>
            <a:pPr algn="l"/>
            <a:r>
              <a:rPr sz="3000" b="0">
                <a:solidFill>
                  <a:srgbClr val="FBE0A0"/>
                </a:solidFill>
                <a:latin typeface="Ailerons"/>
              </a:rPr>
              <a:t>+21</a:t>
            </a:r>
          </a:p>
        </p:txBody>
      </p:sp>
      <p:sp>
        <p:nvSpPr>
          <p:cNvPr id="330" name="TextBox 329"/>
          <p:cNvSpPr txBox="1"/>
          <p:nvPr/>
        </p:nvSpPr>
        <p:spPr>
          <a:xfrm>
            <a:off x="2468880" y="3749039"/>
            <a:ext cx="1691640" cy="424732"/>
          </a:xfrm>
          <a:prstGeom prst="rect">
            <a:avLst/>
          </a:prstGeom>
          <a:noFill/>
        </p:spPr>
        <p:txBody>
          <a:bodyPr wrap="square" lIns="45720" tIns="27432" rIns="45720" bIns="27432" anchor="t">
            <a:spAutoFit/>
          </a:bodyPr>
          <a:lstStyle/>
          <a:p>
            <a:pPr algn="l"/>
            <a:r>
              <a:rPr sz="1200" b="0">
                <a:solidFill>
                  <a:schemeClr val="bg1"/>
                </a:solidFill>
                <a:latin typeface="Raleway"/>
              </a:rPr>
              <a:t>consultores y equipo de </a:t>
            </a:r>
            <a:r>
              <a:rPr sz="1200" b="0" err="1">
                <a:solidFill>
                  <a:schemeClr val="bg1"/>
                </a:solidFill>
                <a:latin typeface="Raleway"/>
              </a:rPr>
              <a:t>CFOs</a:t>
            </a:r>
            <a:endParaRPr lang="es-ES" sz="1200" b="0">
              <a:solidFill>
                <a:schemeClr val="bg1"/>
              </a:solidFill>
              <a:latin typeface="Raleway"/>
            </a:endParaRPr>
          </a:p>
        </p:txBody>
      </p:sp>
      <p:cxnSp>
        <p:nvCxnSpPr>
          <p:cNvPr id="331" name="Connector 330"/>
          <p:cNvCxnSpPr/>
          <p:nvPr/>
        </p:nvCxnSpPr>
        <p:spPr>
          <a:xfrm>
            <a:off x="4114800" y="3246120"/>
            <a:ext cx="0" cy="1005840"/>
          </a:xfrm>
          <a:prstGeom prst="line">
            <a:avLst/>
          </a:prstGeom>
          <a:ln w="9525">
            <a:solidFill>
              <a:srgbClr val="FBE0A0"/>
            </a:solidFill>
          </a:ln>
        </p:spPr>
        <p:style>
          <a:lnRef idx="2">
            <a:schemeClr val="accent1"/>
          </a:lnRef>
          <a:fillRef idx="0">
            <a:schemeClr val="accent1"/>
          </a:fillRef>
          <a:effectRef idx="1">
            <a:schemeClr val="accent1"/>
          </a:effectRef>
          <a:fontRef idx="minor">
            <a:schemeClr val="tx1"/>
          </a:fontRef>
        </p:style>
      </p:cxnSp>
      <p:sp>
        <p:nvSpPr>
          <p:cNvPr id="332" name="TextBox 331"/>
          <p:cNvSpPr txBox="1"/>
          <p:nvPr/>
        </p:nvSpPr>
        <p:spPr>
          <a:xfrm>
            <a:off x="4251960" y="3127248"/>
            <a:ext cx="1737360" cy="640080"/>
          </a:xfrm>
          <a:prstGeom prst="rect">
            <a:avLst/>
          </a:prstGeom>
          <a:noFill/>
        </p:spPr>
        <p:txBody>
          <a:bodyPr wrap="square" lIns="45720" tIns="27432" rIns="45720" bIns="27432" anchor="t">
            <a:spAutoFit/>
          </a:bodyPr>
          <a:lstStyle/>
          <a:p>
            <a:pPr algn="l"/>
            <a:r>
              <a:rPr sz="3000" b="0">
                <a:solidFill>
                  <a:srgbClr val="FBE0A0"/>
                </a:solidFill>
                <a:latin typeface="Ailerons"/>
              </a:rPr>
              <a:t>3</a:t>
            </a:r>
          </a:p>
        </p:txBody>
      </p:sp>
      <p:sp>
        <p:nvSpPr>
          <p:cNvPr id="333" name="TextBox 332"/>
          <p:cNvSpPr txBox="1"/>
          <p:nvPr/>
        </p:nvSpPr>
        <p:spPr>
          <a:xfrm>
            <a:off x="4251960" y="3749039"/>
            <a:ext cx="1691640" cy="240066"/>
          </a:xfrm>
          <a:prstGeom prst="rect">
            <a:avLst/>
          </a:prstGeom>
          <a:noFill/>
        </p:spPr>
        <p:txBody>
          <a:bodyPr wrap="square" lIns="45720" tIns="27432" rIns="45720" bIns="27432" anchor="t">
            <a:spAutoFit/>
          </a:bodyPr>
          <a:lstStyle/>
          <a:p>
            <a:pPr algn="l"/>
            <a:r>
              <a:rPr sz="1200" b="0">
                <a:solidFill>
                  <a:schemeClr val="bg1"/>
                </a:solidFill>
                <a:latin typeface="Raleway"/>
              </a:rPr>
              <a:t>oficinas en España</a:t>
            </a:r>
            <a:endParaRPr lang="es-ES" sz="1200" b="0">
              <a:solidFill>
                <a:schemeClr val="bg1"/>
              </a:solidFill>
              <a:latin typeface="Raleway"/>
            </a:endParaRPr>
          </a:p>
        </p:txBody>
      </p:sp>
      <p:sp>
        <p:nvSpPr>
          <p:cNvPr id="151" name="Graphic 17"/>
          <p:cNvSpPr/>
          <p:nvPr/>
        </p:nvSpPr>
        <p:spPr>
          <a:xfrm>
            <a:off x="10007600" y="2235200"/>
            <a:ext cx="1778000" cy="1282700"/>
          </a:xfrm>
          <a:custGeom>
            <a:avLst/>
            <a:gdLst>
              <a:gd name="textAreaLeft" fmla="*/ 0 w 2796480"/>
              <a:gd name="textAreaRight" fmla="*/ 2796840 w 2796480"/>
              <a:gd name="textAreaTop" fmla="*/ 0 h 2294640"/>
              <a:gd name="textAreaBottom" fmla="*/ 2295000 h 2294640"/>
            </a:gdLst>
            <a:ahLst/>
            <a:cxnLst/>
            <a:rect l="textAreaLeft" t="textAreaTop" r="textAreaRight" b="textAreaBottom"/>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rotWithShape="0">
            <a:blip r:embed="rId4"/>
            <a:srcRect/>
            <a:stretch/>
          </a:blipFill>
          <a:ln w="47880" cap="rnd">
            <a:solidFill>
              <a:srgbClr val="3D5457"/>
            </a:solidFill>
            <a:round/>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52" name="Graphic 17"/>
          <p:cNvSpPr/>
          <p:nvPr/>
        </p:nvSpPr>
        <p:spPr>
          <a:xfrm>
            <a:off x="8064500" y="2235200"/>
            <a:ext cx="1778000" cy="1282700"/>
          </a:xfrm>
          <a:custGeom>
            <a:avLst/>
            <a:gdLst>
              <a:gd name="textAreaLeft" fmla="*/ 0 w 2796480"/>
              <a:gd name="textAreaRight" fmla="*/ 2796840 w 2796480"/>
              <a:gd name="textAreaTop" fmla="*/ 0 h 2294640"/>
              <a:gd name="textAreaBottom" fmla="*/ 2295000 h 2294640"/>
            </a:gdLst>
            <a:ahLst/>
            <a:cxnLst/>
            <a:rect l="textAreaLeft" t="textAreaTop" r="textAreaRight" b="textAreaBottom"/>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rotWithShape="0">
            <a:blip r:embed="rId5"/>
            <a:srcRect/>
            <a:stretch/>
          </a:blipFill>
          <a:ln w="47880" cap="rnd">
            <a:solidFill>
              <a:srgbClr val="5E7B7A"/>
            </a:solidFill>
            <a:round/>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53" name="Graphic 17"/>
          <p:cNvSpPr/>
          <p:nvPr/>
        </p:nvSpPr>
        <p:spPr>
          <a:xfrm>
            <a:off x="6121400" y="2235200"/>
            <a:ext cx="1778000" cy="1282700"/>
          </a:xfrm>
          <a:custGeom>
            <a:avLst/>
            <a:gdLst>
              <a:gd name="textAreaLeft" fmla="*/ 0 w 2796480"/>
              <a:gd name="textAreaRight" fmla="*/ 2796840 w 2796480"/>
              <a:gd name="textAreaTop" fmla="*/ 0 h 2294640"/>
              <a:gd name="textAreaBottom" fmla="*/ 2295000 h 2294640"/>
            </a:gdLst>
            <a:ahLst/>
            <a:cxnLst/>
            <a:rect l="textAreaLeft" t="textAreaTop" r="textAreaRight" b="textAreaBottom"/>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rotWithShape="0">
            <a:blip r:embed="rId6"/>
            <a:srcRect/>
            <a:stretch/>
          </a:blipFill>
          <a:ln w="47880" cap="rnd">
            <a:solidFill>
              <a:srgbClr val="3D5457"/>
            </a:solidFill>
            <a:round/>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67" name="CuadroTexto 22"/>
          <p:cNvSpPr txBox="1"/>
          <p:nvPr/>
        </p:nvSpPr>
        <p:spPr>
          <a:xfrm>
            <a:off x="6121400" y="3632200"/>
            <a:ext cx="1778000" cy="254000"/>
          </a:xfrm>
          <a:prstGeom prst="rect">
            <a:avLst/>
          </a:prstGeom>
          <a:noFill/>
          <a:ln w="0">
            <a:noFill/>
          </a:ln>
        </p:spPr>
        <p:txBody>
          <a:bodyPr anchor="t">
            <a:noAutofit/>
          </a:bodyPr>
          <a:lstStyle/>
          <a:p>
            <a:pPr algn="ctr">
              <a:lnSpc>
                <a:spcPct val="100000"/>
              </a:lnSpc>
            </a:pPr>
            <a:r>
              <a:rPr lang="es-ES" sz="1300" b="1" spc="20">
                <a:solidFill>
                  <a:srgbClr val="313244"/>
                </a:solidFill>
                <a:latin typeface="Raleway Black"/>
              </a:rPr>
              <a:t>MADRID</a:t>
            </a:r>
          </a:p>
        </p:txBody>
      </p:sp>
      <p:sp>
        <p:nvSpPr>
          <p:cNvPr id="168" name="CuadroTexto 23"/>
          <p:cNvSpPr txBox="1"/>
          <p:nvPr/>
        </p:nvSpPr>
        <p:spPr>
          <a:xfrm>
            <a:off x="6121400" y="3873500"/>
            <a:ext cx="1778000" cy="228600"/>
          </a:xfrm>
          <a:prstGeom prst="rect">
            <a:avLst/>
          </a:prstGeom>
          <a:noFill/>
          <a:ln w="0">
            <a:noFill/>
          </a:ln>
        </p:spPr>
        <p:txBody>
          <a:bodyPr anchor="t">
            <a:noAutofit/>
          </a:bodyPr>
          <a:lstStyle/>
          <a:p>
            <a:pPr algn="ctr">
              <a:lnSpc>
                <a:spcPct val="100000"/>
              </a:lnSpc>
            </a:pPr>
            <a:r>
              <a:rPr lang="es-ES" sz="1100" b="0">
                <a:solidFill>
                  <a:srgbClr val="33384A"/>
                </a:solidFill>
                <a:latin typeface="Raleway"/>
              </a:rPr>
              <a:t>Sede central</a:t>
            </a:r>
          </a:p>
        </p:txBody>
      </p:sp>
      <p:sp>
        <p:nvSpPr>
          <p:cNvPr id="169" name="CuadroTexto 25"/>
          <p:cNvSpPr txBox="1"/>
          <p:nvPr/>
        </p:nvSpPr>
        <p:spPr>
          <a:xfrm>
            <a:off x="8064500" y="3632200"/>
            <a:ext cx="1778000" cy="254000"/>
          </a:xfrm>
          <a:prstGeom prst="rect">
            <a:avLst/>
          </a:prstGeom>
          <a:noFill/>
          <a:ln w="0">
            <a:noFill/>
          </a:ln>
        </p:spPr>
        <p:txBody>
          <a:bodyPr anchor="t">
            <a:noAutofit/>
          </a:bodyPr>
          <a:lstStyle/>
          <a:p>
            <a:pPr algn="ctr">
              <a:lnSpc>
                <a:spcPct val="100000"/>
              </a:lnSpc>
            </a:pPr>
            <a:r>
              <a:rPr lang="es-ES" sz="1300" b="1" spc="20">
                <a:solidFill>
                  <a:srgbClr val="313244"/>
                </a:solidFill>
                <a:latin typeface="Raleway Black"/>
              </a:rPr>
              <a:t>BILBAO</a:t>
            </a:r>
          </a:p>
        </p:txBody>
      </p:sp>
      <p:sp>
        <p:nvSpPr>
          <p:cNvPr id="170" name="CuadroTexto 26"/>
          <p:cNvSpPr txBox="1"/>
          <p:nvPr/>
        </p:nvSpPr>
        <p:spPr>
          <a:xfrm>
            <a:off x="8064500" y="3873500"/>
            <a:ext cx="1778000" cy="228600"/>
          </a:xfrm>
          <a:prstGeom prst="rect">
            <a:avLst/>
          </a:prstGeom>
          <a:noFill/>
          <a:ln w="0">
            <a:noFill/>
          </a:ln>
        </p:spPr>
        <p:txBody>
          <a:bodyPr anchor="t">
            <a:noAutofit/>
          </a:bodyPr>
          <a:lstStyle/>
          <a:p>
            <a:pPr algn="ctr">
              <a:lnSpc>
                <a:spcPct val="100000"/>
              </a:lnSpc>
            </a:pPr>
            <a:r>
              <a:rPr lang="es-ES" sz="1100" b="0">
                <a:solidFill>
                  <a:srgbClr val="33384A"/>
                </a:solidFill>
                <a:latin typeface="Raleway"/>
              </a:rPr>
              <a:t>País Vasco · España</a:t>
            </a:r>
          </a:p>
        </p:txBody>
      </p:sp>
      <p:sp>
        <p:nvSpPr>
          <p:cNvPr id="171" name="CuadroTexto 28"/>
          <p:cNvSpPr txBox="1"/>
          <p:nvPr/>
        </p:nvSpPr>
        <p:spPr>
          <a:xfrm>
            <a:off x="10007600" y="3632200"/>
            <a:ext cx="1778000" cy="254000"/>
          </a:xfrm>
          <a:prstGeom prst="rect">
            <a:avLst/>
          </a:prstGeom>
          <a:noFill/>
          <a:ln w="0">
            <a:noFill/>
          </a:ln>
        </p:spPr>
        <p:txBody>
          <a:bodyPr anchor="t">
            <a:noAutofit/>
          </a:bodyPr>
          <a:lstStyle/>
          <a:p>
            <a:pPr algn="ctr">
              <a:lnSpc>
                <a:spcPct val="100000"/>
              </a:lnSpc>
            </a:pPr>
            <a:r>
              <a:rPr lang="es-ES" sz="1300" b="1" spc="20">
                <a:solidFill>
                  <a:srgbClr val="313244"/>
                </a:solidFill>
                <a:latin typeface="Raleway Black"/>
              </a:rPr>
              <a:t>OVIEDO</a:t>
            </a:r>
          </a:p>
        </p:txBody>
      </p:sp>
      <p:sp>
        <p:nvSpPr>
          <p:cNvPr id="172" name="CuadroTexto 29"/>
          <p:cNvSpPr txBox="1"/>
          <p:nvPr/>
        </p:nvSpPr>
        <p:spPr>
          <a:xfrm>
            <a:off x="10007600" y="3873500"/>
            <a:ext cx="1778000" cy="228600"/>
          </a:xfrm>
          <a:prstGeom prst="rect">
            <a:avLst/>
          </a:prstGeom>
          <a:noFill/>
          <a:ln w="0">
            <a:noFill/>
          </a:ln>
        </p:spPr>
        <p:txBody>
          <a:bodyPr anchor="t">
            <a:noAutofit/>
          </a:bodyPr>
          <a:lstStyle/>
          <a:p>
            <a:pPr algn="ctr">
              <a:lnSpc>
                <a:spcPct val="100000"/>
              </a:lnSpc>
            </a:pPr>
            <a:r>
              <a:rPr lang="es-ES" sz="1100" b="0">
                <a:solidFill>
                  <a:srgbClr val="33384A"/>
                </a:solidFill>
                <a:latin typeface="Raleway"/>
              </a:rPr>
              <a:t>Asturias · España</a:t>
            </a:r>
          </a:p>
        </p:txBody>
      </p:sp>
      <p:sp>
        <p:nvSpPr>
          <p:cNvPr id="173" name="Rectángulo redondeado 3"/>
          <p:cNvSpPr/>
          <p:nvPr/>
        </p:nvSpPr>
        <p:spPr>
          <a:xfrm>
            <a:off x="444600" y="4759920"/>
            <a:ext cx="11353680" cy="914400"/>
          </a:xfrm>
          <a:custGeom>
            <a:avLst/>
            <a:gdLst>
              <a:gd name="textAreaLeft" fmla="*/ 44640 w 11353680"/>
              <a:gd name="textAreaRight" fmla="*/ 11309040 w 11353680"/>
              <a:gd name="textAreaTop" fmla="*/ 44640 h 914400"/>
              <a:gd name="textAreaBottom" fmla="*/ 869760 h 914400"/>
            </a:gdLst>
            <a:ahLst/>
            <a:cxnLst/>
            <a:rect l="textAreaLeft" t="textAreaTop" r="textAreaRight" b="textAreaBottom"/>
            <a:pathLst>
              <a:path w="268100" h="21600">
                <a:moveTo>
                  <a:pt x="3600" y="0"/>
                </a:moveTo>
                <a:arcTo wR="3600" hR="3600" stAng="16200000" swAng="-5400000"/>
                <a:lnTo>
                  <a:pt x="0" y="18000"/>
                </a:lnTo>
                <a:arcTo wR="3600" hR="3600" stAng="10800000" swAng="-5400000"/>
                <a:lnTo>
                  <a:pt x="264500" y="21600"/>
                </a:lnTo>
                <a:arcTo wR="3600" hR="3600" stAng="5400000" swAng="-5400000"/>
                <a:lnTo>
                  <a:pt x="268100" y="3600"/>
                </a:lnTo>
                <a:arcTo wR="3600" hR="3600" stAng="0" swAng="-5400000"/>
                <a:close/>
              </a:path>
            </a:pathLst>
          </a:custGeom>
          <a:solidFill>
            <a:srgbClr val="FBF6E9"/>
          </a:solidFill>
          <a:ln w="12600">
            <a:solidFill>
              <a:srgbClr val="E3C87A"/>
            </a:solidFill>
            <a:miter/>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0" name="Rectángulo 4"/>
          <p:cNvSpPr/>
          <p:nvPr/>
        </p:nvSpPr>
        <p:spPr>
          <a:xfrm>
            <a:off x="4191120" y="4899600"/>
            <a:ext cx="15120" cy="635040"/>
          </a:xfrm>
          <a:custGeom>
            <a:avLst/>
            <a:gdLst/>
            <a:ahLst/>
            <a:cxnLst/>
            <a:rect l="l" t="t" r="r" b="b"/>
            <a:pathLst>
              <a:path w="21600" h="21600">
                <a:moveTo>
                  <a:pt x="0" y="0"/>
                </a:moveTo>
                <a:lnTo>
                  <a:pt x="21600" y="0"/>
                </a:lnTo>
                <a:lnTo>
                  <a:pt x="21600" y="21600"/>
                </a:lnTo>
                <a:lnTo>
                  <a:pt x="0" y="21600"/>
                </a:lnTo>
                <a:close/>
              </a:path>
            </a:pathLst>
          </a:custGeom>
          <a:solidFill>
            <a:srgbClr val="E0DCC8"/>
          </a:solidFill>
          <a:ln w="0">
            <a:noFill/>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1" name="Rectángulo 5"/>
          <p:cNvSpPr/>
          <p:nvPr/>
        </p:nvSpPr>
        <p:spPr>
          <a:xfrm>
            <a:off x="7975440" y="4899600"/>
            <a:ext cx="15120" cy="635040"/>
          </a:xfrm>
          <a:custGeom>
            <a:avLst/>
            <a:gdLst/>
            <a:ahLst/>
            <a:cxnLst/>
            <a:rect l="l" t="t" r="r" b="b"/>
            <a:pathLst>
              <a:path w="21600" h="21600">
                <a:moveTo>
                  <a:pt x="0" y="0"/>
                </a:moveTo>
                <a:lnTo>
                  <a:pt x="21600" y="0"/>
                </a:lnTo>
                <a:lnTo>
                  <a:pt x="21600" y="21600"/>
                </a:lnTo>
                <a:lnTo>
                  <a:pt x="0" y="21600"/>
                </a:lnTo>
                <a:close/>
              </a:path>
            </a:pathLst>
          </a:custGeom>
          <a:solidFill>
            <a:srgbClr val="E0DCC8"/>
          </a:solidFill>
          <a:ln w="0">
            <a:noFill/>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2" name="CuadroTexto 12"/>
          <p:cNvSpPr txBox="1"/>
          <p:nvPr/>
        </p:nvSpPr>
        <p:spPr>
          <a:xfrm>
            <a:off x="723900" y="4861440"/>
            <a:ext cx="3048120" cy="431640"/>
          </a:xfrm>
          <a:prstGeom prst="rect">
            <a:avLst/>
          </a:prstGeom>
          <a:noFill/>
          <a:ln w="0">
            <a:noFill/>
          </a:ln>
        </p:spPr>
        <p:txBody>
          <a:bodyPr anchor="t">
            <a:noAutofit/>
          </a:bodyPr>
          <a:lstStyle/>
          <a:p>
            <a:pPr>
              <a:lnSpc>
                <a:spcPct val="100000"/>
              </a:lnSpc>
            </a:pPr>
            <a:r>
              <a:rPr lang="es-ES" sz="2200" b="0" strike="noStrike" spc="-1">
                <a:solidFill>
                  <a:srgbClr val="3D5457"/>
                </a:solidFill>
                <a:latin typeface="Ailerons"/>
              </a:rPr>
              <a:t>BOUTIQUE</a:t>
            </a:r>
            <a:endParaRPr lang="en-US" sz="2200" b="0" strike="noStrike" spc="-1">
              <a:solidFill>
                <a:srgbClr val="000000"/>
              </a:solidFill>
              <a:latin typeface="Arial"/>
            </a:endParaRPr>
          </a:p>
        </p:txBody>
      </p:sp>
      <p:sp>
        <p:nvSpPr>
          <p:cNvPr id="193" name="CuadroTexto 13"/>
          <p:cNvSpPr txBox="1"/>
          <p:nvPr/>
        </p:nvSpPr>
        <p:spPr>
          <a:xfrm>
            <a:off x="723900" y="5242680"/>
            <a:ext cx="330192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Equipo senior en cada proyecto.</a:t>
            </a:r>
            <a:endParaRPr lang="en-US" sz="1400" b="0" strike="noStrike" spc="-1">
              <a:solidFill>
                <a:srgbClr val="000000"/>
              </a:solidFill>
              <a:latin typeface="Arial"/>
            </a:endParaRPr>
          </a:p>
        </p:txBody>
      </p:sp>
      <p:sp>
        <p:nvSpPr>
          <p:cNvPr id="194" name="CuadroTexto 16"/>
          <p:cNvSpPr txBox="1"/>
          <p:nvPr/>
        </p:nvSpPr>
        <p:spPr>
          <a:xfrm>
            <a:off x="4508500" y="4861440"/>
            <a:ext cx="3174840" cy="431640"/>
          </a:xfrm>
          <a:prstGeom prst="rect">
            <a:avLst/>
          </a:prstGeom>
          <a:noFill/>
          <a:ln w="0">
            <a:noFill/>
          </a:ln>
        </p:spPr>
        <p:txBody>
          <a:bodyPr anchor="t">
            <a:noAutofit/>
          </a:bodyPr>
          <a:lstStyle/>
          <a:p>
            <a:pPr>
              <a:lnSpc>
                <a:spcPct val="100000"/>
              </a:lnSpc>
            </a:pPr>
            <a:r>
              <a:rPr lang="es-ES" sz="2200" b="0" strike="noStrike" spc="-1">
                <a:solidFill>
                  <a:srgbClr val="3D5457"/>
                </a:solidFill>
                <a:latin typeface="Ailerons"/>
              </a:rPr>
              <a:t>TRATO DIRECTO</a:t>
            </a:r>
            <a:endParaRPr lang="en-US" sz="2200" b="0" strike="noStrike" spc="-1">
              <a:solidFill>
                <a:srgbClr val="000000"/>
              </a:solidFill>
              <a:latin typeface="Arial"/>
            </a:endParaRPr>
          </a:p>
        </p:txBody>
      </p:sp>
      <p:sp>
        <p:nvSpPr>
          <p:cNvPr id="195" name="CuadroTexto 17"/>
          <p:cNvSpPr txBox="1"/>
          <p:nvPr/>
        </p:nvSpPr>
        <p:spPr>
          <a:xfrm>
            <a:off x="4508500" y="5242680"/>
            <a:ext cx="332748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Un interlocutor, de tú a tú.</a:t>
            </a:r>
            <a:endParaRPr lang="en-US" sz="1400" b="0" strike="noStrike" spc="-1">
              <a:solidFill>
                <a:srgbClr val="000000"/>
              </a:solidFill>
              <a:latin typeface="Arial"/>
            </a:endParaRPr>
          </a:p>
        </p:txBody>
      </p:sp>
      <p:sp>
        <p:nvSpPr>
          <p:cNvPr id="196" name="CuadroTexto 19"/>
          <p:cNvSpPr txBox="1"/>
          <p:nvPr/>
        </p:nvSpPr>
        <p:spPr>
          <a:xfrm>
            <a:off x="8293100" y="4861440"/>
            <a:ext cx="3365640" cy="431640"/>
          </a:xfrm>
          <a:prstGeom prst="rect">
            <a:avLst/>
          </a:prstGeom>
          <a:noFill/>
          <a:ln w="0">
            <a:noFill/>
          </a:ln>
        </p:spPr>
        <p:txBody>
          <a:bodyPr anchor="t">
            <a:noAutofit/>
          </a:bodyPr>
          <a:lstStyle/>
          <a:p>
            <a:pPr>
              <a:lnSpc>
                <a:spcPct val="100000"/>
              </a:lnSpc>
            </a:pPr>
            <a:r>
              <a:rPr lang="es-ES" sz="2200" b="0" strike="noStrike" spc="-1">
                <a:solidFill>
                  <a:srgbClr val="3D5457"/>
                </a:solidFill>
                <a:latin typeface="Ailerons"/>
              </a:rPr>
              <a:t>VISIÓN DE NEGOCIO</a:t>
            </a:r>
            <a:endParaRPr lang="en-US" sz="2200" b="0" strike="noStrike" spc="-1">
              <a:solidFill>
                <a:srgbClr val="000000"/>
              </a:solidFill>
              <a:latin typeface="Arial"/>
            </a:endParaRPr>
          </a:p>
        </p:txBody>
      </p:sp>
      <p:sp>
        <p:nvSpPr>
          <p:cNvPr id="197" name="CuadroTexto 20"/>
          <p:cNvSpPr txBox="1"/>
          <p:nvPr/>
        </p:nvSpPr>
        <p:spPr>
          <a:xfrm>
            <a:off x="8293100" y="5242680"/>
            <a:ext cx="337824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Al servicio de la tesis de inversión.</a:t>
            </a:r>
            <a:endParaRPr lang="en-US" sz="1400" b="0" strike="noStrike" spc="-1">
              <a:solidFill>
                <a:srgbClr val="000000"/>
              </a:solidFill>
              <a:latin typeface="Arial"/>
            </a:endParaRPr>
          </a:p>
        </p:txBody>
      </p:sp>
    </p:spTree>
    <p:extLst>
      <p:ext uri="{BB962C8B-B14F-4D97-AF65-F5344CB8AC3E}">
        <p14:creationId xmlns:p14="http://schemas.microsoft.com/office/powerpoint/2010/main" val="20829799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a:extLst>
            <a:ext uri="{FF2B5EF4-FFF2-40B4-BE49-F238E27FC236}">
              <a16:creationId xmlns:a16="http://schemas.microsoft.com/office/drawing/2014/main" id="{505E4602-CDF8-462D-2C2E-D9686CAE5C90}"/>
            </a:ext>
          </a:extLst>
        </p:cNvPr>
        <p:cNvGrpSpPr/>
        <p:nvPr/>
      </p:nvGrpSpPr>
      <p:grpSpPr>
        <a:xfrm>
          <a:off x="0" y="0"/>
          <a:ext cx="0" cy="0"/>
          <a:chOff x="0" y="0"/>
          <a:chExt cx="0" cy="0"/>
        </a:xfrm>
      </p:grpSpPr>
      <p:pic>
        <p:nvPicPr>
          <p:cNvPr id="276" name="Image 0" descr="preencoded.png">
            <a:extLst>
              <a:ext uri="{FF2B5EF4-FFF2-40B4-BE49-F238E27FC236}">
                <a16:creationId xmlns:a16="http://schemas.microsoft.com/office/drawing/2014/main" id="{669E1FCF-1ED8-7A72-9D0F-7F9DBCFF6A87}"/>
              </a:ext>
            </a:extLst>
          </p:cNvPr>
          <p:cNvPicPr/>
          <p:nvPr/>
        </p:nvPicPr>
        <p:blipFill>
          <a:blip r:embed="rId3"/>
          <a:stretch/>
        </p:blipFill>
        <p:spPr>
          <a:xfrm>
            <a:off x="128160" y="-18360"/>
            <a:ext cx="887040" cy="237600"/>
          </a:xfrm>
          <a:prstGeom prst="rect">
            <a:avLst/>
          </a:prstGeom>
          <a:ln w="19080">
            <a:noFill/>
          </a:ln>
        </p:spPr>
      </p:pic>
      <p:cxnSp>
        <p:nvCxnSpPr>
          <p:cNvPr id="321" name="Straight Connector 5">
            <a:extLst>
              <a:ext uri="{FF2B5EF4-FFF2-40B4-BE49-F238E27FC236}">
                <a16:creationId xmlns:a16="http://schemas.microsoft.com/office/drawing/2014/main" id="{105F0980-8163-9B73-8F52-A0129D536223}"/>
              </a:ext>
            </a:extLst>
          </p:cNvPr>
          <p:cNvCxnSpPr/>
          <p:nvPr/>
        </p:nvCxnSpPr>
        <p:spPr>
          <a:xfrm>
            <a:off x="0" y="190440"/>
            <a:ext cx="12279600" cy="360"/>
          </a:xfrm>
          <a:prstGeom prst="straightConnector1">
            <a:avLst/>
          </a:prstGeom>
          <a:ln w="19080">
            <a:solidFill>
              <a:srgbClr val="202031"/>
            </a:solidFill>
            <a:miter/>
          </a:ln>
        </p:spPr>
      </p:cxnSp>
      <p:sp>
        <p:nvSpPr>
          <p:cNvPr id="319" name="TextBox 13">
            <a:extLst>
              <a:ext uri="{FF2B5EF4-FFF2-40B4-BE49-F238E27FC236}">
                <a16:creationId xmlns:a16="http://schemas.microsoft.com/office/drawing/2014/main" id="{5CF1CC5C-0771-7160-CB2B-532E660ECBA8}"/>
              </a:ext>
            </a:extLst>
          </p:cNvPr>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NOSOTROS</a:t>
            </a:r>
            <a:endParaRPr lang="en-US" sz="1000" b="0" strike="noStrike" spc="-1">
              <a:solidFill>
                <a:srgbClr val="000000"/>
              </a:solidFill>
              <a:latin typeface="Arial"/>
            </a:endParaRPr>
          </a:p>
        </p:txBody>
      </p:sp>
      <p:sp>
        <p:nvSpPr>
          <p:cNvPr id="318" name="TextBox 15">
            <a:extLst>
              <a:ext uri="{FF2B5EF4-FFF2-40B4-BE49-F238E27FC236}">
                <a16:creationId xmlns:a16="http://schemas.microsoft.com/office/drawing/2014/main" id="{69DE93D8-957E-F724-6423-51C5A7C34C86}"/>
              </a:ext>
            </a:extLst>
          </p:cNvPr>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320" name="TextBox 19">
            <a:extLst>
              <a:ext uri="{FF2B5EF4-FFF2-40B4-BE49-F238E27FC236}">
                <a16:creationId xmlns:a16="http://schemas.microsoft.com/office/drawing/2014/main" id="{1475E191-D7DE-4640-2008-222D31F6BAE8}"/>
              </a:ext>
            </a:extLst>
          </p:cNvPr>
          <p:cNvSpPr txBox="1"/>
          <p:nvPr/>
        </p:nvSpPr>
        <p:spPr>
          <a:xfrm>
            <a:off x="8281800" y="-23760"/>
            <a:ext cx="31788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TESSERA EN UNA PÁGINA</a:t>
            </a:r>
            <a:endParaRPr lang="en-US" sz="1000" b="0" strike="noStrike" spc="-1">
              <a:solidFill>
                <a:srgbClr val="000000"/>
              </a:solidFill>
              <a:latin typeface="Arial"/>
            </a:endParaRPr>
          </a:p>
        </p:txBody>
      </p:sp>
      <p:sp>
        <p:nvSpPr>
          <p:cNvPr id="322" name="TextBox 321">
            <a:extLst>
              <a:ext uri="{FF2B5EF4-FFF2-40B4-BE49-F238E27FC236}">
                <a16:creationId xmlns:a16="http://schemas.microsoft.com/office/drawing/2014/main" id="{2E1BB188-BDA9-922B-FEEE-D3308CBA3A5B}"/>
              </a:ext>
            </a:extLst>
          </p:cNvPr>
          <p:cNvSpPr txBox="1"/>
          <p:nvPr/>
        </p:nvSpPr>
        <p:spPr>
          <a:xfrm>
            <a:off x="411480" y="625793"/>
            <a:ext cx="11247120" cy="794064"/>
          </a:xfrm>
          <a:prstGeom prst="rect">
            <a:avLst/>
          </a:prstGeom>
          <a:noFill/>
        </p:spPr>
        <p:txBody>
          <a:bodyPr wrap="square" lIns="45720" tIns="27432" rIns="45720" bIns="27432" anchor="t">
            <a:spAutoFit/>
          </a:bodyPr>
          <a:lstStyle/>
          <a:p>
            <a:r>
              <a:rPr sz="4800" spc="-151" err="1">
                <a:solidFill>
                  <a:srgbClr val="202031"/>
                </a:solidFill>
                <a:latin typeface="Raleway Medium"/>
              </a:rPr>
              <a:t>Tessera</a:t>
            </a:r>
            <a:r>
              <a:rPr sz="4800" spc="-151">
                <a:solidFill>
                  <a:srgbClr val="202031"/>
                </a:solidFill>
                <a:latin typeface="Raleway Medium"/>
              </a:rPr>
              <a:t> en una página</a:t>
            </a:r>
            <a:endParaRPr lang="es-ES" sz="4800" spc="-151">
              <a:solidFill>
                <a:srgbClr val="202031"/>
              </a:solidFill>
              <a:latin typeface="Raleway Medium"/>
            </a:endParaRPr>
          </a:p>
        </p:txBody>
      </p:sp>
      <p:sp>
        <p:nvSpPr>
          <p:cNvPr id="312" name="TextBox 3">
            <a:extLst>
              <a:ext uri="{FF2B5EF4-FFF2-40B4-BE49-F238E27FC236}">
                <a16:creationId xmlns:a16="http://schemas.microsoft.com/office/drawing/2014/main" id="{0CA7A15A-201D-4958-2781-6D36D46FC0EA}"/>
              </a:ext>
            </a:extLst>
          </p:cNvPr>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02</a:t>
            </a:r>
            <a:endParaRPr lang="en-US" sz="4000" b="0" strike="noStrike" spc="-1">
              <a:solidFill>
                <a:srgbClr val="000000"/>
              </a:solidFill>
              <a:latin typeface="Arial"/>
            </a:endParaRPr>
          </a:p>
        </p:txBody>
      </p:sp>
      <p:sp>
        <p:nvSpPr>
          <p:cNvPr id="323" name="TextBox 322">
            <a:extLst>
              <a:ext uri="{FF2B5EF4-FFF2-40B4-BE49-F238E27FC236}">
                <a16:creationId xmlns:a16="http://schemas.microsoft.com/office/drawing/2014/main" id="{CD2AA1DA-5B12-6694-695F-40D77513BBF6}"/>
              </a:ext>
            </a:extLst>
          </p:cNvPr>
          <p:cNvSpPr txBox="1"/>
          <p:nvPr/>
        </p:nvSpPr>
        <p:spPr>
          <a:xfrm>
            <a:off x="457200" y="1280160"/>
            <a:ext cx="5486400" cy="393954"/>
          </a:xfrm>
          <a:prstGeom prst="rect">
            <a:avLst/>
          </a:prstGeom>
          <a:noFill/>
        </p:spPr>
        <p:txBody>
          <a:bodyPr wrap="square" lIns="45720" tIns="27432" rIns="45720" bIns="27432" anchor="t">
            <a:spAutoFit/>
          </a:bodyPr>
          <a:lstStyle/>
          <a:p>
            <a:pPr algn="l"/>
            <a:r>
              <a:rPr sz="2200" b="0">
                <a:solidFill>
                  <a:srgbClr val="202031"/>
                </a:solidFill>
                <a:latin typeface="Raleway Light"/>
              </a:rPr>
              <a:t>Mejores </a:t>
            </a:r>
            <a:r>
              <a:rPr sz="2200" b="0" err="1">
                <a:solidFill>
                  <a:srgbClr val="202031"/>
                </a:solidFill>
                <a:latin typeface="Raleway Light"/>
              </a:rPr>
              <a:t>decisiones</a:t>
            </a:r>
            <a:r>
              <a:rPr sz="2200" b="0">
                <a:solidFill>
                  <a:srgbClr val="202031"/>
                </a:solidFill>
                <a:latin typeface="Raleway Light"/>
              </a:rPr>
              <a:t>, </a:t>
            </a:r>
            <a:r>
              <a:rPr sz="2200" b="1" err="1">
                <a:solidFill>
                  <a:srgbClr val="587579"/>
                </a:solidFill>
                <a:latin typeface="Raleway ExtraBold"/>
              </a:rPr>
              <a:t>juntos</a:t>
            </a:r>
            <a:r>
              <a:rPr sz="2200" b="0">
                <a:solidFill>
                  <a:srgbClr val="202031"/>
                </a:solidFill>
                <a:latin typeface="Raleway Light"/>
              </a:rPr>
              <a:t>.</a:t>
            </a:r>
          </a:p>
        </p:txBody>
      </p:sp>
      <p:sp>
        <p:nvSpPr>
          <p:cNvPr id="324" name="TextBox 323">
            <a:extLst>
              <a:ext uri="{FF2B5EF4-FFF2-40B4-BE49-F238E27FC236}">
                <a16:creationId xmlns:a16="http://schemas.microsoft.com/office/drawing/2014/main" id="{179F6461-E4FC-D931-32BB-CB978EA3FCCD}"/>
              </a:ext>
            </a:extLst>
          </p:cNvPr>
          <p:cNvSpPr txBox="1"/>
          <p:nvPr/>
        </p:nvSpPr>
        <p:spPr>
          <a:xfrm>
            <a:off x="457200" y="1874519"/>
            <a:ext cx="5394960" cy="1005840"/>
          </a:xfrm>
          <a:prstGeom prst="rect">
            <a:avLst/>
          </a:prstGeom>
          <a:noFill/>
        </p:spPr>
        <p:txBody>
          <a:bodyPr wrap="square" lIns="45720" tIns="27432" rIns="45720" bIns="27432" anchor="t">
            <a:spAutoFit/>
          </a:bodyPr>
          <a:lstStyle/>
          <a:p>
            <a:pPr algn="l"/>
            <a:r>
              <a:rPr sz="1200" b="0">
                <a:solidFill>
                  <a:srgbClr val="202031"/>
                </a:solidFill>
                <a:latin typeface="Raleway"/>
              </a:rPr>
              <a:t>Consultoría estratégica en Finanzas y Talento para compañías, inversores y sus participadas. Un equipo senior que se integra en el proyecto y responde por el resultado.</a:t>
            </a:r>
          </a:p>
        </p:txBody>
      </p:sp>
      <p:sp>
        <p:nvSpPr>
          <p:cNvPr id="325" name="Rounded Rectangle 324">
            <a:extLst>
              <a:ext uri="{FF2B5EF4-FFF2-40B4-BE49-F238E27FC236}">
                <a16:creationId xmlns:a16="http://schemas.microsoft.com/office/drawing/2014/main" id="{37F0D8F9-D3AB-F50A-9F81-72127EDCC48D}"/>
              </a:ext>
            </a:extLst>
          </p:cNvPr>
          <p:cNvSpPr/>
          <p:nvPr/>
        </p:nvSpPr>
        <p:spPr>
          <a:xfrm>
            <a:off x="457200" y="3017520"/>
            <a:ext cx="5486400" cy="1417320"/>
          </a:xfrm>
          <a:prstGeom prst="roundRect">
            <a:avLst>
              <a:gd name="adj" fmla="val 14000"/>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6" name="TextBox 325">
            <a:extLst>
              <a:ext uri="{FF2B5EF4-FFF2-40B4-BE49-F238E27FC236}">
                <a16:creationId xmlns:a16="http://schemas.microsoft.com/office/drawing/2014/main" id="{ABD8B5A6-55A7-52B8-7FA7-83302705EC73}"/>
              </a:ext>
            </a:extLst>
          </p:cNvPr>
          <p:cNvSpPr txBox="1"/>
          <p:nvPr/>
        </p:nvSpPr>
        <p:spPr>
          <a:xfrm>
            <a:off x="685800" y="3127248"/>
            <a:ext cx="1737360" cy="547842"/>
          </a:xfrm>
          <a:prstGeom prst="rect">
            <a:avLst/>
          </a:prstGeom>
          <a:noFill/>
        </p:spPr>
        <p:txBody>
          <a:bodyPr wrap="square" lIns="45720" tIns="27432" rIns="45720" bIns="27432" anchor="t">
            <a:spAutoFit/>
          </a:bodyPr>
          <a:lstStyle/>
          <a:p>
            <a:pPr algn="l"/>
            <a:r>
              <a:rPr sz="3200" b="0">
                <a:solidFill>
                  <a:srgbClr val="FBE0A0"/>
                </a:solidFill>
                <a:latin typeface="Ailerons"/>
              </a:rPr>
              <a:t>2</a:t>
            </a:r>
            <a:endParaRPr lang="es-ES" sz="3200" b="0">
              <a:solidFill>
                <a:srgbClr val="FBE0A0"/>
              </a:solidFill>
              <a:latin typeface="Ailerons"/>
            </a:endParaRPr>
          </a:p>
        </p:txBody>
      </p:sp>
      <p:sp>
        <p:nvSpPr>
          <p:cNvPr id="327" name="TextBox 326">
            <a:extLst>
              <a:ext uri="{FF2B5EF4-FFF2-40B4-BE49-F238E27FC236}">
                <a16:creationId xmlns:a16="http://schemas.microsoft.com/office/drawing/2014/main" id="{BBD2ABE9-EB82-5D87-363B-5B63A8862B76}"/>
              </a:ext>
            </a:extLst>
          </p:cNvPr>
          <p:cNvSpPr txBox="1"/>
          <p:nvPr/>
        </p:nvSpPr>
        <p:spPr>
          <a:xfrm>
            <a:off x="685800" y="3749039"/>
            <a:ext cx="1691640" cy="424732"/>
          </a:xfrm>
          <a:prstGeom prst="rect">
            <a:avLst/>
          </a:prstGeom>
          <a:noFill/>
        </p:spPr>
        <p:txBody>
          <a:bodyPr wrap="square" lIns="45720" tIns="27432" rIns="45720" bIns="27432" anchor="t">
            <a:spAutoFit/>
          </a:bodyPr>
          <a:lstStyle/>
          <a:p>
            <a:pPr algn="l"/>
            <a:r>
              <a:rPr sz="1200" b="0">
                <a:solidFill>
                  <a:schemeClr val="bg1"/>
                </a:solidFill>
                <a:latin typeface="Raleway"/>
              </a:rPr>
              <a:t>áreas: </a:t>
            </a:r>
            <a:r>
              <a:rPr sz="1200" b="0" err="1">
                <a:solidFill>
                  <a:schemeClr val="bg1"/>
                </a:solidFill>
                <a:latin typeface="Raleway"/>
              </a:rPr>
              <a:t>Finance</a:t>
            </a:r>
            <a:r>
              <a:rPr sz="1200" b="0">
                <a:solidFill>
                  <a:schemeClr val="bg1"/>
                </a:solidFill>
                <a:latin typeface="Raleway"/>
              </a:rPr>
              <a:t> y Human Capital</a:t>
            </a:r>
            <a:endParaRPr lang="es-ES" sz="1200" b="0">
              <a:solidFill>
                <a:schemeClr val="bg1"/>
              </a:solidFill>
              <a:latin typeface="Raleway"/>
            </a:endParaRPr>
          </a:p>
        </p:txBody>
      </p:sp>
      <p:cxnSp>
        <p:nvCxnSpPr>
          <p:cNvPr id="328" name="Connector 327">
            <a:extLst>
              <a:ext uri="{FF2B5EF4-FFF2-40B4-BE49-F238E27FC236}">
                <a16:creationId xmlns:a16="http://schemas.microsoft.com/office/drawing/2014/main" id="{11C5EA16-64C6-39B3-CB65-96E9EF346F07}"/>
              </a:ext>
            </a:extLst>
          </p:cNvPr>
          <p:cNvCxnSpPr/>
          <p:nvPr/>
        </p:nvCxnSpPr>
        <p:spPr>
          <a:xfrm>
            <a:off x="2331720" y="3246120"/>
            <a:ext cx="0" cy="1005840"/>
          </a:xfrm>
          <a:prstGeom prst="line">
            <a:avLst/>
          </a:prstGeom>
          <a:ln w="9525">
            <a:solidFill>
              <a:srgbClr val="FBE0A0"/>
            </a:solidFill>
          </a:ln>
        </p:spPr>
        <p:style>
          <a:lnRef idx="2">
            <a:schemeClr val="accent1"/>
          </a:lnRef>
          <a:fillRef idx="0">
            <a:schemeClr val="accent1"/>
          </a:fillRef>
          <a:effectRef idx="1">
            <a:schemeClr val="accent1"/>
          </a:effectRef>
          <a:fontRef idx="minor">
            <a:schemeClr val="tx1"/>
          </a:fontRef>
        </p:style>
      </p:cxnSp>
      <p:sp>
        <p:nvSpPr>
          <p:cNvPr id="329" name="TextBox 328">
            <a:extLst>
              <a:ext uri="{FF2B5EF4-FFF2-40B4-BE49-F238E27FC236}">
                <a16:creationId xmlns:a16="http://schemas.microsoft.com/office/drawing/2014/main" id="{5895580D-8403-CE90-8F90-3C3C598D210B}"/>
              </a:ext>
            </a:extLst>
          </p:cNvPr>
          <p:cNvSpPr txBox="1"/>
          <p:nvPr/>
        </p:nvSpPr>
        <p:spPr>
          <a:xfrm>
            <a:off x="2468880" y="3127248"/>
            <a:ext cx="1737360" cy="640080"/>
          </a:xfrm>
          <a:prstGeom prst="rect">
            <a:avLst/>
          </a:prstGeom>
          <a:noFill/>
        </p:spPr>
        <p:txBody>
          <a:bodyPr wrap="square" lIns="45720" tIns="27432" rIns="45720" bIns="27432" anchor="t">
            <a:spAutoFit/>
          </a:bodyPr>
          <a:lstStyle/>
          <a:p>
            <a:pPr algn="l"/>
            <a:r>
              <a:rPr sz="3000" b="0">
                <a:solidFill>
                  <a:srgbClr val="FBE0A0"/>
                </a:solidFill>
                <a:latin typeface="Ailerons"/>
              </a:rPr>
              <a:t>+21</a:t>
            </a:r>
          </a:p>
        </p:txBody>
      </p:sp>
      <p:sp>
        <p:nvSpPr>
          <p:cNvPr id="330" name="TextBox 329">
            <a:extLst>
              <a:ext uri="{FF2B5EF4-FFF2-40B4-BE49-F238E27FC236}">
                <a16:creationId xmlns:a16="http://schemas.microsoft.com/office/drawing/2014/main" id="{C46F7D39-670E-1BA3-5E65-8A1CD8EFFB4D}"/>
              </a:ext>
            </a:extLst>
          </p:cNvPr>
          <p:cNvSpPr txBox="1"/>
          <p:nvPr/>
        </p:nvSpPr>
        <p:spPr>
          <a:xfrm>
            <a:off x="2468880" y="3749039"/>
            <a:ext cx="1691640" cy="424732"/>
          </a:xfrm>
          <a:prstGeom prst="rect">
            <a:avLst/>
          </a:prstGeom>
          <a:noFill/>
        </p:spPr>
        <p:txBody>
          <a:bodyPr wrap="square" lIns="45720" tIns="27432" rIns="45720" bIns="27432" anchor="t">
            <a:spAutoFit/>
          </a:bodyPr>
          <a:lstStyle/>
          <a:p>
            <a:pPr algn="l"/>
            <a:r>
              <a:rPr sz="1200" b="0">
                <a:solidFill>
                  <a:schemeClr val="bg1"/>
                </a:solidFill>
                <a:latin typeface="Raleway"/>
              </a:rPr>
              <a:t>consultores y equipo de </a:t>
            </a:r>
            <a:r>
              <a:rPr sz="1200" b="0" err="1">
                <a:solidFill>
                  <a:schemeClr val="bg1"/>
                </a:solidFill>
                <a:latin typeface="Raleway"/>
              </a:rPr>
              <a:t>CFOs</a:t>
            </a:r>
            <a:endParaRPr lang="es-ES" sz="1200" b="0">
              <a:solidFill>
                <a:schemeClr val="bg1"/>
              </a:solidFill>
              <a:latin typeface="Raleway"/>
            </a:endParaRPr>
          </a:p>
        </p:txBody>
      </p:sp>
      <p:cxnSp>
        <p:nvCxnSpPr>
          <p:cNvPr id="331" name="Connector 330">
            <a:extLst>
              <a:ext uri="{FF2B5EF4-FFF2-40B4-BE49-F238E27FC236}">
                <a16:creationId xmlns:a16="http://schemas.microsoft.com/office/drawing/2014/main" id="{9357AD8B-2333-B2E4-D2B4-B2A0A2D29335}"/>
              </a:ext>
            </a:extLst>
          </p:cNvPr>
          <p:cNvCxnSpPr/>
          <p:nvPr/>
        </p:nvCxnSpPr>
        <p:spPr>
          <a:xfrm>
            <a:off x="4114800" y="3246120"/>
            <a:ext cx="0" cy="1005840"/>
          </a:xfrm>
          <a:prstGeom prst="line">
            <a:avLst/>
          </a:prstGeom>
          <a:ln w="9525">
            <a:solidFill>
              <a:srgbClr val="FBE0A0"/>
            </a:solidFill>
          </a:ln>
        </p:spPr>
        <p:style>
          <a:lnRef idx="2">
            <a:schemeClr val="accent1"/>
          </a:lnRef>
          <a:fillRef idx="0">
            <a:schemeClr val="accent1"/>
          </a:fillRef>
          <a:effectRef idx="1">
            <a:schemeClr val="accent1"/>
          </a:effectRef>
          <a:fontRef idx="minor">
            <a:schemeClr val="tx1"/>
          </a:fontRef>
        </p:style>
      </p:cxnSp>
      <p:sp>
        <p:nvSpPr>
          <p:cNvPr id="332" name="TextBox 331">
            <a:extLst>
              <a:ext uri="{FF2B5EF4-FFF2-40B4-BE49-F238E27FC236}">
                <a16:creationId xmlns:a16="http://schemas.microsoft.com/office/drawing/2014/main" id="{686CBA4B-AB16-A047-1D99-2A7B8C3296AE}"/>
              </a:ext>
            </a:extLst>
          </p:cNvPr>
          <p:cNvSpPr txBox="1"/>
          <p:nvPr/>
        </p:nvSpPr>
        <p:spPr>
          <a:xfrm>
            <a:off x="4251960" y="3127248"/>
            <a:ext cx="1737360" cy="640080"/>
          </a:xfrm>
          <a:prstGeom prst="rect">
            <a:avLst/>
          </a:prstGeom>
          <a:noFill/>
        </p:spPr>
        <p:txBody>
          <a:bodyPr wrap="square" lIns="45720" tIns="27432" rIns="45720" bIns="27432" anchor="t">
            <a:spAutoFit/>
          </a:bodyPr>
          <a:lstStyle/>
          <a:p>
            <a:pPr algn="l"/>
            <a:r>
              <a:rPr sz="3000" b="0">
                <a:solidFill>
                  <a:srgbClr val="FBE0A0"/>
                </a:solidFill>
                <a:latin typeface="Ailerons"/>
              </a:rPr>
              <a:t>3</a:t>
            </a:r>
          </a:p>
        </p:txBody>
      </p:sp>
      <p:sp>
        <p:nvSpPr>
          <p:cNvPr id="333" name="TextBox 332">
            <a:extLst>
              <a:ext uri="{FF2B5EF4-FFF2-40B4-BE49-F238E27FC236}">
                <a16:creationId xmlns:a16="http://schemas.microsoft.com/office/drawing/2014/main" id="{F68F3D68-7B3E-BB06-F97D-B09D71F26FEE}"/>
              </a:ext>
            </a:extLst>
          </p:cNvPr>
          <p:cNvSpPr txBox="1"/>
          <p:nvPr/>
        </p:nvSpPr>
        <p:spPr>
          <a:xfrm>
            <a:off x="4251960" y="3749039"/>
            <a:ext cx="1691640" cy="240066"/>
          </a:xfrm>
          <a:prstGeom prst="rect">
            <a:avLst/>
          </a:prstGeom>
          <a:noFill/>
        </p:spPr>
        <p:txBody>
          <a:bodyPr wrap="square" lIns="45720" tIns="27432" rIns="45720" bIns="27432" anchor="t">
            <a:spAutoFit/>
          </a:bodyPr>
          <a:lstStyle/>
          <a:p>
            <a:pPr algn="l"/>
            <a:r>
              <a:rPr sz="1200" b="0">
                <a:solidFill>
                  <a:schemeClr val="bg1"/>
                </a:solidFill>
                <a:latin typeface="Raleway"/>
              </a:rPr>
              <a:t>oficinas en España</a:t>
            </a:r>
            <a:endParaRPr lang="es-ES" sz="1200" b="0">
              <a:solidFill>
                <a:schemeClr val="bg1"/>
              </a:solidFill>
              <a:latin typeface="Raleway"/>
            </a:endParaRPr>
          </a:p>
        </p:txBody>
      </p:sp>
      <p:sp>
        <p:nvSpPr>
          <p:cNvPr id="153" name="Graphic 17">
            <a:extLst>
              <a:ext uri="{FF2B5EF4-FFF2-40B4-BE49-F238E27FC236}">
                <a16:creationId xmlns:a16="http://schemas.microsoft.com/office/drawing/2014/main" id="{D7DE604B-F5F2-AC0F-044E-5B599B7310D5}"/>
              </a:ext>
            </a:extLst>
          </p:cNvPr>
          <p:cNvSpPr/>
          <p:nvPr/>
        </p:nvSpPr>
        <p:spPr>
          <a:xfrm>
            <a:off x="7713785" y="1473200"/>
            <a:ext cx="2569307" cy="2015392"/>
          </a:xfrm>
          <a:custGeom>
            <a:avLst/>
            <a:gdLst>
              <a:gd name="textAreaLeft" fmla="*/ 0 w 2796480"/>
              <a:gd name="textAreaRight" fmla="*/ 2796840 w 2796480"/>
              <a:gd name="textAreaTop" fmla="*/ 0 h 2294640"/>
              <a:gd name="textAreaBottom" fmla="*/ 2295000 h 2294640"/>
            </a:gdLst>
            <a:ahLst/>
            <a:cxnLst/>
            <a:rect l="textAreaLeft" t="textAreaTop" r="textAreaRight" b="textAreaBottom"/>
            <a:pathLst>
              <a:path w="2765447" h="2294737">
                <a:moveTo>
                  <a:pt x="2420120" y="305991"/>
                </a:moveTo>
                <a:cubicBezTo>
                  <a:pt x="2960867" y="786662"/>
                  <a:pt x="2840701" y="1567742"/>
                  <a:pt x="2239870" y="1988324"/>
                </a:cubicBezTo>
                <a:cubicBezTo>
                  <a:pt x="1699122" y="2360839"/>
                  <a:pt x="918042" y="2408906"/>
                  <a:pt x="437378" y="2048407"/>
                </a:cubicBezTo>
                <a:cubicBezTo>
                  <a:pt x="-43287" y="1687908"/>
                  <a:pt x="-163453" y="906828"/>
                  <a:pt x="257129" y="426157"/>
                </a:cubicBezTo>
                <a:cubicBezTo>
                  <a:pt x="677711" y="-54508"/>
                  <a:pt x="1879372" y="-174674"/>
                  <a:pt x="2420120" y="305991"/>
                </a:cubicBezTo>
                <a:close/>
              </a:path>
            </a:pathLst>
          </a:custGeom>
          <a:blipFill rotWithShape="0">
            <a:blip r:embed="rId4"/>
            <a:srcRect/>
            <a:stretch/>
          </a:blipFill>
          <a:ln w="47880" cap="rnd">
            <a:solidFill>
              <a:srgbClr val="3D5457"/>
            </a:solidFill>
            <a:round/>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67" name="CuadroTexto 22">
            <a:extLst>
              <a:ext uri="{FF2B5EF4-FFF2-40B4-BE49-F238E27FC236}">
                <a16:creationId xmlns:a16="http://schemas.microsoft.com/office/drawing/2014/main" id="{9D0F109C-0A32-560B-36F2-6DE7B62ABBE7}"/>
              </a:ext>
            </a:extLst>
          </p:cNvPr>
          <p:cNvSpPr txBox="1"/>
          <p:nvPr/>
        </p:nvSpPr>
        <p:spPr>
          <a:xfrm>
            <a:off x="7713785" y="3808047"/>
            <a:ext cx="2569307" cy="400538"/>
          </a:xfrm>
          <a:prstGeom prst="rect">
            <a:avLst/>
          </a:prstGeom>
          <a:noFill/>
          <a:ln w="0">
            <a:noFill/>
          </a:ln>
        </p:spPr>
        <p:txBody>
          <a:bodyPr anchor="t">
            <a:noAutofit/>
          </a:bodyPr>
          <a:lstStyle/>
          <a:p>
            <a:pPr algn="ctr">
              <a:lnSpc>
                <a:spcPct val="100000"/>
              </a:lnSpc>
            </a:pPr>
            <a:r>
              <a:rPr lang="es-ES" sz="1300" b="1" spc="20">
                <a:solidFill>
                  <a:srgbClr val="313244"/>
                </a:solidFill>
                <a:latin typeface="Raleway Black"/>
              </a:rPr>
              <a:t>MADRID</a:t>
            </a:r>
          </a:p>
        </p:txBody>
      </p:sp>
      <p:sp>
        <p:nvSpPr>
          <p:cNvPr id="168" name="CuadroTexto 23">
            <a:extLst>
              <a:ext uri="{FF2B5EF4-FFF2-40B4-BE49-F238E27FC236}">
                <a16:creationId xmlns:a16="http://schemas.microsoft.com/office/drawing/2014/main" id="{8A5BC1CA-F063-B3A7-342C-AEA66A56AD10}"/>
              </a:ext>
            </a:extLst>
          </p:cNvPr>
          <p:cNvSpPr txBox="1"/>
          <p:nvPr/>
        </p:nvSpPr>
        <p:spPr>
          <a:xfrm>
            <a:off x="7713785" y="4068885"/>
            <a:ext cx="2569307" cy="355600"/>
          </a:xfrm>
          <a:prstGeom prst="rect">
            <a:avLst/>
          </a:prstGeom>
          <a:noFill/>
          <a:ln w="0">
            <a:noFill/>
          </a:ln>
        </p:spPr>
        <p:txBody>
          <a:bodyPr anchor="t">
            <a:noAutofit/>
          </a:bodyPr>
          <a:lstStyle/>
          <a:p>
            <a:pPr algn="ctr">
              <a:lnSpc>
                <a:spcPct val="100000"/>
              </a:lnSpc>
            </a:pPr>
            <a:r>
              <a:rPr lang="es-ES" sz="1100" b="0">
                <a:solidFill>
                  <a:srgbClr val="33384A"/>
                </a:solidFill>
                <a:latin typeface="Raleway"/>
              </a:rPr>
              <a:t>Sede central</a:t>
            </a:r>
          </a:p>
        </p:txBody>
      </p:sp>
      <p:sp>
        <p:nvSpPr>
          <p:cNvPr id="173" name="Rectángulo redondeado 3">
            <a:extLst>
              <a:ext uri="{FF2B5EF4-FFF2-40B4-BE49-F238E27FC236}">
                <a16:creationId xmlns:a16="http://schemas.microsoft.com/office/drawing/2014/main" id="{46B4FECF-446B-6C10-2C60-8CA8AB239C9D}"/>
              </a:ext>
            </a:extLst>
          </p:cNvPr>
          <p:cNvSpPr/>
          <p:nvPr/>
        </p:nvSpPr>
        <p:spPr>
          <a:xfrm>
            <a:off x="442646" y="5017828"/>
            <a:ext cx="11353680" cy="914400"/>
          </a:xfrm>
          <a:custGeom>
            <a:avLst/>
            <a:gdLst>
              <a:gd name="textAreaLeft" fmla="*/ 44640 w 11353680"/>
              <a:gd name="textAreaRight" fmla="*/ 11309040 w 11353680"/>
              <a:gd name="textAreaTop" fmla="*/ 44640 h 914400"/>
              <a:gd name="textAreaBottom" fmla="*/ 869760 h 914400"/>
            </a:gdLst>
            <a:ahLst/>
            <a:cxnLst/>
            <a:rect l="textAreaLeft" t="textAreaTop" r="textAreaRight" b="textAreaBottom"/>
            <a:pathLst>
              <a:path w="268100" h="21600">
                <a:moveTo>
                  <a:pt x="3600" y="0"/>
                </a:moveTo>
                <a:arcTo wR="3600" hR="3600" stAng="16200000" swAng="-5400000"/>
                <a:lnTo>
                  <a:pt x="0" y="18000"/>
                </a:lnTo>
                <a:arcTo wR="3600" hR="3600" stAng="10800000" swAng="-5400000"/>
                <a:lnTo>
                  <a:pt x="264500" y="21600"/>
                </a:lnTo>
                <a:arcTo wR="3600" hR="3600" stAng="5400000" swAng="-5400000"/>
                <a:lnTo>
                  <a:pt x="268100" y="3600"/>
                </a:lnTo>
                <a:arcTo wR="3600" hR="3600" stAng="0" swAng="-5400000"/>
                <a:close/>
              </a:path>
            </a:pathLst>
          </a:custGeom>
          <a:solidFill>
            <a:srgbClr val="FBF6E9"/>
          </a:solidFill>
          <a:ln w="12600">
            <a:solidFill>
              <a:srgbClr val="E3C87A"/>
            </a:solidFill>
            <a:miter/>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0" name="Rectángulo 4">
            <a:extLst>
              <a:ext uri="{FF2B5EF4-FFF2-40B4-BE49-F238E27FC236}">
                <a16:creationId xmlns:a16="http://schemas.microsoft.com/office/drawing/2014/main" id="{54BD5588-5157-98E7-A910-C7F139D1F12E}"/>
              </a:ext>
            </a:extLst>
          </p:cNvPr>
          <p:cNvSpPr/>
          <p:nvPr/>
        </p:nvSpPr>
        <p:spPr>
          <a:xfrm>
            <a:off x="4189166" y="5157508"/>
            <a:ext cx="15120" cy="635040"/>
          </a:xfrm>
          <a:custGeom>
            <a:avLst/>
            <a:gdLst/>
            <a:ahLst/>
            <a:cxnLst/>
            <a:rect l="l" t="t" r="r" b="b"/>
            <a:pathLst>
              <a:path w="21600" h="21600">
                <a:moveTo>
                  <a:pt x="0" y="0"/>
                </a:moveTo>
                <a:lnTo>
                  <a:pt x="21600" y="0"/>
                </a:lnTo>
                <a:lnTo>
                  <a:pt x="21600" y="21600"/>
                </a:lnTo>
                <a:lnTo>
                  <a:pt x="0" y="21600"/>
                </a:lnTo>
                <a:close/>
              </a:path>
            </a:pathLst>
          </a:custGeom>
          <a:solidFill>
            <a:srgbClr val="E0DCC8"/>
          </a:solidFill>
          <a:ln w="0">
            <a:noFill/>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1" name="Rectángulo 5">
            <a:extLst>
              <a:ext uri="{FF2B5EF4-FFF2-40B4-BE49-F238E27FC236}">
                <a16:creationId xmlns:a16="http://schemas.microsoft.com/office/drawing/2014/main" id="{0ABBD47B-DF8D-C33C-536E-E42F2C8BFEBF}"/>
              </a:ext>
            </a:extLst>
          </p:cNvPr>
          <p:cNvSpPr/>
          <p:nvPr/>
        </p:nvSpPr>
        <p:spPr>
          <a:xfrm>
            <a:off x="7973486" y="5157508"/>
            <a:ext cx="15120" cy="635040"/>
          </a:xfrm>
          <a:custGeom>
            <a:avLst/>
            <a:gdLst/>
            <a:ahLst/>
            <a:cxnLst/>
            <a:rect l="l" t="t" r="r" b="b"/>
            <a:pathLst>
              <a:path w="21600" h="21600">
                <a:moveTo>
                  <a:pt x="0" y="0"/>
                </a:moveTo>
                <a:lnTo>
                  <a:pt x="21600" y="0"/>
                </a:lnTo>
                <a:lnTo>
                  <a:pt x="21600" y="21600"/>
                </a:lnTo>
                <a:lnTo>
                  <a:pt x="0" y="21600"/>
                </a:lnTo>
                <a:close/>
              </a:path>
            </a:pathLst>
          </a:custGeom>
          <a:solidFill>
            <a:srgbClr val="E0DCC8"/>
          </a:solidFill>
          <a:ln w="0">
            <a:noFill/>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2" name="CuadroTexto 12">
            <a:extLst>
              <a:ext uri="{FF2B5EF4-FFF2-40B4-BE49-F238E27FC236}">
                <a16:creationId xmlns:a16="http://schemas.microsoft.com/office/drawing/2014/main" id="{4E3B1AFA-7127-90C5-905D-19C9FA055466}"/>
              </a:ext>
            </a:extLst>
          </p:cNvPr>
          <p:cNvSpPr txBox="1"/>
          <p:nvPr/>
        </p:nvSpPr>
        <p:spPr>
          <a:xfrm>
            <a:off x="721946" y="5119348"/>
            <a:ext cx="3048120" cy="431640"/>
          </a:xfrm>
          <a:prstGeom prst="rect">
            <a:avLst/>
          </a:prstGeom>
          <a:noFill/>
          <a:ln w="0">
            <a:noFill/>
          </a:ln>
        </p:spPr>
        <p:txBody>
          <a:bodyPr anchor="t">
            <a:noAutofit/>
          </a:bodyPr>
          <a:lstStyle/>
          <a:p>
            <a:pPr>
              <a:lnSpc>
                <a:spcPct val="100000"/>
              </a:lnSpc>
            </a:pPr>
            <a:r>
              <a:rPr lang="es-ES" sz="2200" b="0" strike="noStrike" spc="-1">
                <a:solidFill>
                  <a:srgbClr val="3D5457"/>
                </a:solidFill>
                <a:latin typeface="Ailerons"/>
              </a:rPr>
              <a:t>BOUTIQUE</a:t>
            </a:r>
            <a:endParaRPr lang="en-US" sz="2200" b="0" strike="noStrike" spc="-1">
              <a:solidFill>
                <a:srgbClr val="000000"/>
              </a:solidFill>
              <a:latin typeface="Arial"/>
            </a:endParaRPr>
          </a:p>
        </p:txBody>
      </p:sp>
      <p:sp>
        <p:nvSpPr>
          <p:cNvPr id="193" name="CuadroTexto 13">
            <a:extLst>
              <a:ext uri="{FF2B5EF4-FFF2-40B4-BE49-F238E27FC236}">
                <a16:creationId xmlns:a16="http://schemas.microsoft.com/office/drawing/2014/main" id="{35921A8F-CDAD-3DA5-1A31-0D65891453D6}"/>
              </a:ext>
            </a:extLst>
          </p:cNvPr>
          <p:cNvSpPr txBox="1"/>
          <p:nvPr/>
        </p:nvSpPr>
        <p:spPr>
          <a:xfrm>
            <a:off x="721946" y="5500588"/>
            <a:ext cx="330192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Equipo senior en cada proyecto.</a:t>
            </a:r>
            <a:endParaRPr lang="en-US" sz="1400" b="0" strike="noStrike" spc="-1">
              <a:solidFill>
                <a:srgbClr val="000000"/>
              </a:solidFill>
              <a:latin typeface="Arial"/>
            </a:endParaRPr>
          </a:p>
        </p:txBody>
      </p:sp>
      <p:sp>
        <p:nvSpPr>
          <p:cNvPr id="194" name="CuadroTexto 16">
            <a:extLst>
              <a:ext uri="{FF2B5EF4-FFF2-40B4-BE49-F238E27FC236}">
                <a16:creationId xmlns:a16="http://schemas.microsoft.com/office/drawing/2014/main" id="{E8AFE957-7692-0A2F-55C9-00B6F9DD1E53}"/>
              </a:ext>
            </a:extLst>
          </p:cNvPr>
          <p:cNvSpPr txBox="1"/>
          <p:nvPr/>
        </p:nvSpPr>
        <p:spPr>
          <a:xfrm>
            <a:off x="4506546" y="5119348"/>
            <a:ext cx="3174840" cy="431640"/>
          </a:xfrm>
          <a:prstGeom prst="rect">
            <a:avLst/>
          </a:prstGeom>
          <a:noFill/>
          <a:ln w="0">
            <a:noFill/>
          </a:ln>
        </p:spPr>
        <p:txBody>
          <a:bodyPr anchor="t">
            <a:noAutofit/>
          </a:bodyPr>
          <a:lstStyle/>
          <a:p>
            <a:pPr>
              <a:lnSpc>
                <a:spcPct val="100000"/>
              </a:lnSpc>
            </a:pPr>
            <a:r>
              <a:rPr lang="es-ES" sz="2200" b="0" strike="noStrike" spc="-1">
                <a:solidFill>
                  <a:srgbClr val="3D5457"/>
                </a:solidFill>
                <a:latin typeface="Ailerons"/>
              </a:rPr>
              <a:t>TRATO DIRECTO</a:t>
            </a:r>
            <a:endParaRPr lang="en-US" sz="2200" b="0" strike="noStrike" spc="-1">
              <a:solidFill>
                <a:srgbClr val="000000"/>
              </a:solidFill>
              <a:latin typeface="Arial"/>
            </a:endParaRPr>
          </a:p>
        </p:txBody>
      </p:sp>
      <p:sp>
        <p:nvSpPr>
          <p:cNvPr id="195" name="CuadroTexto 17">
            <a:extLst>
              <a:ext uri="{FF2B5EF4-FFF2-40B4-BE49-F238E27FC236}">
                <a16:creationId xmlns:a16="http://schemas.microsoft.com/office/drawing/2014/main" id="{0AA4F037-2597-7D4B-B96A-E49E26052047}"/>
              </a:ext>
            </a:extLst>
          </p:cNvPr>
          <p:cNvSpPr txBox="1"/>
          <p:nvPr/>
        </p:nvSpPr>
        <p:spPr>
          <a:xfrm>
            <a:off x="4506546" y="5500588"/>
            <a:ext cx="332748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Un interlocutor, de tú a tú.</a:t>
            </a:r>
            <a:endParaRPr lang="en-US" sz="1400" b="0" strike="noStrike" spc="-1">
              <a:solidFill>
                <a:srgbClr val="000000"/>
              </a:solidFill>
              <a:latin typeface="Arial"/>
            </a:endParaRPr>
          </a:p>
        </p:txBody>
      </p:sp>
      <p:sp>
        <p:nvSpPr>
          <p:cNvPr id="196" name="CuadroTexto 19">
            <a:extLst>
              <a:ext uri="{FF2B5EF4-FFF2-40B4-BE49-F238E27FC236}">
                <a16:creationId xmlns:a16="http://schemas.microsoft.com/office/drawing/2014/main" id="{9D5C1F7F-AC55-739F-2B0E-757AF0FE5845}"/>
              </a:ext>
            </a:extLst>
          </p:cNvPr>
          <p:cNvSpPr txBox="1"/>
          <p:nvPr/>
        </p:nvSpPr>
        <p:spPr>
          <a:xfrm>
            <a:off x="8291146" y="5119348"/>
            <a:ext cx="3365640" cy="431640"/>
          </a:xfrm>
          <a:prstGeom prst="rect">
            <a:avLst/>
          </a:prstGeom>
          <a:noFill/>
          <a:ln w="0">
            <a:noFill/>
          </a:ln>
        </p:spPr>
        <p:txBody>
          <a:bodyPr anchor="t">
            <a:noAutofit/>
          </a:bodyPr>
          <a:lstStyle/>
          <a:p>
            <a:pPr>
              <a:lnSpc>
                <a:spcPct val="100000"/>
              </a:lnSpc>
            </a:pPr>
            <a:r>
              <a:rPr lang="es-ES" sz="2200" b="0" strike="noStrike" spc="-1">
                <a:solidFill>
                  <a:srgbClr val="3D5457"/>
                </a:solidFill>
                <a:latin typeface="Ailerons"/>
              </a:rPr>
              <a:t>VISIÓN DE NEGOCIO</a:t>
            </a:r>
            <a:endParaRPr lang="en-US" sz="2200" b="0" strike="noStrike" spc="-1">
              <a:solidFill>
                <a:srgbClr val="000000"/>
              </a:solidFill>
              <a:latin typeface="Arial"/>
            </a:endParaRPr>
          </a:p>
        </p:txBody>
      </p:sp>
      <p:sp>
        <p:nvSpPr>
          <p:cNvPr id="197" name="CuadroTexto 20">
            <a:extLst>
              <a:ext uri="{FF2B5EF4-FFF2-40B4-BE49-F238E27FC236}">
                <a16:creationId xmlns:a16="http://schemas.microsoft.com/office/drawing/2014/main" id="{517AA6D5-6291-3B53-C41F-E765C53B8495}"/>
              </a:ext>
            </a:extLst>
          </p:cNvPr>
          <p:cNvSpPr txBox="1"/>
          <p:nvPr/>
        </p:nvSpPr>
        <p:spPr>
          <a:xfrm>
            <a:off x="8291146" y="5500588"/>
            <a:ext cx="337824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Al servicio de la tesis de inversión.</a:t>
            </a:r>
            <a:endParaRPr lang="en-US" sz="1400" b="0" strike="noStrike" spc="-1">
              <a:solidFill>
                <a:srgbClr val="000000"/>
              </a:solidFill>
              <a:latin typeface="Arial"/>
            </a:endParaRPr>
          </a:p>
        </p:txBody>
      </p:sp>
    </p:spTree>
    <p:extLst>
      <p:ext uri="{BB962C8B-B14F-4D97-AF65-F5344CB8AC3E}">
        <p14:creationId xmlns:p14="http://schemas.microsoft.com/office/powerpoint/2010/main" val="217956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19" name="Imagen 32" descr="preencoded.png"/>
          <p:cNvPicPr/>
          <p:nvPr/>
        </p:nvPicPr>
        <p:blipFill>
          <a:blip r:embed="rId3"/>
          <a:stretch/>
        </p:blipFill>
        <p:spPr>
          <a:xfrm>
            <a:off x="-3971074" y="790959"/>
            <a:ext cx="14600160" cy="4645440"/>
          </a:xfrm>
          <a:prstGeom prst="rect">
            <a:avLst/>
          </a:prstGeom>
          <a:ln w="19080">
            <a:noFill/>
          </a:ln>
        </p:spPr>
      </p:pic>
      <p:sp>
        <p:nvSpPr>
          <p:cNvPr id="124" name="TextBox 13"/>
          <p:cNvSpPr txBox="1"/>
          <p:nvPr/>
        </p:nvSpPr>
        <p:spPr>
          <a:xfrm>
            <a:off x="2392920" y="-23760"/>
            <a:ext cx="1820880" cy="246240"/>
          </a:xfrm>
          <a:prstGeom prst="rect">
            <a:avLst/>
          </a:prstGeom>
          <a:noFill/>
          <a:ln w="0">
            <a:noFill/>
          </a:ln>
        </p:spPr>
        <p:txBody>
          <a:bodyPr anchor="t">
            <a:noAutofit/>
          </a:bodyPr>
          <a:lstStyle/>
          <a:p>
            <a:pPr>
              <a:lnSpc>
                <a:spcPct val="100000"/>
              </a:lnSpc>
            </a:pPr>
            <a:r>
              <a:rPr lang="en-US" sz="1000" b="0" strike="noStrike" spc="-1">
                <a:solidFill>
                  <a:srgbClr val="202031"/>
                </a:solidFill>
                <a:latin typeface="Raleway Light"/>
              </a:rPr>
              <a:t>NOSOTROS</a:t>
            </a:r>
            <a:endParaRPr lang="en-US" sz="1000" b="0" strike="noStrike" spc="-1">
              <a:solidFill>
                <a:srgbClr val="000000"/>
              </a:solidFill>
              <a:latin typeface="Arial"/>
            </a:endParaRPr>
          </a:p>
        </p:txBody>
      </p:sp>
      <p:sp>
        <p:nvSpPr>
          <p:cNvPr id="125" name="TextBox 19"/>
          <p:cNvSpPr txBox="1"/>
          <p:nvPr/>
        </p:nvSpPr>
        <p:spPr>
          <a:xfrm>
            <a:off x="8281800" y="-23760"/>
            <a:ext cx="1820880" cy="246240"/>
          </a:xfrm>
          <a:prstGeom prst="rect">
            <a:avLst/>
          </a:prstGeom>
          <a:noFill/>
          <a:ln w="0">
            <a:noFill/>
          </a:ln>
        </p:spPr>
        <p:txBody>
          <a:bodyPr anchor="t">
            <a:noAutofit/>
          </a:bodyPr>
          <a:lstStyle/>
          <a:p>
            <a:pPr>
              <a:lnSpc>
                <a:spcPct val="100000"/>
              </a:lnSpc>
            </a:pPr>
            <a:r>
              <a:rPr lang="en-US" sz="1000" b="0" strike="noStrike" spc="-1">
                <a:solidFill>
                  <a:srgbClr val="202031"/>
                </a:solidFill>
                <a:latin typeface="Raleway Light"/>
              </a:rPr>
              <a:t>NUESTRO EQUIPO</a:t>
            </a:r>
            <a:endParaRPr lang="en-US" sz="1000" b="0" strike="noStrike" spc="-1">
              <a:solidFill>
                <a:srgbClr val="000000"/>
              </a:solidFill>
              <a:latin typeface="Arial"/>
            </a:endParaRPr>
          </a:p>
        </p:txBody>
      </p:sp>
      <p:pic>
        <p:nvPicPr>
          <p:cNvPr id="126" name="Graphic 4"/>
          <p:cNvPicPr/>
          <p:nvPr/>
        </p:nvPicPr>
        <p:blipFill>
          <a:blip>
            <a:extLst>
              <a:ext uri="{96DAC541-7B7A-43D3-8B79-37D633B846F1}">
                <asvg:svgBlip xmlns:asvg="http://schemas.microsoft.com/office/drawing/2016/SVG/main" r:embed="rId4"/>
              </a:ext>
            </a:extLst>
          </a:blip>
          <a:stretch/>
        </p:blipFill>
        <p:spPr>
          <a:xfrm>
            <a:off x="126360" y="-18360"/>
            <a:ext cx="885600" cy="239040"/>
          </a:xfrm>
          <a:prstGeom prst="rect">
            <a:avLst/>
          </a:prstGeom>
          <a:ln w="19080">
            <a:noFill/>
          </a:ln>
        </p:spPr>
      </p:pic>
      <p:cxnSp>
        <p:nvCxnSpPr>
          <p:cNvPr id="127" name="Straight Connector 5"/>
          <p:cNvCxnSpPr/>
          <p:nvPr/>
        </p:nvCxnSpPr>
        <p:spPr>
          <a:xfrm>
            <a:off x="0" y="190440"/>
            <a:ext cx="12279600" cy="360"/>
          </a:xfrm>
          <a:prstGeom prst="straightConnector1">
            <a:avLst/>
          </a:prstGeom>
          <a:ln w="19080">
            <a:solidFill>
              <a:srgbClr val="202031"/>
            </a:solidFill>
            <a:miter/>
          </a:ln>
        </p:spPr>
      </p:cxnSp>
      <p:sp>
        <p:nvSpPr>
          <p:cNvPr id="128" name="TextBox 1"/>
          <p:cNvSpPr txBox="1"/>
          <p:nvPr/>
        </p:nvSpPr>
        <p:spPr>
          <a:xfrm>
            <a:off x="276374" y="725909"/>
            <a:ext cx="11247120" cy="777240"/>
          </a:xfrm>
          <a:prstGeom prst="rect">
            <a:avLst/>
          </a:prstGeom>
          <a:noFill/>
          <a:ln w="0">
            <a:noFill/>
          </a:ln>
        </p:spPr>
        <p:txBody>
          <a:bodyPr lIns="45720" tIns="27432" rIns="91440" bIns="45720" anchor="t">
            <a:noAutofit/>
          </a:bodyPr>
          <a:lstStyle/>
          <a:p>
            <a:pPr>
              <a:lnSpc>
                <a:spcPct val="100000"/>
              </a:lnSpc>
            </a:pPr>
            <a:r>
              <a:rPr lang="es-ES" sz="4800" spc="-151">
                <a:solidFill>
                  <a:srgbClr val="202031"/>
                </a:solidFill>
                <a:latin typeface="Raleway Medium"/>
              </a:rPr>
              <a:t>El Equipo</a:t>
            </a:r>
          </a:p>
          <a:p>
            <a:endParaRPr lang="es-ES" sz="4000" spc="-151">
              <a:solidFill>
                <a:srgbClr val="5A757A"/>
              </a:solidFill>
              <a:latin typeface="Raleway Medium"/>
            </a:endParaRPr>
          </a:p>
        </p:txBody>
      </p:sp>
      <p:sp>
        <p:nvSpPr>
          <p:cNvPr id="129" name="Rectangle 1"/>
          <p:cNvSpPr/>
          <p:nvPr/>
        </p:nvSpPr>
        <p:spPr>
          <a:xfrm>
            <a:off x="0" y="-9360"/>
            <a:ext cx="12192120" cy="360"/>
          </a:xfrm>
          <a:custGeom>
            <a:avLst/>
            <a:gdLst/>
            <a:ahLst/>
            <a:cxnLst/>
            <a:rect l="l" t="t" r="r" b="b"/>
            <a:pathLst>
              <a:path w="21600" h="21600">
                <a:moveTo>
                  <a:pt x="0" y="0"/>
                </a:moveTo>
                <a:lnTo>
                  <a:pt x="21600" y="0"/>
                </a:lnTo>
                <a:lnTo>
                  <a:pt x="21600" y="21600"/>
                </a:lnTo>
                <a:lnTo>
                  <a:pt x="0" y="21600"/>
                </a:lnTo>
                <a:close/>
              </a:path>
            </a:pathLst>
          </a:custGeom>
          <a:blipFill rotWithShape="0">
            <a:blip r:embed="rId5"/>
            <a:srcRect/>
            <a:stretch/>
          </a:blipFill>
          <a:ln w="0">
            <a:noFill/>
          </a:ln>
        </p:spPr>
        <p:style>
          <a:lnRef idx="0">
            <a:scrgbClr r="0" g="0" b="0"/>
          </a:lnRef>
          <a:fillRef idx="0">
            <a:scrgbClr r="0" g="0" b="0"/>
          </a:fillRef>
          <a:effectRef idx="0">
            <a:scrgbClr r="0" g="0" b="0"/>
          </a:effectRef>
          <a:fontRef idx="minor"/>
        </p:style>
        <p:txBody>
          <a:bodyPr wrap="none" tIns="-45360" bIns="-45360" anchor="ctr">
            <a:spAutoFit/>
          </a:bodyPr>
          <a:lstStyle/>
          <a:p>
            <a:endParaRPr lang="en-US" sz="1800" b="0" strike="noStrike" spc="-1">
              <a:solidFill>
                <a:srgbClr val="000000"/>
              </a:solidFill>
              <a:latin typeface="Arial"/>
            </a:endParaRPr>
          </a:p>
        </p:txBody>
      </p:sp>
      <p:sp>
        <p:nvSpPr>
          <p:cNvPr id="130" name="PlaceHolder 1"/>
          <p:cNvSpPr>
            <a:spLocks noGrp="1"/>
          </p:cNvSpPr>
          <p:nvPr>
            <p:ph type="sldNum" idx="40"/>
          </p:nvPr>
        </p:nvSpPr>
        <p:spPr>
          <a:xfrm>
            <a:off x="8610480" y="6276240"/>
            <a:ext cx="3581280" cy="365040"/>
          </a:xfrm>
          <a:prstGeom prst="rect">
            <a:avLst/>
          </a:prstGeom>
          <a:noFill/>
          <a:ln w="19080">
            <a:noFill/>
          </a:ln>
        </p:spPr>
        <p:txBody>
          <a:bodyPr lIns="91440" tIns="45720" rIns="91440" bIns="45720" anchor="ctr">
            <a:noAutofit/>
          </a:bodyPr>
          <a:lstStyle>
            <a:lvl1pPr indent="0" algn="r">
              <a:lnSpc>
                <a:spcPct val="100000"/>
              </a:lnSpc>
              <a:buNone/>
              <a:defRPr lang="en-US" sz="4000" b="0" strike="noStrike" spc="-151">
                <a:solidFill>
                  <a:srgbClr val="202031"/>
                </a:solidFill>
                <a:latin typeface="Ailerons"/>
              </a:defRPr>
            </a:lvl1pPr>
          </a:lstStyle>
          <a:p>
            <a:pPr indent="0" algn="r">
              <a:lnSpc>
                <a:spcPct val="100000"/>
              </a:lnSpc>
              <a:buNone/>
            </a:pPr>
            <a:r>
              <a:rPr lang="en-US" sz="4000" b="0" strike="noStrike" spc="-151">
                <a:solidFill>
                  <a:srgbClr val="202031"/>
                </a:solidFill>
                <a:latin typeface="Ailerons"/>
              </a:rPr>
              <a:t>03</a:t>
            </a:r>
            <a:endParaRPr lang="en-US" sz="4000" b="0" strike="noStrike" spc="-1">
              <a:solidFill>
                <a:srgbClr val="000000"/>
              </a:solidFill>
              <a:latin typeface="Times New Roman"/>
            </a:endParaRPr>
          </a:p>
        </p:txBody>
      </p:sp>
      <p:sp>
        <p:nvSpPr>
          <p:cNvPr id="146"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147" name="TextBox 146"/>
          <p:cNvSpPr txBox="1"/>
          <p:nvPr/>
        </p:nvSpPr>
        <p:spPr>
          <a:xfrm>
            <a:off x="274320" y="1503495"/>
            <a:ext cx="8229600" cy="301621"/>
          </a:xfrm>
          <a:prstGeom prst="rect">
            <a:avLst/>
          </a:prstGeom>
          <a:noFill/>
        </p:spPr>
        <p:txBody>
          <a:bodyPr wrap="square" lIns="45720" tIns="27432" rIns="45720" bIns="27432" anchor="t">
            <a:spAutoFit/>
          </a:bodyPr>
          <a:lstStyle/>
          <a:p>
            <a:pPr algn="l"/>
            <a:r>
              <a:rPr sz="1600" b="0">
                <a:solidFill>
                  <a:srgbClr val="202031"/>
                </a:solidFill>
                <a:latin typeface="Raleway"/>
              </a:rPr>
              <a:t>Equipo </a:t>
            </a:r>
            <a:r>
              <a:rPr sz="1600" b="0" err="1">
                <a:solidFill>
                  <a:srgbClr val="202031"/>
                </a:solidFill>
                <a:latin typeface="Raleway"/>
              </a:rPr>
              <a:t>directivo</a:t>
            </a:r>
            <a:r>
              <a:rPr sz="1600" b="0">
                <a:solidFill>
                  <a:srgbClr val="202031"/>
                </a:solidFill>
                <a:latin typeface="Raleway"/>
              </a:rPr>
              <a:t> · +21 </a:t>
            </a:r>
            <a:r>
              <a:rPr sz="1600" b="0" err="1">
                <a:solidFill>
                  <a:srgbClr val="202031"/>
                </a:solidFill>
                <a:latin typeface="Raleway"/>
              </a:rPr>
              <a:t>consultores</a:t>
            </a:r>
            <a:r>
              <a:rPr sz="1600" b="0">
                <a:solidFill>
                  <a:srgbClr val="202031"/>
                </a:solidFill>
                <a:latin typeface="Raleway"/>
              </a:rPr>
              <a:t> · </a:t>
            </a:r>
            <a:r>
              <a:rPr sz="1600" b="1">
                <a:solidFill>
                  <a:srgbClr val="202031"/>
                </a:solidFill>
                <a:latin typeface="Raleway"/>
              </a:rPr>
              <a:t>Madrid, Bilbao y Oviedo</a:t>
            </a:r>
            <a:endParaRPr lang="es-ES" sz="1600" b="1">
              <a:solidFill>
                <a:srgbClr val="202031"/>
              </a:solidFill>
              <a:latin typeface="Raleway"/>
            </a:endParaRPr>
          </a:p>
        </p:txBody>
      </p:sp>
      <p:sp>
        <p:nvSpPr>
          <p:cNvPr id="131" name="TextBox 16"/>
          <p:cNvSpPr txBox="1"/>
          <p:nvPr/>
        </p:nvSpPr>
        <p:spPr>
          <a:xfrm>
            <a:off x="1349756"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MANUEL PINA</a:t>
            </a:r>
            <a:endParaRPr lang="en-US" sz="1200" b="0" strike="noStrike" spc="-1">
              <a:solidFill>
                <a:srgbClr val="000000"/>
              </a:solidFill>
              <a:latin typeface="Arial"/>
            </a:endParaRPr>
          </a:p>
        </p:txBody>
      </p:sp>
      <p:sp>
        <p:nvSpPr>
          <p:cNvPr id="132" name="TextBox 17"/>
          <p:cNvSpPr txBox="1"/>
          <p:nvPr/>
        </p:nvSpPr>
        <p:spPr>
          <a:xfrm>
            <a:off x="1349756"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PARTNER · FINANCE</a:t>
            </a:r>
            <a:endParaRPr lang="en-US" sz="1000" b="0" strike="noStrike" spc="-1">
              <a:solidFill>
                <a:srgbClr val="000000"/>
              </a:solidFill>
              <a:latin typeface="Arial"/>
            </a:endParaRPr>
          </a:p>
        </p:txBody>
      </p:sp>
      <p:sp>
        <p:nvSpPr>
          <p:cNvPr id="123" name="Rectangle: Rounded Corners 14"/>
          <p:cNvSpPr/>
          <p:nvPr/>
        </p:nvSpPr>
        <p:spPr>
          <a:xfrm>
            <a:off x="1349756"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Más de 10 años en Big Four en auditoría, due diligence y M&amp;A, y posteriormente CFO en grandes pymes españolas. Lidera Tessera Finance, coordinando el equipo de CFOs, transacciones y asesoramiento financiero estratégico.</a:t>
            </a:r>
            <a:endParaRPr lang="en-US" sz="1000" b="0" strike="noStrike" spc="-1">
              <a:solidFill>
                <a:srgbClr val="000000"/>
              </a:solidFill>
              <a:latin typeface="Arial"/>
            </a:endParaRPr>
          </a:p>
        </p:txBody>
      </p:sp>
      <p:sp>
        <p:nvSpPr>
          <p:cNvPr id="7" name="TextBox 16"/>
          <p:cNvSpPr txBox="1"/>
          <p:nvPr/>
        </p:nvSpPr>
        <p:spPr>
          <a:xfrm>
            <a:off x="4760976"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MÓNICA MAYORAL</a:t>
            </a:r>
            <a:endParaRPr lang="en-US" sz="1200" b="0" strike="noStrike" spc="-1">
              <a:solidFill>
                <a:srgbClr val="000000"/>
              </a:solidFill>
              <a:latin typeface="Arial"/>
            </a:endParaRPr>
          </a:p>
        </p:txBody>
      </p:sp>
      <p:sp>
        <p:nvSpPr>
          <p:cNvPr id="8" name="TextBox 17"/>
          <p:cNvSpPr txBox="1"/>
          <p:nvPr/>
        </p:nvSpPr>
        <p:spPr>
          <a:xfrm>
            <a:off x="4760976"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PARTNER · FINANCE</a:t>
            </a:r>
            <a:endParaRPr lang="en-US" sz="1000" b="0" strike="noStrike" spc="-1">
              <a:solidFill>
                <a:srgbClr val="000000"/>
              </a:solidFill>
              <a:latin typeface="Arial"/>
            </a:endParaRPr>
          </a:p>
        </p:txBody>
      </p:sp>
      <p:sp>
        <p:nvSpPr>
          <p:cNvPr id="9" name="Rectangle: Rounded Corners 14"/>
          <p:cNvSpPr/>
          <p:nvPr/>
        </p:nvSpPr>
        <p:spPr>
          <a:xfrm>
            <a:off x="4760976"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Más de 20 años como Directora Financiera en empresa multinacional, muy involucrada en el día a día de la compañía con visión y estrategia global: reducción de riesgos y planes de crecimiento. Amplia trayectoria en liderazgo y gestión financiera.</a:t>
            </a:r>
            <a:endParaRPr lang="en-US" sz="1000" b="0" strike="noStrike" spc="-1">
              <a:solidFill>
                <a:srgbClr val="000000"/>
              </a:solidFill>
              <a:latin typeface="Arial"/>
            </a:endParaRPr>
          </a:p>
        </p:txBody>
      </p:sp>
      <p:sp>
        <p:nvSpPr>
          <p:cNvPr id="11" name="TextBox 16"/>
          <p:cNvSpPr txBox="1"/>
          <p:nvPr/>
        </p:nvSpPr>
        <p:spPr>
          <a:xfrm>
            <a:off x="8174735"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EDWARD MANRIQUE</a:t>
            </a:r>
            <a:endParaRPr lang="en-US" sz="1200" b="0" strike="noStrike" spc="-1">
              <a:solidFill>
                <a:srgbClr val="000000"/>
              </a:solidFill>
              <a:latin typeface="Arial"/>
            </a:endParaRPr>
          </a:p>
        </p:txBody>
      </p:sp>
      <p:sp>
        <p:nvSpPr>
          <p:cNvPr id="12" name="TextBox 17"/>
          <p:cNvSpPr txBox="1"/>
          <p:nvPr/>
        </p:nvSpPr>
        <p:spPr>
          <a:xfrm>
            <a:off x="8174735"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HEAD OF RECRUITMENT &amp; TALENT OPERATIONS</a:t>
            </a:r>
            <a:endParaRPr lang="en-US" sz="1000" b="0" strike="noStrike" spc="-1">
              <a:solidFill>
                <a:srgbClr val="000000"/>
              </a:solidFill>
              <a:latin typeface="Arial"/>
            </a:endParaRPr>
          </a:p>
        </p:txBody>
      </p:sp>
      <p:sp>
        <p:nvSpPr>
          <p:cNvPr id="13" name="Rectangle: Rounded Corners 14"/>
          <p:cNvSpPr/>
          <p:nvPr/>
        </p:nvSpPr>
        <p:spPr>
          <a:xfrm>
            <a:off x="8174735"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Más de 8 años de experiencia en identificación y evaluación de talento. En Seedtag lideró la contratación de más de 200 profesionales en 16 países, y ha trabajado con grandes entidades financieras internacionales como Santander, BNP Paribas y BBVA.</a:t>
            </a:r>
            <a:endParaRPr lang="en-US" sz="1000" b="0" strike="noStrike" spc="-1">
              <a:solidFill>
                <a:srgbClr val="000000"/>
              </a:solidFill>
              <a:latin typeface="Arial"/>
            </a:endParaRPr>
          </a:p>
        </p:txBody>
      </p:sp>
      <p:pic>
        <p:nvPicPr>
          <p:cNvPr id="20" name="Imagen 19">
            <a:extLst>
              <a:ext uri="{FF2B5EF4-FFF2-40B4-BE49-F238E27FC236}">
                <a16:creationId xmlns:a16="http://schemas.microsoft.com/office/drawing/2014/main" id="{8DE05401-F9B8-774B-66D5-AFEBEAE79025}"/>
              </a:ext>
            </a:extLst>
          </p:cNvPr>
          <p:cNvPicPr>
            <a:picLocks noChangeAspect="1"/>
          </p:cNvPicPr>
          <p:nvPr/>
        </p:nvPicPr>
        <p:blipFill>
          <a:blip r:embed="rId6"/>
          <a:stretch>
            <a:fillRect/>
          </a:stretch>
        </p:blipFill>
        <p:spPr>
          <a:xfrm>
            <a:off x="1473030" y="2043991"/>
            <a:ext cx="2553848" cy="2580869"/>
          </a:xfrm>
          <a:prstGeom prst="rect">
            <a:avLst/>
          </a:prstGeom>
        </p:spPr>
      </p:pic>
      <p:pic>
        <p:nvPicPr>
          <p:cNvPr id="21" name="Imagen 20">
            <a:extLst>
              <a:ext uri="{FF2B5EF4-FFF2-40B4-BE49-F238E27FC236}">
                <a16:creationId xmlns:a16="http://schemas.microsoft.com/office/drawing/2014/main" id="{86C9AD62-9DD8-BE6D-280E-559E5BD34E6B}"/>
              </a:ext>
            </a:extLst>
          </p:cNvPr>
          <p:cNvPicPr>
            <a:picLocks noChangeAspect="1"/>
          </p:cNvPicPr>
          <p:nvPr/>
        </p:nvPicPr>
        <p:blipFill>
          <a:blip r:embed="rId7"/>
          <a:stretch>
            <a:fillRect/>
          </a:stretch>
        </p:blipFill>
        <p:spPr>
          <a:xfrm>
            <a:off x="1899742" y="2645755"/>
            <a:ext cx="1705625" cy="1539671"/>
          </a:xfrm>
          <a:prstGeom prst="rect">
            <a:avLst/>
          </a:prstGeom>
        </p:spPr>
      </p:pic>
      <p:pic>
        <p:nvPicPr>
          <p:cNvPr id="23" name="Imagen 22">
            <a:extLst>
              <a:ext uri="{FF2B5EF4-FFF2-40B4-BE49-F238E27FC236}">
                <a16:creationId xmlns:a16="http://schemas.microsoft.com/office/drawing/2014/main" id="{10E11936-6732-C52D-3C86-D27F440594CD}"/>
              </a:ext>
            </a:extLst>
          </p:cNvPr>
          <p:cNvPicPr>
            <a:picLocks noChangeAspect="1"/>
          </p:cNvPicPr>
          <p:nvPr/>
        </p:nvPicPr>
        <p:blipFill>
          <a:blip r:embed="rId6"/>
          <a:stretch>
            <a:fillRect/>
          </a:stretch>
        </p:blipFill>
        <p:spPr>
          <a:xfrm>
            <a:off x="4862850" y="2053068"/>
            <a:ext cx="2625734" cy="2624000"/>
          </a:xfrm>
          <a:prstGeom prst="rect">
            <a:avLst/>
          </a:prstGeom>
        </p:spPr>
      </p:pic>
      <p:pic>
        <p:nvPicPr>
          <p:cNvPr id="22" name="Imagen 21">
            <a:extLst>
              <a:ext uri="{FF2B5EF4-FFF2-40B4-BE49-F238E27FC236}">
                <a16:creationId xmlns:a16="http://schemas.microsoft.com/office/drawing/2014/main" id="{6F751F56-E1C5-F6FA-EE23-9F96B4893440}"/>
              </a:ext>
            </a:extLst>
          </p:cNvPr>
          <p:cNvPicPr>
            <a:picLocks noChangeAspect="1"/>
          </p:cNvPicPr>
          <p:nvPr/>
        </p:nvPicPr>
        <p:blipFill>
          <a:blip r:embed="rId8"/>
          <a:srcRect r="288" b="13924"/>
          <a:stretch>
            <a:fillRect/>
          </a:stretch>
        </p:blipFill>
        <p:spPr>
          <a:xfrm>
            <a:off x="5283599" y="2530094"/>
            <a:ext cx="1712358" cy="1659861"/>
          </a:xfrm>
          <a:prstGeom prst="rect">
            <a:avLst/>
          </a:prstGeom>
        </p:spPr>
      </p:pic>
      <p:pic>
        <p:nvPicPr>
          <p:cNvPr id="2" name="Imagen 1">
            <a:extLst>
              <a:ext uri="{FF2B5EF4-FFF2-40B4-BE49-F238E27FC236}">
                <a16:creationId xmlns:a16="http://schemas.microsoft.com/office/drawing/2014/main" id="{E6D9EEC6-1973-3DFC-2D66-24BFF14FD136}"/>
              </a:ext>
            </a:extLst>
          </p:cNvPr>
          <p:cNvPicPr>
            <a:picLocks noChangeAspect="1"/>
          </p:cNvPicPr>
          <p:nvPr/>
        </p:nvPicPr>
        <p:blipFill>
          <a:blip r:embed="rId6"/>
          <a:stretch>
            <a:fillRect/>
          </a:stretch>
        </p:blipFill>
        <p:spPr>
          <a:xfrm>
            <a:off x="8278407" y="2043992"/>
            <a:ext cx="2553848" cy="2580869"/>
          </a:xfrm>
          <a:prstGeom prst="rect">
            <a:avLst/>
          </a:prstGeom>
        </p:spPr>
      </p:pic>
      <p:pic>
        <p:nvPicPr>
          <p:cNvPr id="6" name="Imagen 5">
            <a:extLst>
              <a:ext uri="{FF2B5EF4-FFF2-40B4-BE49-F238E27FC236}">
                <a16:creationId xmlns:a16="http://schemas.microsoft.com/office/drawing/2014/main" id="{AD97DD61-CB69-D9D7-478A-6253C4C9EF50}"/>
              </a:ext>
            </a:extLst>
          </p:cNvPr>
          <p:cNvPicPr>
            <a:picLocks noChangeAspect="1"/>
          </p:cNvPicPr>
          <p:nvPr/>
        </p:nvPicPr>
        <p:blipFill>
          <a:blip r:embed="rId9"/>
          <a:srcRect l="17928" r="398" b="666"/>
          <a:stretch>
            <a:fillRect/>
          </a:stretch>
        </p:blipFill>
        <p:spPr>
          <a:xfrm>
            <a:off x="8651081" y="2549150"/>
            <a:ext cx="2445651" cy="162902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2DC1F5B6-04C4-DEB4-6B44-A19074F92327}"/>
            </a:ext>
          </a:extLst>
        </p:cNvPr>
        <p:cNvGrpSpPr/>
        <p:nvPr/>
      </p:nvGrpSpPr>
      <p:grpSpPr>
        <a:xfrm>
          <a:off x="0" y="0"/>
          <a:ext cx="0" cy="0"/>
          <a:chOff x="0" y="0"/>
          <a:chExt cx="0" cy="0"/>
        </a:xfrm>
      </p:grpSpPr>
      <p:pic>
        <p:nvPicPr>
          <p:cNvPr id="23" name="Imagen 22">
            <a:extLst>
              <a:ext uri="{FF2B5EF4-FFF2-40B4-BE49-F238E27FC236}">
                <a16:creationId xmlns:a16="http://schemas.microsoft.com/office/drawing/2014/main" id="{70C53AE8-8DD5-2843-A01B-6721557AF8AD}"/>
              </a:ext>
            </a:extLst>
          </p:cNvPr>
          <p:cNvPicPr>
            <a:picLocks noChangeAspect="1"/>
          </p:cNvPicPr>
          <p:nvPr/>
        </p:nvPicPr>
        <p:blipFill>
          <a:blip r:embed="rId3"/>
          <a:stretch>
            <a:fillRect/>
          </a:stretch>
        </p:blipFill>
        <p:spPr>
          <a:xfrm>
            <a:off x="6310651" y="2053068"/>
            <a:ext cx="2625734" cy="2624000"/>
          </a:xfrm>
          <a:prstGeom prst="rect">
            <a:avLst/>
          </a:prstGeom>
        </p:spPr>
      </p:pic>
      <p:pic>
        <p:nvPicPr>
          <p:cNvPr id="19" name="Imagen 18">
            <a:extLst>
              <a:ext uri="{FF2B5EF4-FFF2-40B4-BE49-F238E27FC236}">
                <a16:creationId xmlns:a16="http://schemas.microsoft.com/office/drawing/2014/main" id="{67565D1F-CC27-D9D0-6B21-B8D76430D029}"/>
              </a:ext>
            </a:extLst>
          </p:cNvPr>
          <p:cNvPicPr>
            <a:picLocks noChangeAspect="1"/>
          </p:cNvPicPr>
          <p:nvPr/>
        </p:nvPicPr>
        <p:blipFill>
          <a:blip r:embed="rId3"/>
          <a:stretch>
            <a:fillRect/>
          </a:stretch>
        </p:blipFill>
        <p:spPr>
          <a:xfrm>
            <a:off x="3430183" y="2043992"/>
            <a:ext cx="2553848" cy="2580869"/>
          </a:xfrm>
          <a:prstGeom prst="rect">
            <a:avLst/>
          </a:prstGeom>
        </p:spPr>
      </p:pic>
      <p:pic>
        <p:nvPicPr>
          <p:cNvPr id="119" name="Imagen 32" descr="preencoded.png">
            <a:extLst>
              <a:ext uri="{FF2B5EF4-FFF2-40B4-BE49-F238E27FC236}">
                <a16:creationId xmlns:a16="http://schemas.microsoft.com/office/drawing/2014/main" id="{22B4FC16-8DBD-532F-299C-56CDE3D28B6F}"/>
              </a:ext>
            </a:extLst>
          </p:cNvPr>
          <p:cNvPicPr/>
          <p:nvPr/>
        </p:nvPicPr>
        <p:blipFill>
          <a:blip r:embed="rId4"/>
          <a:stretch/>
        </p:blipFill>
        <p:spPr>
          <a:xfrm>
            <a:off x="-3971074" y="790959"/>
            <a:ext cx="14600160" cy="4645440"/>
          </a:xfrm>
          <a:prstGeom prst="rect">
            <a:avLst/>
          </a:prstGeom>
          <a:ln w="19080">
            <a:noFill/>
          </a:ln>
        </p:spPr>
      </p:pic>
      <p:sp>
        <p:nvSpPr>
          <p:cNvPr id="124" name="TextBox 13">
            <a:extLst>
              <a:ext uri="{FF2B5EF4-FFF2-40B4-BE49-F238E27FC236}">
                <a16:creationId xmlns:a16="http://schemas.microsoft.com/office/drawing/2014/main" id="{45F76EE1-A16B-B927-7E9F-55706B096C5B}"/>
              </a:ext>
            </a:extLst>
          </p:cNvPr>
          <p:cNvSpPr txBox="1"/>
          <p:nvPr/>
        </p:nvSpPr>
        <p:spPr>
          <a:xfrm>
            <a:off x="2392920" y="-23760"/>
            <a:ext cx="1820880" cy="246240"/>
          </a:xfrm>
          <a:prstGeom prst="rect">
            <a:avLst/>
          </a:prstGeom>
          <a:noFill/>
          <a:ln w="0">
            <a:noFill/>
          </a:ln>
        </p:spPr>
        <p:txBody>
          <a:bodyPr anchor="t">
            <a:noAutofit/>
          </a:bodyPr>
          <a:lstStyle/>
          <a:p>
            <a:pPr>
              <a:lnSpc>
                <a:spcPct val="100000"/>
              </a:lnSpc>
            </a:pPr>
            <a:r>
              <a:rPr lang="en-US" sz="1000" b="0" strike="noStrike" spc="-1">
                <a:solidFill>
                  <a:srgbClr val="202031"/>
                </a:solidFill>
                <a:latin typeface="Raleway Light"/>
              </a:rPr>
              <a:t>NOSOTROS</a:t>
            </a:r>
            <a:endParaRPr lang="en-US" sz="1000" b="0" strike="noStrike" spc="-1">
              <a:solidFill>
                <a:srgbClr val="000000"/>
              </a:solidFill>
              <a:latin typeface="Arial"/>
            </a:endParaRPr>
          </a:p>
        </p:txBody>
      </p:sp>
      <p:sp>
        <p:nvSpPr>
          <p:cNvPr id="125" name="TextBox 19">
            <a:extLst>
              <a:ext uri="{FF2B5EF4-FFF2-40B4-BE49-F238E27FC236}">
                <a16:creationId xmlns:a16="http://schemas.microsoft.com/office/drawing/2014/main" id="{7C36F048-19CD-BC12-F782-2AB8E98963C7}"/>
              </a:ext>
            </a:extLst>
          </p:cNvPr>
          <p:cNvSpPr txBox="1"/>
          <p:nvPr/>
        </p:nvSpPr>
        <p:spPr>
          <a:xfrm>
            <a:off x="8281800" y="-23760"/>
            <a:ext cx="1820880" cy="246240"/>
          </a:xfrm>
          <a:prstGeom prst="rect">
            <a:avLst/>
          </a:prstGeom>
          <a:noFill/>
          <a:ln w="0">
            <a:noFill/>
          </a:ln>
        </p:spPr>
        <p:txBody>
          <a:bodyPr anchor="t">
            <a:noAutofit/>
          </a:bodyPr>
          <a:lstStyle/>
          <a:p>
            <a:pPr>
              <a:lnSpc>
                <a:spcPct val="100000"/>
              </a:lnSpc>
            </a:pPr>
            <a:r>
              <a:rPr lang="en-US" sz="1000" b="0" strike="noStrike" spc="-1">
                <a:solidFill>
                  <a:srgbClr val="202031"/>
                </a:solidFill>
                <a:latin typeface="Raleway Light"/>
              </a:rPr>
              <a:t>NUESTRO EQUIPO</a:t>
            </a:r>
            <a:endParaRPr lang="en-US" sz="1000" b="0" strike="noStrike" spc="-1">
              <a:solidFill>
                <a:srgbClr val="000000"/>
              </a:solidFill>
              <a:latin typeface="Arial"/>
            </a:endParaRPr>
          </a:p>
        </p:txBody>
      </p:sp>
      <p:pic>
        <p:nvPicPr>
          <p:cNvPr id="126" name="Graphic 4">
            <a:extLst>
              <a:ext uri="{FF2B5EF4-FFF2-40B4-BE49-F238E27FC236}">
                <a16:creationId xmlns:a16="http://schemas.microsoft.com/office/drawing/2014/main" id="{D4418F78-7A87-E28F-5A40-30D0CC7D0C2B}"/>
              </a:ext>
            </a:extLst>
          </p:cNvPr>
          <p:cNvPicPr/>
          <p:nvPr/>
        </p:nvPicPr>
        <p:blipFill>
          <a:blip>
            <a:extLst>
              <a:ext uri="{96DAC541-7B7A-43D3-8B79-37D633B846F1}">
                <asvg:svgBlip xmlns:asvg="http://schemas.microsoft.com/office/drawing/2016/SVG/main" r:embed="rId5"/>
              </a:ext>
            </a:extLst>
          </a:blip>
          <a:stretch/>
        </p:blipFill>
        <p:spPr>
          <a:xfrm>
            <a:off x="126360" y="-18360"/>
            <a:ext cx="885600" cy="239040"/>
          </a:xfrm>
          <a:prstGeom prst="rect">
            <a:avLst/>
          </a:prstGeom>
          <a:ln w="19080">
            <a:noFill/>
          </a:ln>
        </p:spPr>
      </p:pic>
      <p:cxnSp>
        <p:nvCxnSpPr>
          <p:cNvPr id="127" name="Straight Connector 5">
            <a:extLst>
              <a:ext uri="{FF2B5EF4-FFF2-40B4-BE49-F238E27FC236}">
                <a16:creationId xmlns:a16="http://schemas.microsoft.com/office/drawing/2014/main" id="{DBED50C9-7DB3-92B7-9D94-4C00E0037759}"/>
              </a:ext>
            </a:extLst>
          </p:cNvPr>
          <p:cNvCxnSpPr/>
          <p:nvPr/>
        </p:nvCxnSpPr>
        <p:spPr>
          <a:xfrm>
            <a:off x="0" y="190440"/>
            <a:ext cx="12279600" cy="360"/>
          </a:xfrm>
          <a:prstGeom prst="straightConnector1">
            <a:avLst/>
          </a:prstGeom>
          <a:ln w="19080">
            <a:solidFill>
              <a:srgbClr val="202031"/>
            </a:solidFill>
            <a:miter/>
          </a:ln>
        </p:spPr>
      </p:cxnSp>
      <p:sp>
        <p:nvSpPr>
          <p:cNvPr id="128" name="TextBox 1">
            <a:extLst>
              <a:ext uri="{FF2B5EF4-FFF2-40B4-BE49-F238E27FC236}">
                <a16:creationId xmlns:a16="http://schemas.microsoft.com/office/drawing/2014/main" id="{78A8363C-B0BC-FD26-31D8-ED72E5572143}"/>
              </a:ext>
            </a:extLst>
          </p:cNvPr>
          <p:cNvSpPr txBox="1"/>
          <p:nvPr/>
        </p:nvSpPr>
        <p:spPr>
          <a:xfrm>
            <a:off x="276374" y="725909"/>
            <a:ext cx="11247120" cy="777240"/>
          </a:xfrm>
          <a:prstGeom prst="rect">
            <a:avLst/>
          </a:prstGeom>
          <a:noFill/>
          <a:ln w="0">
            <a:noFill/>
          </a:ln>
        </p:spPr>
        <p:txBody>
          <a:bodyPr lIns="45720" tIns="27432" rIns="91440" bIns="45720" anchor="t">
            <a:noAutofit/>
          </a:bodyPr>
          <a:lstStyle/>
          <a:p>
            <a:pPr>
              <a:lnSpc>
                <a:spcPct val="100000"/>
              </a:lnSpc>
            </a:pPr>
            <a:r>
              <a:rPr lang="es-ES" sz="4800" spc="-151">
                <a:solidFill>
                  <a:srgbClr val="202031"/>
                </a:solidFill>
                <a:latin typeface="Raleway Medium"/>
              </a:rPr>
              <a:t>El Equipo</a:t>
            </a:r>
          </a:p>
          <a:p>
            <a:endParaRPr lang="es-ES" sz="4000" spc="-151">
              <a:solidFill>
                <a:srgbClr val="5A757A"/>
              </a:solidFill>
              <a:latin typeface="Raleway Medium"/>
            </a:endParaRPr>
          </a:p>
        </p:txBody>
      </p:sp>
      <p:sp>
        <p:nvSpPr>
          <p:cNvPr id="129" name="Rectangle 1">
            <a:extLst>
              <a:ext uri="{FF2B5EF4-FFF2-40B4-BE49-F238E27FC236}">
                <a16:creationId xmlns:a16="http://schemas.microsoft.com/office/drawing/2014/main" id="{C9EFAFF1-3E48-63A1-525B-F8BCC98BCA94}"/>
              </a:ext>
            </a:extLst>
          </p:cNvPr>
          <p:cNvSpPr/>
          <p:nvPr/>
        </p:nvSpPr>
        <p:spPr>
          <a:xfrm>
            <a:off x="0" y="-9360"/>
            <a:ext cx="12192120" cy="360"/>
          </a:xfrm>
          <a:custGeom>
            <a:avLst/>
            <a:gdLst/>
            <a:ahLst/>
            <a:cxnLst/>
            <a:rect l="l" t="t" r="r" b="b"/>
            <a:pathLst>
              <a:path w="21600" h="21600">
                <a:moveTo>
                  <a:pt x="0" y="0"/>
                </a:moveTo>
                <a:lnTo>
                  <a:pt x="21600" y="0"/>
                </a:lnTo>
                <a:lnTo>
                  <a:pt x="21600" y="21600"/>
                </a:lnTo>
                <a:lnTo>
                  <a:pt x="0" y="21600"/>
                </a:lnTo>
                <a:close/>
              </a:path>
            </a:pathLst>
          </a:custGeom>
          <a:blipFill rotWithShape="0">
            <a:blip r:embed="rId6"/>
            <a:srcRect/>
            <a:stretch/>
          </a:blipFill>
          <a:ln w="0">
            <a:noFill/>
          </a:ln>
        </p:spPr>
        <p:style>
          <a:lnRef idx="0">
            <a:scrgbClr r="0" g="0" b="0"/>
          </a:lnRef>
          <a:fillRef idx="0">
            <a:scrgbClr r="0" g="0" b="0"/>
          </a:fillRef>
          <a:effectRef idx="0">
            <a:scrgbClr r="0" g="0" b="0"/>
          </a:effectRef>
          <a:fontRef idx="minor"/>
        </p:style>
        <p:txBody>
          <a:bodyPr wrap="none" tIns="-45360" bIns="-45360" anchor="ctr">
            <a:spAutoFit/>
          </a:bodyPr>
          <a:lstStyle/>
          <a:p>
            <a:endParaRPr lang="en-US" sz="1800" b="0" strike="noStrike" spc="-1">
              <a:solidFill>
                <a:srgbClr val="000000"/>
              </a:solidFill>
              <a:latin typeface="Arial"/>
            </a:endParaRPr>
          </a:p>
        </p:txBody>
      </p:sp>
      <p:sp>
        <p:nvSpPr>
          <p:cNvPr id="130" name="PlaceHolder 1">
            <a:extLst>
              <a:ext uri="{FF2B5EF4-FFF2-40B4-BE49-F238E27FC236}">
                <a16:creationId xmlns:a16="http://schemas.microsoft.com/office/drawing/2014/main" id="{157B34A1-514D-E047-22B6-F43524A8EED3}"/>
              </a:ext>
            </a:extLst>
          </p:cNvPr>
          <p:cNvSpPr>
            <a:spLocks noGrp="1"/>
          </p:cNvSpPr>
          <p:nvPr>
            <p:ph type="sldNum" idx="40"/>
          </p:nvPr>
        </p:nvSpPr>
        <p:spPr>
          <a:xfrm>
            <a:off x="8610480" y="6276240"/>
            <a:ext cx="3581280" cy="365040"/>
          </a:xfrm>
          <a:prstGeom prst="rect">
            <a:avLst/>
          </a:prstGeom>
          <a:noFill/>
          <a:ln w="19080">
            <a:noFill/>
          </a:ln>
        </p:spPr>
        <p:txBody>
          <a:bodyPr lIns="91440" tIns="45720" rIns="91440" bIns="45720" anchor="ctr">
            <a:noAutofit/>
          </a:bodyPr>
          <a:lstStyle>
            <a:lvl1pPr indent="0" algn="r">
              <a:lnSpc>
                <a:spcPct val="100000"/>
              </a:lnSpc>
              <a:buNone/>
              <a:defRPr lang="en-US" sz="4000" b="0" strike="noStrike" spc="-151">
                <a:solidFill>
                  <a:srgbClr val="202031"/>
                </a:solidFill>
                <a:latin typeface="Ailerons"/>
              </a:defRPr>
            </a:lvl1pPr>
          </a:lstStyle>
          <a:p>
            <a:pPr indent="0" algn="r">
              <a:lnSpc>
                <a:spcPct val="100000"/>
              </a:lnSpc>
              <a:buNone/>
            </a:pPr>
            <a:r>
              <a:rPr lang="en-US" sz="4000" b="0" strike="noStrike" spc="-151">
                <a:solidFill>
                  <a:srgbClr val="202031"/>
                </a:solidFill>
                <a:latin typeface="Ailerons"/>
              </a:rPr>
              <a:t>03</a:t>
            </a:r>
            <a:endParaRPr lang="en-US" sz="4000" b="0" strike="noStrike" spc="-1">
              <a:solidFill>
                <a:srgbClr val="000000"/>
              </a:solidFill>
              <a:latin typeface="Times New Roman"/>
            </a:endParaRPr>
          </a:p>
        </p:txBody>
      </p:sp>
      <p:sp>
        <p:nvSpPr>
          <p:cNvPr id="146" name="TextBox 15">
            <a:extLst>
              <a:ext uri="{FF2B5EF4-FFF2-40B4-BE49-F238E27FC236}">
                <a16:creationId xmlns:a16="http://schemas.microsoft.com/office/drawing/2014/main" id="{926931C5-C807-8A5F-674F-EC13D7B32CD1}"/>
              </a:ext>
            </a:extLst>
          </p:cNvPr>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147" name="TextBox 146">
            <a:extLst>
              <a:ext uri="{FF2B5EF4-FFF2-40B4-BE49-F238E27FC236}">
                <a16:creationId xmlns:a16="http://schemas.microsoft.com/office/drawing/2014/main" id="{121179AA-6412-A443-BA75-B44EAE55C78E}"/>
              </a:ext>
            </a:extLst>
          </p:cNvPr>
          <p:cNvSpPr txBox="1"/>
          <p:nvPr/>
        </p:nvSpPr>
        <p:spPr>
          <a:xfrm>
            <a:off x="274320" y="1503495"/>
            <a:ext cx="8229600" cy="301621"/>
          </a:xfrm>
          <a:prstGeom prst="rect">
            <a:avLst/>
          </a:prstGeom>
          <a:noFill/>
        </p:spPr>
        <p:txBody>
          <a:bodyPr wrap="square" lIns="45720" tIns="27432" rIns="45720" bIns="27432" anchor="t">
            <a:spAutoFit/>
          </a:bodyPr>
          <a:lstStyle/>
          <a:p>
            <a:pPr algn="l"/>
            <a:r>
              <a:rPr sz="1600" b="0">
                <a:solidFill>
                  <a:srgbClr val="202031"/>
                </a:solidFill>
                <a:latin typeface="Raleway"/>
              </a:rPr>
              <a:t>Equipo </a:t>
            </a:r>
            <a:r>
              <a:rPr sz="1600" b="0" err="1">
                <a:solidFill>
                  <a:srgbClr val="202031"/>
                </a:solidFill>
                <a:latin typeface="Raleway"/>
              </a:rPr>
              <a:t>directivo</a:t>
            </a:r>
            <a:r>
              <a:rPr sz="1600" b="0">
                <a:solidFill>
                  <a:srgbClr val="202031"/>
                </a:solidFill>
                <a:latin typeface="Raleway"/>
              </a:rPr>
              <a:t> · +21 </a:t>
            </a:r>
            <a:r>
              <a:rPr sz="1600" b="0" err="1">
                <a:solidFill>
                  <a:srgbClr val="202031"/>
                </a:solidFill>
                <a:latin typeface="Raleway"/>
              </a:rPr>
              <a:t>consultores</a:t>
            </a:r>
            <a:r>
              <a:rPr sz="1600" b="0">
                <a:solidFill>
                  <a:srgbClr val="202031"/>
                </a:solidFill>
                <a:latin typeface="Raleway"/>
              </a:rPr>
              <a:t> · </a:t>
            </a:r>
            <a:r>
              <a:rPr sz="1600" b="1">
                <a:solidFill>
                  <a:srgbClr val="202031"/>
                </a:solidFill>
                <a:latin typeface="Raleway"/>
              </a:rPr>
              <a:t>Madrid, Bilbao y Oviedo</a:t>
            </a:r>
            <a:endParaRPr lang="es-ES" sz="1600" b="1">
              <a:solidFill>
                <a:srgbClr val="202031"/>
              </a:solidFill>
              <a:latin typeface="Raleway"/>
            </a:endParaRPr>
          </a:p>
        </p:txBody>
      </p:sp>
      <p:sp>
        <p:nvSpPr>
          <p:cNvPr id="131" name="TextBox 16">
            <a:extLst>
              <a:ext uri="{FF2B5EF4-FFF2-40B4-BE49-F238E27FC236}">
                <a16:creationId xmlns:a16="http://schemas.microsoft.com/office/drawing/2014/main" id="{8AEFF730-846F-7684-85B1-0EA60966ADAA}"/>
              </a:ext>
            </a:extLst>
          </p:cNvPr>
          <p:cNvSpPr txBox="1"/>
          <p:nvPr/>
        </p:nvSpPr>
        <p:spPr>
          <a:xfrm>
            <a:off x="448056"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MANUEL PINA</a:t>
            </a:r>
            <a:endParaRPr lang="en-US" sz="1200" b="0" strike="noStrike" spc="-1">
              <a:solidFill>
                <a:srgbClr val="000000"/>
              </a:solidFill>
              <a:latin typeface="Arial"/>
            </a:endParaRPr>
          </a:p>
        </p:txBody>
      </p:sp>
      <p:sp>
        <p:nvSpPr>
          <p:cNvPr id="132" name="TextBox 17">
            <a:extLst>
              <a:ext uri="{FF2B5EF4-FFF2-40B4-BE49-F238E27FC236}">
                <a16:creationId xmlns:a16="http://schemas.microsoft.com/office/drawing/2014/main" id="{2CCD2F00-E680-BCE1-6C60-7AEEA5C4E4FC}"/>
              </a:ext>
            </a:extLst>
          </p:cNvPr>
          <p:cNvSpPr txBox="1"/>
          <p:nvPr/>
        </p:nvSpPr>
        <p:spPr>
          <a:xfrm>
            <a:off x="448056"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PARTNER · FINANCE</a:t>
            </a:r>
            <a:endParaRPr lang="en-US" sz="1000" b="0" strike="noStrike" spc="-1">
              <a:solidFill>
                <a:srgbClr val="000000"/>
              </a:solidFill>
              <a:latin typeface="Arial"/>
            </a:endParaRPr>
          </a:p>
        </p:txBody>
      </p:sp>
      <p:sp>
        <p:nvSpPr>
          <p:cNvPr id="123" name="Rectangle: Rounded Corners 14">
            <a:extLst>
              <a:ext uri="{FF2B5EF4-FFF2-40B4-BE49-F238E27FC236}">
                <a16:creationId xmlns:a16="http://schemas.microsoft.com/office/drawing/2014/main" id="{610E0EFD-484A-1697-1ED5-8378C7B683F9}"/>
              </a:ext>
            </a:extLst>
          </p:cNvPr>
          <p:cNvSpPr/>
          <p:nvPr/>
        </p:nvSpPr>
        <p:spPr>
          <a:xfrm>
            <a:off x="448056"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Más de 10 años en Big Four en auditoría, due diligence y M&amp;A, y posteriormente CFO en grandes pymes españolas. Lidera Tessera Finance, coordinando el equipo de CFOs, transacciones y asesoramiento financiero estratégico.</a:t>
            </a:r>
            <a:endParaRPr lang="en-US" sz="1000" b="0" strike="noStrike" spc="-1">
              <a:solidFill>
                <a:srgbClr val="000000"/>
              </a:solidFill>
              <a:latin typeface="Arial"/>
            </a:endParaRPr>
          </a:p>
        </p:txBody>
      </p:sp>
      <p:sp>
        <p:nvSpPr>
          <p:cNvPr id="3" name="TextBox 16">
            <a:extLst>
              <a:ext uri="{FF2B5EF4-FFF2-40B4-BE49-F238E27FC236}">
                <a16:creationId xmlns:a16="http://schemas.microsoft.com/office/drawing/2014/main" id="{C4387201-C7CD-9025-4454-DD6CE01DD3D7}"/>
              </a:ext>
            </a:extLst>
          </p:cNvPr>
          <p:cNvSpPr txBox="1"/>
          <p:nvPr/>
        </p:nvSpPr>
        <p:spPr>
          <a:xfrm>
            <a:off x="3328416"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EDUARDO SERRANO</a:t>
            </a:r>
            <a:endParaRPr lang="en-US" sz="1200" b="0" strike="noStrike" spc="-1">
              <a:solidFill>
                <a:srgbClr val="000000"/>
              </a:solidFill>
              <a:latin typeface="Arial"/>
            </a:endParaRPr>
          </a:p>
        </p:txBody>
      </p:sp>
      <p:sp>
        <p:nvSpPr>
          <p:cNvPr id="4" name="TextBox 17">
            <a:extLst>
              <a:ext uri="{FF2B5EF4-FFF2-40B4-BE49-F238E27FC236}">
                <a16:creationId xmlns:a16="http://schemas.microsoft.com/office/drawing/2014/main" id="{F6744CF1-EA96-0FC8-F658-6465FB9DCAF4}"/>
              </a:ext>
            </a:extLst>
          </p:cNvPr>
          <p:cNvSpPr txBox="1"/>
          <p:nvPr/>
        </p:nvSpPr>
        <p:spPr>
          <a:xfrm>
            <a:off x="3328416"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PARTNER · FINANCE</a:t>
            </a:r>
            <a:endParaRPr lang="en-US" sz="1000" b="0" strike="noStrike" spc="-1">
              <a:solidFill>
                <a:srgbClr val="000000"/>
              </a:solidFill>
              <a:latin typeface="Arial"/>
            </a:endParaRPr>
          </a:p>
        </p:txBody>
      </p:sp>
      <p:sp>
        <p:nvSpPr>
          <p:cNvPr id="5" name="Rectangle: Rounded Corners 14">
            <a:extLst>
              <a:ext uri="{FF2B5EF4-FFF2-40B4-BE49-F238E27FC236}">
                <a16:creationId xmlns:a16="http://schemas.microsoft.com/office/drawing/2014/main" id="{D2578591-E126-739E-A3F7-A88D944A5BF6}"/>
              </a:ext>
            </a:extLst>
          </p:cNvPr>
          <p:cNvSpPr/>
          <p:nvPr/>
        </p:nvSpPr>
        <p:spPr>
          <a:xfrm>
            <a:off x="3328416"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17 años en el mundo del emprendimiento como CFO de startups internacionales y de fondos líderes de Venture Capital y Venture Builders. Especializado en aportar valor desde el área financiera, la tesorería y la consecución de financiación y capital.</a:t>
            </a:r>
            <a:endParaRPr lang="en-US" sz="1000" b="0" strike="noStrike" spc="-1">
              <a:solidFill>
                <a:srgbClr val="000000"/>
              </a:solidFill>
              <a:latin typeface="Arial"/>
            </a:endParaRPr>
          </a:p>
        </p:txBody>
      </p:sp>
      <p:sp>
        <p:nvSpPr>
          <p:cNvPr id="7" name="TextBox 16">
            <a:extLst>
              <a:ext uri="{FF2B5EF4-FFF2-40B4-BE49-F238E27FC236}">
                <a16:creationId xmlns:a16="http://schemas.microsoft.com/office/drawing/2014/main" id="{F93278D8-9FB1-6043-253D-BAE53066EA8A}"/>
              </a:ext>
            </a:extLst>
          </p:cNvPr>
          <p:cNvSpPr txBox="1"/>
          <p:nvPr/>
        </p:nvSpPr>
        <p:spPr>
          <a:xfrm>
            <a:off x="6208776"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MÓNICA MAYORAL</a:t>
            </a:r>
            <a:endParaRPr lang="en-US" sz="1200" b="0" strike="noStrike" spc="-1">
              <a:solidFill>
                <a:srgbClr val="000000"/>
              </a:solidFill>
              <a:latin typeface="Arial"/>
            </a:endParaRPr>
          </a:p>
        </p:txBody>
      </p:sp>
      <p:sp>
        <p:nvSpPr>
          <p:cNvPr id="8" name="TextBox 17">
            <a:extLst>
              <a:ext uri="{FF2B5EF4-FFF2-40B4-BE49-F238E27FC236}">
                <a16:creationId xmlns:a16="http://schemas.microsoft.com/office/drawing/2014/main" id="{9395178C-5C80-E3C0-5E0C-4797AD4D0A1F}"/>
              </a:ext>
            </a:extLst>
          </p:cNvPr>
          <p:cNvSpPr txBox="1"/>
          <p:nvPr/>
        </p:nvSpPr>
        <p:spPr>
          <a:xfrm>
            <a:off x="6208776"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PARTNER · FINANCE</a:t>
            </a:r>
            <a:endParaRPr lang="en-US" sz="1000" b="0" strike="noStrike" spc="-1">
              <a:solidFill>
                <a:srgbClr val="000000"/>
              </a:solidFill>
              <a:latin typeface="Arial"/>
            </a:endParaRPr>
          </a:p>
        </p:txBody>
      </p:sp>
      <p:sp>
        <p:nvSpPr>
          <p:cNvPr id="9" name="Rectangle: Rounded Corners 14">
            <a:extLst>
              <a:ext uri="{FF2B5EF4-FFF2-40B4-BE49-F238E27FC236}">
                <a16:creationId xmlns:a16="http://schemas.microsoft.com/office/drawing/2014/main" id="{005D3167-A45E-3630-EB3A-AEF38D096527}"/>
              </a:ext>
            </a:extLst>
          </p:cNvPr>
          <p:cNvSpPr/>
          <p:nvPr/>
        </p:nvSpPr>
        <p:spPr>
          <a:xfrm>
            <a:off x="6208776"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Más de 20 años como Directora Financiera en empresa multinacional, muy involucrada en el día a día de la compañía con visión y estrategia global: reducción de riesgos y planes de crecimiento. Amplia trayectoria en liderazgo y gestión financiera.</a:t>
            </a:r>
            <a:endParaRPr lang="en-US" sz="1000" b="0" strike="noStrike" spc="-1">
              <a:solidFill>
                <a:srgbClr val="000000"/>
              </a:solidFill>
              <a:latin typeface="Arial"/>
            </a:endParaRPr>
          </a:p>
        </p:txBody>
      </p:sp>
      <p:sp>
        <p:nvSpPr>
          <p:cNvPr id="11" name="TextBox 16">
            <a:extLst>
              <a:ext uri="{FF2B5EF4-FFF2-40B4-BE49-F238E27FC236}">
                <a16:creationId xmlns:a16="http://schemas.microsoft.com/office/drawing/2014/main" id="{E9A3E78E-A15F-37E4-3EAB-97F705D83F1D}"/>
              </a:ext>
            </a:extLst>
          </p:cNvPr>
          <p:cNvSpPr txBox="1"/>
          <p:nvPr/>
        </p:nvSpPr>
        <p:spPr>
          <a:xfrm>
            <a:off x="9089136" y="4160520"/>
            <a:ext cx="2651760" cy="274320"/>
          </a:xfrm>
          <a:prstGeom prst="rect">
            <a:avLst/>
          </a:prstGeom>
          <a:noFill/>
          <a:ln w="0">
            <a:noFill/>
          </a:ln>
        </p:spPr>
        <p:txBody>
          <a:bodyPr anchor="t">
            <a:noAutofit/>
          </a:bodyPr>
          <a:lstStyle/>
          <a:p>
            <a:pPr algn="ctr">
              <a:lnSpc>
                <a:spcPct val="100000"/>
              </a:lnSpc>
            </a:pPr>
            <a:r>
              <a:rPr lang="en-US" sz="1200" b="1" strike="noStrike" spc="-1">
                <a:solidFill>
                  <a:srgbClr val="202031"/>
                </a:solidFill>
                <a:latin typeface="Raleway Black"/>
              </a:rPr>
              <a:t>EDWARD MANRIQUE</a:t>
            </a:r>
            <a:endParaRPr lang="en-US" sz="1200" b="0" strike="noStrike" spc="-1">
              <a:solidFill>
                <a:srgbClr val="000000"/>
              </a:solidFill>
              <a:latin typeface="Arial"/>
            </a:endParaRPr>
          </a:p>
        </p:txBody>
      </p:sp>
      <p:sp>
        <p:nvSpPr>
          <p:cNvPr id="12" name="TextBox 17">
            <a:extLst>
              <a:ext uri="{FF2B5EF4-FFF2-40B4-BE49-F238E27FC236}">
                <a16:creationId xmlns:a16="http://schemas.microsoft.com/office/drawing/2014/main" id="{BB16AFE9-353B-9646-951B-C76CEC1340DC}"/>
              </a:ext>
            </a:extLst>
          </p:cNvPr>
          <p:cNvSpPr txBox="1"/>
          <p:nvPr/>
        </p:nvSpPr>
        <p:spPr>
          <a:xfrm>
            <a:off x="9089136" y="4379976"/>
            <a:ext cx="2651760" cy="246888"/>
          </a:xfrm>
          <a:prstGeom prst="rect">
            <a:avLst/>
          </a:prstGeom>
          <a:noFill/>
          <a:ln w="0">
            <a:noFill/>
          </a:ln>
        </p:spPr>
        <p:txBody>
          <a:bodyPr wrap="square" anchor="t">
            <a:noAutofit/>
          </a:bodyPr>
          <a:lstStyle/>
          <a:p>
            <a:pPr algn="ctr">
              <a:lnSpc>
                <a:spcPct val="100000"/>
              </a:lnSpc>
            </a:pPr>
            <a:r>
              <a:rPr lang="en-US" sz="1000" b="0" strike="noStrike" spc="-1">
                <a:solidFill>
                  <a:srgbClr val="202031"/>
                </a:solidFill>
                <a:latin typeface="Raleway Light"/>
              </a:rPr>
              <a:t>HEAD OF RECRUITMENT &amp; TALENT OPERATIONS</a:t>
            </a:r>
            <a:endParaRPr lang="en-US" sz="1000" b="0" strike="noStrike" spc="-1">
              <a:solidFill>
                <a:srgbClr val="000000"/>
              </a:solidFill>
              <a:latin typeface="Arial"/>
            </a:endParaRPr>
          </a:p>
        </p:txBody>
      </p:sp>
      <p:sp>
        <p:nvSpPr>
          <p:cNvPr id="13" name="Rectangle: Rounded Corners 14">
            <a:extLst>
              <a:ext uri="{FF2B5EF4-FFF2-40B4-BE49-F238E27FC236}">
                <a16:creationId xmlns:a16="http://schemas.microsoft.com/office/drawing/2014/main" id="{E0AF37AD-87BA-D25F-F369-ACC867A098E0}"/>
              </a:ext>
            </a:extLst>
          </p:cNvPr>
          <p:cNvSpPr/>
          <p:nvPr/>
        </p:nvSpPr>
        <p:spPr>
          <a:xfrm>
            <a:off x="9089136" y="4663440"/>
            <a:ext cx="2651760" cy="1828800"/>
          </a:xfrm>
          <a:custGeom>
            <a:avLst/>
            <a:gdLst>
              <a:gd name="textAreaLeft" fmla="*/ 0 w 2465640"/>
              <a:gd name="textAreaRight" fmla="*/ 2466000 w 2465640"/>
              <a:gd name="textAreaTop" fmla="*/ 0 h 1687680"/>
              <a:gd name="textAreaBottom" fmla="*/ 1688040 h 1687680"/>
            </a:gdLst>
            <a:ahLst/>
            <a:cxnLst/>
            <a:rect l="textAreaLeft" t="textAreaTop" r="textAreaRight" b="textAreaBottom"/>
            <a:pathLst>
              <a:path w="31555" h="21600">
                <a:moveTo>
                  <a:pt x="0" y="0"/>
                </a:moveTo>
                <a:arcTo wR="0" hR="0" stAng="16200000" swAng="-5400000"/>
                <a:lnTo>
                  <a:pt x="0" y="21600"/>
                </a:lnTo>
                <a:arcTo wR="0" hR="0" stAng="10800000" swAng="-5400000"/>
                <a:lnTo>
                  <a:pt x="31555" y="21600"/>
                </a:lnTo>
                <a:arcTo wR="0" hR="0" stAng="16200000" swAng="-5400000"/>
                <a:lnTo>
                  <a:pt x="31555" y="0"/>
                </a:lnTo>
                <a:arcTo wR="0" hR="0" stAng="10800000" swAng="-5400000"/>
                <a:close/>
              </a:path>
            </a:pathLst>
          </a:custGeom>
          <a:noFill/>
          <a:ln w="0">
            <a:noFill/>
          </a:ln>
        </p:spPr>
        <p:style>
          <a:lnRef idx="0">
            <a:scrgbClr r="0" g="0" b="0"/>
          </a:lnRef>
          <a:fillRef idx="0">
            <a:scrgbClr r="0" g="0" b="0"/>
          </a:fillRef>
          <a:effectRef idx="0">
            <a:scrgbClr r="0" g="0" b="0"/>
          </a:effectRef>
          <a:fontRef idx="minor"/>
        </p:style>
        <p:txBody>
          <a:bodyPr anchor="t">
            <a:noAutofit/>
          </a:bodyPr>
          <a:lstStyle/>
          <a:p>
            <a:pPr algn="ctr">
              <a:lnSpc>
                <a:spcPct val="100000"/>
              </a:lnSpc>
            </a:pPr>
            <a:r>
              <a:rPr lang="es-ES" sz="950" b="0" strike="noStrike" spc="-1">
                <a:solidFill>
                  <a:srgbClr val="202031"/>
                </a:solidFill>
                <a:latin typeface="Raleway Light"/>
              </a:rPr>
              <a:t>Más de 8 años de experiencia en identificación y evaluación de talento. En Seedtag lideró la contratación de más de 200 profesionales en 16 países, y ha trabajado con grandes entidades financieras internacionales como Santander, BNP Paribas y BBVA.</a:t>
            </a:r>
            <a:endParaRPr lang="en-US" sz="1000" b="0" strike="noStrike" spc="-1">
              <a:solidFill>
                <a:srgbClr val="000000"/>
              </a:solidFill>
              <a:latin typeface="Arial"/>
            </a:endParaRPr>
          </a:p>
        </p:txBody>
      </p:sp>
      <p:pic>
        <p:nvPicPr>
          <p:cNvPr id="18" name="Imagen 17">
            <a:extLst>
              <a:ext uri="{FF2B5EF4-FFF2-40B4-BE49-F238E27FC236}">
                <a16:creationId xmlns:a16="http://schemas.microsoft.com/office/drawing/2014/main" id="{E6330928-F627-D637-72F4-02B7887A3B6A}"/>
              </a:ext>
            </a:extLst>
          </p:cNvPr>
          <p:cNvPicPr>
            <a:picLocks noChangeAspect="1"/>
          </p:cNvPicPr>
          <p:nvPr/>
        </p:nvPicPr>
        <p:blipFill>
          <a:blip r:embed="rId7"/>
          <a:stretch>
            <a:fillRect/>
          </a:stretch>
        </p:blipFill>
        <p:spPr>
          <a:xfrm>
            <a:off x="3787742" y="2461832"/>
            <a:ext cx="1822312" cy="1729076"/>
          </a:xfrm>
          <a:prstGeom prst="rect">
            <a:avLst/>
          </a:prstGeom>
        </p:spPr>
      </p:pic>
      <p:pic>
        <p:nvPicPr>
          <p:cNvPr id="20" name="Imagen 19">
            <a:extLst>
              <a:ext uri="{FF2B5EF4-FFF2-40B4-BE49-F238E27FC236}">
                <a16:creationId xmlns:a16="http://schemas.microsoft.com/office/drawing/2014/main" id="{AB4BD2BF-77F3-9BBD-5B79-95C1A30D6CD8}"/>
              </a:ext>
            </a:extLst>
          </p:cNvPr>
          <p:cNvPicPr>
            <a:picLocks noChangeAspect="1"/>
          </p:cNvPicPr>
          <p:nvPr/>
        </p:nvPicPr>
        <p:blipFill>
          <a:blip r:embed="rId3"/>
          <a:stretch>
            <a:fillRect/>
          </a:stretch>
        </p:blipFill>
        <p:spPr>
          <a:xfrm>
            <a:off x="571331" y="2043991"/>
            <a:ext cx="2553848" cy="2580869"/>
          </a:xfrm>
          <a:prstGeom prst="rect">
            <a:avLst/>
          </a:prstGeom>
        </p:spPr>
      </p:pic>
      <p:pic>
        <p:nvPicPr>
          <p:cNvPr id="21" name="Imagen 20">
            <a:extLst>
              <a:ext uri="{FF2B5EF4-FFF2-40B4-BE49-F238E27FC236}">
                <a16:creationId xmlns:a16="http://schemas.microsoft.com/office/drawing/2014/main" id="{8F437BF6-15E5-BA97-AD1D-1C0D6BD01601}"/>
              </a:ext>
            </a:extLst>
          </p:cNvPr>
          <p:cNvPicPr>
            <a:picLocks noChangeAspect="1"/>
          </p:cNvPicPr>
          <p:nvPr/>
        </p:nvPicPr>
        <p:blipFill>
          <a:blip r:embed="rId8"/>
          <a:stretch>
            <a:fillRect/>
          </a:stretch>
        </p:blipFill>
        <p:spPr>
          <a:xfrm>
            <a:off x="998042" y="2645755"/>
            <a:ext cx="1705625" cy="1539671"/>
          </a:xfrm>
          <a:prstGeom prst="rect">
            <a:avLst/>
          </a:prstGeom>
        </p:spPr>
      </p:pic>
      <p:pic>
        <p:nvPicPr>
          <p:cNvPr id="22" name="Imagen 21">
            <a:extLst>
              <a:ext uri="{FF2B5EF4-FFF2-40B4-BE49-F238E27FC236}">
                <a16:creationId xmlns:a16="http://schemas.microsoft.com/office/drawing/2014/main" id="{E538A74A-36ED-5B3C-E876-2E134CA73EF4}"/>
              </a:ext>
            </a:extLst>
          </p:cNvPr>
          <p:cNvPicPr>
            <a:picLocks noChangeAspect="1"/>
          </p:cNvPicPr>
          <p:nvPr/>
        </p:nvPicPr>
        <p:blipFill>
          <a:blip r:embed="rId9"/>
          <a:srcRect r="288" b="13924"/>
          <a:stretch>
            <a:fillRect/>
          </a:stretch>
        </p:blipFill>
        <p:spPr>
          <a:xfrm>
            <a:off x="6681920" y="2520199"/>
            <a:ext cx="1712358" cy="1659861"/>
          </a:xfrm>
          <a:prstGeom prst="rect">
            <a:avLst/>
          </a:prstGeom>
        </p:spPr>
      </p:pic>
      <p:pic>
        <p:nvPicPr>
          <p:cNvPr id="2" name="Imagen 1">
            <a:extLst>
              <a:ext uri="{FF2B5EF4-FFF2-40B4-BE49-F238E27FC236}">
                <a16:creationId xmlns:a16="http://schemas.microsoft.com/office/drawing/2014/main" id="{95099418-B7CE-838F-7A29-291945D02446}"/>
              </a:ext>
            </a:extLst>
          </p:cNvPr>
          <p:cNvPicPr>
            <a:picLocks noChangeAspect="1"/>
          </p:cNvPicPr>
          <p:nvPr/>
        </p:nvPicPr>
        <p:blipFill>
          <a:blip r:embed="rId3"/>
          <a:stretch>
            <a:fillRect/>
          </a:stretch>
        </p:blipFill>
        <p:spPr>
          <a:xfrm>
            <a:off x="9192808" y="2043992"/>
            <a:ext cx="2553848" cy="2580869"/>
          </a:xfrm>
          <a:prstGeom prst="rect">
            <a:avLst/>
          </a:prstGeom>
        </p:spPr>
      </p:pic>
      <p:pic>
        <p:nvPicPr>
          <p:cNvPr id="6" name="Imagen 5">
            <a:extLst>
              <a:ext uri="{FF2B5EF4-FFF2-40B4-BE49-F238E27FC236}">
                <a16:creationId xmlns:a16="http://schemas.microsoft.com/office/drawing/2014/main" id="{2600A4B5-7D45-A93C-3095-18C7F6EC3105}"/>
              </a:ext>
            </a:extLst>
          </p:cNvPr>
          <p:cNvPicPr>
            <a:picLocks noChangeAspect="1"/>
          </p:cNvPicPr>
          <p:nvPr/>
        </p:nvPicPr>
        <p:blipFill>
          <a:blip r:embed="rId10"/>
          <a:srcRect l="17928" r="398" b="666"/>
          <a:stretch>
            <a:fillRect/>
          </a:stretch>
        </p:blipFill>
        <p:spPr>
          <a:xfrm>
            <a:off x="9565482" y="2549150"/>
            <a:ext cx="2445651" cy="1629025"/>
          </a:xfrm>
          <a:prstGeom prst="rect">
            <a:avLst/>
          </a:prstGeom>
        </p:spPr>
      </p:pic>
    </p:spTree>
    <p:extLst>
      <p:ext uri="{BB962C8B-B14F-4D97-AF65-F5344CB8AC3E}">
        <p14:creationId xmlns:p14="http://schemas.microsoft.com/office/powerpoint/2010/main" val="30859554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0E8DE"/>
        </a:solidFill>
        <a:effectLst/>
      </p:bgPr>
    </p:bg>
    <p:spTree>
      <p:nvGrpSpPr>
        <p:cNvPr id="1" name=""/>
        <p:cNvGrpSpPr/>
        <p:nvPr/>
      </p:nvGrpSpPr>
      <p:grpSpPr>
        <a:xfrm>
          <a:off x="0" y="0"/>
          <a:ext cx="0" cy="0"/>
          <a:chOff x="0" y="0"/>
          <a:chExt cx="0" cy="0"/>
        </a:xfrm>
      </p:grpSpPr>
      <p:pic>
        <p:nvPicPr>
          <p:cNvPr id="276" name="Image 0" descr="preencoded.png"/>
          <p:cNvPicPr/>
          <p:nvPr/>
        </p:nvPicPr>
        <p:blipFill>
          <a:blip r:embed="rId2"/>
          <a:stretch/>
        </p:blipFill>
        <p:spPr>
          <a:xfrm>
            <a:off x="128160" y="-18360"/>
            <a:ext cx="887040" cy="237600"/>
          </a:xfrm>
          <a:prstGeom prst="rect">
            <a:avLst/>
          </a:prstGeom>
          <a:ln w="19080">
            <a:noFill/>
          </a:ln>
        </p:spPr>
      </p:pic>
      <p:cxnSp>
        <p:nvCxnSpPr>
          <p:cNvPr id="321" name="Straight Connector 5"/>
          <p:cNvCxnSpPr/>
          <p:nvPr/>
        </p:nvCxnSpPr>
        <p:spPr>
          <a:xfrm>
            <a:off x="0" y="190440"/>
            <a:ext cx="12279600" cy="360"/>
          </a:xfrm>
          <a:prstGeom prst="straightConnector1">
            <a:avLst/>
          </a:prstGeom>
          <a:ln w="19080">
            <a:solidFill>
              <a:srgbClr val="202031"/>
            </a:solidFill>
            <a:miter/>
          </a:ln>
        </p:spPr>
      </p:cxnSp>
      <p:sp>
        <p:nvSpPr>
          <p:cNvPr id="319" name="TextBox 13"/>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NOSOTROS</a:t>
            </a:r>
            <a:endParaRPr lang="en-US" sz="1000" b="0" strike="noStrike" spc="-1">
              <a:solidFill>
                <a:srgbClr val="000000"/>
              </a:solidFill>
              <a:latin typeface="Arial"/>
            </a:endParaRPr>
          </a:p>
        </p:txBody>
      </p:sp>
      <p:sp>
        <p:nvSpPr>
          <p:cNvPr id="318"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320" name="TextBox 19"/>
          <p:cNvSpPr txBox="1"/>
          <p:nvPr/>
        </p:nvSpPr>
        <p:spPr>
          <a:xfrm>
            <a:off x="8281800" y="-23760"/>
            <a:ext cx="31788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PARA EL FONDO Y SUS PARTICIPADAS</a:t>
            </a:r>
            <a:endParaRPr lang="en-US" sz="1000" b="0" strike="noStrike" spc="-1">
              <a:solidFill>
                <a:srgbClr val="000000"/>
              </a:solidFill>
              <a:latin typeface="Arial"/>
            </a:endParaRPr>
          </a:p>
        </p:txBody>
      </p:sp>
      <p:sp>
        <p:nvSpPr>
          <p:cNvPr id="322" name="TextBox 321"/>
          <p:cNvSpPr txBox="1"/>
          <p:nvPr/>
        </p:nvSpPr>
        <p:spPr>
          <a:xfrm>
            <a:off x="438501" y="638459"/>
            <a:ext cx="11247120" cy="794064"/>
          </a:xfrm>
          <a:prstGeom prst="rect">
            <a:avLst/>
          </a:prstGeom>
          <a:noFill/>
        </p:spPr>
        <p:txBody>
          <a:bodyPr wrap="square" lIns="45720" tIns="27432" rIns="45720" bIns="27432" anchor="t">
            <a:spAutoFit/>
          </a:bodyPr>
          <a:lstStyle/>
          <a:p>
            <a:r>
              <a:rPr sz="4800" spc="-151">
                <a:solidFill>
                  <a:srgbClr val="202031"/>
                </a:solidFill>
                <a:latin typeface="Raleway Medium"/>
              </a:rPr>
              <a:t>Un partner para el </a:t>
            </a:r>
            <a:r>
              <a:rPr sz="4800" spc="-151" err="1">
                <a:solidFill>
                  <a:srgbClr val="202031"/>
                </a:solidFill>
                <a:latin typeface="Raleway Medium"/>
              </a:rPr>
              <a:t>fondo</a:t>
            </a:r>
            <a:endParaRPr lang="es-ES" sz="4800" spc="-151" err="1">
              <a:solidFill>
                <a:srgbClr val="202031"/>
              </a:solidFill>
              <a:latin typeface="Raleway Medium"/>
            </a:endParaRPr>
          </a:p>
        </p:txBody>
      </p:sp>
      <p:sp>
        <p:nvSpPr>
          <p:cNvPr id="323" name="TextBox 322"/>
          <p:cNvSpPr txBox="1"/>
          <p:nvPr/>
        </p:nvSpPr>
        <p:spPr>
          <a:xfrm>
            <a:off x="433387" y="1353502"/>
            <a:ext cx="10972800" cy="365760"/>
          </a:xfrm>
          <a:prstGeom prst="rect">
            <a:avLst/>
          </a:prstGeom>
          <a:noFill/>
        </p:spPr>
        <p:txBody>
          <a:bodyPr wrap="square" lIns="45720" tIns="27432" rIns="45720" bIns="27432" anchor="t">
            <a:spAutoFit/>
          </a:bodyPr>
          <a:lstStyle/>
          <a:p>
            <a:pPr algn="l"/>
            <a:r>
              <a:rPr sz="1400" b="0">
                <a:solidFill>
                  <a:srgbClr val="202031"/>
                </a:solidFill>
                <a:latin typeface="Raleway"/>
              </a:rPr>
              <a:t>Finance y Human Capital en un mismo equipo, </a:t>
            </a:r>
            <a:r>
              <a:rPr sz="1400" b="1">
                <a:solidFill>
                  <a:srgbClr val="202031"/>
                </a:solidFill>
                <a:latin typeface="Raleway"/>
              </a:rPr>
              <a:t>en cada fase del ciclo de inversión.</a:t>
            </a:r>
          </a:p>
        </p:txBody>
      </p:sp>
      <p:sp>
        <p:nvSpPr>
          <p:cNvPr id="31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04</a:t>
            </a:r>
            <a:endParaRPr lang="en-US" sz="4000" b="0" strike="noStrike" spc="-1">
              <a:solidFill>
                <a:srgbClr val="000000"/>
              </a:solidFill>
              <a:latin typeface="Arial"/>
            </a:endParaRPr>
          </a:p>
        </p:txBody>
      </p:sp>
      <p:sp>
        <p:nvSpPr>
          <p:cNvPr id="324" name="TextBox 323"/>
          <p:cNvSpPr txBox="1"/>
          <p:nvPr/>
        </p:nvSpPr>
        <p:spPr>
          <a:xfrm>
            <a:off x="466755" y="1902406"/>
            <a:ext cx="914400" cy="731520"/>
          </a:xfrm>
          <a:prstGeom prst="rect">
            <a:avLst/>
          </a:prstGeom>
          <a:noFill/>
        </p:spPr>
        <p:txBody>
          <a:bodyPr wrap="square" lIns="45720" tIns="27432" rIns="45720" bIns="27432" anchor="t">
            <a:spAutoFit/>
          </a:bodyPr>
          <a:lstStyle/>
          <a:p>
            <a:pPr algn="l"/>
            <a:r>
              <a:rPr sz="4000" b="0">
                <a:solidFill>
                  <a:srgbClr val="516B6C"/>
                </a:solidFill>
                <a:latin typeface="Ailerons"/>
              </a:rPr>
              <a:t>01</a:t>
            </a:r>
          </a:p>
        </p:txBody>
      </p:sp>
      <p:sp>
        <p:nvSpPr>
          <p:cNvPr id="325" name="TextBox 324"/>
          <p:cNvSpPr txBox="1"/>
          <p:nvPr/>
        </p:nvSpPr>
        <p:spPr>
          <a:xfrm>
            <a:off x="1335435" y="2021278"/>
            <a:ext cx="2560320" cy="320040"/>
          </a:xfrm>
          <a:prstGeom prst="rect">
            <a:avLst/>
          </a:prstGeom>
          <a:noFill/>
        </p:spPr>
        <p:txBody>
          <a:bodyPr wrap="square" lIns="45720" tIns="27432" rIns="45720" bIns="27432" anchor="t">
            <a:spAutoFit/>
          </a:bodyPr>
          <a:lstStyle/>
          <a:p>
            <a:pPr algn="l"/>
            <a:r>
              <a:rPr sz="1400" b="0">
                <a:solidFill>
                  <a:srgbClr val="202031"/>
                </a:solidFill>
                <a:latin typeface="Raleway Black"/>
              </a:rPr>
              <a:t>PRE-INVERSIÓN</a:t>
            </a:r>
          </a:p>
        </p:txBody>
      </p:sp>
      <p:sp>
        <p:nvSpPr>
          <p:cNvPr id="326" name="TextBox 325"/>
          <p:cNvSpPr txBox="1"/>
          <p:nvPr/>
        </p:nvSpPr>
        <p:spPr>
          <a:xfrm>
            <a:off x="1335435" y="2313886"/>
            <a:ext cx="2560320" cy="270843"/>
          </a:xfrm>
          <a:prstGeom prst="rect">
            <a:avLst/>
          </a:prstGeom>
          <a:noFill/>
        </p:spPr>
        <p:txBody>
          <a:bodyPr wrap="square" lIns="45720" tIns="27432" rIns="45720" bIns="27432" anchor="t">
            <a:spAutoFit/>
          </a:bodyPr>
          <a:lstStyle/>
          <a:p>
            <a:pPr algn="l"/>
            <a:r>
              <a:rPr sz="1400" b="0">
                <a:solidFill>
                  <a:srgbClr val="516B6C"/>
                </a:solidFill>
                <a:latin typeface="Raleway"/>
              </a:rPr>
              <a:t>Antes de firmar</a:t>
            </a:r>
            <a:endParaRPr lang="es-ES" sz="1400">
              <a:latin typeface="Raleway"/>
            </a:endParaRPr>
          </a:p>
        </p:txBody>
      </p:sp>
      <p:sp>
        <p:nvSpPr>
          <p:cNvPr id="327" name="Rounded Rectangle 326"/>
          <p:cNvSpPr/>
          <p:nvPr/>
        </p:nvSpPr>
        <p:spPr>
          <a:xfrm>
            <a:off x="277606" y="2606040"/>
            <a:ext cx="3423596" cy="2103120"/>
          </a:xfrm>
          <a:prstGeom prst="roundRect">
            <a:avLst>
              <a:gd name="adj" fmla="val 12000"/>
            </a:avLst>
          </a:prstGeom>
          <a:solidFill>
            <a:srgbClr val="516B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8" name="TextBox 327"/>
          <p:cNvSpPr txBox="1"/>
          <p:nvPr/>
        </p:nvSpPr>
        <p:spPr>
          <a:xfrm>
            <a:off x="506206" y="3164388"/>
            <a:ext cx="2966396" cy="986424"/>
          </a:xfrm>
          <a:prstGeom prst="rect">
            <a:avLst/>
          </a:prstGeom>
          <a:noFill/>
        </p:spPr>
        <p:txBody>
          <a:bodyPr wrap="square" lIns="45720" tIns="27432" rIns="45720" bIns="27432" anchor="ctr">
            <a:spAutoFit/>
          </a:bodyPr>
          <a:lstStyle/>
          <a:p>
            <a:pPr algn="l">
              <a:spcAft>
                <a:spcPts val="500"/>
              </a:spcAft>
            </a:pPr>
            <a:r>
              <a:rPr sz="1200" b="0">
                <a:solidFill>
                  <a:schemeClr val="bg1"/>
                </a:solidFill>
                <a:latin typeface="Raleway"/>
              </a:rPr>
              <a:t>·  Due </a:t>
            </a:r>
            <a:r>
              <a:rPr sz="1200" b="0" err="1">
                <a:solidFill>
                  <a:schemeClr val="bg1"/>
                </a:solidFill>
                <a:latin typeface="Raleway"/>
              </a:rPr>
              <a:t>diligence</a:t>
            </a:r>
            <a:r>
              <a:rPr sz="1200" b="0">
                <a:solidFill>
                  <a:schemeClr val="bg1"/>
                </a:solidFill>
                <a:latin typeface="Raleway"/>
              </a:rPr>
              <a:t> financiera del target</a:t>
            </a:r>
            <a:endParaRPr lang="es-ES" sz="1200" b="0">
              <a:solidFill>
                <a:schemeClr val="bg1"/>
              </a:solidFill>
              <a:latin typeface="Raleway"/>
            </a:endParaRPr>
          </a:p>
          <a:p>
            <a:pPr algn="l">
              <a:spcAft>
                <a:spcPts val="500"/>
              </a:spcAft>
            </a:pPr>
            <a:r>
              <a:rPr sz="1200" b="0">
                <a:solidFill>
                  <a:schemeClr val="bg1"/>
                </a:solidFill>
                <a:latin typeface="Raleway"/>
              </a:rPr>
              <a:t>·  </a:t>
            </a:r>
            <a:r>
              <a:rPr sz="1200" b="0" err="1">
                <a:solidFill>
                  <a:schemeClr val="bg1"/>
                </a:solidFill>
                <a:latin typeface="Raleway"/>
              </a:rPr>
              <a:t>Valoración</a:t>
            </a:r>
            <a:r>
              <a:rPr sz="1200" b="0">
                <a:solidFill>
                  <a:schemeClr val="bg1"/>
                </a:solidFill>
                <a:latin typeface="Raleway"/>
              </a:rPr>
              <a:t> </a:t>
            </a:r>
            <a:r>
              <a:rPr sz="1200" b="0" err="1">
                <a:solidFill>
                  <a:schemeClr val="bg1"/>
                </a:solidFill>
                <a:latin typeface="Raleway"/>
              </a:rPr>
              <a:t>independiente</a:t>
            </a:r>
            <a:endParaRPr sz="1200" b="0">
              <a:solidFill>
                <a:schemeClr val="bg1"/>
              </a:solidFill>
              <a:latin typeface="Raleway"/>
            </a:endParaRPr>
          </a:p>
          <a:p>
            <a:pPr algn="l">
              <a:spcAft>
                <a:spcPts val="500"/>
              </a:spcAft>
            </a:pPr>
            <a:r>
              <a:rPr sz="1200" b="0">
                <a:solidFill>
                  <a:schemeClr val="bg1"/>
                </a:solidFill>
                <a:latin typeface="Raleway"/>
              </a:rPr>
              <a:t>·  </a:t>
            </a:r>
            <a:r>
              <a:rPr sz="1200" b="0" err="1">
                <a:solidFill>
                  <a:schemeClr val="bg1"/>
                </a:solidFill>
                <a:latin typeface="Raleway"/>
              </a:rPr>
              <a:t>Revisión</a:t>
            </a:r>
            <a:r>
              <a:rPr sz="1200" b="0">
                <a:solidFill>
                  <a:schemeClr val="bg1"/>
                </a:solidFill>
                <a:latin typeface="Raleway"/>
              </a:rPr>
              <a:t> del business plan</a:t>
            </a:r>
          </a:p>
          <a:p>
            <a:pPr algn="l">
              <a:spcAft>
                <a:spcPts val="500"/>
              </a:spcAft>
            </a:pPr>
            <a:r>
              <a:rPr sz="1200" b="0">
                <a:solidFill>
                  <a:schemeClr val="bg1"/>
                </a:solidFill>
                <a:latin typeface="Raleway"/>
              </a:rPr>
              <a:t>·  </a:t>
            </a:r>
            <a:r>
              <a:rPr sz="1200" b="0" err="1">
                <a:solidFill>
                  <a:schemeClr val="bg1"/>
                </a:solidFill>
                <a:latin typeface="Raleway"/>
              </a:rPr>
              <a:t>Estructura</a:t>
            </a:r>
            <a:r>
              <a:rPr sz="1200" b="0">
                <a:solidFill>
                  <a:schemeClr val="bg1"/>
                </a:solidFill>
                <a:latin typeface="Raleway"/>
              </a:rPr>
              <a:t> de la </a:t>
            </a:r>
            <a:r>
              <a:rPr sz="1200" b="0" err="1">
                <a:solidFill>
                  <a:schemeClr val="bg1"/>
                </a:solidFill>
                <a:latin typeface="Raleway"/>
              </a:rPr>
              <a:t>operación</a:t>
            </a:r>
            <a:endParaRPr sz="1200" b="0">
              <a:solidFill>
                <a:schemeClr val="bg1"/>
              </a:solidFill>
              <a:latin typeface="Raleway"/>
            </a:endParaRPr>
          </a:p>
        </p:txBody>
      </p:sp>
      <p:sp>
        <p:nvSpPr>
          <p:cNvPr id="330" name="TextBox 329"/>
          <p:cNvSpPr txBox="1"/>
          <p:nvPr/>
        </p:nvSpPr>
        <p:spPr>
          <a:xfrm>
            <a:off x="4488061" y="1886193"/>
            <a:ext cx="914400" cy="731520"/>
          </a:xfrm>
          <a:prstGeom prst="rect">
            <a:avLst/>
          </a:prstGeom>
          <a:noFill/>
        </p:spPr>
        <p:txBody>
          <a:bodyPr wrap="square" lIns="45720" tIns="27432" rIns="45720" bIns="27432" anchor="t">
            <a:spAutoFit/>
          </a:bodyPr>
          <a:lstStyle/>
          <a:p>
            <a:pPr algn="l"/>
            <a:r>
              <a:rPr sz="4000" b="0">
                <a:solidFill>
                  <a:srgbClr val="516B6C"/>
                </a:solidFill>
                <a:latin typeface="Ailerons"/>
              </a:rPr>
              <a:t>02</a:t>
            </a:r>
          </a:p>
        </p:txBody>
      </p:sp>
      <p:sp>
        <p:nvSpPr>
          <p:cNvPr id="331" name="TextBox 330"/>
          <p:cNvSpPr txBox="1"/>
          <p:nvPr/>
        </p:nvSpPr>
        <p:spPr>
          <a:xfrm>
            <a:off x="5356741" y="2005065"/>
            <a:ext cx="2560320" cy="320040"/>
          </a:xfrm>
          <a:prstGeom prst="rect">
            <a:avLst/>
          </a:prstGeom>
          <a:noFill/>
        </p:spPr>
        <p:txBody>
          <a:bodyPr wrap="square" lIns="45720" tIns="27432" rIns="45720" bIns="27432" anchor="t">
            <a:spAutoFit/>
          </a:bodyPr>
          <a:lstStyle/>
          <a:p>
            <a:pPr algn="l"/>
            <a:r>
              <a:rPr sz="1400" b="0">
                <a:solidFill>
                  <a:srgbClr val="202031"/>
                </a:solidFill>
                <a:latin typeface="Raleway Black"/>
              </a:rPr>
              <a:t>ACOMPAÑAMIENTO</a:t>
            </a:r>
          </a:p>
        </p:txBody>
      </p:sp>
      <p:sp>
        <p:nvSpPr>
          <p:cNvPr id="332" name="TextBox 331"/>
          <p:cNvSpPr txBox="1"/>
          <p:nvPr/>
        </p:nvSpPr>
        <p:spPr>
          <a:xfrm>
            <a:off x="5356741" y="2297673"/>
            <a:ext cx="2560320" cy="270843"/>
          </a:xfrm>
          <a:prstGeom prst="rect">
            <a:avLst/>
          </a:prstGeom>
          <a:noFill/>
        </p:spPr>
        <p:txBody>
          <a:bodyPr wrap="square" lIns="45720" tIns="27432" rIns="45720" bIns="27432" anchor="t">
            <a:spAutoFit/>
          </a:bodyPr>
          <a:lstStyle/>
          <a:p>
            <a:pPr algn="l"/>
            <a:r>
              <a:rPr sz="1400" b="0">
                <a:solidFill>
                  <a:srgbClr val="516B6C"/>
                </a:solidFill>
                <a:latin typeface="Raleway"/>
              </a:rPr>
              <a:t>Durante la inversión</a:t>
            </a:r>
            <a:endParaRPr lang="es-ES" sz="1400" b="0">
              <a:solidFill>
                <a:srgbClr val="516B6C"/>
              </a:solidFill>
              <a:latin typeface="Raleway"/>
            </a:endParaRPr>
          </a:p>
        </p:txBody>
      </p:sp>
      <p:sp>
        <p:nvSpPr>
          <p:cNvPr id="333" name="Rounded Rectangle 332"/>
          <p:cNvSpPr/>
          <p:nvPr/>
        </p:nvSpPr>
        <p:spPr>
          <a:xfrm>
            <a:off x="4379976" y="2606040"/>
            <a:ext cx="3429000" cy="2103120"/>
          </a:xfrm>
          <a:prstGeom prst="roundRect">
            <a:avLst>
              <a:gd name="adj" fmla="val 12000"/>
            </a:avLst>
          </a:prstGeom>
          <a:solidFill>
            <a:srgbClr val="516B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4" name="TextBox 333"/>
          <p:cNvSpPr txBox="1"/>
          <p:nvPr/>
        </p:nvSpPr>
        <p:spPr>
          <a:xfrm>
            <a:off x="4608576" y="3164388"/>
            <a:ext cx="2971800" cy="986424"/>
          </a:xfrm>
          <a:prstGeom prst="rect">
            <a:avLst/>
          </a:prstGeom>
          <a:noFill/>
        </p:spPr>
        <p:txBody>
          <a:bodyPr wrap="square" lIns="45720" tIns="27432" rIns="45720" bIns="27432" anchor="ctr">
            <a:spAutoFit/>
          </a:bodyPr>
          <a:lstStyle/>
          <a:p>
            <a:pPr algn="l">
              <a:spcAft>
                <a:spcPts val="500"/>
              </a:spcAft>
            </a:pPr>
            <a:r>
              <a:rPr sz="1200" b="0">
                <a:solidFill>
                  <a:schemeClr val="bg1"/>
                </a:solidFill>
                <a:latin typeface="Raleway"/>
              </a:rPr>
              <a:t>·  CFO part-time y </a:t>
            </a:r>
            <a:r>
              <a:rPr sz="1200" b="0" err="1">
                <a:solidFill>
                  <a:schemeClr val="bg1"/>
                </a:solidFill>
                <a:latin typeface="Raleway"/>
              </a:rPr>
              <a:t>reporting</a:t>
            </a:r>
            <a:r>
              <a:rPr sz="1200" b="0">
                <a:solidFill>
                  <a:schemeClr val="bg1"/>
                </a:solidFill>
                <a:latin typeface="Raleway"/>
              </a:rPr>
              <a:t> al fondo</a:t>
            </a:r>
            <a:endParaRPr lang="es-ES" sz="1200" b="0">
              <a:solidFill>
                <a:schemeClr val="bg1"/>
              </a:solidFill>
              <a:latin typeface="Raleway"/>
            </a:endParaRPr>
          </a:p>
          <a:p>
            <a:pPr algn="l">
              <a:spcAft>
                <a:spcPts val="500"/>
              </a:spcAft>
            </a:pPr>
            <a:r>
              <a:rPr sz="1200" b="0">
                <a:solidFill>
                  <a:schemeClr val="bg1"/>
                </a:solidFill>
                <a:latin typeface="Raleway"/>
              </a:rPr>
              <a:t>·  </a:t>
            </a:r>
            <a:r>
              <a:rPr sz="1200" b="0" err="1">
                <a:solidFill>
                  <a:schemeClr val="bg1"/>
                </a:solidFill>
                <a:latin typeface="Raleway"/>
              </a:rPr>
              <a:t>Financiación</a:t>
            </a:r>
            <a:r>
              <a:rPr sz="1200" b="0">
                <a:solidFill>
                  <a:schemeClr val="bg1"/>
                </a:solidFill>
                <a:latin typeface="Raleway"/>
              </a:rPr>
              <a:t> y </a:t>
            </a:r>
            <a:r>
              <a:rPr sz="1200" b="0" err="1">
                <a:solidFill>
                  <a:schemeClr val="bg1"/>
                </a:solidFill>
                <a:latin typeface="Raleway"/>
              </a:rPr>
              <a:t>ahorro</a:t>
            </a:r>
            <a:r>
              <a:rPr sz="1200" b="0">
                <a:solidFill>
                  <a:schemeClr val="bg1"/>
                </a:solidFill>
                <a:latin typeface="Raleway"/>
              </a:rPr>
              <a:t> de </a:t>
            </a:r>
            <a:r>
              <a:rPr sz="1200" b="0" err="1">
                <a:solidFill>
                  <a:schemeClr val="bg1"/>
                </a:solidFill>
                <a:latin typeface="Raleway"/>
              </a:rPr>
              <a:t>costes</a:t>
            </a:r>
            <a:endParaRPr sz="1200" b="0">
              <a:solidFill>
                <a:schemeClr val="bg1"/>
              </a:solidFill>
              <a:latin typeface="Raleway"/>
            </a:endParaRPr>
          </a:p>
          <a:p>
            <a:pPr algn="l">
              <a:spcAft>
                <a:spcPts val="500"/>
              </a:spcAft>
            </a:pPr>
            <a:r>
              <a:rPr sz="1200" b="0">
                <a:solidFill>
                  <a:schemeClr val="bg1"/>
                </a:solidFill>
                <a:latin typeface="Raleway"/>
              </a:rPr>
              <a:t>·  Headhunting de </a:t>
            </a:r>
            <a:r>
              <a:rPr sz="1200" b="0" err="1">
                <a:solidFill>
                  <a:schemeClr val="bg1"/>
                </a:solidFill>
                <a:latin typeface="Raleway"/>
              </a:rPr>
              <a:t>equipos</a:t>
            </a:r>
            <a:r>
              <a:rPr sz="1200" b="0">
                <a:solidFill>
                  <a:schemeClr val="bg1"/>
                </a:solidFill>
                <a:latin typeface="Raleway"/>
              </a:rPr>
              <a:t> </a:t>
            </a:r>
            <a:r>
              <a:rPr sz="1200" b="0" err="1">
                <a:solidFill>
                  <a:schemeClr val="bg1"/>
                </a:solidFill>
                <a:latin typeface="Raleway"/>
              </a:rPr>
              <a:t>directivos</a:t>
            </a:r>
            <a:endParaRPr sz="1200" b="0">
              <a:solidFill>
                <a:schemeClr val="bg1"/>
              </a:solidFill>
              <a:latin typeface="Raleway"/>
            </a:endParaRPr>
          </a:p>
          <a:p>
            <a:pPr algn="l">
              <a:spcAft>
                <a:spcPts val="500"/>
              </a:spcAft>
            </a:pPr>
            <a:r>
              <a:rPr sz="1200" b="0">
                <a:solidFill>
                  <a:schemeClr val="bg1"/>
                </a:solidFill>
                <a:latin typeface="Raleway"/>
              </a:rPr>
              <a:t>·  Outsourcing y </a:t>
            </a:r>
            <a:r>
              <a:rPr sz="1200" b="0" err="1">
                <a:solidFill>
                  <a:schemeClr val="bg1"/>
                </a:solidFill>
                <a:latin typeface="Raleway"/>
              </a:rPr>
              <a:t>consultoría</a:t>
            </a:r>
            <a:r>
              <a:rPr sz="1200" b="0">
                <a:solidFill>
                  <a:schemeClr val="bg1"/>
                </a:solidFill>
                <a:latin typeface="Raleway"/>
              </a:rPr>
              <a:t> </a:t>
            </a:r>
            <a:r>
              <a:rPr sz="1200" b="0" err="1">
                <a:solidFill>
                  <a:schemeClr val="bg1"/>
                </a:solidFill>
                <a:latin typeface="Raleway"/>
              </a:rPr>
              <a:t>salarial</a:t>
            </a:r>
            <a:endParaRPr sz="1200" b="0">
              <a:solidFill>
                <a:schemeClr val="bg1"/>
              </a:solidFill>
              <a:latin typeface="Raleway"/>
            </a:endParaRPr>
          </a:p>
        </p:txBody>
      </p:sp>
      <p:sp>
        <p:nvSpPr>
          <p:cNvPr id="336" name="TextBox 335"/>
          <p:cNvSpPr txBox="1"/>
          <p:nvPr/>
        </p:nvSpPr>
        <p:spPr>
          <a:xfrm>
            <a:off x="8266175" y="1902406"/>
            <a:ext cx="914400" cy="731520"/>
          </a:xfrm>
          <a:prstGeom prst="rect">
            <a:avLst/>
          </a:prstGeom>
          <a:noFill/>
        </p:spPr>
        <p:txBody>
          <a:bodyPr wrap="square" lIns="45720" tIns="27432" rIns="45720" bIns="27432" anchor="t">
            <a:spAutoFit/>
          </a:bodyPr>
          <a:lstStyle/>
          <a:p>
            <a:pPr algn="l"/>
            <a:r>
              <a:rPr sz="4000" b="0">
                <a:solidFill>
                  <a:srgbClr val="516B6C"/>
                </a:solidFill>
                <a:latin typeface="Ailerons"/>
              </a:rPr>
              <a:t>03</a:t>
            </a:r>
          </a:p>
        </p:txBody>
      </p:sp>
      <p:sp>
        <p:nvSpPr>
          <p:cNvPr id="337" name="TextBox 336"/>
          <p:cNvSpPr txBox="1"/>
          <p:nvPr/>
        </p:nvSpPr>
        <p:spPr>
          <a:xfrm>
            <a:off x="9134855" y="2009372"/>
            <a:ext cx="2560320" cy="320040"/>
          </a:xfrm>
          <a:prstGeom prst="rect">
            <a:avLst/>
          </a:prstGeom>
          <a:noFill/>
        </p:spPr>
        <p:txBody>
          <a:bodyPr wrap="square" lIns="45720" tIns="27432" rIns="45720" bIns="27432" anchor="t">
            <a:spAutoFit/>
          </a:bodyPr>
          <a:lstStyle/>
          <a:p>
            <a:pPr algn="l"/>
            <a:r>
              <a:rPr sz="1400" b="0">
                <a:solidFill>
                  <a:srgbClr val="202031"/>
                </a:solidFill>
                <a:latin typeface="Raleway Black"/>
              </a:rPr>
              <a:t>SALIDA</a:t>
            </a:r>
          </a:p>
        </p:txBody>
      </p:sp>
      <p:sp>
        <p:nvSpPr>
          <p:cNvPr id="338" name="TextBox 337"/>
          <p:cNvSpPr txBox="1"/>
          <p:nvPr/>
        </p:nvSpPr>
        <p:spPr>
          <a:xfrm>
            <a:off x="9134855" y="2313886"/>
            <a:ext cx="2560320" cy="270843"/>
          </a:xfrm>
          <a:prstGeom prst="rect">
            <a:avLst/>
          </a:prstGeom>
          <a:noFill/>
        </p:spPr>
        <p:txBody>
          <a:bodyPr wrap="square" lIns="45720" tIns="27432" rIns="45720" bIns="27432" anchor="t">
            <a:spAutoFit/>
          </a:bodyPr>
          <a:lstStyle/>
          <a:p>
            <a:pPr algn="l"/>
            <a:r>
              <a:rPr sz="1400" b="0">
                <a:solidFill>
                  <a:srgbClr val="516B6C"/>
                </a:solidFill>
                <a:latin typeface="Raleway"/>
              </a:rPr>
              <a:t>Al preparar la venta</a:t>
            </a:r>
            <a:endParaRPr lang="es-ES" sz="1400" b="0">
              <a:solidFill>
                <a:srgbClr val="516B6C"/>
              </a:solidFill>
              <a:latin typeface="Raleway"/>
            </a:endParaRPr>
          </a:p>
        </p:txBody>
      </p:sp>
      <p:sp>
        <p:nvSpPr>
          <p:cNvPr id="339" name="Rounded Rectangle 338"/>
          <p:cNvSpPr/>
          <p:nvPr/>
        </p:nvSpPr>
        <p:spPr>
          <a:xfrm>
            <a:off x="8547196" y="2606040"/>
            <a:ext cx="3429000" cy="2103120"/>
          </a:xfrm>
          <a:prstGeom prst="roundRect">
            <a:avLst>
              <a:gd name="adj" fmla="val 12000"/>
            </a:avLst>
          </a:prstGeom>
          <a:solidFill>
            <a:srgbClr val="516B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0" name="TextBox 339"/>
          <p:cNvSpPr txBox="1"/>
          <p:nvPr/>
        </p:nvSpPr>
        <p:spPr>
          <a:xfrm>
            <a:off x="8775797" y="3164388"/>
            <a:ext cx="2971800" cy="986424"/>
          </a:xfrm>
          <a:prstGeom prst="rect">
            <a:avLst/>
          </a:prstGeom>
          <a:noFill/>
        </p:spPr>
        <p:txBody>
          <a:bodyPr wrap="square" lIns="45720" tIns="27432" rIns="45720" bIns="27432" anchor="ctr">
            <a:spAutoFit/>
          </a:bodyPr>
          <a:lstStyle/>
          <a:p>
            <a:pPr algn="l">
              <a:spcAft>
                <a:spcPts val="500"/>
              </a:spcAft>
            </a:pPr>
            <a:r>
              <a:rPr sz="1200" b="0">
                <a:solidFill>
                  <a:schemeClr val="bg1"/>
                </a:solidFill>
                <a:latin typeface="Raleway"/>
              </a:rPr>
              <a:t>·  </a:t>
            </a:r>
            <a:r>
              <a:rPr sz="1200" b="0" err="1">
                <a:solidFill>
                  <a:schemeClr val="bg1"/>
                </a:solidFill>
                <a:latin typeface="Raleway"/>
              </a:rPr>
              <a:t>Compañía</a:t>
            </a:r>
            <a:r>
              <a:rPr sz="1200" b="0">
                <a:solidFill>
                  <a:schemeClr val="bg1"/>
                </a:solidFill>
                <a:latin typeface="Raleway"/>
              </a:rPr>
              <a:t> </a:t>
            </a:r>
            <a:r>
              <a:rPr sz="1200" b="0" err="1">
                <a:solidFill>
                  <a:schemeClr val="bg1"/>
                </a:solidFill>
                <a:latin typeface="Raleway"/>
              </a:rPr>
              <a:t>preparada</a:t>
            </a:r>
            <a:r>
              <a:rPr sz="1200" b="0">
                <a:solidFill>
                  <a:schemeClr val="bg1"/>
                </a:solidFill>
                <a:latin typeface="Raleway"/>
              </a:rPr>
              <a:t> para la </a:t>
            </a:r>
            <a:r>
              <a:rPr sz="1200" b="0" err="1">
                <a:solidFill>
                  <a:schemeClr val="bg1"/>
                </a:solidFill>
                <a:latin typeface="Raleway"/>
              </a:rPr>
              <a:t>venta</a:t>
            </a:r>
            <a:endParaRPr lang="es-ES" sz="1200" b="0" err="1">
              <a:solidFill>
                <a:schemeClr val="bg1"/>
              </a:solidFill>
              <a:latin typeface="Raleway"/>
            </a:endParaRPr>
          </a:p>
          <a:p>
            <a:pPr algn="l">
              <a:spcAft>
                <a:spcPts val="500"/>
              </a:spcAft>
            </a:pPr>
            <a:r>
              <a:rPr sz="1200" b="0">
                <a:solidFill>
                  <a:schemeClr val="bg1"/>
                </a:solidFill>
                <a:latin typeface="Raleway"/>
              </a:rPr>
              <a:t>·  Vendor due diligence y </a:t>
            </a:r>
            <a:r>
              <a:rPr sz="1200" b="0" err="1">
                <a:solidFill>
                  <a:schemeClr val="bg1"/>
                </a:solidFill>
                <a:latin typeface="Raleway"/>
              </a:rPr>
              <a:t>valoración</a:t>
            </a:r>
          </a:p>
          <a:p>
            <a:pPr algn="l">
              <a:spcAft>
                <a:spcPts val="500"/>
              </a:spcAft>
            </a:pPr>
            <a:r>
              <a:rPr sz="1200" b="0">
                <a:solidFill>
                  <a:schemeClr val="bg1"/>
                </a:solidFill>
                <a:latin typeface="Raleway"/>
              </a:rPr>
              <a:t>·  </a:t>
            </a:r>
            <a:r>
              <a:rPr sz="1200" b="0" err="1">
                <a:solidFill>
                  <a:schemeClr val="bg1"/>
                </a:solidFill>
                <a:latin typeface="Raleway"/>
              </a:rPr>
              <a:t>Proceso</a:t>
            </a:r>
            <a:r>
              <a:rPr sz="1200" b="0">
                <a:solidFill>
                  <a:schemeClr val="bg1"/>
                </a:solidFill>
                <a:latin typeface="Raleway"/>
              </a:rPr>
              <a:t> de M&amp;A hasta el </a:t>
            </a:r>
            <a:r>
              <a:rPr sz="1200" b="0" err="1">
                <a:solidFill>
                  <a:schemeClr val="bg1"/>
                </a:solidFill>
                <a:latin typeface="Raleway"/>
              </a:rPr>
              <a:t>cierre</a:t>
            </a:r>
          </a:p>
          <a:p>
            <a:pPr algn="l">
              <a:spcAft>
                <a:spcPts val="500"/>
              </a:spcAft>
            </a:pPr>
            <a:r>
              <a:rPr sz="1200" b="0">
                <a:solidFill>
                  <a:schemeClr val="bg1"/>
                </a:solidFill>
                <a:latin typeface="Raleway"/>
              </a:rPr>
              <a:t>·  </a:t>
            </a:r>
            <a:r>
              <a:rPr sz="1200" b="0" err="1">
                <a:solidFill>
                  <a:schemeClr val="bg1"/>
                </a:solidFill>
                <a:latin typeface="Raleway"/>
              </a:rPr>
              <a:t>Búsqueda</a:t>
            </a:r>
            <a:r>
              <a:rPr sz="1200" b="0">
                <a:solidFill>
                  <a:schemeClr val="bg1"/>
                </a:solidFill>
                <a:latin typeface="Raleway"/>
              </a:rPr>
              <a:t> del comprador o socio</a:t>
            </a:r>
          </a:p>
        </p:txBody>
      </p:sp>
      <p:sp>
        <p:nvSpPr>
          <p:cNvPr id="341" name="Rounded Rectangle 340"/>
          <p:cNvSpPr/>
          <p:nvPr/>
        </p:nvSpPr>
        <p:spPr>
          <a:xfrm>
            <a:off x="493776" y="4983480"/>
            <a:ext cx="11201400" cy="960120"/>
          </a:xfrm>
          <a:prstGeom prst="roundRect">
            <a:avLst>
              <a:gd name="adj" fmla="val 18000"/>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2" name="TextBox 341"/>
          <p:cNvSpPr txBox="1"/>
          <p:nvPr/>
        </p:nvSpPr>
        <p:spPr>
          <a:xfrm>
            <a:off x="813816" y="5074920"/>
            <a:ext cx="7863840" cy="777240"/>
          </a:xfrm>
          <a:prstGeom prst="rect">
            <a:avLst/>
          </a:prstGeom>
          <a:noFill/>
        </p:spPr>
        <p:txBody>
          <a:bodyPr wrap="square" lIns="45720" tIns="27432" rIns="45720" bIns="27432" anchor="ctr">
            <a:spAutoFit/>
          </a:bodyPr>
          <a:lstStyle/>
          <a:p>
            <a:pPr algn="l"/>
            <a:r>
              <a:rPr sz="1300" b="0">
                <a:solidFill>
                  <a:srgbClr val="F0E7DE"/>
                </a:solidFill>
                <a:latin typeface="Raleway"/>
              </a:rPr>
              <a:t>Un único interlocutor para todo el ciclo de inversión, </a:t>
            </a:r>
            <a:r>
              <a:rPr sz="1300" b="1">
                <a:solidFill>
                  <a:srgbClr val="F0E7DE"/>
                </a:solidFill>
                <a:latin typeface="Raleway"/>
              </a:rPr>
              <a:t>con visibilidad financiera homogénea entre participadas.</a:t>
            </a:r>
          </a:p>
        </p:txBody>
      </p:sp>
      <p:cxnSp>
        <p:nvCxnSpPr>
          <p:cNvPr id="343" name="Connector 342"/>
          <p:cNvCxnSpPr/>
          <p:nvPr/>
        </p:nvCxnSpPr>
        <p:spPr>
          <a:xfrm>
            <a:off x="8997696" y="5166360"/>
            <a:ext cx="0" cy="594360"/>
          </a:xfrm>
          <a:prstGeom prst="line">
            <a:avLst/>
          </a:prstGeom>
          <a:ln w="12700">
            <a:solidFill>
              <a:srgbClr val="FBE0A0"/>
            </a:solidFill>
          </a:ln>
        </p:spPr>
        <p:style>
          <a:lnRef idx="2">
            <a:schemeClr val="accent1"/>
          </a:lnRef>
          <a:fillRef idx="0">
            <a:schemeClr val="accent1"/>
          </a:fillRef>
          <a:effectRef idx="1">
            <a:schemeClr val="accent1"/>
          </a:effectRef>
          <a:fontRef idx="minor">
            <a:schemeClr val="tx1"/>
          </a:fontRef>
        </p:style>
      </p:cxnSp>
      <p:sp>
        <p:nvSpPr>
          <p:cNvPr id="344" name="TextBox 343"/>
          <p:cNvSpPr txBox="1"/>
          <p:nvPr/>
        </p:nvSpPr>
        <p:spPr>
          <a:xfrm>
            <a:off x="9180576" y="5029200"/>
            <a:ext cx="1463040" cy="640080"/>
          </a:xfrm>
          <a:prstGeom prst="rect">
            <a:avLst/>
          </a:prstGeom>
          <a:noFill/>
        </p:spPr>
        <p:txBody>
          <a:bodyPr wrap="square" lIns="45720" tIns="27432" rIns="45720" bIns="27432" anchor="t">
            <a:spAutoFit/>
          </a:bodyPr>
          <a:lstStyle/>
          <a:p>
            <a:pPr algn="l"/>
            <a:r>
              <a:rPr sz="3200" b="0">
                <a:solidFill>
                  <a:srgbClr val="FBE0A0"/>
                </a:solidFill>
                <a:latin typeface="Ailerons"/>
              </a:rPr>
              <a:t>360º</a:t>
            </a:r>
          </a:p>
        </p:txBody>
      </p:sp>
      <p:sp>
        <p:nvSpPr>
          <p:cNvPr id="345" name="TextBox 344"/>
          <p:cNvSpPr txBox="1"/>
          <p:nvPr/>
        </p:nvSpPr>
        <p:spPr>
          <a:xfrm>
            <a:off x="10369296" y="5138928"/>
            <a:ext cx="1417320" cy="731520"/>
          </a:xfrm>
          <a:prstGeom prst="rect">
            <a:avLst/>
          </a:prstGeom>
          <a:noFill/>
        </p:spPr>
        <p:txBody>
          <a:bodyPr wrap="square" lIns="45720" tIns="27432" rIns="45720" bIns="27432" anchor="ctr">
            <a:spAutoFit/>
          </a:bodyPr>
          <a:lstStyle/>
          <a:p>
            <a:pPr algn="l"/>
            <a:r>
              <a:rPr sz="1000" b="0">
                <a:solidFill>
                  <a:srgbClr val="F0E7DE"/>
                </a:solidFill>
                <a:latin typeface="Raleway"/>
              </a:rPr>
              <a:t>Cobertura del ciclo de inversión</a:t>
            </a:r>
          </a:p>
        </p:txBody>
      </p:sp>
      <p:pic>
        <p:nvPicPr>
          <p:cNvPr id="4" name="Graphic 22">
            <a:extLst>
              <a:ext uri="{FF2B5EF4-FFF2-40B4-BE49-F238E27FC236}">
                <a16:creationId xmlns:a16="http://schemas.microsoft.com/office/drawing/2014/main" id="{B54B67C8-B2DB-F62E-1AFB-8C19062524B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12299" y="3255213"/>
            <a:ext cx="667426" cy="794427"/>
          </a:xfrm>
          <a:prstGeom prst="rect">
            <a:avLst/>
          </a:prstGeom>
        </p:spPr>
      </p:pic>
      <p:pic>
        <p:nvPicPr>
          <p:cNvPr id="5" name="Graphic 22">
            <a:extLst>
              <a:ext uri="{FF2B5EF4-FFF2-40B4-BE49-F238E27FC236}">
                <a16:creationId xmlns:a16="http://schemas.microsoft.com/office/drawing/2014/main" id="{87249DD8-EF74-3279-F640-1862BB5FA92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814128" y="3255212"/>
            <a:ext cx="667426" cy="79442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upo 8">
            <a:extLst>
              <a:ext uri="{FF2B5EF4-FFF2-40B4-BE49-F238E27FC236}">
                <a16:creationId xmlns:a16="http://schemas.microsoft.com/office/drawing/2014/main" id="{02307E7A-97AF-B9D2-1B02-177E0B6EBE5A}"/>
              </a:ext>
            </a:extLst>
          </p:cNvPr>
          <p:cNvGrpSpPr/>
          <p:nvPr/>
        </p:nvGrpSpPr>
        <p:grpSpPr>
          <a:xfrm>
            <a:off x="5916120" y="89248"/>
            <a:ext cx="7029634" cy="7087144"/>
            <a:chOff x="7151969" y="1064890"/>
            <a:chExt cx="7203301" cy="7203301"/>
          </a:xfrm>
        </p:grpSpPr>
        <p:pic>
          <p:nvPicPr>
            <p:cNvPr id="10" name="Graphic 31">
              <a:extLst>
                <a:ext uri="{FF2B5EF4-FFF2-40B4-BE49-F238E27FC236}">
                  <a16:creationId xmlns:a16="http://schemas.microsoft.com/office/drawing/2014/main" id="{889AF228-28A0-315A-AD28-D7DA21389BE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rot="3736486">
              <a:off x="7151969" y="1064890"/>
              <a:ext cx="7203301" cy="7203301"/>
            </a:xfrm>
            <a:prstGeom prst="rect">
              <a:avLst/>
            </a:prstGeom>
          </p:spPr>
        </p:pic>
        <p:pic>
          <p:nvPicPr>
            <p:cNvPr id="11" name="Graphic 33">
              <a:extLst>
                <a:ext uri="{FF2B5EF4-FFF2-40B4-BE49-F238E27FC236}">
                  <a16:creationId xmlns:a16="http://schemas.microsoft.com/office/drawing/2014/main" id="{DF35D6DA-4778-16B7-4117-A2BB15F9606C}"/>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rot="5400000">
              <a:off x="8735022" y="2705641"/>
              <a:ext cx="4071554" cy="4071553"/>
            </a:xfrm>
            <a:prstGeom prst="rect">
              <a:avLst/>
            </a:prstGeom>
          </p:spPr>
        </p:pic>
        <p:pic>
          <p:nvPicPr>
            <p:cNvPr id="12" name="Graphic 16">
              <a:extLst>
                <a:ext uri="{FF2B5EF4-FFF2-40B4-BE49-F238E27FC236}">
                  <a16:creationId xmlns:a16="http://schemas.microsoft.com/office/drawing/2014/main" id="{DA884BA6-D570-62B1-3325-8EF87F238B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296681" y="3285448"/>
              <a:ext cx="2930088" cy="2930089"/>
            </a:xfrm>
            <a:prstGeom prst="rect">
              <a:avLst/>
            </a:prstGeom>
          </p:spPr>
        </p:pic>
      </p:grpSp>
      <p:pic>
        <p:nvPicPr>
          <p:cNvPr id="276" name="Image 0" descr="preencoded.png"/>
          <p:cNvPicPr/>
          <p:nvPr/>
        </p:nvPicPr>
        <p:blipFill>
          <a:blip r:embed="rId5"/>
          <a:stretch/>
        </p:blipFill>
        <p:spPr>
          <a:xfrm>
            <a:off x="128160" y="-18360"/>
            <a:ext cx="887040" cy="237600"/>
          </a:xfrm>
          <a:prstGeom prst="rect">
            <a:avLst/>
          </a:prstGeom>
          <a:ln w="19080">
            <a:noFill/>
          </a:ln>
        </p:spPr>
      </p:pic>
      <p:cxnSp>
        <p:nvCxnSpPr>
          <p:cNvPr id="321" name="Straight Connector 5"/>
          <p:cNvCxnSpPr/>
          <p:nvPr/>
        </p:nvCxnSpPr>
        <p:spPr>
          <a:xfrm>
            <a:off x="0" y="190440"/>
            <a:ext cx="12279600" cy="360"/>
          </a:xfrm>
          <a:prstGeom prst="straightConnector1">
            <a:avLst/>
          </a:prstGeom>
          <a:ln w="19080">
            <a:solidFill>
              <a:srgbClr val="202031"/>
            </a:solidFill>
            <a:miter/>
          </a:ln>
        </p:spPr>
      </p:cxnSp>
      <p:sp>
        <p:nvSpPr>
          <p:cNvPr id="319" name="TextBox 13"/>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FINANCE</a:t>
            </a:r>
            <a:endParaRPr lang="en-US" sz="1000" b="0" strike="noStrike" spc="-1">
              <a:solidFill>
                <a:srgbClr val="000000"/>
              </a:solidFill>
              <a:latin typeface="Arial"/>
            </a:endParaRPr>
          </a:p>
        </p:txBody>
      </p:sp>
      <p:sp>
        <p:nvSpPr>
          <p:cNvPr id="318"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320" name="TextBox 19"/>
          <p:cNvSpPr txBox="1"/>
          <p:nvPr/>
        </p:nvSpPr>
        <p:spPr>
          <a:xfrm>
            <a:off x="8281800" y="-23760"/>
            <a:ext cx="31788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SERVICIOS</a:t>
            </a:r>
            <a:endParaRPr lang="en-US" sz="1000" b="0" strike="noStrike" spc="-1">
              <a:solidFill>
                <a:srgbClr val="000000"/>
              </a:solidFill>
              <a:latin typeface="Arial"/>
            </a:endParaRPr>
          </a:p>
        </p:txBody>
      </p:sp>
      <p:sp>
        <p:nvSpPr>
          <p:cNvPr id="322" name="TextBox 321"/>
          <p:cNvSpPr txBox="1"/>
          <p:nvPr/>
        </p:nvSpPr>
        <p:spPr>
          <a:xfrm>
            <a:off x="468989" y="627140"/>
            <a:ext cx="11247120" cy="794064"/>
          </a:xfrm>
          <a:prstGeom prst="rect">
            <a:avLst/>
          </a:prstGeom>
          <a:noFill/>
        </p:spPr>
        <p:txBody>
          <a:bodyPr wrap="square" lIns="45720" tIns="27432" rIns="45720" bIns="27432" anchor="t">
            <a:spAutoFit/>
          </a:bodyPr>
          <a:lstStyle/>
          <a:p>
            <a:r>
              <a:rPr sz="4800" spc="-151" err="1">
                <a:solidFill>
                  <a:srgbClr val="202031"/>
                </a:solidFill>
                <a:latin typeface="Raleway Medium"/>
              </a:rPr>
              <a:t>Finance</a:t>
            </a:r>
            <a:endParaRPr lang="es-ES" sz="4800" spc="-151" err="1">
              <a:solidFill>
                <a:srgbClr val="202031"/>
              </a:solidFill>
              <a:latin typeface="Raleway Medium"/>
            </a:endParaRPr>
          </a:p>
        </p:txBody>
      </p:sp>
      <p:sp>
        <p:nvSpPr>
          <p:cNvPr id="323" name="TextBox 322"/>
          <p:cNvSpPr txBox="1"/>
          <p:nvPr/>
        </p:nvSpPr>
        <p:spPr>
          <a:xfrm>
            <a:off x="457200" y="1234440"/>
            <a:ext cx="10972800" cy="365760"/>
          </a:xfrm>
          <a:prstGeom prst="rect">
            <a:avLst/>
          </a:prstGeom>
          <a:noFill/>
        </p:spPr>
        <p:txBody>
          <a:bodyPr wrap="square" lIns="45720" tIns="27432" rIns="45720" bIns="27432" anchor="t">
            <a:spAutoFit/>
          </a:bodyPr>
          <a:lstStyle/>
          <a:p>
            <a:pPr algn="l"/>
            <a:r>
              <a:rPr sz="1400" b="0">
                <a:solidFill>
                  <a:srgbClr val="202031"/>
                </a:solidFill>
                <a:latin typeface="Raleway"/>
              </a:rPr>
              <a:t>Todo el ciclo financiero de una participada, </a:t>
            </a:r>
            <a:r>
              <a:rPr sz="1400" b="1">
                <a:solidFill>
                  <a:srgbClr val="202031"/>
                </a:solidFill>
                <a:latin typeface="Raleway"/>
              </a:rPr>
              <a:t>desde la due diligence hasta la salida.</a:t>
            </a:r>
          </a:p>
        </p:txBody>
      </p:sp>
      <p:sp>
        <p:nvSpPr>
          <p:cNvPr id="31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05</a:t>
            </a:r>
            <a:endParaRPr lang="en-US" sz="4000" b="0" strike="noStrike" spc="-1">
              <a:solidFill>
                <a:srgbClr val="000000"/>
              </a:solidFill>
              <a:latin typeface="Arial"/>
            </a:endParaRPr>
          </a:p>
        </p:txBody>
      </p:sp>
      <p:sp>
        <p:nvSpPr>
          <p:cNvPr id="324" name="Rounded Rectangle 323"/>
          <p:cNvSpPr/>
          <p:nvPr/>
        </p:nvSpPr>
        <p:spPr>
          <a:xfrm>
            <a:off x="502920" y="178308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5" name="TextBox 324"/>
          <p:cNvSpPr txBox="1"/>
          <p:nvPr/>
        </p:nvSpPr>
        <p:spPr>
          <a:xfrm>
            <a:off x="612648" y="187451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Due Diligence Financiera</a:t>
            </a:r>
          </a:p>
        </p:txBody>
      </p:sp>
      <p:sp>
        <p:nvSpPr>
          <p:cNvPr id="326" name="TextBox 325"/>
          <p:cNvSpPr txBox="1"/>
          <p:nvPr/>
        </p:nvSpPr>
        <p:spPr>
          <a:xfrm>
            <a:off x="612648" y="219456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Calidad de ingresos, EBITDA ajustado, deuda neta, circulante y red flags antes de invertir.</a:t>
            </a:r>
            <a:endParaRPr lang="es-ES" sz="1100" b="0">
              <a:solidFill>
                <a:srgbClr val="202031"/>
              </a:solidFill>
              <a:latin typeface="Raleway"/>
            </a:endParaRPr>
          </a:p>
        </p:txBody>
      </p:sp>
      <p:sp>
        <p:nvSpPr>
          <p:cNvPr id="327" name="Rounded Rectangle 326"/>
          <p:cNvSpPr/>
          <p:nvPr/>
        </p:nvSpPr>
        <p:spPr>
          <a:xfrm>
            <a:off x="3337560" y="178308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8" name="TextBox 327"/>
          <p:cNvSpPr txBox="1"/>
          <p:nvPr/>
        </p:nvSpPr>
        <p:spPr>
          <a:xfrm>
            <a:off x="3447288" y="187451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Valoraciones</a:t>
            </a:r>
          </a:p>
        </p:txBody>
      </p:sp>
      <p:sp>
        <p:nvSpPr>
          <p:cNvPr id="329" name="TextBox 328"/>
          <p:cNvSpPr txBox="1"/>
          <p:nvPr/>
        </p:nvSpPr>
        <p:spPr>
          <a:xfrm>
            <a:off x="3447288" y="219456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DCF y múltiplos de mercado, con informe defendible ante compradores, inversores y auditores.</a:t>
            </a:r>
            <a:endParaRPr lang="es-ES" sz="1100" b="0">
              <a:solidFill>
                <a:srgbClr val="202031"/>
              </a:solidFill>
              <a:latin typeface="Raleway"/>
            </a:endParaRPr>
          </a:p>
        </p:txBody>
      </p:sp>
      <p:sp>
        <p:nvSpPr>
          <p:cNvPr id="330" name="Rounded Rectangle 329"/>
          <p:cNvSpPr/>
          <p:nvPr/>
        </p:nvSpPr>
        <p:spPr>
          <a:xfrm>
            <a:off x="6172200" y="178308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1" name="TextBox 330"/>
          <p:cNvSpPr txBox="1"/>
          <p:nvPr/>
        </p:nvSpPr>
        <p:spPr>
          <a:xfrm>
            <a:off x="6281928" y="187451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Business Plan</a:t>
            </a:r>
          </a:p>
        </p:txBody>
      </p:sp>
      <p:sp>
        <p:nvSpPr>
          <p:cNvPr id="332" name="TextBox 331"/>
          <p:cNvSpPr txBox="1"/>
          <p:nvPr/>
        </p:nvSpPr>
        <p:spPr>
          <a:xfrm>
            <a:off x="6281928" y="219456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Estrategia y proyecciones financieras completas, con escenarios y sensibilidad.</a:t>
            </a:r>
            <a:endParaRPr lang="es-ES" sz="1100" b="0">
              <a:solidFill>
                <a:srgbClr val="202031"/>
              </a:solidFill>
              <a:latin typeface="Raleway"/>
            </a:endParaRPr>
          </a:p>
        </p:txBody>
      </p:sp>
      <p:sp>
        <p:nvSpPr>
          <p:cNvPr id="333" name="Rounded Rectangle 332"/>
          <p:cNvSpPr/>
          <p:nvPr/>
        </p:nvSpPr>
        <p:spPr>
          <a:xfrm>
            <a:off x="9006840" y="178308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4" name="TextBox 333"/>
          <p:cNvSpPr txBox="1"/>
          <p:nvPr/>
        </p:nvSpPr>
        <p:spPr>
          <a:xfrm>
            <a:off x="9116568" y="187451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M&amp;A</a:t>
            </a:r>
          </a:p>
        </p:txBody>
      </p:sp>
      <p:sp>
        <p:nvSpPr>
          <p:cNvPr id="335" name="TextBox 334"/>
          <p:cNvSpPr txBox="1"/>
          <p:nvPr/>
        </p:nvSpPr>
        <p:spPr>
          <a:xfrm>
            <a:off x="9116568" y="219456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Compra, venta y búsqueda de socios: del primer contacto al cierre, con red internacional.</a:t>
            </a:r>
            <a:endParaRPr lang="es-ES" sz="1100" b="0">
              <a:solidFill>
                <a:srgbClr val="202031"/>
              </a:solidFill>
              <a:latin typeface="Raleway"/>
            </a:endParaRPr>
          </a:p>
        </p:txBody>
      </p:sp>
      <p:sp>
        <p:nvSpPr>
          <p:cNvPr id="336" name="Rounded Rectangle 335"/>
          <p:cNvSpPr/>
          <p:nvPr/>
        </p:nvSpPr>
        <p:spPr>
          <a:xfrm>
            <a:off x="502920" y="365760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7" name="TextBox 336"/>
          <p:cNvSpPr txBox="1"/>
          <p:nvPr/>
        </p:nvSpPr>
        <p:spPr>
          <a:xfrm>
            <a:off x="612648" y="374903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CFO part-time</a:t>
            </a:r>
          </a:p>
        </p:txBody>
      </p:sp>
      <p:sp>
        <p:nvSpPr>
          <p:cNvPr id="338" name="TextBox 337"/>
          <p:cNvSpPr txBox="1"/>
          <p:nvPr/>
        </p:nvSpPr>
        <p:spPr>
          <a:xfrm>
            <a:off x="612648" y="406908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Dirección financiera senior para la participada y </a:t>
            </a:r>
            <a:r>
              <a:rPr sz="1100" b="0" err="1">
                <a:solidFill>
                  <a:srgbClr val="202031"/>
                </a:solidFill>
                <a:latin typeface="Raleway"/>
              </a:rPr>
              <a:t>reporting</a:t>
            </a:r>
            <a:r>
              <a:rPr sz="1100" b="0">
                <a:solidFill>
                  <a:srgbClr val="202031"/>
                </a:solidFill>
                <a:latin typeface="Raleway"/>
              </a:rPr>
              <a:t> homogéneo para el fondo.</a:t>
            </a:r>
            <a:endParaRPr lang="es-ES" sz="1100" b="0">
              <a:solidFill>
                <a:srgbClr val="202031"/>
              </a:solidFill>
              <a:latin typeface="Raleway"/>
            </a:endParaRPr>
          </a:p>
        </p:txBody>
      </p:sp>
      <p:sp>
        <p:nvSpPr>
          <p:cNvPr id="339" name="Rounded Rectangle 338"/>
          <p:cNvSpPr/>
          <p:nvPr/>
        </p:nvSpPr>
        <p:spPr>
          <a:xfrm>
            <a:off x="3337560" y="365760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0" name="TextBox 339"/>
          <p:cNvSpPr txBox="1"/>
          <p:nvPr/>
        </p:nvSpPr>
        <p:spPr>
          <a:xfrm>
            <a:off x="3447288" y="374903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Financiación</a:t>
            </a:r>
          </a:p>
        </p:txBody>
      </p:sp>
      <p:sp>
        <p:nvSpPr>
          <p:cNvPr id="341" name="TextBox 340"/>
          <p:cNvSpPr txBox="1"/>
          <p:nvPr/>
        </p:nvSpPr>
        <p:spPr>
          <a:xfrm>
            <a:off x="3447288" y="406908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Capital, deuda bancaria y privada, circulante y financiación pública (93% de éxito en ENISA).</a:t>
            </a:r>
            <a:endParaRPr lang="es-ES" sz="1100" b="0">
              <a:solidFill>
                <a:srgbClr val="202031"/>
              </a:solidFill>
              <a:latin typeface="Raleway"/>
            </a:endParaRPr>
          </a:p>
        </p:txBody>
      </p:sp>
      <p:sp>
        <p:nvSpPr>
          <p:cNvPr id="342" name="Rounded Rectangle 341"/>
          <p:cNvSpPr/>
          <p:nvPr/>
        </p:nvSpPr>
        <p:spPr>
          <a:xfrm>
            <a:off x="6172200" y="365760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3" name="TextBox 342"/>
          <p:cNvSpPr txBox="1"/>
          <p:nvPr/>
        </p:nvSpPr>
        <p:spPr>
          <a:xfrm>
            <a:off x="6281928" y="374903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Cost Down</a:t>
            </a:r>
          </a:p>
        </p:txBody>
      </p:sp>
      <p:sp>
        <p:nvSpPr>
          <p:cNvPr id="344" name="TextBox 343"/>
          <p:cNvSpPr txBox="1"/>
          <p:nvPr/>
        </p:nvSpPr>
        <p:spPr>
          <a:xfrm>
            <a:off x="6281928" y="406908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Ahorro de costes a éxito: si no ahorramos, no cobramos. Media del 30% en los costes analizados.</a:t>
            </a:r>
            <a:endParaRPr lang="es-ES" sz="1100" b="0">
              <a:solidFill>
                <a:srgbClr val="202031"/>
              </a:solidFill>
              <a:latin typeface="Raleway"/>
            </a:endParaRPr>
          </a:p>
        </p:txBody>
      </p:sp>
      <p:sp>
        <p:nvSpPr>
          <p:cNvPr id="345" name="Rounded Rectangle 344"/>
          <p:cNvSpPr/>
          <p:nvPr/>
        </p:nvSpPr>
        <p:spPr>
          <a:xfrm>
            <a:off x="9006840" y="3657600"/>
            <a:ext cx="2697480" cy="1691640"/>
          </a:xfrm>
          <a:prstGeom prst="roundRect">
            <a:avLst>
              <a:gd name="adj" fmla="val 8000"/>
            </a:avLst>
          </a:prstGeom>
          <a:solidFill>
            <a:srgbClr val="F7F2EC"/>
          </a:solidFill>
          <a:ln w="9525">
            <a:solidFill>
              <a:srgbClr val="58757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6" name="TextBox 345"/>
          <p:cNvSpPr txBox="1"/>
          <p:nvPr/>
        </p:nvSpPr>
        <p:spPr>
          <a:xfrm>
            <a:off x="9116568" y="3749039"/>
            <a:ext cx="2478024" cy="320040"/>
          </a:xfrm>
          <a:prstGeom prst="rect">
            <a:avLst/>
          </a:prstGeom>
          <a:noFill/>
        </p:spPr>
        <p:txBody>
          <a:bodyPr wrap="square" lIns="45720" tIns="27432" rIns="45720" bIns="27432" anchor="t">
            <a:spAutoFit/>
          </a:bodyPr>
          <a:lstStyle/>
          <a:p>
            <a:pPr algn="l"/>
            <a:r>
              <a:rPr sz="1200" b="1">
                <a:solidFill>
                  <a:srgbClr val="516B6C"/>
                </a:solidFill>
                <a:latin typeface="Raleway"/>
              </a:rPr>
              <a:t>Otros servicios</a:t>
            </a:r>
          </a:p>
        </p:txBody>
      </p:sp>
      <p:sp>
        <p:nvSpPr>
          <p:cNvPr id="347" name="TextBox 346"/>
          <p:cNvSpPr txBox="1"/>
          <p:nvPr/>
        </p:nvSpPr>
        <p:spPr>
          <a:xfrm>
            <a:off x="9116568" y="4069080"/>
            <a:ext cx="2478024" cy="563231"/>
          </a:xfrm>
          <a:prstGeom prst="rect">
            <a:avLst/>
          </a:prstGeom>
          <a:noFill/>
        </p:spPr>
        <p:txBody>
          <a:bodyPr wrap="square" lIns="45720" tIns="27432" rIns="45720" bIns="27432" anchor="t">
            <a:spAutoFit/>
          </a:bodyPr>
          <a:lstStyle/>
          <a:p>
            <a:pPr algn="l"/>
            <a:r>
              <a:rPr sz="1100" b="0">
                <a:solidFill>
                  <a:srgbClr val="202031"/>
                </a:solidFill>
                <a:latin typeface="Raleway"/>
              </a:rPr>
              <a:t>Restructuring, </a:t>
            </a:r>
            <a:r>
              <a:rPr sz="1100" b="0" err="1">
                <a:solidFill>
                  <a:srgbClr val="202031"/>
                </a:solidFill>
                <a:latin typeface="Raleway"/>
              </a:rPr>
              <a:t>tesorería</a:t>
            </a:r>
            <a:r>
              <a:rPr sz="1100" b="0">
                <a:solidFill>
                  <a:srgbClr val="202031"/>
                </a:solidFill>
                <a:latin typeface="Raleway"/>
              </a:rPr>
              <a:t>, </a:t>
            </a:r>
            <a:r>
              <a:rPr sz="1100" b="0" err="1">
                <a:solidFill>
                  <a:srgbClr val="202031"/>
                </a:solidFill>
                <a:latin typeface="Raleway"/>
              </a:rPr>
              <a:t>recobros</a:t>
            </a:r>
            <a:r>
              <a:rPr sz="1100" b="0">
                <a:solidFill>
                  <a:srgbClr val="202031"/>
                </a:solidFill>
                <a:latin typeface="Raleway"/>
              </a:rPr>
              <a:t>, interim team, </a:t>
            </a:r>
            <a:r>
              <a:rPr sz="1100" b="0" err="1">
                <a:solidFill>
                  <a:srgbClr val="202031"/>
                </a:solidFill>
                <a:latin typeface="Raleway"/>
              </a:rPr>
              <a:t>integraciones</a:t>
            </a:r>
            <a:r>
              <a:rPr sz="1100" b="0">
                <a:solidFill>
                  <a:srgbClr val="202031"/>
                </a:solidFill>
                <a:latin typeface="Raleway"/>
              </a:rPr>
              <a:t> </a:t>
            </a:r>
            <a:r>
              <a:rPr sz="1100" b="0" err="1">
                <a:solidFill>
                  <a:srgbClr val="202031"/>
                </a:solidFill>
                <a:latin typeface="Raleway"/>
              </a:rPr>
              <a:t>contables</a:t>
            </a:r>
            <a:r>
              <a:rPr sz="1100" b="0">
                <a:solidFill>
                  <a:srgbClr val="202031"/>
                </a:solidFill>
                <a:latin typeface="Raleway"/>
              </a:rPr>
              <a:t> y </a:t>
            </a:r>
            <a:r>
              <a:rPr sz="1100" b="0" err="1">
                <a:solidFill>
                  <a:srgbClr val="202031"/>
                </a:solidFill>
                <a:latin typeface="Raleway"/>
              </a:rPr>
              <a:t>soporte</a:t>
            </a:r>
            <a:r>
              <a:rPr sz="1100" b="0">
                <a:solidFill>
                  <a:srgbClr val="202031"/>
                </a:solidFill>
                <a:latin typeface="Raleway"/>
              </a:rPr>
              <a:t> a </a:t>
            </a:r>
            <a:r>
              <a:rPr sz="1100" b="0" err="1">
                <a:solidFill>
                  <a:srgbClr val="202031"/>
                </a:solidFill>
                <a:latin typeface="Raleway"/>
              </a:rPr>
              <a:t>auditoría</a:t>
            </a:r>
            <a:r>
              <a:rPr sz="1100" b="0">
                <a:solidFill>
                  <a:srgbClr val="202031"/>
                </a:solidFill>
                <a:latin typeface="Raleway"/>
              </a:rPr>
              <a:t>.</a:t>
            </a:r>
            <a:endParaRPr lang="es-ES" sz="1100" b="0">
              <a:solidFill>
                <a:srgbClr val="202031"/>
              </a:solidFill>
              <a:latin typeface="Raleway"/>
            </a:endParaRPr>
          </a:p>
        </p:txBody>
      </p:sp>
      <p:sp>
        <p:nvSpPr>
          <p:cNvPr id="348" name="TextBox 347"/>
          <p:cNvSpPr txBox="1"/>
          <p:nvPr/>
        </p:nvSpPr>
        <p:spPr>
          <a:xfrm>
            <a:off x="502920" y="5623560"/>
            <a:ext cx="10972800" cy="365760"/>
          </a:xfrm>
          <a:prstGeom prst="rect">
            <a:avLst/>
          </a:prstGeom>
          <a:noFill/>
        </p:spPr>
        <p:txBody>
          <a:bodyPr wrap="square" lIns="45720" tIns="27432" rIns="45720" bIns="27432" anchor="t">
            <a:spAutoFit/>
          </a:bodyPr>
          <a:lstStyle/>
          <a:p>
            <a:pPr algn="l"/>
            <a:r>
              <a:rPr sz="1300" b="0">
                <a:solidFill>
                  <a:srgbClr val="516B6C"/>
                </a:solidFill>
                <a:latin typeface="Raleway"/>
              </a:rPr>
              <a:t>Un solo equipo para el fondo y para cada compañía: </a:t>
            </a:r>
            <a:r>
              <a:rPr sz="1300" b="1">
                <a:solidFill>
                  <a:srgbClr val="516B6C"/>
                </a:solidFill>
                <a:latin typeface="Raleway"/>
              </a:rPr>
              <a:t>menos interlocutores, más control.</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pic>
        <p:nvPicPr>
          <p:cNvPr id="5" name="Imagen 4" descr="preencoded.png">
            <a:extLst>
              <a:ext uri="{FF2B5EF4-FFF2-40B4-BE49-F238E27FC236}">
                <a16:creationId xmlns:a16="http://schemas.microsoft.com/office/drawing/2014/main" id="{5653673E-0EB9-4114-2A9D-A0159CB30DEA}"/>
              </a:ext>
            </a:extLst>
          </p:cNvPr>
          <p:cNvPicPr>
            <a:picLocks noChangeAspect="1"/>
          </p:cNvPicPr>
          <p:nvPr/>
        </p:nvPicPr>
        <p:blipFill>
          <a:blip r:embed="rId3"/>
          <a:srcRect b="-227"/>
          <a:stretch>
            <a:fillRect/>
          </a:stretch>
        </p:blipFill>
        <p:spPr>
          <a:xfrm>
            <a:off x="-172748" y="3921125"/>
            <a:ext cx="2562225" cy="2577594"/>
          </a:xfrm>
          <a:prstGeom prst="rect">
            <a:avLst/>
          </a:prstGeom>
        </p:spPr>
      </p:pic>
      <p:pic>
        <p:nvPicPr>
          <p:cNvPr id="276" name="Image 0" descr="preencoded.png"/>
          <p:cNvPicPr/>
          <p:nvPr/>
        </p:nvPicPr>
        <p:blipFill>
          <a:blip r:embed="rId4"/>
          <a:stretch/>
        </p:blipFill>
        <p:spPr>
          <a:xfrm>
            <a:off x="128160" y="-18360"/>
            <a:ext cx="887040" cy="237600"/>
          </a:xfrm>
          <a:prstGeom prst="rect">
            <a:avLst/>
          </a:prstGeom>
          <a:ln w="19080">
            <a:noFill/>
          </a:ln>
        </p:spPr>
      </p:pic>
      <p:cxnSp>
        <p:nvCxnSpPr>
          <p:cNvPr id="321" name="Straight Connector 5"/>
          <p:cNvCxnSpPr/>
          <p:nvPr/>
        </p:nvCxnSpPr>
        <p:spPr>
          <a:xfrm>
            <a:off x="0" y="190440"/>
            <a:ext cx="12279600" cy="360"/>
          </a:xfrm>
          <a:prstGeom prst="straightConnector1">
            <a:avLst/>
          </a:prstGeom>
          <a:ln w="19080">
            <a:solidFill>
              <a:srgbClr val="202031"/>
            </a:solidFill>
            <a:miter/>
          </a:ln>
        </p:spPr>
      </p:cxnSp>
      <p:sp>
        <p:nvSpPr>
          <p:cNvPr id="319" name="TextBox 13"/>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HUMAN CAPITAL</a:t>
            </a:r>
            <a:endParaRPr lang="en-US" sz="1000" b="0" strike="noStrike" spc="-1">
              <a:solidFill>
                <a:srgbClr val="000000"/>
              </a:solidFill>
              <a:latin typeface="Arial"/>
            </a:endParaRPr>
          </a:p>
        </p:txBody>
      </p:sp>
      <p:sp>
        <p:nvSpPr>
          <p:cNvPr id="318"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320" name="TextBox 19"/>
          <p:cNvSpPr txBox="1"/>
          <p:nvPr/>
        </p:nvSpPr>
        <p:spPr>
          <a:xfrm>
            <a:off x="8281800" y="-23760"/>
            <a:ext cx="31788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SERVICIOS</a:t>
            </a:r>
            <a:endParaRPr lang="en-US" sz="1000" b="0" strike="noStrike" spc="-1">
              <a:solidFill>
                <a:srgbClr val="000000"/>
              </a:solidFill>
              <a:latin typeface="Arial"/>
            </a:endParaRPr>
          </a:p>
        </p:txBody>
      </p:sp>
      <p:sp>
        <p:nvSpPr>
          <p:cNvPr id="322" name="TextBox 321"/>
          <p:cNvSpPr txBox="1"/>
          <p:nvPr/>
        </p:nvSpPr>
        <p:spPr>
          <a:xfrm>
            <a:off x="411480" y="526935"/>
            <a:ext cx="11247120" cy="794064"/>
          </a:xfrm>
          <a:prstGeom prst="rect">
            <a:avLst/>
          </a:prstGeom>
          <a:noFill/>
        </p:spPr>
        <p:txBody>
          <a:bodyPr wrap="square" lIns="45720" tIns="27432" rIns="45720" bIns="27432" anchor="t">
            <a:spAutoFit/>
          </a:bodyPr>
          <a:lstStyle/>
          <a:p>
            <a:r>
              <a:rPr sz="4800" spc="-151">
                <a:solidFill>
                  <a:srgbClr val="202031"/>
                </a:solidFill>
                <a:latin typeface="Raleway Medium"/>
              </a:rPr>
              <a:t>Human Capital</a:t>
            </a:r>
          </a:p>
        </p:txBody>
      </p:sp>
      <p:sp>
        <p:nvSpPr>
          <p:cNvPr id="323" name="TextBox 322"/>
          <p:cNvSpPr txBox="1"/>
          <p:nvPr/>
        </p:nvSpPr>
        <p:spPr>
          <a:xfrm>
            <a:off x="457200" y="1234440"/>
            <a:ext cx="10972800" cy="365760"/>
          </a:xfrm>
          <a:prstGeom prst="rect">
            <a:avLst/>
          </a:prstGeom>
          <a:noFill/>
        </p:spPr>
        <p:txBody>
          <a:bodyPr wrap="square" lIns="45720" tIns="27432" rIns="45720" bIns="27432" anchor="t">
            <a:spAutoFit/>
          </a:bodyPr>
          <a:lstStyle/>
          <a:p>
            <a:pPr algn="l"/>
            <a:r>
              <a:rPr sz="1400" b="0">
                <a:solidFill>
                  <a:srgbClr val="202031"/>
                </a:solidFill>
                <a:latin typeface="Raleway"/>
              </a:rPr>
              <a:t>Expertos en el flujo de talento: </a:t>
            </a:r>
            <a:r>
              <a:rPr sz="1400" b="1">
                <a:solidFill>
                  <a:srgbClr val="202031"/>
                </a:solidFill>
                <a:latin typeface="Raleway"/>
              </a:rPr>
              <a:t>procesos claros y compromisos que se cumplen.</a:t>
            </a:r>
          </a:p>
        </p:txBody>
      </p:sp>
      <p:sp>
        <p:nvSpPr>
          <p:cNvPr id="31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06</a:t>
            </a:r>
            <a:endParaRPr lang="en-US" sz="4000" b="0" strike="noStrike" spc="-1">
              <a:solidFill>
                <a:srgbClr val="000000"/>
              </a:solidFill>
              <a:latin typeface="Arial"/>
            </a:endParaRPr>
          </a:p>
        </p:txBody>
      </p:sp>
      <p:sp>
        <p:nvSpPr>
          <p:cNvPr id="324" name="Rounded Rectangle 323"/>
          <p:cNvSpPr/>
          <p:nvPr/>
        </p:nvSpPr>
        <p:spPr>
          <a:xfrm>
            <a:off x="537556" y="1921625"/>
            <a:ext cx="2697480" cy="2331720"/>
          </a:xfrm>
          <a:prstGeom prst="roundRect">
            <a:avLst>
              <a:gd name="adj" fmla="val 8000"/>
            </a:avLst>
          </a:prstGeom>
          <a:solidFill>
            <a:srgbClr val="F7F2EC"/>
          </a:solidFill>
          <a:ln w="9525">
            <a:solidFill>
              <a:srgbClr val="DCD5C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5" name="TextBox 324"/>
          <p:cNvSpPr txBox="1"/>
          <p:nvPr/>
        </p:nvSpPr>
        <p:spPr>
          <a:xfrm>
            <a:off x="647284" y="2013064"/>
            <a:ext cx="2478024" cy="270843"/>
          </a:xfrm>
          <a:prstGeom prst="rect">
            <a:avLst/>
          </a:prstGeom>
          <a:noFill/>
        </p:spPr>
        <p:txBody>
          <a:bodyPr wrap="square" lIns="45720" tIns="27432" rIns="45720" bIns="27432" anchor="t">
            <a:spAutoFit/>
          </a:bodyPr>
          <a:lstStyle/>
          <a:p>
            <a:pPr algn="l"/>
            <a:r>
              <a:rPr sz="1400" b="1">
                <a:solidFill>
                  <a:srgbClr val="516B6C"/>
                </a:solidFill>
                <a:latin typeface="Raleway"/>
              </a:rPr>
              <a:t>Headhunting</a:t>
            </a:r>
            <a:endParaRPr lang="es-ES" sz="1400" b="1">
              <a:solidFill>
                <a:srgbClr val="516B6C"/>
              </a:solidFill>
              <a:latin typeface="Raleway"/>
            </a:endParaRPr>
          </a:p>
        </p:txBody>
      </p:sp>
      <p:sp>
        <p:nvSpPr>
          <p:cNvPr id="326" name="TextBox 325"/>
          <p:cNvSpPr txBox="1"/>
          <p:nvPr/>
        </p:nvSpPr>
        <p:spPr>
          <a:xfrm>
            <a:off x="647284" y="2333105"/>
            <a:ext cx="2478024" cy="1163395"/>
          </a:xfrm>
          <a:prstGeom prst="rect">
            <a:avLst/>
          </a:prstGeom>
          <a:noFill/>
        </p:spPr>
        <p:txBody>
          <a:bodyPr wrap="square" lIns="45720" tIns="27432" rIns="45720" bIns="27432" anchor="t">
            <a:spAutoFit/>
          </a:bodyPr>
          <a:lstStyle/>
          <a:p>
            <a:pPr algn="l"/>
            <a:r>
              <a:rPr sz="1200" b="0">
                <a:solidFill>
                  <a:srgbClr val="202031"/>
                </a:solidFill>
                <a:latin typeface="Raleway"/>
              </a:rPr>
              <a:t>Equipo senior en cada búsqueda y metodología propia apoyada en nuestra IA de selección (TESSA). Primera </a:t>
            </a:r>
            <a:r>
              <a:rPr sz="1200" b="0" err="1">
                <a:solidFill>
                  <a:srgbClr val="202031"/>
                </a:solidFill>
                <a:latin typeface="Raleway"/>
              </a:rPr>
              <a:t>shortlist</a:t>
            </a:r>
            <a:r>
              <a:rPr sz="1200" b="0">
                <a:solidFill>
                  <a:srgbClr val="202031"/>
                </a:solidFill>
                <a:latin typeface="Raleway"/>
              </a:rPr>
              <a:t> en 72 horas y acompañamiento tras la incorporación.</a:t>
            </a:r>
            <a:endParaRPr lang="es-ES" sz="1200" b="0">
              <a:solidFill>
                <a:srgbClr val="202031"/>
              </a:solidFill>
              <a:latin typeface="Raleway"/>
            </a:endParaRPr>
          </a:p>
        </p:txBody>
      </p:sp>
      <p:sp>
        <p:nvSpPr>
          <p:cNvPr id="327" name="Rounded Rectangle 326"/>
          <p:cNvSpPr/>
          <p:nvPr/>
        </p:nvSpPr>
        <p:spPr>
          <a:xfrm>
            <a:off x="3372196" y="1921625"/>
            <a:ext cx="2697480" cy="2331720"/>
          </a:xfrm>
          <a:prstGeom prst="roundRect">
            <a:avLst>
              <a:gd name="adj" fmla="val 8000"/>
            </a:avLst>
          </a:prstGeom>
          <a:solidFill>
            <a:srgbClr val="F7F2EC"/>
          </a:solidFill>
          <a:ln w="9525">
            <a:solidFill>
              <a:srgbClr val="DCD5C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8" name="TextBox 327"/>
          <p:cNvSpPr txBox="1"/>
          <p:nvPr/>
        </p:nvSpPr>
        <p:spPr>
          <a:xfrm>
            <a:off x="3481924" y="2013064"/>
            <a:ext cx="2478024" cy="270843"/>
          </a:xfrm>
          <a:prstGeom prst="rect">
            <a:avLst/>
          </a:prstGeom>
          <a:noFill/>
        </p:spPr>
        <p:txBody>
          <a:bodyPr wrap="square" lIns="45720" tIns="27432" rIns="45720" bIns="27432" anchor="t">
            <a:spAutoFit/>
          </a:bodyPr>
          <a:lstStyle/>
          <a:p>
            <a:r>
              <a:rPr sz="1400" b="1">
                <a:solidFill>
                  <a:srgbClr val="516B6C"/>
                </a:solidFill>
                <a:latin typeface="Raleway"/>
              </a:rPr>
              <a:t>Outsourcing </a:t>
            </a:r>
            <a:endParaRPr lang="es-ES" sz="1400" b="1">
              <a:solidFill>
                <a:srgbClr val="516B6C"/>
              </a:solidFill>
              <a:latin typeface="Raleway"/>
            </a:endParaRPr>
          </a:p>
        </p:txBody>
      </p:sp>
      <p:sp>
        <p:nvSpPr>
          <p:cNvPr id="329" name="TextBox 328"/>
          <p:cNvSpPr txBox="1"/>
          <p:nvPr/>
        </p:nvSpPr>
        <p:spPr>
          <a:xfrm>
            <a:off x="3481924" y="2333105"/>
            <a:ext cx="2478024" cy="978729"/>
          </a:xfrm>
          <a:prstGeom prst="rect">
            <a:avLst/>
          </a:prstGeom>
          <a:noFill/>
        </p:spPr>
        <p:txBody>
          <a:bodyPr wrap="square" lIns="45720" tIns="27432" rIns="45720" bIns="27432" anchor="t">
            <a:spAutoFit/>
          </a:bodyPr>
          <a:lstStyle/>
          <a:p>
            <a:pPr algn="l"/>
            <a:r>
              <a:rPr sz="1200" b="0">
                <a:solidFill>
                  <a:srgbClr val="202031"/>
                </a:solidFill>
                <a:latin typeface="Raleway"/>
              </a:rPr>
              <a:t>Equipos que se ajustan a la actividad real: pagas por horas trabajadas, cubrimos bajas y vacaciones y nos ocupamos de nóminas y trámites.</a:t>
            </a:r>
            <a:endParaRPr lang="es-ES" sz="1200" b="0">
              <a:solidFill>
                <a:srgbClr val="202031"/>
              </a:solidFill>
              <a:latin typeface="Raleway"/>
            </a:endParaRPr>
          </a:p>
        </p:txBody>
      </p:sp>
      <p:sp>
        <p:nvSpPr>
          <p:cNvPr id="330" name="Rounded Rectangle 329"/>
          <p:cNvSpPr/>
          <p:nvPr/>
        </p:nvSpPr>
        <p:spPr>
          <a:xfrm>
            <a:off x="6206836" y="1921625"/>
            <a:ext cx="2697480" cy="2331720"/>
          </a:xfrm>
          <a:prstGeom prst="roundRect">
            <a:avLst>
              <a:gd name="adj" fmla="val 8000"/>
            </a:avLst>
          </a:prstGeom>
          <a:solidFill>
            <a:srgbClr val="F7F2EC"/>
          </a:solidFill>
          <a:ln w="9525">
            <a:solidFill>
              <a:srgbClr val="DCD5C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1" name="TextBox 330"/>
          <p:cNvSpPr txBox="1"/>
          <p:nvPr/>
        </p:nvSpPr>
        <p:spPr>
          <a:xfrm>
            <a:off x="6316564" y="2013064"/>
            <a:ext cx="2478024" cy="270843"/>
          </a:xfrm>
          <a:prstGeom prst="rect">
            <a:avLst/>
          </a:prstGeom>
          <a:noFill/>
        </p:spPr>
        <p:txBody>
          <a:bodyPr wrap="square" lIns="45720" tIns="27432" rIns="45720" bIns="27432" anchor="t">
            <a:spAutoFit/>
          </a:bodyPr>
          <a:lstStyle/>
          <a:p>
            <a:r>
              <a:rPr sz="1400" b="1" err="1">
                <a:solidFill>
                  <a:srgbClr val="516B6C"/>
                </a:solidFill>
                <a:latin typeface="Raleway"/>
              </a:rPr>
              <a:t>Consultoría</a:t>
            </a:r>
            <a:r>
              <a:rPr sz="1400" b="1">
                <a:solidFill>
                  <a:srgbClr val="516B6C"/>
                </a:solidFill>
                <a:latin typeface="Raleway"/>
              </a:rPr>
              <a:t> </a:t>
            </a:r>
            <a:r>
              <a:rPr sz="1400" b="1" err="1">
                <a:solidFill>
                  <a:srgbClr val="516B6C"/>
                </a:solidFill>
                <a:latin typeface="Raleway"/>
              </a:rPr>
              <a:t>salarial</a:t>
            </a:r>
            <a:endParaRPr lang="es-ES" sz="1400" b="1" err="1">
              <a:solidFill>
                <a:srgbClr val="516B6C"/>
              </a:solidFill>
              <a:latin typeface="Raleway"/>
            </a:endParaRPr>
          </a:p>
        </p:txBody>
      </p:sp>
      <p:sp>
        <p:nvSpPr>
          <p:cNvPr id="332" name="TextBox 331"/>
          <p:cNvSpPr txBox="1"/>
          <p:nvPr/>
        </p:nvSpPr>
        <p:spPr>
          <a:xfrm>
            <a:off x="6316564" y="2333105"/>
            <a:ext cx="2478024" cy="978729"/>
          </a:xfrm>
          <a:prstGeom prst="rect">
            <a:avLst/>
          </a:prstGeom>
          <a:noFill/>
        </p:spPr>
        <p:txBody>
          <a:bodyPr wrap="square" lIns="45720" tIns="27432" rIns="45720" bIns="27432" anchor="t">
            <a:spAutoFit/>
          </a:bodyPr>
          <a:lstStyle/>
          <a:p>
            <a:pPr algn="l"/>
            <a:r>
              <a:rPr sz="1200" b="0">
                <a:solidFill>
                  <a:srgbClr val="202031"/>
                </a:solidFill>
                <a:latin typeface="Raleway"/>
              </a:rPr>
              <a:t>Benchmarking, diseño de bandas y transparencia retributiva alineada con la Directiva EU 2023/970. Apoyo en ofertas, revisiones y retención.</a:t>
            </a:r>
            <a:endParaRPr lang="es-ES" sz="1200" b="0">
              <a:solidFill>
                <a:srgbClr val="202031"/>
              </a:solidFill>
              <a:latin typeface="Raleway"/>
            </a:endParaRPr>
          </a:p>
        </p:txBody>
      </p:sp>
      <p:sp>
        <p:nvSpPr>
          <p:cNvPr id="333" name="Rounded Rectangle 332"/>
          <p:cNvSpPr/>
          <p:nvPr/>
        </p:nvSpPr>
        <p:spPr>
          <a:xfrm>
            <a:off x="9041476" y="1921625"/>
            <a:ext cx="2697480" cy="2331720"/>
          </a:xfrm>
          <a:prstGeom prst="roundRect">
            <a:avLst>
              <a:gd name="adj" fmla="val 8000"/>
            </a:avLst>
          </a:prstGeom>
          <a:solidFill>
            <a:srgbClr val="F7F2EC"/>
          </a:solidFill>
          <a:ln w="9525">
            <a:solidFill>
              <a:srgbClr val="DCD5C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4" name="TextBox 333"/>
          <p:cNvSpPr txBox="1"/>
          <p:nvPr/>
        </p:nvSpPr>
        <p:spPr>
          <a:xfrm>
            <a:off x="9151204" y="2013064"/>
            <a:ext cx="2478024" cy="270843"/>
          </a:xfrm>
          <a:prstGeom prst="rect">
            <a:avLst/>
          </a:prstGeom>
          <a:noFill/>
        </p:spPr>
        <p:txBody>
          <a:bodyPr wrap="square" lIns="45720" tIns="27432" rIns="45720" bIns="27432" anchor="t">
            <a:spAutoFit/>
          </a:bodyPr>
          <a:lstStyle/>
          <a:p>
            <a:r>
              <a:rPr sz="1400" b="1" err="1">
                <a:solidFill>
                  <a:srgbClr val="516B6C"/>
                </a:solidFill>
                <a:latin typeface="Raleway"/>
              </a:rPr>
              <a:t>Formación</a:t>
            </a:r>
            <a:endParaRPr lang="es-ES" sz="1400" b="1" err="1">
              <a:solidFill>
                <a:srgbClr val="516B6C"/>
              </a:solidFill>
              <a:latin typeface="Raleway"/>
            </a:endParaRPr>
          </a:p>
        </p:txBody>
      </p:sp>
      <p:sp>
        <p:nvSpPr>
          <p:cNvPr id="335" name="TextBox 334"/>
          <p:cNvSpPr txBox="1"/>
          <p:nvPr/>
        </p:nvSpPr>
        <p:spPr>
          <a:xfrm>
            <a:off x="9151204" y="2333105"/>
            <a:ext cx="2478024" cy="978729"/>
          </a:xfrm>
          <a:prstGeom prst="rect">
            <a:avLst/>
          </a:prstGeom>
          <a:noFill/>
        </p:spPr>
        <p:txBody>
          <a:bodyPr wrap="square" lIns="45720" tIns="27432" rIns="45720" bIns="27432" anchor="t">
            <a:spAutoFit/>
          </a:bodyPr>
          <a:lstStyle/>
          <a:p>
            <a:pPr algn="l"/>
            <a:r>
              <a:rPr sz="1200" b="0" err="1">
                <a:solidFill>
                  <a:srgbClr val="202031"/>
                </a:solidFill>
                <a:latin typeface="Raleway"/>
              </a:rPr>
              <a:t>Programas</a:t>
            </a:r>
            <a:r>
              <a:rPr sz="1200" b="0">
                <a:solidFill>
                  <a:srgbClr val="202031"/>
                </a:solidFill>
                <a:latin typeface="Raleway"/>
              </a:rPr>
              <a:t> a </a:t>
            </a:r>
            <a:r>
              <a:rPr sz="1200" b="0" err="1">
                <a:solidFill>
                  <a:srgbClr val="202031"/>
                </a:solidFill>
                <a:latin typeface="Raleway"/>
              </a:rPr>
              <a:t>medida</a:t>
            </a:r>
            <a:r>
              <a:rPr sz="1200" b="0">
                <a:solidFill>
                  <a:srgbClr val="202031"/>
                </a:solidFill>
                <a:latin typeface="Raleway"/>
              </a:rPr>
              <a:t> con </a:t>
            </a:r>
            <a:r>
              <a:rPr sz="1200" b="0" err="1">
                <a:solidFill>
                  <a:srgbClr val="202031"/>
                </a:solidFill>
                <a:latin typeface="Raleway"/>
              </a:rPr>
              <a:t>metodología</a:t>
            </a:r>
            <a:r>
              <a:rPr sz="1200" b="0">
                <a:solidFill>
                  <a:srgbClr val="202031"/>
                </a:solidFill>
                <a:latin typeface="Raleway"/>
              </a:rPr>
              <a:t> </a:t>
            </a:r>
            <a:r>
              <a:rPr sz="1200" b="0" err="1">
                <a:solidFill>
                  <a:srgbClr val="202031"/>
                </a:solidFill>
                <a:latin typeface="Raleway"/>
              </a:rPr>
              <a:t>ágil</a:t>
            </a:r>
            <a:r>
              <a:rPr sz="1200" b="0">
                <a:solidFill>
                  <a:srgbClr val="202031"/>
                </a:solidFill>
                <a:latin typeface="Raleway"/>
              </a:rPr>
              <a:t>: </a:t>
            </a:r>
            <a:r>
              <a:rPr sz="1200" b="0" err="1">
                <a:solidFill>
                  <a:srgbClr val="202031"/>
                </a:solidFill>
                <a:latin typeface="Raleway"/>
              </a:rPr>
              <a:t>gestión</a:t>
            </a:r>
            <a:r>
              <a:rPr sz="1200" b="0">
                <a:solidFill>
                  <a:srgbClr val="202031"/>
                </a:solidFill>
                <a:latin typeface="Raleway"/>
              </a:rPr>
              <a:t> del </a:t>
            </a:r>
            <a:r>
              <a:rPr sz="1200" b="0" err="1">
                <a:solidFill>
                  <a:srgbClr val="202031"/>
                </a:solidFill>
                <a:latin typeface="Raleway"/>
              </a:rPr>
              <a:t>talento</a:t>
            </a:r>
            <a:r>
              <a:rPr sz="1200" b="0">
                <a:solidFill>
                  <a:srgbClr val="202031"/>
                </a:solidFill>
                <a:latin typeface="Raleway"/>
              </a:rPr>
              <a:t>, employee experience, </a:t>
            </a:r>
            <a:r>
              <a:rPr sz="1200" b="0" err="1">
                <a:solidFill>
                  <a:srgbClr val="202031"/>
                </a:solidFill>
                <a:latin typeface="Raleway"/>
              </a:rPr>
              <a:t>procesos</a:t>
            </a:r>
            <a:r>
              <a:rPr sz="1200" b="0">
                <a:solidFill>
                  <a:srgbClr val="202031"/>
                </a:solidFill>
                <a:latin typeface="Raleway"/>
              </a:rPr>
              <a:t> de RRHH e IA </a:t>
            </a:r>
            <a:r>
              <a:rPr sz="1200" b="0" err="1">
                <a:solidFill>
                  <a:srgbClr val="202031"/>
                </a:solidFill>
                <a:latin typeface="Raleway"/>
              </a:rPr>
              <a:t>aplicada</a:t>
            </a:r>
            <a:r>
              <a:rPr sz="1200" b="0">
                <a:solidFill>
                  <a:srgbClr val="202031"/>
                </a:solidFill>
                <a:latin typeface="Raleway"/>
              </a:rPr>
              <a:t> a HR. Se </a:t>
            </a:r>
            <a:r>
              <a:rPr sz="1200" b="0" err="1">
                <a:solidFill>
                  <a:srgbClr val="202031"/>
                </a:solidFill>
                <a:latin typeface="Raleway"/>
              </a:rPr>
              <a:t>mide</a:t>
            </a:r>
            <a:r>
              <a:rPr sz="1200" b="0">
                <a:solidFill>
                  <a:srgbClr val="202031"/>
                </a:solidFill>
                <a:latin typeface="Raleway"/>
              </a:rPr>
              <a:t> </a:t>
            </a:r>
            <a:r>
              <a:rPr sz="1200" b="0" err="1">
                <a:solidFill>
                  <a:srgbClr val="202031"/>
                </a:solidFill>
                <a:latin typeface="Raleway"/>
              </a:rPr>
              <a:t>en</a:t>
            </a:r>
            <a:r>
              <a:rPr sz="1200" b="0">
                <a:solidFill>
                  <a:srgbClr val="202031"/>
                </a:solidFill>
                <a:latin typeface="Raleway"/>
              </a:rPr>
              <a:t> </a:t>
            </a:r>
            <a:r>
              <a:rPr sz="1200" b="0" err="1">
                <a:solidFill>
                  <a:srgbClr val="202031"/>
                </a:solidFill>
                <a:latin typeface="Raleway"/>
              </a:rPr>
              <a:t>resultados</a:t>
            </a:r>
            <a:r>
              <a:rPr sz="1200" b="0">
                <a:solidFill>
                  <a:srgbClr val="202031"/>
                </a:solidFill>
                <a:latin typeface="Raleway"/>
              </a:rPr>
              <a:t>.</a:t>
            </a:r>
            <a:endParaRPr lang="es-ES" sz="1200" b="0">
              <a:solidFill>
                <a:srgbClr val="202031"/>
              </a:solidFill>
              <a:latin typeface="Raleway"/>
            </a:endParaRPr>
          </a:p>
        </p:txBody>
      </p:sp>
      <p:sp>
        <p:nvSpPr>
          <p:cNvPr id="336" name="Rounded Rectangle 335"/>
          <p:cNvSpPr/>
          <p:nvPr/>
        </p:nvSpPr>
        <p:spPr>
          <a:xfrm>
            <a:off x="502920" y="4434840"/>
            <a:ext cx="11155680" cy="1325880"/>
          </a:xfrm>
          <a:prstGeom prst="roundRect">
            <a:avLst>
              <a:gd name="adj" fmla="val 12000"/>
            </a:avLst>
          </a:prstGeom>
          <a:solidFill>
            <a:srgbClr val="313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7" name="TextBox 336"/>
          <p:cNvSpPr txBox="1"/>
          <p:nvPr/>
        </p:nvSpPr>
        <p:spPr>
          <a:xfrm>
            <a:off x="777240" y="4572000"/>
            <a:ext cx="5303520" cy="1097280"/>
          </a:xfrm>
          <a:prstGeom prst="rect">
            <a:avLst/>
          </a:prstGeom>
          <a:noFill/>
        </p:spPr>
        <p:txBody>
          <a:bodyPr wrap="square" lIns="45720" tIns="27432" rIns="45720" bIns="27432" anchor="ctr">
            <a:spAutoFit/>
          </a:bodyPr>
          <a:lstStyle/>
          <a:p>
            <a:pPr algn="l"/>
            <a:r>
              <a:rPr sz="1200" b="1">
                <a:solidFill>
                  <a:srgbClr val="F0E7DE"/>
                </a:solidFill>
                <a:latin typeface="Raleway"/>
              </a:rPr>
              <a:t>Para un fondo: </a:t>
            </a:r>
            <a:r>
              <a:rPr sz="1200" b="0">
                <a:solidFill>
                  <a:srgbClr val="F0E7DE"/>
                </a:solidFill>
                <a:latin typeface="Raleway"/>
              </a:rPr>
              <a:t>equipos directivos para las participadas, cobertura de vacantes críticas sin pausas y estructuras salariales que retienen al talento clave.</a:t>
            </a:r>
          </a:p>
        </p:txBody>
      </p:sp>
      <p:sp>
        <p:nvSpPr>
          <p:cNvPr id="338" name="TextBox 337"/>
          <p:cNvSpPr txBox="1"/>
          <p:nvPr/>
        </p:nvSpPr>
        <p:spPr>
          <a:xfrm>
            <a:off x="6583680" y="4526280"/>
            <a:ext cx="2011680" cy="685800"/>
          </a:xfrm>
          <a:prstGeom prst="rect">
            <a:avLst/>
          </a:prstGeom>
          <a:noFill/>
        </p:spPr>
        <p:txBody>
          <a:bodyPr wrap="square" lIns="45720" tIns="27432" rIns="45720" bIns="27432" anchor="t">
            <a:spAutoFit/>
          </a:bodyPr>
          <a:lstStyle/>
          <a:p>
            <a:pPr algn="l"/>
            <a:r>
              <a:rPr sz="4000" b="0">
                <a:solidFill>
                  <a:srgbClr val="FBE0A0"/>
                </a:solidFill>
                <a:latin typeface="Ailerons"/>
              </a:rPr>
              <a:t>72h</a:t>
            </a:r>
          </a:p>
        </p:txBody>
      </p:sp>
      <p:sp>
        <p:nvSpPr>
          <p:cNvPr id="339" name="TextBox 338"/>
          <p:cNvSpPr txBox="1"/>
          <p:nvPr/>
        </p:nvSpPr>
        <p:spPr>
          <a:xfrm>
            <a:off x="6583680" y="5166360"/>
            <a:ext cx="2011680" cy="548640"/>
          </a:xfrm>
          <a:prstGeom prst="rect">
            <a:avLst/>
          </a:prstGeom>
          <a:noFill/>
        </p:spPr>
        <p:txBody>
          <a:bodyPr wrap="square" lIns="45720" tIns="27432" rIns="45720" bIns="27432" anchor="t">
            <a:spAutoFit/>
          </a:bodyPr>
          <a:lstStyle/>
          <a:p>
            <a:pPr algn="l"/>
            <a:r>
              <a:rPr sz="1100" b="0">
                <a:solidFill>
                  <a:srgbClr val="F0E7DE"/>
                </a:solidFill>
                <a:latin typeface="Raleway"/>
              </a:rPr>
              <a:t>Primera shortlist sobre tu mesa</a:t>
            </a:r>
          </a:p>
        </p:txBody>
      </p:sp>
      <p:sp>
        <p:nvSpPr>
          <p:cNvPr id="340" name="TextBox 339"/>
          <p:cNvSpPr txBox="1"/>
          <p:nvPr/>
        </p:nvSpPr>
        <p:spPr>
          <a:xfrm>
            <a:off x="8869680" y="4526280"/>
            <a:ext cx="2651760" cy="685800"/>
          </a:xfrm>
          <a:prstGeom prst="rect">
            <a:avLst/>
          </a:prstGeom>
          <a:noFill/>
        </p:spPr>
        <p:txBody>
          <a:bodyPr wrap="square" lIns="45720" tIns="27432" rIns="45720" bIns="27432" anchor="t">
            <a:spAutoFit/>
          </a:bodyPr>
          <a:lstStyle/>
          <a:p>
            <a:pPr algn="l"/>
            <a:r>
              <a:rPr sz="4000" b="0">
                <a:solidFill>
                  <a:srgbClr val="FBE0A0"/>
                </a:solidFill>
                <a:latin typeface="Ailerons"/>
              </a:rPr>
              <a:t>+200</a:t>
            </a:r>
          </a:p>
        </p:txBody>
      </p:sp>
      <p:sp>
        <p:nvSpPr>
          <p:cNvPr id="341" name="TextBox 340"/>
          <p:cNvSpPr txBox="1"/>
          <p:nvPr/>
        </p:nvSpPr>
        <p:spPr>
          <a:xfrm>
            <a:off x="8869680" y="5166360"/>
            <a:ext cx="2651760" cy="548640"/>
          </a:xfrm>
          <a:prstGeom prst="rect">
            <a:avLst/>
          </a:prstGeom>
          <a:noFill/>
        </p:spPr>
        <p:txBody>
          <a:bodyPr wrap="square" lIns="45720" tIns="27432" rIns="45720" bIns="27432" anchor="t">
            <a:spAutoFit/>
          </a:bodyPr>
          <a:lstStyle/>
          <a:p>
            <a:pPr algn="l"/>
            <a:r>
              <a:rPr sz="1100" b="0">
                <a:solidFill>
                  <a:srgbClr val="F0E7DE"/>
                </a:solidFill>
                <a:latin typeface="Raleway"/>
              </a:rPr>
              <a:t>Contrataciones lideradas en 16 países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2"/>
          <a:stretch>
            <a:fillRect/>
          </a:stretch>
        </a:blipFill>
        <a:effectLst/>
      </p:bgPr>
    </p:bg>
    <p:spTree>
      <p:nvGrpSpPr>
        <p:cNvPr id="1" name=""/>
        <p:cNvGrpSpPr/>
        <p:nvPr/>
      </p:nvGrpSpPr>
      <p:grpSpPr>
        <a:xfrm>
          <a:off x="0" y="0"/>
          <a:ext cx="0" cy="0"/>
          <a:chOff x="0" y="0"/>
          <a:chExt cx="0" cy="0"/>
        </a:xfrm>
      </p:grpSpPr>
      <p:pic>
        <p:nvPicPr>
          <p:cNvPr id="185" name="Graphic 15"/>
          <p:cNvPicPr/>
          <p:nvPr/>
        </p:nvPicPr>
        <p:blipFill>
          <a:blip>
            <a:extLst>
              <a:ext uri="{96DAC541-7B7A-43D3-8B79-37D633B846F1}">
                <asvg:svgBlip xmlns:asvg="http://schemas.microsoft.com/office/drawing/2016/SVG/main" r:embed="rId3"/>
              </a:ext>
            </a:extLst>
          </a:blip>
          <a:stretch/>
        </p:blipFill>
        <p:spPr>
          <a:xfrm>
            <a:off x="-3871080" y="266400"/>
            <a:ext cx="17267040" cy="5232240"/>
          </a:xfrm>
          <a:prstGeom prst="rect">
            <a:avLst/>
          </a:prstGeom>
          <a:ln w="19080">
            <a:noFill/>
          </a:ln>
        </p:spPr>
      </p:pic>
      <p:sp>
        <p:nvSpPr>
          <p:cNvPr id="173" name="Rectángulo redondeado 3"/>
          <p:cNvSpPr/>
          <p:nvPr/>
        </p:nvSpPr>
        <p:spPr>
          <a:xfrm>
            <a:off x="444600" y="5079960"/>
            <a:ext cx="11353680" cy="914400"/>
          </a:xfrm>
          <a:custGeom>
            <a:avLst/>
            <a:gdLst>
              <a:gd name="textAreaLeft" fmla="*/ 44640 w 11353680"/>
              <a:gd name="textAreaRight" fmla="*/ 11309040 w 11353680"/>
              <a:gd name="textAreaTop" fmla="*/ 44640 h 914400"/>
              <a:gd name="textAreaBottom" fmla="*/ 869760 h 914400"/>
            </a:gdLst>
            <a:ahLst/>
            <a:cxnLst/>
            <a:rect l="textAreaLeft" t="textAreaTop" r="textAreaRight" b="textAreaBottom"/>
            <a:pathLst>
              <a:path w="268100" h="21600">
                <a:moveTo>
                  <a:pt x="3600" y="0"/>
                </a:moveTo>
                <a:arcTo wR="3600" hR="3600" stAng="16200000" swAng="-5400000"/>
                <a:lnTo>
                  <a:pt x="0" y="18000"/>
                </a:lnTo>
                <a:arcTo wR="3600" hR="3600" stAng="10800000" swAng="-5400000"/>
                <a:lnTo>
                  <a:pt x="264500" y="21600"/>
                </a:lnTo>
                <a:arcTo wR="3600" hR="3600" stAng="5400000" swAng="-5400000"/>
                <a:lnTo>
                  <a:pt x="268100" y="3600"/>
                </a:lnTo>
                <a:arcTo wR="3600" hR="3600" stAng="0" swAng="-5400000"/>
                <a:close/>
              </a:path>
            </a:pathLst>
          </a:custGeom>
          <a:solidFill>
            <a:srgbClr val="FBF6E9"/>
          </a:solidFill>
          <a:ln w="12600">
            <a:solidFill>
              <a:srgbClr val="E3C87A"/>
            </a:solidFill>
            <a:miter/>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74" name="Google Shape;286;p22"/>
          <p:cNvSpPr txBox="1"/>
          <p:nvPr/>
        </p:nvSpPr>
        <p:spPr>
          <a:xfrm>
            <a:off x="126790" y="3690788"/>
            <a:ext cx="2673360" cy="516960"/>
          </a:xfrm>
          <a:prstGeom prst="rect">
            <a:avLst/>
          </a:prstGeom>
          <a:noFill/>
          <a:ln w="0">
            <a:noFill/>
          </a:ln>
        </p:spPr>
        <p:txBody>
          <a:bodyPr lIns="0" tIns="0" rIns="0" bIns="0" anchor="t">
            <a:noAutofit/>
          </a:bodyPr>
          <a:lstStyle/>
          <a:p>
            <a:pPr lvl="1">
              <a:lnSpc>
                <a:spcPct val="140000"/>
              </a:lnSpc>
            </a:pPr>
            <a:r>
              <a:rPr lang="en-US" sz="2400" b="0" strike="noStrike" spc="-1">
                <a:solidFill>
                  <a:srgbClr val="587579"/>
                </a:solidFill>
                <a:latin typeface="Raleway Light"/>
                <a:ea typeface="Inter Light"/>
              </a:rPr>
              <a:t>Control</a:t>
            </a:r>
            <a:endParaRPr lang="en-US" sz="2400" b="0" strike="noStrike" spc="-1">
              <a:solidFill>
                <a:srgbClr val="587579"/>
              </a:solidFill>
              <a:latin typeface="Arial"/>
            </a:endParaRPr>
          </a:p>
        </p:txBody>
      </p:sp>
      <p:sp>
        <p:nvSpPr>
          <p:cNvPr id="175" name="Google Shape;287;p22"/>
          <p:cNvSpPr txBox="1"/>
          <p:nvPr/>
        </p:nvSpPr>
        <p:spPr>
          <a:xfrm>
            <a:off x="558111" y="4201624"/>
            <a:ext cx="2673360" cy="731880"/>
          </a:xfrm>
          <a:prstGeom prst="rect">
            <a:avLst/>
          </a:prstGeom>
          <a:noFill/>
          <a:ln w="0">
            <a:noFill/>
          </a:ln>
        </p:spPr>
        <p:txBody>
          <a:bodyPr lIns="0" tIns="0" rIns="0" bIns="0" anchor="t">
            <a:noAutofit/>
          </a:bodyPr>
          <a:lstStyle/>
          <a:p>
            <a:pPr>
              <a:lnSpc>
                <a:spcPct val="100000"/>
              </a:lnSpc>
            </a:pPr>
            <a:r>
              <a:rPr lang="es-ES" sz="1200" b="0" strike="noStrike" spc="-1">
                <a:solidFill>
                  <a:srgbClr val="202031"/>
                </a:solidFill>
                <a:latin typeface="Raleway Light"/>
              </a:rPr>
              <a:t>Visibilidad real del fondo sobre cada participada: reporting homogéneo, cuadro de mando y seguimiento de caja.</a:t>
            </a:r>
            <a:endParaRPr lang="en-US" sz="1200" b="0" strike="noStrike" spc="-1">
              <a:solidFill>
                <a:srgbClr val="202031"/>
              </a:solidFill>
              <a:latin typeface="Arial"/>
            </a:endParaRPr>
          </a:p>
        </p:txBody>
      </p:sp>
      <p:sp>
        <p:nvSpPr>
          <p:cNvPr id="176" name="Google Shape;289;p22"/>
          <p:cNvSpPr txBox="1"/>
          <p:nvPr/>
        </p:nvSpPr>
        <p:spPr>
          <a:xfrm>
            <a:off x="4697937" y="2971035"/>
            <a:ext cx="2673360" cy="516960"/>
          </a:xfrm>
          <a:prstGeom prst="rect">
            <a:avLst/>
          </a:prstGeom>
          <a:noFill/>
          <a:ln w="0">
            <a:noFill/>
          </a:ln>
        </p:spPr>
        <p:txBody>
          <a:bodyPr lIns="0" tIns="0" rIns="0" bIns="0" anchor="t">
            <a:noAutofit/>
          </a:bodyPr>
          <a:lstStyle/>
          <a:p>
            <a:pPr lvl="1">
              <a:lnSpc>
                <a:spcPct val="140000"/>
              </a:lnSpc>
            </a:pPr>
            <a:r>
              <a:rPr lang="en-US" sz="2400" b="0" strike="noStrike" spc="-1">
                <a:solidFill>
                  <a:srgbClr val="587579"/>
                </a:solidFill>
                <a:latin typeface="Raleway Light"/>
                <a:ea typeface="Inter Light"/>
              </a:rPr>
              <a:t>Rigor financiero</a:t>
            </a:r>
            <a:endParaRPr lang="en-US" sz="2400" b="0" strike="noStrike" spc="-1">
              <a:solidFill>
                <a:srgbClr val="000000"/>
              </a:solidFill>
              <a:latin typeface="Arial"/>
            </a:endParaRPr>
          </a:p>
        </p:txBody>
      </p:sp>
      <p:sp>
        <p:nvSpPr>
          <p:cNvPr id="177" name="Google Shape;290;p22"/>
          <p:cNvSpPr txBox="1"/>
          <p:nvPr/>
        </p:nvSpPr>
        <p:spPr>
          <a:xfrm>
            <a:off x="5114880" y="3484368"/>
            <a:ext cx="2673360" cy="914760"/>
          </a:xfrm>
          <a:prstGeom prst="rect">
            <a:avLst/>
          </a:prstGeom>
          <a:noFill/>
          <a:ln w="0">
            <a:noFill/>
          </a:ln>
        </p:spPr>
        <p:txBody>
          <a:bodyPr lIns="0" tIns="0" rIns="0" bIns="0" anchor="t">
            <a:noAutofit/>
          </a:bodyPr>
          <a:lstStyle/>
          <a:p>
            <a:pPr>
              <a:lnSpc>
                <a:spcPct val="100000"/>
              </a:lnSpc>
            </a:pPr>
            <a:r>
              <a:rPr lang="es-ES" sz="1200" b="0" strike="noStrike" spc="-1">
                <a:solidFill>
                  <a:srgbClr val="202031"/>
                </a:solidFill>
                <a:latin typeface="Raleway Light"/>
              </a:rPr>
              <a:t>Metodología de Big Four y de CFOs en activo: información validada y decisiones basadas en datos.</a:t>
            </a:r>
            <a:endParaRPr lang="en-US" sz="1200" b="0" strike="noStrike" spc="-1">
              <a:solidFill>
                <a:srgbClr val="000000"/>
              </a:solidFill>
              <a:latin typeface="Arial"/>
            </a:endParaRPr>
          </a:p>
        </p:txBody>
      </p:sp>
      <p:pic>
        <p:nvPicPr>
          <p:cNvPr id="178" name="Google Shape;411;p12"/>
          <p:cNvPicPr/>
          <p:nvPr/>
        </p:nvPicPr>
        <p:blipFill>
          <a:blip r:embed="rId4"/>
          <a:stretch/>
        </p:blipFill>
        <p:spPr>
          <a:xfrm>
            <a:off x="126360" y="-18360"/>
            <a:ext cx="885600" cy="239040"/>
          </a:xfrm>
          <a:prstGeom prst="rect">
            <a:avLst/>
          </a:prstGeom>
          <a:ln w="19080">
            <a:noFill/>
          </a:ln>
        </p:spPr>
      </p:pic>
      <p:cxnSp>
        <p:nvCxnSpPr>
          <p:cNvPr id="179" name="Google Shape;412;p12"/>
          <p:cNvCxnSpPr/>
          <p:nvPr/>
        </p:nvCxnSpPr>
        <p:spPr>
          <a:xfrm>
            <a:off x="0" y="190440"/>
            <a:ext cx="12279600" cy="360"/>
          </a:xfrm>
          <a:prstGeom prst="straightConnector1">
            <a:avLst/>
          </a:prstGeom>
          <a:ln w="19080">
            <a:solidFill>
              <a:srgbClr val="202031"/>
            </a:solidFill>
            <a:miter/>
          </a:ln>
        </p:spPr>
      </p:cxnSp>
      <p:sp>
        <p:nvSpPr>
          <p:cNvPr id="180" name="Google Shape;423;p12"/>
          <p:cNvSpPr txBox="1"/>
          <p:nvPr/>
        </p:nvSpPr>
        <p:spPr>
          <a:xfrm>
            <a:off x="2392920" y="-23760"/>
            <a:ext cx="23364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ea typeface="Raleway"/>
              </a:rPr>
              <a:t>NOSOTROS</a:t>
            </a:r>
            <a:endParaRPr lang="en-US" sz="1000" b="0" strike="noStrike" spc="-1">
              <a:solidFill>
                <a:srgbClr val="000000"/>
              </a:solidFill>
              <a:latin typeface="Arial"/>
            </a:endParaRPr>
          </a:p>
        </p:txBody>
      </p:sp>
      <p:sp>
        <p:nvSpPr>
          <p:cNvPr id="181" name="TextBox 11"/>
          <p:cNvSpPr txBox="1"/>
          <p:nvPr/>
        </p:nvSpPr>
        <p:spPr>
          <a:xfrm>
            <a:off x="325216" y="799669"/>
            <a:ext cx="11247120" cy="777240"/>
          </a:xfrm>
          <a:prstGeom prst="rect">
            <a:avLst/>
          </a:prstGeom>
          <a:noFill/>
          <a:ln w="0">
            <a:noFill/>
          </a:ln>
        </p:spPr>
        <p:txBody>
          <a:bodyPr lIns="45720" tIns="27432" rIns="91440" bIns="45720" anchor="t">
            <a:noAutofit/>
          </a:bodyPr>
          <a:lstStyle/>
          <a:p>
            <a:pPr>
              <a:lnSpc>
                <a:spcPct val="100000"/>
              </a:lnSpc>
            </a:pPr>
            <a:r>
              <a:rPr lang="es-ES" sz="4800" spc="-151">
                <a:solidFill>
                  <a:srgbClr val="202031"/>
                </a:solidFill>
                <a:latin typeface="Raleway Medium"/>
              </a:rPr>
              <a:t>Por qué </a:t>
            </a:r>
            <a:r>
              <a:rPr lang="es-ES" sz="4800" spc="-151" err="1">
                <a:solidFill>
                  <a:srgbClr val="202031"/>
                </a:solidFill>
                <a:latin typeface="Raleway Medium"/>
              </a:rPr>
              <a:t>Tessera</a:t>
            </a:r>
            <a:endParaRPr lang="en-US" sz="4800" spc="-151">
              <a:solidFill>
                <a:srgbClr val="202031"/>
              </a:solidFill>
              <a:latin typeface="Raleway Medium"/>
            </a:endParaRPr>
          </a:p>
        </p:txBody>
      </p:sp>
      <p:sp>
        <p:nvSpPr>
          <p:cNvPr id="18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07</a:t>
            </a:r>
            <a:endParaRPr lang="en-US" sz="4000" b="0" strike="noStrike" spc="-1">
              <a:solidFill>
                <a:srgbClr val="000000"/>
              </a:solidFill>
              <a:latin typeface="Arial"/>
            </a:endParaRPr>
          </a:p>
        </p:txBody>
      </p:sp>
      <p:sp>
        <p:nvSpPr>
          <p:cNvPr id="183" name="Google Shape;292;p22"/>
          <p:cNvSpPr txBox="1"/>
          <p:nvPr/>
        </p:nvSpPr>
        <p:spPr>
          <a:xfrm>
            <a:off x="8281646" y="2608920"/>
            <a:ext cx="3383280" cy="516960"/>
          </a:xfrm>
          <a:prstGeom prst="rect">
            <a:avLst/>
          </a:prstGeom>
          <a:noFill/>
          <a:ln w="0">
            <a:noFill/>
          </a:ln>
        </p:spPr>
        <p:txBody>
          <a:bodyPr lIns="0" tIns="0" rIns="0" bIns="0" anchor="t">
            <a:noAutofit/>
          </a:bodyPr>
          <a:lstStyle/>
          <a:p>
            <a:pPr lvl="1">
              <a:lnSpc>
                <a:spcPct val="140000"/>
              </a:lnSpc>
            </a:pPr>
            <a:r>
              <a:rPr lang="en-US" sz="2400" b="0" strike="noStrike" spc="-1">
                <a:solidFill>
                  <a:srgbClr val="587579"/>
                </a:solidFill>
                <a:latin typeface="Raleway Light"/>
                <a:ea typeface="Inter Light"/>
              </a:rPr>
              <a:t>Ejecución</a:t>
            </a:r>
            <a:endParaRPr lang="en-US" sz="2400" b="0" strike="noStrike" spc="-1">
              <a:solidFill>
                <a:srgbClr val="000000"/>
              </a:solidFill>
              <a:latin typeface="Arial"/>
            </a:endParaRPr>
          </a:p>
        </p:txBody>
      </p:sp>
      <p:sp>
        <p:nvSpPr>
          <p:cNvPr id="184" name="Google Shape;293;p22"/>
          <p:cNvSpPr txBox="1"/>
          <p:nvPr/>
        </p:nvSpPr>
        <p:spPr>
          <a:xfrm>
            <a:off x="8641080" y="3122928"/>
            <a:ext cx="3200400" cy="554040"/>
          </a:xfrm>
          <a:prstGeom prst="rect">
            <a:avLst/>
          </a:prstGeom>
          <a:noFill/>
          <a:ln w="0">
            <a:noFill/>
          </a:ln>
        </p:spPr>
        <p:txBody>
          <a:bodyPr lIns="0" tIns="0" rIns="0" bIns="0" anchor="t">
            <a:noAutofit/>
          </a:bodyPr>
          <a:lstStyle/>
          <a:p>
            <a:pPr>
              <a:lnSpc>
                <a:spcPct val="100000"/>
              </a:lnSpc>
            </a:pPr>
            <a:r>
              <a:rPr lang="es-ES" sz="1200" b="0" strike="noStrike" spc="-1">
                <a:solidFill>
                  <a:srgbClr val="202031"/>
                </a:solidFill>
                <a:latin typeface="Raleway Light"/>
              </a:rPr>
              <a:t>No nos quedamos en el diagnóstico: implantamos, acompañamos al equipo directivo y medimos el resultado.</a:t>
            </a:r>
            <a:endParaRPr lang="en-US" sz="1200" b="0" strike="noStrike" spc="-1">
              <a:solidFill>
                <a:srgbClr val="000000"/>
              </a:solidFill>
              <a:latin typeface="Arial"/>
            </a:endParaRPr>
          </a:p>
        </p:txBody>
      </p:sp>
      <p:pic>
        <p:nvPicPr>
          <p:cNvPr id="186" name="Graphic 16"/>
          <p:cNvPicPr/>
          <p:nvPr/>
        </p:nvPicPr>
        <p:blipFill>
          <a:blip>
            <a:extLst>
              <a:ext uri="{96DAC541-7B7A-43D3-8B79-37D633B846F1}">
                <asvg:svgBlip xmlns:asvg="http://schemas.microsoft.com/office/drawing/2016/SVG/main" r:embed="rId5"/>
              </a:ext>
            </a:extLst>
          </a:blip>
          <a:stretch/>
        </p:blipFill>
        <p:spPr>
          <a:xfrm>
            <a:off x="4916160" y="2446560"/>
            <a:ext cx="681480" cy="681480"/>
          </a:xfrm>
          <a:prstGeom prst="rect">
            <a:avLst/>
          </a:prstGeom>
          <a:ln w="19080">
            <a:noFill/>
          </a:ln>
        </p:spPr>
      </p:pic>
      <p:pic>
        <p:nvPicPr>
          <p:cNvPr id="187" name="Graphic 16"/>
          <p:cNvPicPr/>
          <p:nvPr/>
        </p:nvPicPr>
        <p:blipFill>
          <a:blip>
            <a:extLst>
              <a:ext uri="{96DAC541-7B7A-43D3-8B79-37D633B846F1}">
                <asvg:svgBlip xmlns:asvg="http://schemas.microsoft.com/office/drawing/2016/SVG/main" r:embed="rId5"/>
              </a:ext>
            </a:extLst>
          </a:blip>
          <a:stretch/>
        </p:blipFill>
        <p:spPr>
          <a:xfrm>
            <a:off x="8922600" y="2020320"/>
            <a:ext cx="681480" cy="681480"/>
          </a:xfrm>
          <a:prstGeom prst="rect">
            <a:avLst/>
          </a:prstGeom>
          <a:ln w="19080">
            <a:noFill/>
          </a:ln>
        </p:spPr>
      </p:pic>
      <p:pic>
        <p:nvPicPr>
          <p:cNvPr id="188" name="Graphic 16"/>
          <p:cNvPicPr/>
          <p:nvPr/>
        </p:nvPicPr>
        <p:blipFill>
          <a:blip>
            <a:extLst>
              <a:ext uri="{96DAC541-7B7A-43D3-8B79-37D633B846F1}">
                <asvg:svgBlip xmlns:asvg="http://schemas.microsoft.com/office/drawing/2016/SVG/main" r:embed="rId5"/>
              </a:ext>
            </a:extLst>
          </a:blip>
          <a:stretch/>
        </p:blipFill>
        <p:spPr>
          <a:xfrm>
            <a:off x="228240" y="3062520"/>
            <a:ext cx="681480" cy="681480"/>
          </a:xfrm>
          <a:prstGeom prst="rect">
            <a:avLst/>
          </a:prstGeom>
          <a:ln w="19080">
            <a:noFill/>
          </a:ln>
        </p:spPr>
      </p:pic>
      <p:sp>
        <p:nvSpPr>
          <p:cNvPr id="189" name="CuadroTexto 2"/>
          <p:cNvSpPr txBox="1"/>
          <p:nvPr/>
        </p:nvSpPr>
        <p:spPr>
          <a:xfrm>
            <a:off x="203040" y="1574640"/>
            <a:ext cx="9144000" cy="307800"/>
          </a:xfrm>
          <a:prstGeom prst="rect">
            <a:avLst/>
          </a:prstGeom>
          <a:noFill/>
          <a:ln w="0">
            <a:noFill/>
          </a:ln>
        </p:spPr>
        <p:txBody>
          <a:bodyPr lIns="91440" tIns="45720" rIns="91440" bIns="45720" anchor="t">
            <a:noAutofit/>
          </a:bodyPr>
          <a:lstStyle/>
          <a:p>
            <a:pPr>
              <a:lnSpc>
                <a:spcPct val="100000"/>
              </a:lnSpc>
            </a:pPr>
            <a:r>
              <a:rPr lang="es-ES" sz="1600" b="1" strike="noStrike" spc="-1">
                <a:solidFill>
                  <a:srgbClr val="587579"/>
                </a:solidFill>
                <a:latin typeface="Raleway"/>
              </a:rPr>
              <a:t>Control, rigor financiero y talento </a:t>
            </a:r>
            <a:r>
              <a:rPr lang="es-ES" sz="1600" b="0" strike="noStrike" spc="-1">
                <a:solidFill>
                  <a:srgbClr val="587579"/>
                </a:solidFill>
                <a:latin typeface="Raleway"/>
              </a:rPr>
              <a:t>al servicio de la tesis de inversión.</a:t>
            </a:r>
            <a:endParaRPr lang="en-US" sz="1600" b="0" strike="noStrike" spc="-1">
              <a:solidFill>
                <a:srgbClr val="000000"/>
              </a:solidFill>
              <a:latin typeface="Arial"/>
            </a:endParaRPr>
          </a:p>
        </p:txBody>
      </p:sp>
      <p:sp>
        <p:nvSpPr>
          <p:cNvPr id="190" name="Rectángulo 4"/>
          <p:cNvSpPr/>
          <p:nvPr/>
        </p:nvSpPr>
        <p:spPr>
          <a:xfrm>
            <a:off x="4191120" y="5219640"/>
            <a:ext cx="15120" cy="635040"/>
          </a:xfrm>
          <a:custGeom>
            <a:avLst/>
            <a:gdLst/>
            <a:ahLst/>
            <a:cxnLst/>
            <a:rect l="l" t="t" r="r" b="b"/>
            <a:pathLst>
              <a:path w="21600" h="21600">
                <a:moveTo>
                  <a:pt x="0" y="0"/>
                </a:moveTo>
                <a:lnTo>
                  <a:pt x="21600" y="0"/>
                </a:lnTo>
                <a:lnTo>
                  <a:pt x="21600" y="21600"/>
                </a:lnTo>
                <a:lnTo>
                  <a:pt x="0" y="21600"/>
                </a:lnTo>
                <a:close/>
              </a:path>
            </a:pathLst>
          </a:custGeom>
          <a:solidFill>
            <a:srgbClr val="E0DCC8"/>
          </a:solidFill>
          <a:ln w="0">
            <a:noFill/>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1" name="Rectángulo 5"/>
          <p:cNvSpPr/>
          <p:nvPr/>
        </p:nvSpPr>
        <p:spPr>
          <a:xfrm>
            <a:off x="7975440" y="5219640"/>
            <a:ext cx="15120" cy="635040"/>
          </a:xfrm>
          <a:custGeom>
            <a:avLst/>
            <a:gdLst/>
            <a:ahLst/>
            <a:cxnLst/>
            <a:rect l="l" t="t" r="r" b="b"/>
            <a:pathLst>
              <a:path w="21600" h="21600">
                <a:moveTo>
                  <a:pt x="0" y="0"/>
                </a:moveTo>
                <a:lnTo>
                  <a:pt x="21600" y="0"/>
                </a:lnTo>
                <a:lnTo>
                  <a:pt x="21600" y="21600"/>
                </a:lnTo>
                <a:lnTo>
                  <a:pt x="0" y="21600"/>
                </a:lnTo>
                <a:close/>
              </a:path>
            </a:pathLst>
          </a:custGeom>
          <a:solidFill>
            <a:srgbClr val="E0DCC8"/>
          </a:solidFill>
          <a:ln w="0">
            <a:noFill/>
          </a:ln>
        </p:spPr>
        <p:style>
          <a:lnRef idx="0">
            <a:scrgbClr r="0" g="0" b="0"/>
          </a:lnRef>
          <a:fillRef idx="0">
            <a:scrgbClr r="0" g="0" b="0"/>
          </a:fillRef>
          <a:effectRef idx="0">
            <a:scrgbClr r="0" g="0" b="0"/>
          </a:effectRef>
          <a:fontRef idx="minor"/>
        </p:style>
        <p:txBody>
          <a:bodyPr anchor="t">
            <a:noAutofit/>
          </a:bodyPr>
          <a:lstStyle/>
          <a:p>
            <a:endParaRPr lang="en-US" sz="1800" b="0" strike="noStrike" spc="-1">
              <a:solidFill>
                <a:srgbClr val="000000"/>
              </a:solidFill>
              <a:latin typeface="Arial"/>
            </a:endParaRPr>
          </a:p>
        </p:txBody>
      </p:sp>
      <p:sp>
        <p:nvSpPr>
          <p:cNvPr id="192" name="CuadroTexto 12"/>
          <p:cNvSpPr txBox="1"/>
          <p:nvPr/>
        </p:nvSpPr>
        <p:spPr>
          <a:xfrm>
            <a:off x="762120" y="5181480"/>
            <a:ext cx="3048120" cy="431640"/>
          </a:xfrm>
          <a:prstGeom prst="rect">
            <a:avLst/>
          </a:prstGeom>
          <a:noFill/>
          <a:ln w="0">
            <a:noFill/>
          </a:ln>
        </p:spPr>
        <p:txBody>
          <a:bodyPr anchor="t">
            <a:noAutofit/>
          </a:bodyPr>
          <a:lstStyle/>
          <a:p>
            <a:pPr>
              <a:lnSpc>
                <a:spcPct val="100000"/>
              </a:lnSpc>
            </a:pPr>
            <a:r>
              <a:rPr lang="es-ES" sz="2200" b="0" strike="noStrike" spc="-1">
                <a:solidFill>
                  <a:srgbClr val="587579"/>
                </a:solidFill>
                <a:latin typeface="Ailerons"/>
              </a:rPr>
              <a:t>UN SOLO EQUIPO</a:t>
            </a:r>
            <a:endParaRPr lang="en-US" sz="2200" b="0" strike="noStrike" spc="-1">
              <a:solidFill>
                <a:srgbClr val="000000"/>
              </a:solidFill>
              <a:latin typeface="Arial"/>
            </a:endParaRPr>
          </a:p>
        </p:txBody>
      </p:sp>
      <p:sp>
        <p:nvSpPr>
          <p:cNvPr id="193" name="CuadroTexto 13"/>
          <p:cNvSpPr txBox="1"/>
          <p:nvPr/>
        </p:nvSpPr>
        <p:spPr>
          <a:xfrm>
            <a:off x="762120" y="5562720"/>
            <a:ext cx="330192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Finance y talento, un interlocutor.</a:t>
            </a:r>
            <a:endParaRPr lang="en-US" sz="1400" b="0" strike="noStrike" spc="-1">
              <a:solidFill>
                <a:srgbClr val="000000"/>
              </a:solidFill>
              <a:latin typeface="Arial"/>
            </a:endParaRPr>
          </a:p>
        </p:txBody>
      </p:sp>
      <p:sp>
        <p:nvSpPr>
          <p:cNvPr id="194" name="CuadroTexto 16"/>
          <p:cNvSpPr txBox="1"/>
          <p:nvPr/>
        </p:nvSpPr>
        <p:spPr>
          <a:xfrm>
            <a:off x="4546440" y="5181480"/>
            <a:ext cx="3174840" cy="431640"/>
          </a:xfrm>
          <a:prstGeom prst="rect">
            <a:avLst/>
          </a:prstGeom>
          <a:noFill/>
          <a:ln w="0">
            <a:noFill/>
          </a:ln>
        </p:spPr>
        <p:txBody>
          <a:bodyPr anchor="t">
            <a:noAutofit/>
          </a:bodyPr>
          <a:lstStyle/>
          <a:p>
            <a:pPr>
              <a:lnSpc>
                <a:spcPct val="100000"/>
              </a:lnSpc>
            </a:pPr>
            <a:r>
              <a:rPr lang="es-ES" sz="2200" b="0" strike="noStrike" spc="-1">
                <a:solidFill>
                  <a:srgbClr val="587579"/>
                </a:solidFill>
                <a:latin typeface="Ailerons"/>
              </a:rPr>
              <a:t>SOCIOS DENTRO</a:t>
            </a:r>
            <a:endParaRPr lang="en-US" sz="2200" b="0" strike="noStrike" spc="-1">
              <a:solidFill>
                <a:srgbClr val="000000"/>
              </a:solidFill>
              <a:latin typeface="Arial"/>
            </a:endParaRPr>
          </a:p>
        </p:txBody>
      </p:sp>
      <p:sp>
        <p:nvSpPr>
          <p:cNvPr id="195" name="CuadroTexto 17"/>
          <p:cNvSpPr txBox="1"/>
          <p:nvPr/>
        </p:nvSpPr>
        <p:spPr>
          <a:xfrm>
            <a:off x="4546440" y="5562720"/>
            <a:ext cx="332748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Los socios ejecutan el proyecto.</a:t>
            </a:r>
            <a:endParaRPr lang="en-US" sz="1400" b="0" strike="noStrike" spc="-1">
              <a:solidFill>
                <a:srgbClr val="000000"/>
              </a:solidFill>
              <a:latin typeface="Arial"/>
            </a:endParaRPr>
          </a:p>
        </p:txBody>
      </p:sp>
      <p:sp>
        <p:nvSpPr>
          <p:cNvPr id="196" name="CuadroTexto 19"/>
          <p:cNvSpPr txBox="1"/>
          <p:nvPr/>
        </p:nvSpPr>
        <p:spPr>
          <a:xfrm>
            <a:off x="8331120" y="5181480"/>
            <a:ext cx="3365640" cy="431640"/>
          </a:xfrm>
          <a:prstGeom prst="rect">
            <a:avLst/>
          </a:prstGeom>
          <a:noFill/>
          <a:ln w="0">
            <a:noFill/>
          </a:ln>
        </p:spPr>
        <p:txBody>
          <a:bodyPr anchor="t">
            <a:noAutofit/>
          </a:bodyPr>
          <a:lstStyle/>
          <a:p>
            <a:pPr>
              <a:lnSpc>
                <a:spcPct val="100000"/>
              </a:lnSpc>
            </a:pPr>
            <a:r>
              <a:rPr lang="es-ES" sz="2200" b="0" strike="noStrike" spc="-1">
                <a:solidFill>
                  <a:srgbClr val="587579"/>
                </a:solidFill>
                <a:latin typeface="Ailerons"/>
              </a:rPr>
              <a:t>INDEPENDENCIA</a:t>
            </a:r>
            <a:endParaRPr lang="en-US" sz="2200" b="0" strike="noStrike" spc="-1">
              <a:solidFill>
                <a:srgbClr val="000000"/>
              </a:solidFill>
              <a:latin typeface="Arial"/>
            </a:endParaRPr>
          </a:p>
        </p:txBody>
      </p:sp>
      <p:sp>
        <p:nvSpPr>
          <p:cNvPr id="197" name="CuadroTexto 20"/>
          <p:cNvSpPr txBox="1"/>
          <p:nvPr/>
        </p:nvSpPr>
        <p:spPr>
          <a:xfrm>
            <a:off x="8349840" y="5562720"/>
            <a:ext cx="3378240" cy="279360"/>
          </a:xfrm>
          <a:prstGeom prst="rect">
            <a:avLst/>
          </a:prstGeom>
          <a:noFill/>
          <a:ln w="0">
            <a:noFill/>
          </a:ln>
        </p:spPr>
        <p:txBody>
          <a:bodyPr anchor="t">
            <a:noAutofit/>
          </a:bodyPr>
          <a:lstStyle/>
          <a:p>
            <a:pPr>
              <a:lnSpc>
                <a:spcPct val="100000"/>
              </a:lnSpc>
            </a:pPr>
            <a:r>
              <a:rPr lang="es-ES" sz="1400" b="0" strike="noStrike" spc="-1">
                <a:solidFill>
                  <a:srgbClr val="202031"/>
                </a:solidFill>
                <a:latin typeface="Raleway"/>
              </a:rPr>
              <a:t>Decimos lo que vemos.</a:t>
            </a:r>
            <a:endParaRPr lang="en-US" sz="1400" b="0" strike="noStrike" spc="-1">
              <a:solidFill>
                <a:srgbClr val="000000"/>
              </a:solidFill>
              <a:latin typeface="Arial"/>
            </a:endParaRPr>
          </a:p>
        </p:txBody>
      </p:sp>
      <p:sp>
        <p:nvSpPr>
          <p:cNvPr id="198"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408"/>
        <p:cNvGrpSpPr/>
        <p:nvPr/>
      </p:nvGrpSpPr>
      <p:grpSpPr>
        <a:xfrm>
          <a:off x="0" y="0"/>
          <a:ext cx="0" cy="0"/>
          <a:chOff x="0" y="0"/>
          <a:chExt cx="0" cy="0"/>
        </a:xfrm>
      </p:grpSpPr>
      <p:sp>
        <p:nvSpPr>
          <p:cNvPr id="5" name="Google Shape;154;p9">
            <a:extLst>
              <a:ext uri="{FF2B5EF4-FFF2-40B4-BE49-F238E27FC236}">
                <a16:creationId xmlns:a16="http://schemas.microsoft.com/office/drawing/2014/main" id="{5A20455F-D0BF-C1CE-0C3C-BF9004711778}"/>
              </a:ext>
            </a:extLst>
          </p:cNvPr>
          <p:cNvSpPr txBox="1"/>
          <p:nvPr/>
        </p:nvSpPr>
        <p:spPr>
          <a:xfrm>
            <a:off x="6096000" y="1225802"/>
            <a:ext cx="5905500" cy="5521984"/>
          </a:xfrm>
          <a:prstGeom prst="rect">
            <a:avLst/>
          </a:prstGeom>
          <a:noFill/>
          <a:ln>
            <a:noFill/>
          </a:ln>
        </p:spPr>
        <p:txBody>
          <a:bodyPr spcFirstLastPara="1" wrap="square" lIns="91425" tIns="45700" rIns="91425" bIns="45700" anchor="t" anchorCtr="0">
            <a:spAutoFit/>
          </a:bodyPr>
          <a:lstStyle/>
          <a:p>
            <a:pPr algn="just">
              <a:spcBef>
                <a:spcPts val="1090"/>
              </a:spcBef>
              <a:buNone/>
            </a:pPr>
            <a:r>
              <a:rPr lang="es-ES" sz="1000">
                <a:solidFill>
                  <a:srgbClr val="2E3D47"/>
                </a:solidFill>
                <a:effectLst/>
                <a:latin typeface="Raleway"/>
                <a:ea typeface="Aptos Light" panose="020B0004020202020204" pitchFamily="34" charset="0"/>
                <a:cs typeface="Calibri Light"/>
              </a:rPr>
              <a:t>candidatos fuera contratado por el cliente en un puesto correspondiente al encargo, o en otro puesto, o en otra empresa del grupo, dentro de un plazo de 12 meses tras la presentación del candidato, el cliente deberá abonar a Tessera Human Capital el importe previsto para la contratación inicial, o la totalidad de los honorarios calculados sobre la retribución bruta anual, incluidas las retribuciones en especie.</a:t>
            </a:r>
            <a:endParaRPr lang="es-ES" sz="1000">
              <a:effectLst/>
              <a:latin typeface="Raleway"/>
              <a:ea typeface="Times New Roman" panose="02020603050405020304" pitchFamily="18" charset="0"/>
              <a:cs typeface="Calibri Light"/>
            </a:endParaRPr>
          </a:p>
          <a:p>
            <a:pPr algn="just">
              <a:spcBef>
                <a:spcPts val="1090"/>
              </a:spcBef>
            </a:pPr>
            <a:r>
              <a:rPr lang="es-ES" sz="1000">
                <a:solidFill>
                  <a:srgbClr val="2E3D47"/>
                </a:solidFill>
                <a:effectLst/>
                <a:latin typeface="Raleway"/>
                <a:ea typeface="Aptos Light" panose="020B0004020202020204" pitchFamily="34" charset="0"/>
                <a:cs typeface="Calibri Light"/>
              </a:rPr>
              <a:t>2.2. Esta cláusula se aplica en los mismos términos si el cliente presenta a alguno de estos candidatos a otra persona física o jurídica y si el candidato se compromete con dicha persona.</a:t>
            </a:r>
          </a:p>
          <a:p>
            <a:pPr algn="just">
              <a:spcBef>
                <a:spcPts val="1090"/>
              </a:spcBef>
            </a:pPr>
            <a:r>
              <a:rPr lang="es-ES" sz="1200">
                <a:solidFill>
                  <a:srgbClr val="5A757A"/>
                </a:solidFill>
                <a:latin typeface="Raleway Black"/>
                <a:ea typeface="Calibri"/>
                <a:cs typeface="Calibri"/>
                <a:sym typeface="Calibri"/>
              </a:rPr>
              <a:t>3. GARANTÍA</a:t>
            </a:r>
            <a:endParaRPr lang="es-ES" sz="1200">
              <a:solidFill>
                <a:srgbClr val="5A757A"/>
              </a:solidFill>
              <a:latin typeface="Raleway Black"/>
              <a:ea typeface="Calibri"/>
              <a:cs typeface="Calibri"/>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Si el candidato o el cliente rescinde el contrato de trabajo dentro de los 3 meses siguientes a la fecha de contratación, Tessera Human Capital se compromete a proporcionar otro candidato y/o a activar otro proceso de selección, a elección del cliente, con el fin de sustituir al candidato sin coste adicional. </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Esta garantía podrá aplicarse salvo en los siguientes casos: </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latin typeface="Raleway"/>
                <a:ea typeface="Aptos Light" panose="020B0004020202020204" pitchFamily="34" charset="0"/>
                <a:cs typeface="Calibri Light"/>
              </a:rPr>
              <a:t>3.1 Si la rescisión del contrato de trabajo se debe a un exceso de plantilla o a un cambio geográfico inicialmente no previsto. </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latin typeface="Raleway"/>
                <a:ea typeface="Aptos Light" panose="020B0004020202020204" pitchFamily="34" charset="0"/>
                <a:cs typeface="Calibri Light"/>
              </a:rPr>
              <a:t>3.2 Si las condiciones laborales del candidato contratado difieren significativamente de las inicialmente definidas en el contrato de trabajo. </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latin typeface="Raleway"/>
                <a:ea typeface="Aptos Light" panose="020B0004020202020204" pitchFamily="34" charset="0"/>
                <a:cs typeface="Calibri Light"/>
              </a:rPr>
              <a:t>3.3  Si la rescisión del contrato de trabajo se debe a una falta grave por parte de la empresa contratante. </a:t>
            </a:r>
            <a:endParaRPr lang="es-ES" sz="1000">
              <a:effectLst/>
              <a:latin typeface="Raleway"/>
              <a:ea typeface="Times New Roman" panose="02020603050405020304" pitchFamily="18" charset="0"/>
              <a:cs typeface="Calibri Light"/>
            </a:endParaRPr>
          </a:p>
          <a:p>
            <a:pPr algn="just">
              <a:spcBef>
                <a:spcPts val="1090"/>
              </a:spcBef>
            </a:pPr>
            <a:r>
              <a:rPr lang="es-ES" sz="1000">
                <a:solidFill>
                  <a:srgbClr val="2E3D47"/>
                </a:solidFill>
                <a:latin typeface="Raleway"/>
                <a:ea typeface="Aptos Light" panose="020B0004020202020204" pitchFamily="34" charset="0"/>
                <a:cs typeface="Calibri Light"/>
              </a:rPr>
              <a:t>3.4  Si no se han abonado todas las facturas adeudadas por el cliente dentro de los plazos establecidos y conforme a las condiciones generales.</a:t>
            </a:r>
          </a:p>
          <a:p>
            <a:pPr algn="just">
              <a:spcBef>
                <a:spcPts val="1090"/>
              </a:spcBef>
            </a:pPr>
            <a:r>
              <a:rPr lang="es-ES" sz="1000">
                <a:solidFill>
                  <a:srgbClr val="2E3D47"/>
                </a:solidFill>
                <a:latin typeface="Raleway"/>
                <a:ea typeface="Calibri"/>
                <a:cs typeface="Calibri Light"/>
                <a:sym typeface="Calibri"/>
              </a:rPr>
              <a:t>Si el candidato abandona la empresa transcurridos 6 meses desde la fecha de contratación (periodo de prueba), Tessera Human Capital no se hace responsable y, por tanto, no tiene obligación de cubrir el puesto. </a:t>
            </a:r>
            <a:endParaRPr lang="es-ES" sz="1000">
              <a:solidFill>
                <a:srgbClr val="5A757A"/>
              </a:solidFill>
              <a:latin typeface="Raleway"/>
              <a:ea typeface="Calibri"/>
              <a:cs typeface="Calibri Light"/>
              <a:sym typeface="Calibri"/>
            </a:endParaRPr>
          </a:p>
          <a:p>
            <a:pPr algn="just">
              <a:spcBef>
                <a:spcPts val="1090"/>
              </a:spcBef>
            </a:pPr>
            <a:endParaRPr lang="es-ES" sz="1000">
              <a:solidFill>
                <a:srgbClr val="2E3D47"/>
              </a:solidFill>
              <a:effectLst/>
              <a:latin typeface="Raleway" pitchFamily="2" charset="0"/>
              <a:ea typeface="Aptos Light" panose="020B0004020202020204" pitchFamily="34" charset="0"/>
              <a:cs typeface="Calibri Light" panose="020F0302020204030204" pitchFamily="34" charset="0"/>
            </a:endParaRPr>
          </a:p>
        </p:txBody>
      </p:sp>
      <p:sp>
        <p:nvSpPr>
          <p:cNvPr id="409" name="Google Shape;409;p12"/>
          <p:cNvSpPr txBox="1"/>
          <p:nvPr/>
        </p:nvSpPr>
        <p:spPr>
          <a:xfrm>
            <a:off x="11362281" y="-33196"/>
            <a:ext cx="639220" cy="246221"/>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s-ES" sz="1000">
                <a:solidFill>
                  <a:srgbClr val="202031"/>
                </a:solidFill>
                <a:latin typeface="Raleway"/>
                <a:sym typeface="Raleway"/>
              </a:rPr>
              <a:t>2026</a:t>
            </a:r>
            <a:endParaRPr/>
          </a:p>
        </p:txBody>
      </p:sp>
      <p:pic>
        <p:nvPicPr>
          <p:cNvPr id="411" name="Google Shape;411;p12"/>
          <p:cNvPicPr preferRelativeResize="0"/>
          <p:nvPr/>
        </p:nvPicPr>
        <p:blipFill rotWithShape="1">
          <a:blip r:embed="rId4">
            <a:alphaModFix/>
          </a:blip>
          <a:srcRect/>
          <a:stretch/>
        </p:blipFill>
        <p:spPr>
          <a:xfrm>
            <a:off x="126274" y="-18288"/>
            <a:ext cx="885662" cy="239129"/>
          </a:xfrm>
          <a:prstGeom prst="rect">
            <a:avLst/>
          </a:prstGeom>
          <a:noFill/>
          <a:ln>
            <a:noFill/>
          </a:ln>
        </p:spPr>
      </p:pic>
      <p:cxnSp>
        <p:nvCxnSpPr>
          <p:cNvPr id="412" name="Google Shape;412;p12"/>
          <p:cNvCxnSpPr/>
          <p:nvPr/>
        </p:nvCxnSpPr>
        <p:spPr>
          <a:xfrm>
            <a:off x="0" y="190500"/>
            <a:ext cx="12279086" cy="0"/>
          </a:xfrm>
          <a:prstGeom prst="straightConnector1">
            <a:avLst/>
          </a:prstGeom>
          <a:noFill/>
          <a:ln w="19050" cap="flat" cmpd="sng">
            <a:solidFill>
              <a:srgbClr val="202031"/>
            </a:solidFill>
            <a:prstDash val="solid"/>
            <a:miter lim="800000"/>
            <a:headEnd type="none" w="sm" len="sm"/>
            <a:tailEnd type="none" w="sm" len="sm"/>
          </a:ln>
        </p:spPr>
      </p:cxnSp>
      <p:sp>
        <p:nvSpPr>
          <p:cNvPr id="423" name="Google Shape;423;p12"/>
          <p:cNvSpPr txBox="1"/>
          <p:nvPr/>
        </p:nvSpPr>
        <p:spPr>
          <a:xfrm>
            <a:off x="2392861" y="-23774"/>
            <a:ext cx="233645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000">
                <a:solidFill>
                  <a:srgbClr val="202031"/>
                </a:solidFill>
                <a:latin typeface="Raleway"/>
                <a:ea typeface="Raleway"/>
                <a:cs typeface="Raleway"/>
                <a:sym typeface="Raleway"/>
              </a:rPr>
              <a:t>TÉRMINOS Y CONDICIONES</a:t>
            </a:r>
            <a:endParaRPr/>
          </a:p>
        </p:txBody>
      </p:sp>
      <p:sp>
        <p:nvSpPr>
          <p:cNvPr id="4" name="Google Shape;153;p9">
            <a:extLst>
              <a:ext uri="{FF2B5EF4-FFF2-40B4-BE49-F238E27FC236}">
                <a16:creationId xmlns:a16="http://schemas.microsoft.com/office/drawing/2014/main" id="{31C3D567-77D2-A4C9-5EEF-98D498FDCE6B}"/>
              </a:ext>
            </a:extLst>
          </p:cNvPr>
          <p:cNvSpPr/>
          <p:nvPr/>
        </p:nvSpPr>
        <p:spPr>
          <a:xfrm>
            <a:off x="190500" y="1393084"/>
            <a:ext cx="5661660" cy="5294747"/>
          </a:xfrm>
          <a:prstGeom prst="rect">
            <a:avLst/>
          </a:prstGeom>
          <a:noFill/>
          <a:ln>
            <a:noFill/>
          </a:ln>
        </p:spPr>
        <p:txBody>
          <a:bodyPr spcFirstLastPara="1" wrap="square" lIns="25700" tIns="25700" rIns="25700" bIns="25700" anchor="t" anchorCtr="0">
            <a:spAutoFit/>
          </a:bodyPr>
          <a:lstStyle/>
          <a:p>
            <a:pPr algn="just"/>
            <a:r>
              <a:rPr lang="es-ES" sz="1000">
                <a:solidFill>
                  <a:schemeClr val="tx1"/>
                </a:solidFill>
                <a:latin typeface="Raleway"/>
                <a:ea typeface="Calibri"/>
                <a:cs typeface="Calibri"/>
                <a:sym typeface="Calibri"/>
              </a:rPr>
              <a:t>Las presentes condiciones generales se aplican a cualquier servicio profesional prestado entre las partes y son adicionales a cualquier acuerdo específico suscrito, el cual prevalecerá sobre estas en caso de discrepancia. En este documento: (i) «Tessera» significa Tessera Human Capital, S.L.; (</a:t>
            </a:r>
            <a:r>
              <a:rPr lang="es-ES" sz="1000" err="1">
                <a:solidFill>
                  <a:schemeClr val="tx1"/>
                </a:solidFill>
                <a:latin typeface="Raleway"/>
                <a:ea typeface="Calibri"/>
                <a:cs typeface="Calibri"/>
                <a:sym typeface="Calibri"/>
              </a:rPr>
              <a:t>ii</a:t>
            </a:r>
            <a:r>
              <a:rPr lang="es-ES" sz="1000">
                <a:solidFill>
                  <a:schemeClr val="tx1"/>
                </a:solidFill>
                <a:latin typeface="Raleway"/>
                <a:ea typeface="Calibri"/>
                <a:cs typeface="Calibri"/>
                <a:sym typeface="Calibri"/>
              </a:rPr>
              <a:t>) «Cliente» es el destinatario de la Propuesta y (</a:t>
            </a:r>
            <a:r>
              <a:rPr lang="es-ES" sz="1000" err="1">
                <a:solidFill>
                  <a:schemeClr val="tx1"/>
                </a:solidFill>
                <a:latin typeface="Raleway"/>
                <a:ea typeface="Calibri"/>
                <a:cs typeface="Calibri"/>
                <a:sym typeface="Calibri"/>
              </a:rPr>
              <a:t>iii</a:t>
            </a:r>
            <a:r>
              <a:rPr lang="es-ES" sz="1000">
                <a:solidFill>
                  <a:schemeClr val="tx1"/>
                </a:solidFill>
                <a:latin typeface="Raleway"/>
                <a:ea typeface="Calibri"/>
                <a:cs typeface="Calibri"/>
                <a:sym typeface="Calibri"/>
              </a:rPr>
              <a:t>) «Servicios» son los servicios profesionales cubiertos por la Propuesta. </a:t>
            </a:r>
          </a:p>
          <a:p>
            <a:pPr marL="0" marR="0" lvl="0" indent="0" algn="just" rtl="0">
              <a:spcBef>
                <a:spcPts val="0"/>
              </a:spcBef>
              <a:spcAft>
                <a:spcPts val="0"/>
              </a:spcAft>
              <a:buNone/>
            </a:pPr>
            <a:endParaRPr lang="es-ES" sz="1000">
              <a:solidFill>
                <a:schemeClr val="tx1"/>
              </a:solidFill>
              <a:latin typeface="Raleway" panose="020B0003030101060003" pitchFamily="34" charset="0"/>
              <a:ea typeface="Calibri" panose="020F0502020204030204" pitchFamily="34" charset="0"/>
              <a:cs typeface="Calibri" panose="020F0502020204030204" pitchFamily="34" charset="0"/>
              <a:sym typeface="Calibri"/>
            </a:endParaRPr>
          </a:p>
          <a:p>
            <a:pPr marL="0" marR="0" lvl="0" indent="0" algn="just" rtl="0">
              <a:spcBef>
                <a:spcPts val="0"/>
              </a:spcBef>
              <a:spcAft>
                <a:spcPts val="0"/>
              </a:spcAft>
              <a:buNone/>
            </a:pPr>
            <a:endParaRPr lang="es-ES" sz="1000">
              <a:solidFill>
                <a:schemeClr val="tx1"/>
              </a:solidFill>
              <a:latin typeface="Raleway" panose="020B0003030101060003" pitchFamily="34" charset="0"/>
              <a:ea typeface="Calibri" panose="020F0502020204030204" pitchFamily="34" charset="0"/>
              <a:cs typeface="Calibri" panose="020F0502020204030204" pitchFamily="34" charset="0"/>
              <a:sym typeface="Calibri"/>
            </a:endParaRPr>
          </a:p>
          <a:p>
            <a:pPr marL="0" marR="0" lvl="0" indent="0" algn="just" rtl="0">
              <a:spcBef>
                <a:spcPts val="800"/>
              </a:spcBef>
              <a:spcAft>
                <a:spcPts val="0"/>
              </a:spcAft>
              <a:buNone/>
            </a:pPr>
            <a:endParaRPr lang="es-ES">
              <a:solidFill>
                <a:schemeClr val="tx1"/>
              </a:solidFill>
              <a:latin typeface="Raleway" panose="020B0003030101060003" pitchFamily="34" charset="0"/>
              <a:ea typeface="Calibri" panose="020F0502020204030204" pitchFamily="34" charset="0"/>
              <a:cs typeface="Calibri" panose="020F0502020204030204" pitchFamily="34" charset="0"/>
            </a:endParaRPr>
          </a:p>
          <a:p>
            <a:pPr marR="0" lvl="0" algn="just" rtl="0">
              <a:lnSpc>
                <a:spcPct val="107000"/>
              </a:lnSpc>
              <a:spcBef>
                <a:spcPts val="800"/>
              </a:spcBef>
              <a:spcAft>
                <a:spcPts val="0"/>
              </a:spcAft>
            </a:pPr>
            <a:endParaRPr lang="es-ES" sz="1200" b="1">
              <a:solidFill>
                <a:srgbClr val="5A757A"/>
              </a:solidFill>
              <a:latin typeface="Raleway Black"/>
              <a:ea typeface="Calibri"/>
              <a:cs typeface="Calibri"/>
              <a:sym typeface="Calibri"/>
            </a:endParaRPr>
          </a:p>
          <a:p>
            <a:pPr marR="0" lvl="0" algn="just" rtl="0">
              <a:lnSpc>
                <a:spcPct val="107000"/>
              </a:lnSpc>
              <a:spcBef>
                <a:spcPts val="800"/>
              </a:spcBef>
              <a:spcAft>
                <a:spcPts val="0"/>
              </a:spcAft>
            </a:pPr>
            <a:r>
              <a:rPr lang="es-ES" sz="1200" b="1">
                <a:solidFill>
                  <a:srgbClr val="5A757A"/>
                </a:solidFill>
                <a:latin typeface="Raleway Black"/>
                <a:ea typeface="Calibri"/>
                <a:cs typeface="Calibri"/>
                <a:sym typeface="Calibri"/>
              </a:rPr>
              <a:t>1. CONFIDENCIALIDAD</a:t>
            </a:r>
            <a:endParaRPr lang="es-ES" sz="1200" b="1">
              <a:solidFill>
                <a:srgbClr val="5A757A"/>
              </a:solidFill>
              <a:latin typeface="Raleway Black"/>
              <a:ea typeface="Calibri"/>
              <a:cs typeface="Calibri"/>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Toda la información relativa a la empresa cliente, sus miembros y los candidatos presentados o contactados será tratada por ambas partes con la máxima confidencialidad, manteniendo la obligación de secreto profesional sobre toda dicha información y, en particular, sobre los datos personales de los candidatos, incluso una vez finalizado este acuerdo, todo ello de conformidad con la legislación española.</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Ambas partes se comprometen mutuamente a mantener la confidencialidad y a no revelar a terceros ninguna información confidencial facilitada por la otra parte, durante la vigencia de este acuerdo y con posterioridad al mismo, conforme a los términos acordados. Este compromiso de confidencialidad no impedirá a Tessera Human Capital hacer referencia a (i) los servicios prestados al Cliente y (</a:t>
            </a:r>
            <a:r>
              <a:rPr lang="es-ES" sz="1000" err="1">
                <a:solidFill>
                  <a:srgbClr val="2E3D47"/>
                </a:solidFill>
                <a:effectLst/>
                <a:latin typeface="Raleway"/>
                <a:ea typeface="Aptos Light" panose="020B0004020202020204" pitchFamily="34" charset="0"/>
                <a:cs typeface="Calibri Light"/>
              </a:rPr>
              <a:t>ii</a:t>
            </a:r>
            <a:r>
              <a:rPr lang="es-ES" sz="1000">
                <a:solidFill>
                  <a:srgbClr val="2E3D47"/>
                </a:solidFill>
                <a:effectLst/>
                <a:latin typeface="Raleway"/>
                <a:ea typeface="Aptos Light" panose="020B0004020202020204" pitchFamily="34" charset="0"/>
                <a:cs typeface="Calibri Light"/>
              </a:rPr>
              <a:t>) al propio Cliente como parte de la cartera de clientes de Tessera Human Capital. Dicha referencia podrá difundirse a través del sitio web corporativo, mediante cualquier instrumento documental o medio de comunicación audiovisual, así como a través de presentaciones personales, siempre que se realicen en el marco de la actividad de Tessera Human Capital, con fines publicitarios y de marketing.</a:t>
            </a:r>
            <a:endParaRPr lang="es-ES" sz="1100">
              <a:effectLst/>
              <a:latin typeface="Raleway"/>
              <a:ea typeface="Times New Roman" panose="02020603050405020304" pitchFamily="18" charset="0"/>
              <a:cs typeface="Calibri Light"/>
            </a:endParaRPr>
          </a:p>
          <a:p>
            <a:pPr marL="0" marR="0" lvl="0" indent="0" algn="just" rtl="0">
              <a:lnSpc>
                <a:spcPct val="107000"/>
              </a:lnSpc>
              <a:spcBef>
                <a:spcPts val="800"/>
              </a:spcBef>
              <a:spcAft>
                <a:spcPts val="0"/>
              </a:spcAft>
              <a:buNone/>
            </a:pPr>
            <a:r>
              <a:rPr lang="es-ES" sz="1200" b="1">
                <a:solidFill>
                  <a:srgbClr val="5A757A"/>
                </a:solidFill>
                <a:latin typeface="Raleway Black"/>
                <a:ea typeface="Calibri"/>
                <a:cs typeface="Calibri"/>
                <a:sym typeface="Calibri"/>
              </a:rPr>
              <a:t>2. CANDIDATURAS </a:t>
            </a:r>
            <a:endParaRPr lang="es-ES" sz="1200" b="1">
              <a:solidFill>
                <a:srgbClr val="5A757A"/>
              </a:solidFill>
              <a:latin typeface="Raleway Black"/>
              <a:ea typeface="Calibri"/>
              <a:cs typeface="Calibri"/>
            </a:endParaRPr>
          </a:p>
          <a:p>
            <a:pPr algn="just">
              <a:spcBef>
                <a:spcPts val="1090"/>
              </a:spcBef>
              <a:buNone/>
            </a:pPr>
            <a:r>
              <a:rPr lang="es-ES" sz="1000">
                <a:solidFill>
                  <a:schemeClr val="tx1"/>
                </a:solidFill>
                <a:latin typeface="Raleway"/>
                <a:ea typeface="Calibri"/>
                <a:cs typeface="Calibri"/>
                <a:sym typeface="Calibri"/>
              </a:rPr>
              <a:t>2.1 Todos los candidatos identificados y presentados por Tessera Human Capital al cliente quedarán reservados exclusivamente para la presente selección. Si alguno de dichos</a:t>
            </a:r>
            <a:endParaRPr lang="es-ES" sz="1000">
              <a:solidFill>
                <a:schemeClr val="tx1"/>
              </a:solidFill>
              <a:latin typeface="Raleway"/>
              <a:ea typeface="Calibri" panose="020F0502020204030204" pitchFamily="34" charset="0"/>
              <a:cs typeface="Calibri Light"/>
              <a:sym typeface="Calibri"/>
            </a:endParaRPr>
          </a:p>
        </p:txBody>
      </p:sp>
      <p:sp>
        <p:nvSpPr>
          <p:cNvPr id="3" name="TextBox 2">
            <a:extLst>
              <a:ext uri="{FF2B5EF4-FFF2-40B4-BE49-F238E27FC236}">
                <a16:creationId xmlns:a16="http://schemas.microsoft.com/office/drawing/2014/main" id="{413180C8-52A3-A8CC-717E-4AB92D93487D}"/>
              </a:ext>
            </a:extLst>
          </p:cNvPr>
          <p:cNvSpPr txBox="1"/>
          <p:nvPr/>
        </p:nvSpPr>
        <p:spPr>
          <a:xfrm>
            <a:off x="156754" y="456361"/>
            <a:ext cx="10236926" cy="769441"/>
          </a:xfrm>
          <a:prstGeom prst="rect">
            <a:avLst/>
          </a:prstGeom>
          <a:noFill/>
        </p:spPr>
        <p:txBody>
          <a:bodyPr wrap="square" rtlCol="0">
            <a:spAutoFit/>
          </a:bodyPr>
          <a:lstStyle/>
          <a:p>
            <a:r>
              <a:rPr lang="es-ES" sz="4400" spc="-150">
                <a:solidFill>
                  <a:srgbClr val="202031"/>
                </a:solidFill>
                <a:latin typeface="Raleway" pitchFamily="2" charset="77"/>
              </a:rPr>
              <a:t>Términos y condiciones</a:t>
            </a:r>
          </a:p>
        </p:txBody>
      </p:sp>
      <p:sp>
        <p:nvSpPr>
          <p:cNvPr id="6" name="TextBox 5">
            <a:extLst>
              <a:ext uri="{FF2B5EF4-FFF2-40B4-BE49-F238E27FC236}">
                <a16:creationId xmlns:a16="http://schemas.microsoft.com/office/drawing/2014/main" id="{23406827-0042-CABF-68EF-8EF4C63B3128}"/>
              </a:ext>
            </a:extLst>
          </p:cNvPr>
          <p:cNvSpPr txBox="1"/>
          <p:nvPr/>
        </p:nvSpPr>
        <p:spPr>
          <a:xfrm>
            <a:off x="190500" y="2558908"/>
            <a:ext cx="5661660" cy="374571"/>
          </a:xfrm>
          <a:prstGeom prst="roundRect">
            <a:avLst/>
          </a:prstGeom>
          <a:solidFill>
            <a:srgbClr val="587579"/>
          </a:solidFill>
          <a:ln>
            <a:solidFill>
              <a:srgbClr val="587579"/>
            </a:solidFill>
          </a:ln>
        </p:spPr>
        <p:style>
          <a:lnRef idx="2">
            <a:schemeClr val="accent2"/>
          </a:lnRef>
          <a:fillRef idx="1">
            <a:schemeClr val="lt1"/>
          </a:fillRef>
          <a:effectRef idx="0">
            <a:schemeClr val="accent2"/>
          </a:effectRef>
          <a:fontRef idx="minor">
            <a:schemeClr val="dk1"/>
          </a:fontRef>
        </p:style>
        <p:txBody>
          <a:bodyPr wrap="square" rtlCol="0" anchor="ctr">
            <a:spAutoFit/>
          </a:bodyPr>
          <a:lstStyle/>
          <a:p>
            <a:pPr algn="ctr"/>
            <a:r>
              <a:rPr lang="es-ES" sz="1600" b="1">
                <a:solidFill>
                  <a:srgbClr val="F0E8DE"/>
                </a:solidFill>
                <a:latin typeface="Raleway Black" pitchFamily="2" charset="0"/>
              </a:rPr>
              <a:t>CONDICIONES SUBYACENTES DE LA PROPUESTA</a:t>
            </a:r>
          </a:p>
        </p:txBody>
      </p:sp>
      <p:sp>
        <p:nvSpPr>
          <p:cNvPr id="8" name="Google Shape;140;p4">
            <a:extLst>
              <a:ext uri="{FF2B5EF4-FFF2-40B4-BE49-F238E27FC236}">
                <a16:creationId xmlns:a16="http://schemas.microsoft.com/office/drawing/2014/main" id="{C670505F-1BEF-0E4F-9656-2190C7FF010E}"/>
              </a:ext>
            </a:extLst>
          </p:cNvPr>
          <p:cNvSpPr txBox="1"/>
          <p:nvPr/>
        </p:nvSpPr>
        <p:spPr>
          <a:xfrm>
            <a:off x="8281759" y="-23774"/>
            <a:ext cx="2506403"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000">
                <a:solidFill>
                  <a:srgbClr val="202031"/>
                </a:solidFill>
                <a:latin typeface="Raleway"/>
                <a:ea typeface="Raleway"/>
                <a:cs typeface="Raleway"/>
                <a:sym typeface="Raleway"/>
              </a:rPr>
              <a:t>RESULTADOS EXTRAORDINARIOS</a:t>
            </a:r>
            <a:endParaRPr/>
          </a:p>
        </p:txBody>
      </p:sp>
      <p:sp>
        <p:nvSpPr>
          <p:cNvPr id="7" name="Slide Number Placeholder 54">
            <a:extLst>
              <a:ext uri="{FF2B5EF4-FFF2-40B4-BE49-F238E27FC236}">
                <a16:creationId xmlns:a16="http://schemas.microsoft.com/office/drawing/2014/main" id="{EF0A3ECB-75D1-9BF9-3309-1FBE12F84F70}"/>
              </a:ext>
            </a:extLst>
          </p:cNvPr>
          <p:cNvSpPr>
            <a:spLocks noGrp="1"/>
          </p:cNvSpPr>
          <p:nvPr>
            <p:ph type="sldNum" sz="quarter" idx="12"/>
          </p:nvPr>
        </p:nvSpPr>
        <p:spPr>
          <a:xfrm>
            <a:off x="9258301" y="6356350"/>
            <a:ext cx="2743200" cy="365125"/>
          </a:xfrm>
        </p:spPr>
        <p:txBody>
          <a:bodyPr/>
          <a:lstStyle/>
          <a:p>
            <a:pPr algn="r"/>
            <a:r>
              <a:rPr lang="en-US" sz="2400" b="1">
                <a:solidFill>
                  <a:schemeClr val="tx1"/>
                </a:solidFill>
                <a:latin typeface="Raleway" panose="020B0003030101060003" pitchFamily="34" charset="0"/>
              </a:rPr>
              <a:t>09</a:t>
            </a:r>
          </a:p>
        </p:txBody>
      </p:sp>
    </p:spTree>
    <p:extLst>
      <p:ext uri="{BB962C8B-B14F-4D97-AF65-F5344CB8AC3E}">
        <p14:creationId xmlns:p14="http://schemas.microsoft.com/office/powerpoint/2010/main" val="214197979"/>
      </p:ext>
    </p:extLst>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408">
          <a:extLst>
            <a:ext uri="{FF2B5EF4-FFF2-40B4-BE49-F238E27FC236}">
              <a16:creationId xmlns:a16="http://schemas.microsoft.com/office/drawing/2014/main" id="{933671B6-7025-7058-3AAF-2C7408A266CA}"/>
            </a:ext>
          </a:extLst>
        </p:cNvPr>
        <p:cNvGrpSpPr/>
        <p:nvPr/>
      </p:nvGrpSpPr>
      <p:grpSpPr>
        <a:xfrm>
          <a:off x="0" y="0"/>
          <a:ext cx="0" cy="0"/>
          <a:chOff x="0" y="0"/>
          <a:chExt cx="0" cy="0"/>
        </a:xfrm>
      </p:grpSpPr>
      <p:sp>
        <p:nvSpPr>
          <p:cNvPr id="5" name="Google Shape;154;p9">
            <a:extLst>
              <a:ext uri="{FF2B5EF4-FFF2-40B4-BE49-F238E27FC236}">
                <a16:creationId xmlns:a16="http://schemas.microsoft.com/office/drawing/2014/main" id="{5D802C69-708E-9F98-E486-59C85B8510D3}"/>
              </a:ext>
            </a:extLst>
          </p:cNvPr>
          <p:cNvSpPr txBox="1"/>
          <p:nvPr/>
        </p:nvSpPr>
        <p:spPr>
          <a:xfrm>
            <a:off x="6096000" y="1105359"/>
            <a:ext cx="5905500" cy="2890623"/>
          </a:xfrm>
          <a:prstGeom prst="rect">
            <a:avLst/>
          </a:prstGeom>
          <a:noFill/>
          <a:ln>
            <a:noFill/>
          </a:ln>
        </p:spPr>
        <p:txBody>
          <a:bodyPr spcFirstLastPara="1" wrap="square" lIns="91425" tIns="45700" rIns="91425" bIns="45700" anchor="t" anchorCtr="0">
            <a:spAutoFit/>
          </a:bodyPr>
          <a:lstStyle/>
          <a:p>
            <a:pPr algn="just">
              <a:lnSpc>
                <a:spcPct val="107000"/>
              </a:lnSpc>
              <a:spcBef>
                <a:spcPts val="1090"/>
              </a:spcBef>
            </a:pPr>
            <a:r>
              <a:rPr lang="es-ES" sz="1200" b="1">
                <a:latin typeface="Raleway "/>
                <a:cs typeface="Calibri"/>
                <a:sym typeface="Calibri"/>
              </a:rPr>
              <a:t>6. LEY APLICABLE Y JURISDICCIÓN </a:t>
            </a:r>
          </a:p>
          <a:p>
            <a:pPr algn="just">
              <a:spcBef>
                <a:spcPts val="1090"/>
              </a:spcBef>
              <a:buNone/>
            </a:pPr>
            <a:r>
              <a:rPr lang="es-ES" sz="1000">
                <a:solidFill>
                  <a:srgbClr val="2E3D47"/>
                </a:solidFill>
                <a:effectLst/>
                <a:latin typeface="Raleway"/>
                <a:ea typeface="Aptos Light" panose="020B0004020202020204" pitchFamily="34" charset="0"/>
                <a:cs typeface="Calibri Light"/>
              </a:rPr>
              <a:t>Este acuerdo se regirá e interpretará de conformidad con la legislación española. Para la resolución de cualquier controversia derivada de la interpretación o ejecución de este acuerdo o relacionada con el mismo, las partes acuerdan someterse a la jurisdicción de los Juzgados y Tribunales de Madrid, renunciando expresamente a cualquier otro fuero que pudiera corresponderles. </a:t>
            </a:r>
          </a:p>
          <a:p>
            <a:pPr algn="just">
              <a:spcBef>
                <a:spcPts val="1090"/>
              </a:spcBef>
            </a:pPr>
            <a:r>
              <a:rPr lang="es-ES" sz="1200" b="1">
                <a:latin typeface="Raleway "/>
                <a:cs typeface="Calibri"/>
                <a:sym typeface="Calibri"/>
              </a:rPr>
              <a:t>7. VIGENCIA DE ESTE ACUERDO</a:t>
            </a:r>
            <a:endParaRPr lang="es-ES" sz="1200" b="1">
              <a:latin typeface="Raleway "/>
              <a:cs typeface="Calibri"/>
            </a:endParaRPr>
          </a:p>
          <a:p>
            <a:pPr algn="just">
              <a:spcBef>
                <a:spcPts val="1090"/>
              </a:spcBef>
            </a:pPr>
            <a:r>
              <a:rPr lang="es-ES" sz="1000">
                <a:solidFill>
                  <a:srgbClr val="2E3D47"/>
                </a:solidFill>
                <a:effectLst/>
                <a:latin typeface="Raleway"/>
                <a:ea typeface="Aptos Light" panose="020B0004020202020204" pitchFamily="34" charset="0"/>
                <a:cs typeface="Calibri Light"/>
              </a:rPr>
              <a:t>Este acuerdo entrará en vigor desde la fecha de su firma, con fecha de finalización en mayo de 2026.</a:t>
            </a:r>
          </a:p>
          <a:p>
            <a:pPr algn="just">
              <a:spcBef>
                <a:spcPts val="1090"/>
              </a:spcBef>
            </a:pPr>
            <a:r>
              <a:rPr lang="es-ES" sz="1200" b="1">
                <a:latin typeface="Raleway "/>
                <a:cs typeface="Calibri"/>
                <a:sym typeface="Helvetica Light"/>
              </a:rPr>
              <a:t>8. FIRMA DEL ACUERDO DE COLABORACIÓN:</a:t>
            </a:r>
            <a:endParaRPr lang="es-ES" sz="1200" b="1">
              <a:latin typeface="Raleway "/>
              <a:cs typeface="Calibri"/>
            </a:endParaRPr>
          </a:p>
          <a:p>
            <a:pPr>
              <a:spcBef>
                <a:spcPts val="1090"/>
              </a:spcBef>
            </a:pPr>
            <a:br>
              <a:rPr lang="es-ES" sz="1000">
                <a:solidFill>
                  <a:srgbClr val="2E3D47"/>
                </a:solidFill>
                <a:effectLst/>
                <a:latin typeface="Raleway"/>
                <a:ea typeface="Aptos Light" panose="020B0004020202020204" pitchFamily="34" charset="0"/>
                <a:cs typeface="Calibri Light"/>
              </a:rPr>
            </a:br>
            <a:r>
              <a:rPr lang="es-ES" sz="1000">
                <a:solidFill>
                  <a:srgbClr val="2E3D47"/>
                </a:solidFill>
                <a:effectLst/>
                <a:latin typeface="Raleway"/>
                <a:ea typeface="Aptos Light" panose="020B0004020202020204" pitchFamily="34" charset="0"/>
                <a:cs typeface="Calibri Light"/>
              </a:rPr>
              <a:t>En Madrid, a {</a:t>
            </a:r>
            <a:r>
              <a:rPr lang="es-ES" sz="1000" err="1">
                <a:solidFill>
                  <a:srgbClr val="2E3D47"/>
                </a:solidFill>
                <a:effectLst/>
                <a:latin typeface="Raleway"/>
                <a:ea typeface="Aptos Light" panose="020B0004020202020204" pitchFamily="34" charset="0"/>
                <a:cs typeface="Calibri Light"/>
              </a:rPr>
              <a:t>dd</a:t>
            </a:r>
            <a:r>
              <a:rPr lang="es-ES" sz="1000">
                <a:solidFill>
                  <a:srgbClr val="2E3D47"/>
                </a:solidFill>
                <a:effectLst/>
                <a:latin typeface="Raleway"/>
                <a:ea typeface="Aptos Light" panose="020B0004020202020204" pitchFamily="34" charset="0"/>
                <a:cs typeface="Calibri Light"/>
              </a:rPr>
              <a:t>/mm/</a:t>
            </a:r>
            <a:r>
              <a:rPr lang="es-ES" sz="1000" err="1">
                <a:solidFill>
                  <a:srgbClr val="2E3D47"/>
                </a:solidFill>
                <a:effectLst/>
                <a:latin typeface="Raleway"/>
                <a:ea typeface="Aptos Light" panose="020B0004020202020204" pitchFamily="34" charset="0"/>
                <a:cs typeface="Calibri Light"/>
              </a:rPr>
              <a:t>aaaa</a:t>
            </a:r>
            <a:r>
              <a:rPr lang="es-ES" sz="1000">
                <a:solidFill>
                  <a:srgbClr val="2E3D47"/>
                </a:solidFill>
                <a:effectLst/>
                <a:latin typeface="Raleway"/>
                <a:ea typeface="Aptos Light" panose="020B0004020202020204" pitchFamily="34" charset="0"/>
                <a:cs typeface="Calibri Light"/>
              </a:rPr>
              <a:t>}</a:t>
            </a:r>
            <a:endParaRPr lang="es-ES" sz="1000" b="1">
              <a:solidFill>
                <a:srgbClr val="5A757A"/>
              </a:solidFill>
              <a:latin typeface="Raleway"/>
              <a:ea typeface="Calibri"/>
              <a:cs typeface="Calibri Light"/>
              <a:sym typeface="Calibri"/>
            </a:endParaRPr>
          </a:p>
        </p:txBody>
      </p:sp>
      <p:sp>
        <p:nvSpPr>
          <p:cNvPr id="409" name="Google Shape;409;p12">
            <a:extLst>
              <a:ext uri="{FF2B5EF4-FFF2-40B4-BE49-F238E27FC236}">
                <a16:creationId xmlns:a16="http://schemas.microsoft.com/office/drawing/2014/main" id="{B9E4CF38-94A5-3038-62EF-BC0B57F74DB3}"/>
              </a:ext>
            </a:extLst>
          </p:cNvPr>
          <p:cNvSpPr txBox="1"/>
          <p:nvPr/>
        </p:nvSpPr>
        <p:spPr>
          <a:xfrm>
            <a:off x="11362281" y="-33196"/>
            <a:ext cx="639220" cy="246221"/>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r>
              <a:rPr lang="es-ES" sz="1000">
                <a:solidFill>
                  <a:srgbClr val="202031"/>
                </a:solidFill>
                <a:latin typeface="Raleway"/>
                <a:sym typeface="Raleway"/>
              </a:rPr>
              <a:t>2026</a:t>
            </a:r>
            <a:endParaRPr/>
          </a:p>
        </p:txBody>
      </p:sp>
      <p:pic>
        <p:nvPicPr>
          <p:cNvPr id="411" name="Google Shape;411;p12">
            <a:extLst>
              <a:ext uri="{FF2B5EF4-FFF2-40B4-BE49-F238E27FC236}">
                <a16:creationId xmlns:a16="http://schemas.microsoft.com/office/drawing/2014/main" id="{62F4C291-8BD8-C4AF-705A-8AB141A176F3}"/>
              </a:ext>
            </a:extLst>
          </p:cNvPr>
          <p:cNvPicPr preferRelativeResize="0"/>
          <p:nvPr/>
        </p:nvPicPr>
        <p:blipFill rotWithShape="1">
          <a:blip r:embed="rId3">
            <a:alphaModFix/>
          </a:blip>
          <a:srcRect/>
          <a:stretch/>
        </p:blipFill>
        <p:spPr>
          <a:xfrm>
            <a:off x="126274" y="-18288"/>
            <a:ext cx="885662" cy="239129"/>
          </a:xfrm>
          <a:prstGeom prst="rect">
            <a:avLst/>
          </a:prstGeom>
          <a:noFill/>
          <a:ln>
            <a:noFill/>
          </a:ln>
        </p:spPr>
      </p:pic>
      <p:cxnSp>
        <p:nvCxnSpPr>
          <p:cNvPr id="412" name="Google Shape;412;p12">
            <a:extLst>
              <a:ext uri="{FF2B5EF4-FFF2-40B4-BE49-F238E27FC236}">
                <a16:creationId xmlns:a16="http://schemas.microsoft.com/office/drawing/2014/main" id="{C02B8361-870F-210F-4536-33E6B92E1FED}"/>
              </a:ext>
            </a:extLst>
          </p:cNvPr>
          <p:cNvCxnSpPr/>
          <p:nvPr/>
        </p:nvCxnSpPr>
        <p:spPr>
          <a:xfrm>
            <a:off x="0" y="190500"/>
            <a:ext cx="12279086" cy="0"/>
          </a:xfrm>
          <a:prstGeom prst="straightConnector1">
            <a:avLst/>
          </a:prstGeom>
          <a:noFill/>
          <a:ln w="19050" cap="flat" cmpd="sng">
            <a:solidFill>
              <a:srgbClr val="202031"/>
            </a:solidFill>
            <a:prstDash val="solid"/>
            <a:miter lim="800000"/>
            <a:headEnd type="none" w="sm" len="sm"/>
            <a:tailEnd type="none" w="sm" len="sm"/>
          </a:ln>
        </p:spPr>
      </p:cxnSp>
      <p:sp>
        <p:nvSpPr>
          <p:cNvPr id="423" name="Google Shape;423;p12">
            <a:extLst>
              <a:ext uri="{FF2B5EF4-FFF2-40B4-BE49-F238E27FC236}">
                <a16:creationId xmlns:a16="http://schemas.microsoft.com/office/drawing/2014/main" id="{4D5FD074-6A86-B6C5-CB7B-3D12EEB09C27}"/>
              </a:ext>
            </a:extLst>
          </p:cNvPr>
          <p:cNvSpPr txBox="1"/>
          <p:nvPr/>
        </p:nvSpPr>
        <p:spPr>
          <a:xfrm>
            <a:off x="2392861" y="-23774"/>
            <a:ext cx="233645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000">
                <a:solidFill>
                  <a:srgbClr val="202031"/>
                </a:solidFill>
                <a:latin typeface="Raleway"/>
                <a:ea typeface="Raleway"/>
                <a:cs typeface="Raleway"/>
                <a:sym typeface="Raleway"/>
              </a:rPr>
              <a:t>TÉRMINOS Y CONDICIONES</a:t>
            </a:r>
            <a:endParaRPr/>
          </a:p>
        </p:txBody>
      </p:sp>
      <p:sp>
        <p:nvSpPr>
          <p:cNvPr id="4" name="Google Shape;153;p9">
            <a:extLst>
              <a:ext uri="{FF2B5EF4-FFF2-40B4-BE49-F238E27FC236}">
                <a16:creationId xmlns:a16="http://schemas.microsoft.com/office/drawing/2014/main" id="{C456149A-08F4-EDB8-CFF4-04A828122AFA}"/>
              </a:ext>
            </a:extLst>
          </p:cNvPr>
          <p:cNvSpPr/>
          <p:nvPr/>
        </p:nvSpPr>
        <p:spPr>
          <a:xfrm>
            <a:off x="190500" y="1105359"/>
            <a:ext cx="5783579" cy="5217547"/>
          </a:xfrm>
          <a:prstGeom prst="rect">
            <a:avLst/>
          </a:prstGeom>
          <a:noFill/>
          <a:ln>
            <a:noFill/>
          </a:ln>
        </p:spPr>
        <p:txBody>
          <a:bodyPr spcFirstLastPara="1" wrap="square" lIns="25700" tIns="25700" rIns="25700" bIns="25700" anchor="t" anchorCtr="0">
            <a:spAutoFit/>
          </a:bodyPr>
          <a:lstStyle/>
          <a:p>
            <a:pPr marL="0" lvl="0" indent="0" algn="just">
              <a:lnSpc>
                <a:spcPct val="107000"/>
              </a:lnSpc>
              <a:spcBef>
                <a:spcPts val="800"/>
              </a:spcBef>
              <a:buFont typeface="Arial"/>
              <a:buNone/>
            </a:pPr>
            <a:r>
              <a:rPr lang="es-ES" sz="1200" b="1">
                <a:solidFill>
                  <a:schemeClr val="tx1"/>
                </a:solidFill>
                <a:latin typeface="Raleway "/>
                <a:ea typeface="Calibri"/>
                <a:cs typeface="Calibri"/>
                <a:sym typeface="Calibri"/>
              </a:rPr>
              <a:t>.4. RESPONSABILIDAD </a:t>
            </a:r>
          </a:p>
          <a:p>
            <a:pPr algn="just">
              <a:spcBef>
                <a:spcPts val="1090"/>
              </a:spcBef>
              <a:buNone/>
            </a:pPr>
            <a:r>
              <a:rPr lang="es-ES" sz="1000">
                <a:solidFill>
                  <a:srgbClr val="2E3D47"/>
                </a:solidFill>
                <a:effectLst/>
                <a:latin typeface="Raleway"/>
                <a:ea typeface="Aptos Light" panose="020B0004020202020204" pitchFamily="34" charset="0"/>
                <a:cs typeface="Calibri Light"/>
              </a:rPr>
              <a:t>Las siguientes aclaraciones legales no excluyen nuestras condiciones de garantía, que permanecen válidas conforme a los términos definidos en el apartado 4:</a:t>
            </a:r>
            <a:endParaRPr lang="es-ES" sz="1000">
              <a:effectLst/>
              <a:latin typeface="Raleway"/>
              <a:ea typeface="Times New Roman" panose="02020603050405020304" pitchFamily="18" charset="0"/>
              <a:cs typeface="Calibri Light"/>
            </a:endParaRPr>
          </a:p>
          <a:p>
            <a:pPr algn="just">
              <a:spcBef>
                <a:spcPts val="1090"/>
              </a:spcBef>
            </a:pPr>
            <a:r>
              <a:rPr lang="es-ES" sz="1000">
                <a:solidFill>
                  <a:srgbClr val="2E3D47"/>
                </a:solidFill>
                <a:effectLst/>
                <a:latin typeface="Raleway"/>
                <a:ea typeface="Aptos Light" panose="020B0004020202020204" pitchFamily="34" charset="0"/>
                <a:cs typeface="Calibri Light"/>
              </a:rPr>
              <a:t>4.1 Tessera Human Capital se compromete a prestar un servicio de calidad y garantiza, como mínimo, la devolución de las cantidades abonadas en aquellos casos en los que hubiera advertido al cliente de un incumplimiento grave y directo de sus obligaciones.</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4.2 Sin perjuicio de lo anterior, salvo en caso de dolo, Tessera Human Capital no asume responsabilidad alguna, ni tampoco su personal, por cualquier negligencia o incapacidad, mala conducta o práctica inadecuada o cualquier otra reclamación atribuida a los candidatos presentados por Tessera Human Capital.</a:t>
            </a:r>
            <a:endParaRPr lang="es-ES" sz="1000">
              <a:solidFill>
                <a:srgbClr val="2E3D47"/>
              </a:solidFill>
              <a:latin typeface="Raleway"/>
              <a:ea typeface="Aptos Light" panose="020B0004020202020204" pitchFamily="34" charset="0"/>
              <a:cs typeface="Calibri Light"/>
            </a:endParaRPr>
          </a:p>
          <a:p>
            <a:pPr algn="just">
              <a:spcBef>
                <a:spcPts val="1090"/>
              </a:spcBef>
            </a:pPr>
            <a:r>
              <a:rPr lang="es-ES" sz="1200" b="1">
                <a:solidFill>
                  <a:schemeClr val="tx1"/>
                </a:solidFill>
                <a:latin typeface="Raleway "/>
                <a:ea typeface="Calibri"/>
                <a:cs typeface="Calibri"/>
                <a:sym typeface="Calibri"/>
              </a:rPr>
              <a:t>.5. PROTECCIÓN DE DATOS</a:t>
            </a:r>
            <a:endParaRPr lang="es-ES" sz="1200" b="1">
              <a:solidFill>
                <a:srgbClr val="5A757A"/>
              </a:solidFill>
              <a:latin typeface="Raleway Black"/>
              <a:ea typeface="Calibri"/>
              <a:cs typeface="Calibri"/>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Ambas partes reconocen que cumplen con la normativa de protección de datos personales y han sido informadas de las finalidades del tratamiento de los datos personales facilitados en esta oferta comercial, basadas en el interés legítimo de ambas partes, por medios electrónicos, para sus propios servicios y los desarrollados por sus grupos empresariales, así como de cómo ejercer sus derechos y demás obligaciones derivadas de la normativa de protección de datos. Cualquier cuestión relativa al tratamiento de datos podrá dirigirse a Tessera Human Capital.</a:t>
            </a:r>
            <a:endParaRPr lang="es-ES" sz="1000">
              <a:effectLst/>
              <a:latin typeface="Raleway"/>
              <a:ea typeface="Times New Roman" panose="02020603050405020304" pitchFamily="18" charset="0"/>
              <a:cs typeface="Calibri Light"/>
            </a:endParaRPr>
          </a:p>
          <a:p>
            <a:pPr algn="just">
              <a:spcBef>
                <a:spcPts val="1090"/>
              </a:spcBef>
              <a:buNone/>
            </a:pPr>
            <a:r>
              <a:rPr lang="es-ES" sz="1000">
                <a:solidFill>
                  <a:srgbClr val="2E3D47"/>
                </a:solidFill>
                <a:effectLst/>
                <a:latin typeface="Raleway"/>
                <a:ea typeface="Aptos Light" panose="020B0004020202020204" pitchFamily="34" charset="0"/>
                <a:cs typeface="Calibri Light"/>
              </a:rPr>
              <a:t>La cesión de los CV se realiza exclusivamente en el marco de la selección contratada y, en consecuencia, una vez finalizada, el cliente se compromete a devolverlos o destruirlos, comprometiéndose asimismo a la confidencialidad de los datos personales facilitados, a su no utilización fuera de la relación contractual entre ambas empresas y al cumplimiento de las obligaciones derivadas del RGPD, siendo el único responsable de cualquier incumplimiento de dicha normativa.</a:t>
            </a:r>
          </a:p>
          <a:p>
            <a:pPr algn="just">
              <a:spcBef>
                <a:spcPts val="1090"/>
              </a:spcBef>
            </a:pPr>
            <a:r>
              <a:rPr lang="es-ES" sz="1000">
                <a:solidFill>
                  <a:srgbClr val="2E3D47"/>
                </a:solidFill>
                <a:effectLst/>
                <a:latin typeface="Raleway"/>
                <a:ea typeface="Aptos Light" panose="020B0004020202020204" pitchFamily="34" charset="0"/>
                <a:cs typeface="Calibri Light"/>
              </a:rPr>
              <a:t>Tessera Human Capital, por su parte, garantiza que cuenta con el consentimiento de los candidatos para la cesión de sus datos a sus clientes durante los procesos de selección de personal.</a:t>
            </a:r>
            <a:endParaRPr lang="es-ES" sz="1000">
              <a:effectLst/>
              <a:latin typeface="Raleway"/>
              <a:ea typeface="Times New Roman" panose="02020603050405020304" pitchFamily="18" charset="0"/>
              <a:cs typeface="Calibri Light"/>
            </a:endParaRPr>
          </a:p>
        </p:txBody>
      </p:sp>
      <p:sp>
        <p:nvSpPr>
          <p:cNvPr id="3" name="TextBox 2">
            <a:extLst>
              <a:ext uri="{FF2B5EF4-FFF2-40B4-BE49-F238E27FC236}">
                <a16:creationId xmlns:a16="http://schemas.microsoft.com/office/drawing/2014/main" id="{40B16E77-069F-1649-B55D-26ED77974754}"/>
              </a:ext>
            </a:extLst>
          </p:cNvPr>
          <p:cNvSpPr txBox="1"/>
          <p:nvPr/>
        </p:nvSpPr>
        <p:spPr>
          <a:xfrm>
            <a:off x="156754" y="456361"/>
            <a:ext cx="10236926" cy="769441"/>
          </a:xfrm>
          <a:prstGeom prst="rect">
            <a:avLst/>
          </a:prstGeom>
          <a:noFill/>
        </p:spPr>
        <p:txBody>
          <a:bodyPr wrap="square" lIns="91440" tIns="45720" rIns="91440" bIns="45720" rtlCol="0" anchor="t">
            <a:spAutoFit/>
          </a:bodyPr>
          <a:lstStyle/>
          <a:p>
            <a:r>
              <a:rPr lang="es-ES" sz="4400" spc="-150">
                <a:solidFill>
                  <a:srgbClr val="202031"/>
                </a:solidFill>
                <a:latin typeface="Raleway" pitchFamily="2" charset="77"/>
              </a:rPr>
              <a:t>Términos y condiciones</a:t>
            </a:r>
          </a:p>
        </p:txBody>
      </p:sp>
      <p:sp>
        <p:nvSpPr>
          <p:cNvPr id="6" name="Rectangle: Rounded Corners 5">
            <a:extLst>
              <a:ext uri="{FF2B5EF4-FFF2-40B4-BE49-F238E27FC236}">
                <a16:creationId xmlns:a16="http://schemas.microsoft.com/office/drawing/2014/main" id="{5924884E-3CEA-0BDA-AD83-ABC6A3CCD6D4}"/>
              </a:ext>
            </a:extLst>
          </p:cNvPr>
          <p:cNvSpPr/>
          <p:nvPr/>
        </p:nvSpPr>
        <p:spPr>
          <a:xfrm>
            <a:off x="6217922" y="4260680"/>
            <a:ext cx="2699836" cy="2040641"/>
          </a:xfrm>
          <a:prstGeom prst="roundRect">
            <a:avLst/>
          </a:prstGeom>
          <a:solidFill>
            <a:srgbClr val="F0E8D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7" name="TextBox 6">
            <a:extLst>
              <a:ext uri="{FF2B5EF4-FFF2-40B4-BE49-F238E27FC236}">
                <a16:creationId xmlns:a16="http://schemas.microsoft.com/office/drawing/2014/main" id="{78132F34-597D-411B-F989-B9B27896FDDC}"/>
              </a:ext>
            </a:extLst>
          </p:cNvPr>
          <p:cNvSpPr txBox="1"/>
          <p:nvPr/>
        </p:nvSpPr>
        <p:spPr>
          <a:xfrm>
            <a:off x="6433820" y="4358350"/>
            <a:ext cx="2483938" cy="979884"/>
          </a:xfrm>
          <a:prstGeom prst="rect">
            <a:avLst/>
          </a:prstGeom>
          <a:noFill/>
        </p:spPr>
        <p:txBody>
          <a:bodyPr wrap="square" lIns="91440" tIns="45720" rIns="91440" bIns="45720" anchor="t">
            <a:spAutoFit/>
          </a:bodyPr>
          <a:lstStyle/>
          <a:p>
            <a:pPr>
              <a:lnSpc>
                <a:spcPct val="107000"/>
              </a:lnSpc>
              <a:spcBef>
                <a:spcPts val="800"/>
              </a:spcBef>
            </a:pPr>
            <a:r>
              <a:rPr lang="es-ES" sz="1200" b="1">
                <a:solidFill>
                  <a:schemeClr val="tx1"/>
                </a:solidFill>
                <a:latin typeface="Raleway "/>
                <a:ea typeface="Calibri"/>
                <a:cs typeface="Calibri"/>
                <a:sym typeface="Helvetica Light"/>
              </a:rPr>
              <a:t>FIRMA DE TESSERA</a:t>
            </a:r>
            <a:endParaRPr lang="es-ES" sz="1200" b="1">
              <a:solidFill>
                <a:schemeClr val="tx1"/>
              </a:solidFill>
              <a:latin typeface="Raleway "/>
              <a:ea typeface="Calibri"/>
              <a:cs typeface="Calibri"/>
            </a:endParaRPr>
          </a:p>
          <a:p>
            <a:pPr>
              <a:spcBef>
                <a:spcPts val="800"/>
              </a:spcBef>
            </a:pPr>
            <a:r>
              <a:rPr lang="es-ES" sz="1050">
                <a:latin typeface="Raleway "/>
                <a:ea typeface="Calibri"/>
                <a:cs typeface="Calibri"/>
                <a:sym typeface="Helvetica Light"/>
              </a:rPr>
              <a:t>Nombre: Manuel García Pina</a:t>
            </a:r>
            <a:br>
              <a:rPr lang="es-ES" sz="1050">
                <a:latin typeface="Raleway "/>
                <a:ea typeface="Calibri"/>
                <a:cs typeface="Calibri"/>
                <a:sym typeface="Helvetica Light"/>
              </a:rPr>
            </a:br>
            <a:r>
              <a:rPr lang="es-ES" sz="1050">
                <a:latin typeface="Raleway "/>
                <a:ea typeface="Calibri"/>
                <a:cs typeface="Calibri"/>
                <a:sym typeface="Helvetica Light"/>
              </a:rPr>
              <a:t>Fecha: </a:t>
            </a:r>
            <a:r>
              <a:rPr lang="es-ES" sz="1050">
                <a:solidFill>
                  <a:srgbClr val="2E3D47"/>
                </a:solidFill>
                <a:latin typeface="Raleway"/>
                <a:ea typeface="Aptos Light" panose="020B0004020202020204" pitchFamily="34" charset="0"/>
                <a:cs typeface="Calibri Light"/>
              </a:rPr>
              <a:t>{</a:t>
            </a:r>
            <a:r>
              <a:rPr lang="es-ES" sz="1050" err="1">
                <a:solidFill>
                  <a:srgbClr val="2E3D47"/>
                </a:solidFill>
                <a:latin typeface="Raleway"/>
                <a:ea typeface="Aptos Light" panose="020B0004020202020204" pitchFamily="34" charset="0"/>
                <a:cs typeface="Calibri Light"/>
              </a:rPr>
              <a:t>dd</a:t>
            </a:r>
            <a:r>
              <a:rPr lang="es-ES" sz="1050">
                <a:solidFill>
                  <a:srgbClr val="2E3D47"/>
                </a:solidFill>
                <a:latin typeface="Raleway"/>
                <a:ea typeface="Aptos Light" panose="020B0004020202020204" pitchFamily="34" charset="0"/>
                <a:cs typeface="Calibri Light"/>
              </a:rPr>
              <a:t>/mm/</a:t>
            </a:r>
            <a:r>
              <a:rPr lang="es-ES" sz="1050" err="1">
                <a:solidFill>
                  <a:srgbClr val="2E3D47"/>
                </a:solidFill>
                <a:latin typeface="Raleway"/>
                <a:ea typeface="Aptos Light" panose="020B0004020202020204" pitchFamily="34" charset="0"/>
                <a:cs typeface="Calibri Light"/>
              </a:rPr>
              <a:t>aaaa</a:t>
            </a:r>
            <a:r>
              <a:rPr lang="es-ES" sz="1050">
                <a:solidFill>
                  <a:srgbClr val="2E3D47"/>
                </a:solidFill>
                <a:latin typeface="Raleway"/>
                <a:ea typeface="Aptos Light" panose="020B0004020202020204" pitchFamily="34" charset="0"/>
                <a:cs typeface="Calibri Light"/>
              </a:rPr>
              <a:t>} </a:t>
            </a:r>
          </a:p>
          <a:p>
            <a:pPr>
              <a:spcBef>
                <a:spcPts val="800"/>
              </a:spcBef>
            </a:pPr>
            <a:r>
              <a:rPr lang="es-ES" sz="1050">
                <a:solidFill>
                  <a:schemeClr val="tx1"/>
                </a:solidFill>
                <a:latin typeface="Raleway "/>
                <a:ea typeface="Calibri"/>
                <a:cs typeface="Calibri"/>
                <a:sym typeface="Helvetica Light"/>
              </a:rPr>
              <a:t>Firma:</a:t>
            </a:r>
            <a:endParaRPr lang="es-ES" sz="1050">
              <a:solidFill>
                <a:schemeClr val="tx1"/>
              </a:solidFill>
              <a:latin typeface="Raleway "/>
              <a:ea typeface="Calibri"/>
              <a:cs typeface="Calibri"/>
            </a:endParaRPr>
          </a:p>
        </p:txBody>
      </p:sp>
      <p:sp>
        <p:nvSpPr>
          <p:cNvPr id="14" name="Rectangle: Rounded Corners 13">
            <a:extLst>
              <a:ext uri="{FF2B5EF4-FFF2-40B4-BE49-F238E27FC236}">
                <a16:creationId xmlns:a16="http://schemas.microsoft.com/office/drawing/2014/main" id="{D4FE353E-FA97-2055-3335-C819BB5B3248}"/>
              </a:ext>
            </a:extLst>
          </p:cNvPr>
          <p:cNvSpPr/>
          <p:nvPr/>
        </p:nvSpPr>
        <p:spPr>
          <a:xfrm>
            <a:off x="9020908" y="4260681"/>
            <a:ext cx="2812583" cy="2040642"/>
          </a:xfrm>
          <a:prstGeom prst="roundRect">
            <a:avLst/>
          </a:prstGeom>
          <a:solidFill>
            <a:srgbClr val="F0E8D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sp>
        <p:nvSpPr>
          <p:cNvPr id="15" name="TextBox 14">
            <a:extLst>
              <a:ext uri="{FF2B5EF4-FFF2-40B4-BE49-F238E27FC236}">
                <a16:creationId xmlns:a16="http://schemas.microsoft.com/office/drawing/2014/main" id="{34A86003-75A7-D036-BE2C-1FCFB6B6204A}"/>
              </a:ext>
            </a:extLst>
          </p:cNvPr>
          <p:cNvSpPr txBox="1"/>
          <p:nvPr/>
        </p:nvSpPr>
        <p:spPr>
          <a:xfrm>
            <a:off x="9133655" y="4358350"/>
            <a:ext cx="2699836" cy="280398"/>
          </a:xfrm>
          <a:prstGeom prst="rect">
            <a:avLst/>
          </a:prstGeom>
          <a:noFill/>
        </p:spPr>
        <p:txBody>
          <a:bodyPr wrap="square" lIns="91440" tIns="45720" rIns="91440" bIns="45720" anchor="t">
            <a:spAutoFit/>
          </a:bodyPr>
          <a:lstStyle/>
          <a:p>
            <a:pPr>
              <a:lnSpc>
                <a:spcPct val="107000"/>
              </a:lnSpc>
              <a:spcBef>
                <a:spcPts val="800"/>
              </a:spcBef>
            </a:pPr>
            <a:r>
              <a:rPr lang="es-ES" sz="1200" b="1">
                <a:solidFill>
                  <a:schemeClr val="tx1"/>
                </a:solidFill>
                <a:latin typeface="Raleway "/>
                <a:ea typeface="Calibri"/>
                <a:cs typeface="Calibri"/>
                <a:sym typeface="Helvetica Light"/>
              </a:rPr>
              <a:t>FIRMA DEL CLIENTE</a:t>
            </a:r>
            <a:endParaRPr lang="es-ES" sz="1050">
              <a:latin typeface="Raleway "/>
              <a:ea typeface="Calibri"/>
              <a:cs typeface="Calibri"/>
            </a:endParaRPr>
          </a:p>
        </p:txBody>
      </p:sp>
      <p:sp>
        <p:nvSpPr>
          <p:cNvPr id="9" name="Google Shape;140;p4">
            <a:extLst>
              <a:ext uri="{FF2B5EF4-FFF2-40B4-BE49-F238E27FC236}">
                <a16:creationId xmlns:a16="http://schemas.microsoft.com/office/drawing/2014/main" id="{6B9EF009-7F8C-3657-FA2E-BC7518CA5467}"/>
              </a:ext>
            </a:extLst>
          </p:cNvPr>
          <p:cNvSpPr txBox="1"/>
          <p:nvPr/>
        </p:nvSpPr>
        <p:spPr>
          <a:xfrm>
            <a:off x="8281759" y="-23774"/>
            <a:ext cx="2506403"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s-ES" sz="1000">
                <a:solidFill>
                  <a:srgbClr val="202031"/>
                </a:solidFill>
                <a:latin typeface="Raleway"/>
                <a:ea typeface="Raleway"/>
                <a:cs typeface="Raleway"/>
                <a:sym typeface="Raleway"/>
              </a:rPr>
              <a:t>RESULTADOS EXTRAORDINARIOS</a:t>
            </a:r>
            <a:endParaRPr/>
          </a:p>
        </p:txBody>
      </p:sp>
      <p:sp>
        <p:nvSpPr>
          <p:cNvPr id="8" name="Slide Number Placeholder 54">
            <a:extLst>
              <a:ext uri="{FF2B5EF4-FFF2-40B4-BE49-F238E27FC236}">
                <a16:creationId xmlns:a16="http://schemas.microsoft.com/office/drawing/2014/main" id="{B8C32CEE-DBB9-220C-6944-FD8C0518ABD4}"/>
              </a:ext>
            </a:extLst>
          </p:cNvPr>
          <p:cNvSpPr>
            <a:spLocks noGrp="1"/>
          </p:cNvSpPr>
          <p:nvPr>
            <p:ph type="sldNum" sz="quarter" idx="12"/>
          </p:nvPr>
        </p:nvSpPr>
        <p:spPr>
          <a:xfrm>
            <a:off x="9258301" y="6356350"/>
            <a:ext cx="2743200" cy="365125"/>
          </a:xfrm>
        </p:spPr>
        <p:txBody>
          <a:bodyPr/>
          <a:lstStyle/>
          <a:p>
            <a:pPr algn="r"/>
            <a:r>
              <a:rPr lang="en-US" sz="2400" b="1">
                <a:solidFill>
                  <a:schemeClr val="tx1"/>
                </a:solidFill>
                <a:latin typeface="Raleway" panose="020B0003030101060003" pitchFamily="34" charset="0"/>
              </a:rPr>
              <a:t>10</a:t>
            </a:r>
          </a:p>
        </p:txBody>
      </p:sp>
      <p:pic>
        <p:nvPicPr>
          <p:cNvPr id="2" name="Imagen 1" descr="Forma, Flecha&#10;&#10;El contenido generado por IA puede ser incorrecto.">
            <a:extLst>
              <a:ext uri="{FF2B5EF4-FFF2-40B4-BE49-F238E27FC236}">
                <a16:creationId xmlns:a16="http://schemas.microsoft.com/office/drawing/2014/main" id="{AD879EFF-14DE-3297-3978-7BFB4717693C}"/>
              </a:ext>
            </a:extLst>
          </p:cNvPr>
          <p:cNvPicPr>
            <a:picLocks noChangeAspect="1"/>
          </p:cNvPicPr>
          <p:nvPr/>
        </p:nvPicPr>
        <p:blipFill>
          <a:blip r:embed="rId4"/>
          <a:stretch>
            <a:fillRect/>
          </a:stretch>
        </p:blipFill>
        <p:spPr>
          <a:xfrm>
            <a:off x="6530218" y="5196174"/>
            <a:ext cx="2072169" cy="633637"/>
          </a:xfrm>
          <a:prstGeom prst="rect">
            <a:avLst/>
          </a:prstGeom>
        </p:spPr>
      </p:pic>
    </p:spTree>
    <p:extLst>
      <p:ext uri="{BB962C8B-B14F-4D97-AF65-F5344CB8AC3E}">
        <p14:creationId xmlns:p14="http://schemas.microsoft.com/office/powerpoint/2010/main" val="5226015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E8E58-29B6-CC2A-41A1-CD66568B2A70}"/>
            </a:ext>
          </a:extLst>
        </p:cNvPr>
        <p:cNvGrpSpPr/>
        <p:nvPr/>
      </p:nvGrpSpPr>
      <p:grpSpPr>
        <a:xfrm>
          <a:off x="0" y="0"/>
          <a:ext cx="0" cy="0"/>
          <a:chOff x="0" y="0"/>
          <a:chExt cx="0" cy="0"/>
        </a:xfrm>
      </p:grpSpPr>
      <p:sp>
        <p:nvSpPr>
          <p:cNvPr id="24" name="BottomBar">
            <a:extLst>
              <a:ext uri="{FF2B5EF4-FFF2-40B4-BE49-F238E27FC236}">
                <a16:creationId xmlns:a16="http://schemas.microsoft.com/office/drawing/2014/main" id="{51EEBF08-511D-986F-909B-F38D85944EB4}"/>
              </a:ext>
            </a:extLst>
          </p:cNvPr>
          <p:cNvSpPr>
            <a:spLocks noGrp="1" noRot="1" noMove="1" noResize="1" noEditPoints="1" noAdjustHandles="1" noChangeArrowheads="1" noChangeShapeType="1"/>
          </p:cNvSpPr>
          <p:nvPr/>
        </p:nvSpPr>
        <p:spPr>
          <a:xfrm>
            <a:off x="0" y="3598477"/>
            <a:ext cx="12251165" cy="3283199"/>
          </a:xfrm>
          <a:prstGeom prst="rect">
            <a:avLst/>
          </a:prstGeom>
          <a:solidFill>
            <a:srgbClr val="5A757A"/>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sp>
        <p:nvSpPr>
          <p:cNvPr id="101" name="SectionTitle">
            <a:extLst>
              <a:ext uri="{FF2B5EF4-FFF2-40B4-BE49-F238E27FC236}">
                <a16:creationId xmlns:a16="http://schemas.microsoft.com/office/drawing/2014/main" id="{0C39BA53-1904-EDA4-BB8F-1A8AFB4C9C02}"/>
              </a:ext>
            </a:extLst>
          </p:cNvPr>
          <p:cNvSpPr/>
          <p:nvPr/>
        </p:nvSpPr>
        <p:spPr>
          <a:xfrm>
            <a:off x="457200" y="228600"/>
            <a:ext cx="8229600" cy="457200"/>
          </a:xfrm>
          <a:prstGeom prst="rect">
            <a:avLst/>
          </a:prstGeom>
          <a:noFill/>
          <a:ln>
            <a:noFill/>
          </a:ln>
        </p:spPr>
        <p:txBody>
          <a:bodyPr wrap="square" lIns="0" tIns="0" rIns="0" bIns="0" anchor="b"/>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i="0" u="none" strike="noStrike" kern="0" cap="none" spc="300" normalizeH="0" baseline="0" noProof="0">
                <a:ln>
                  <a:noFill/>
                </a:ln>
                <a:solidFill>
                  <a:srgbClr val="587579"/>
                </a:solidFill>
                <a:effectLst/>
                <a:uLnTx/>
                <a:uFillTx/>
                <a:latin typeface="Raleway SemiBold" pitchFamily="2" charset="77"/>
                <a:cs typeface="Arial"/>
                <a:sym typeface="Arial"/>
              </a:rPr>
              <a:t>EL VALOR </a:t>
            </a:r>
            <a:r>
              <a:rPr kumimoji="0" lang="es-ES" sz="1200" u="none" strike="noStrike" kern="0" cap="none" spc="300" normalizeH="0" baseline="0" noProof="0">
                <a:ln>
                  <a:noFill/>
                </a:ln>
                <a:solidFill>
                  <a:srgbClr val="587579"/>
                </a:solidFill>
                <a:effectLst/>
                <a:uLnTx/>
                <a:uFillTx/>
                <a:latin typeface="Raleway Light" pitchFamily="2" charset="77"/>
                <a:cs typeface="Arial"/>
                <a:sym typeface="Arial"/>
              </a:rPr>
              <a:t>QUE APORTAMOS A TU PROYECTO</a:t>
            </a:r>
          </a:p>
        </p:txBody>
      </p:sp>
      <p:sp>
        <p:nvSpPr>
          <p:cNvPr id="102" name="TitleLine">
            <a:extLst>
              <a:ext uri="{FF2B5EF4-FFF2-40B4-BE49-F238E27FC236}">
                <a16:creationId xmlns:a16="http://schemas.microsoft.com/office/drawing/2014/main" id="{2509B87F-0627-AAB3-45BD-0DBCE8D987A2}"/>
              </a:ext>
            </a:extLst>
          </p:cNvPr>
          <p:cNvSpPr/>
          <p:nvPr/>
        </p:nvSpPr>
        <p:spPr>
          <a:xfrm>
            <a:off x="457200" y="685800"/>
            <a:ext cx="1828800" cy="27432"/>
          </a:xfrm>
          <a:prstGeom prst="rect">
            <a:avLst/>
          </a:prstGeom>
          <a:solidFill>
            <a:srgbClr val="FBE0A0"/>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sp>
        <p:nvSpPr>
          <p:cNvPr id="110" name="Card0Bg">
            <a:extLst>
              <a:ext uri="{FF2B5EF4-FFF2-40B4-BE49-F238E27FC236}">
                <a16:creationId xmlns:a16="http://schemas.microsoft.com/office/drawing/2014/main" id="{F499C811-5455-F8B0-C2CA-FF017B39028B}"/>
              </a:ext>
            </a:extLst>
          </p:cNvPr>
          <p:cNvSpPr/>
          <p:nvPr/>
        </p:nvSpPr>
        <p:spPr>
          <a:xfrm>
            <a:off x="457200" y="914400"/>
            <a:ext cx="3606800" cy="2560000"/>
          </a:xfrm>
          <a:prstGeom prst="roundRect">
            <a:avLst>
              <a:gd name="adj" fmla="val 5000"/>
            </a:avLst>
          </a:prstGeom>
          <a:solidFill>
            <a:srgbClr val="F7F3ED"/>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sp>
        <p:nvSpPr>
          <p:cNvPr id="111" name="Card0Icon">
            <a:extLst>
              <a:ext uri="{FF2B5EF4-FFF2-40B4-BE49-F238E27FC236}">
                <a16:creationId xmlns:a16="http://schemas.microsoft.com/office/drawing/2014/main" id="{606F41F7-2770-32BD-D079-E4DC6185CEE0}"/>
              </a:ext>
            </a:extLst>
          </p:cNvPr>
          <p:cNvSpPr/>
          <p:nvPr/>
        </p:nvSpPr>
        <p:spPr>
          <a:xfrm>
            <a:off x="685800" y="1143000"/>
            <a:ext cx="548640" cy="548640"/>
          </a:xfrm>
          <a:prstGeom prst="ellipse">
            <a:avLst/>
          </a:prstGeom>
          <a:solidFill>
            <a:srgbClr val="587579"/>
          </a:solidFill>
          <a:ln>
            <a:noFill/>
          </a:ln>
        </p:spPr>
        <p:txBody>
          <a:bodyPr wrap="none" lIns="0" tIns="0" rIns="0" bIns="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2000" b="1" i="0" u="none" strike="noStrike" kern="0" cap="none" spc="0" normalizeH="0" baseline="0" noProof="0">
                <a:ln>
                  <a:noFill/>
                </a:ln>
                <a:solidFill>
                  <a:srgbClr val="FFFFFF"/>
                </a:solidFill>
                <a:effectLst/>
                <a:uLnTx/>
                <a:uFillTx/>
                <a:latin typeface="Ailerons" panose="00000500000000000000" pitchFamily="50" charset="0"/>
                <a:cs typeface="Arial"/>
                <a:sym typeface="Arial"/>
              </a:rPr>
              <a:t>01</a:t>
            </a:r>
          </a:p>
        </p:txBody>
      </p:sp>
      <p:sp>
        <p:nvSpPr>
          <p:cNvPr id="112" name="Card0Title">
            <a:extLst>
              <a:ext uri="{FF2B5EF4-FFF2-40B4-BE49-F238E27FC236}">
                <a16:creationId xmlns:a16="http://schemas.microsoft.com/office/drawing/2014/main" id="{EB1AAC1F-2A8F-7EE6-8451-3A61FBB18175}"/>
              </a:ext>
            </a:extLst>
          </p:cNvPr>
          <p:cNvSpPr/>
          <p:nvPr/>
        </p:nvSpPr>
        <p:spPr>
          <a:xfrm>
            <a:off x="685800" y="1828800"/>
            <a:ext cx="3149600" cy="365760"/>
          </a:xfrm>
          <a:prstGeom prst="rect">
            <a:avLst/>
          </a:prstGeom>
          <a:noFill/>
          <a:ln>
            <a:noFill/>
          </a:ln>
        </p:spPr>
        <p:txBody>
          <a:bodyPr wrap="square" lIns="0" tIns="0" rIns="0" bIns="0" anchor="t"/>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800" u="none" strike="noStrike" kern="0" cap="none" spc="0" normalizeH="0" baseline="0" noProof="0">
                <a:ln>
                  <a:noFill/>
                </a:ln>
                <a:solidFill>
                  <a:srgbClr val="202031"/>
                </a:solidFill>
                <a:effectLst/>
                <a:uLnTx/>
                <a:uFillTx/>
                <a:latin typeface="Raleway Light" pitchFamily="2" charset="77"/>
                <a:cs typeface="Arial"/>
                <a:sym typeface="Arial"/>
              </a:rPr>
              <a:t>Experiencia Directa</a:t>
            </a:r>
          </a:p>
        </p:txBody>
      </p:sp>
      <p:sp>
        <p:nvSpPr>
          <p:cNvPr id="113" name="Card0Body">
            <a:extLst>
              <a:ext uri="{FF2B5EF4-FFF2-40B4-BE49-F238E27FC236}">
                <a16:creationId xmlns:a16="http://schemas.microsoft.com/office/drawing/2014/main" id="{6E48726F-A093-8950-C199-15434A0AF9F3}"/>
              </a:ext>
            </a:extLst>
          </p:cNvPr>
          <p:cNvSpPr/>
          <p:nvPr/>
        </p:nvSpPr>
        <p:spPr>
          <a:xfrm>
            <a:off x="685800" y="2084344"/>
            <a:ext cx="3149600" cy="1179576"/>
          </a:xfrm>
          <a:prstGeom prst="rect">
            <a:avLst/>
          </a:prstGeom>
          <a:noFill/>
          <a:ln>
            <a:noFill/>
          </a:ln>
        </p:spPr>
        <p:txBody>
          <a:bodyPr wrap="square" lIns="0" tIns="0" rIns="0" bIns="0" anchor="t"/>
          <a:lstStyle/>
          <a:p>
            <a:pPr marL="0" marR="0" lvl="0" indent="0" algn="l" defTabSz="914400" rtl="0" eaLnBrk="1" fontAlgn="auto" latinLnBrk="0" hangingPunct="1">
              <a:lnSpc>
                <a:spcPts val="2000"/>
              </a:lnSpc>
              <a:spcBef>
                <a:spcPts val="0"/>
              </a:spcBef>
              <a:spcAft>
                <a:spcPts val="0"/>
              </a:spcAft>
              <a:buClr>
                <a:srgbClr val="000000"/>
              </a:buClr>
              <a:buSzTx/>
              <a:buFont typeface="Arial"/>
              <a:buNone/>
              <a:tabLst/>
              <a:defRPr/>
            </a:pPr>
            <a:r>
              <a:rPr kumimoji="0" lang="es-ES" sz="1200" u="none" strike="noStrike" kern="0" cap="none" spc="0" normalizeH="0" baseline="0" noProof="0">
                <a:ln>
                  <a:noFill/>
                </a:ln>
                <a:solidFill>
                  <a:srgbClr val="636879"/>
                </a:solidFill>
                <a:effectLst/>
                <a:uLnTx/>
                <a:uFillTx/>
                <a:latin typeface="Raleway Light" pitchFamily="2" charset="77"/>
                <a:cs typeface="Arial"/>
                <a:sym typeface="Arial"/>
              </a:rPr>
              <a:t>Entendemos tu entorno, lo que nos permite analizar con precisión las  dinámicas de negocio y los aspectos críticos que impactan en tu crecimiento</a:t>
            </a:r>
          </a:p>
        </p:txBody>
      </p:sp>
      <p:sp>
        <p:nvSpPr>
          <p:cNvPr id="120" name="Card1Bg">
            <a:extLst>
              <a:ext uri="{FF2B5EF4-FFF2-40B4-BE49-F238E27FC236}">
                <a16:creationId xmlns:a16="http://schemas.microsoft.com/office/drawing/2014/main" id="{AED36A73-B709-7180-1577-150E8D8CE101}"/>
              </a:ext>
            </a:extLst>
          </p:cNvPr>
          <p:cNvSpPr/>
          <p:nvPr/>
        </p:nvSpPr>
        <p:spPr>
          <a:xfrm>
            <a:off x="4292600" y="914400"/>
            <a:ext cx="3606800" cy="2560000"/>
          </a:xfrm>
          <a:prstGeom prst="roundRect">
            <a:avLst>
              <a:gd name="adj" fmla="val 5000"/>
            </a:avLst>
          </a:prstGeom>
          <a:solidFill>
            <a:srgbClr val="F7F3ED"/>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sp>
        <p:nvSpPr>
          <p:cNvPr id="121" name="Card1Icon">
            <a:extLst>
              <a:ext uri="{FF2B5EF4-FFF2-40B4-BE49-F238E27FC236}">
                <a16:creationId xmlns:a16="http://schemas.microsoft.com/office/drawing/2014/main" id="{26C11A59-A3B6-F717-191E-8E4260FB37E6}"/>
              </a:ext>
            </a:extLst>
          </p:cNvPr>
          <p:cNvSpPr/>
          <p:nvPr/>
        </p:nvSpPr>
        <p:spPr>
          <a:xfrm>
            <a:off x="4521200" y="1143000"/>
            <a:ext cx="548640" cy="548640"/>
          </a:xfrm>
          <a:prstGeom prst="ellipse">
            <a:avLst/>
          </a:prstGeom>
          <a:solidFill>
            <a:srgbClr val="587579"/>
          </a:solidFill>
          <a:ln>
            <a:noFill/>
          </a:ln>
        </p:spPr>
        <p:txBody>
          <a:bodyPr wrap="none" lIns="0" tIns="0" rIns="0" bIns="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2000" b="1" i="0" u="none" strike="noStrike" kern="0" cap="none" spc="0" normalizeH="0" baseline="0" noProof="0">
                <a:ln>
                  <a:noFill/>
                </a:ln>
                <a:solidFill>
                  <a:srgbClr val="FFFFFF"/>
                </a:solidFill>
                <a:effectLst/>
                <a:uLnTx/>
                <a:uFillTx/>
                <a:latin typeface="Ailerons" panose="00000500000000000000" pitchFamily="50" charset="0"/>
                <a:cs typeface="Arial"/>
                <a:sym typeface="Arial"/>
              </a:rPr>
              <a:t>02</a:t>
            </a:r>
          </a:p>
        </p:txBody>
      </p:sp>
      <p:sp>
        <p:nvSpPr>
          <p:cNvPr id="122" name="Card1Title">
            <a:extLst>
              <a:ext uri="{FF2B5EF4-FFF2-40B4-BE49-F238E27FC236}">
                <a16:creationId xmlns:a16="http://schemas.microsoft.com/office/drawing/2014/main" id="{E1E47E8C-A2A1-F914-84A1-92B59285091E}"/>
              </a:ext>
            </a:extLst>
          </p:cNvPr>
          <p:cNvSpPr/>
          <p:nvPr/>
        </p:nvSpPr>
        <p:spPr>
          <a:xfrm>
            <a:off x="4521200" y="1828800"/>
            <a:ext cx="3149600" cy="365760"/>
          </a:xfrm>
          <a:prstGeom prst="rect">
            <a:avLst/>
          </a:prstGeom>
          <a:noFill/>
          <a:ln>
            <a:noFill/>
          </a:ln>
        </p:spPr>
        <p:txBody>
          <a:bodyPr wrap="square" lIns="0" tIns="0" rIns="0" bIns="0" anchor="t"/>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800" u="none" strike="noStrike" kern="0" cap="none" spc="0" normalizeH="0" baseline="0" noProof="0">
                <a:ln>
                  <a:noFill/>
                </a:ln>
                <a:solidFill>
                  <a:srgbClr val="202031"/>
                </a:solidFill>
                <a:effectLst/>
                <a:uLnTx/>
                <a:uFillTx/>
                <a:latin typeface="Raleway Light" pitchFamily="2" charset="77"/>
                <a:cs typeface="Arial"/>
                <a:sym typeface="Arial"/>
              </a:rPr>
              <a:t>Enfoque Práctico</a:t>
            </a:r>
          </a:p>
        </p:txBody>
      </p:sp>
      <p:sp>
        <p:nvSpPr>
          <p:cNvPr id="123" name="Card1Body">
            <a:extLst>
              <a:ext uri="{FF2B5EF4-FFF2-40B4-BE49-F238E27FC236}">
                <a16:creationId xmlns:a16="http://schemas.microsoft.com/office/drawing/2014/main" id="{AD0CD3A8-F23E-C8A4-D6AB-A8187E080039}"/>
              </a:ext>
            </a:extLst>
          </p:cNvPr>
          <p:cNvSpPr/>
          <p:nvPr/>
        </p:nvSpPr>
        <p:spPr>
          <a:xfrm>
            <a:off x="4521200" y="2133477"/>
            <a:ext cx="3149600" cy="1005840"/>
          </a:xfrm>
          <a:prstGeom prst="rect">
            <a:avLst/>
          </a:prstGeom>
          <a:noFill/>
          <a:ln>
            <a:noFill/>
          </a:ln>
        </p:spPr>
        <p:txBody>
          <a:bodyPr wrap="square" lIns="0" tIns="0" rIns="0" bIns="0" anchor="t"/>
          <a:lstStyle/>
          <a:p>
            <a:pPr marL="0" marR="0" lvl="0" indent="0" algn="l" defTabSz="914400" rtl="0" eaLnBrk="1" fontAlgn="auto" latinLnBrk="0" hangingPunct="1">
              <a:lnSpc>
                <a:spcPts val="2000"/>
              </a:lnSpc>
              <a:spcBef>
                <a:spcPts val="0"/>
              </a:spcBef>
              <a:spcAft>
                <a:spcPts val="0"/>
              </a:spcAft>
              <a:buClr>
                <a:srgbClr val="000000"/>
              </a:buClr>
              <a:buSzTx/>
              <a:buFont typeface="Arial"/>
              <a:buNone/>
              <a:tabLst/>
              <a:defRPr/>
            </a:pPr>
            <a:r>
              <a:rPr kumimoji="0" lang="es-ES" sz="1200" u="none" strike="noStrike" kern="0" cap="none" spc="0" normalizeH="0" baseline="0" noProof="0">
                <a:ln>
                  <a:noFill/>
                </a:ln>
                <a:solidFill>
                  <a:srgbClr val="636879"/>
                </a:solidFill>
                <a:effectLst/>
                <a:uLnTx/>
                <a:uFillTx/>
                <a:latin typeface="Raleway Light" pitchFamily="2" charset="77"/>
                <a:cs typeface="Arial"/>
                <a:sym typeface="Arial"/>
              </a:rPr>
              <a:t>Orientados a resultados, facilitando decisiones claras y ejecutables que optimizan procesos</a:t>
            </a:r>
          </a:p>
        </p:txBody>
      </p:sp>
      <p:sp>
        <p:nvSpPr>
          <p:cNvPr id="130" name="Card2Bg">
            <a:extLst>
              <a:ext uri="{FF2B5EF4-FFF2-40B4-BE49-F238E27FC236}">
                <a16:creationId xmlns:a16="http://schemas.microsoft.com/office/drawing/2014/main" id="{6C7472F7-5866-68DF-E29A-9267BB0C57DB}"/>
              </a:ext>
            </a:extLst>
          </p:cNvPr>
          <p:cNvSpPr/>
          <p:nvPr/>
        </p:nvSpPr>
        <p:spPr>
          <a:xfrm>
            <a:off x="8128000" y="914400"/>
            <a:ext cx="3606800" cy="2560000"/>
          </a:xfrm>
          <a:prstGeom prst="roundRect">
            <a:avLst>
              <a:gd name="adj" fmla="val 5000"/>
            </a:avLst>
          </a:prstGeom>
          <a:solidFill>
            <a:srgbClr val="F7F3ED"/>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sp>
        <p:nvSpPr>
          <p:cNvPr id="131" name="Card2Icon">
            <a:extLst>
              <a:ext uri="{FF2B5EF4-FFF2-40B4-BE49-F238E27FC236}">
                <a16:creationId xmlns:a16="http://schemas.microsoft.com/office/drawing/2014/main" id="{C70A0106-BA80-EF59-BB14-FF033BB814C6}"/>
              </a:ext>
            </a:extLst>
          </p:cNvPr>
          <p:cNvSpPr/>
          <p:nvPr/>
        </p:nvSpPr>
        <p:spPr>
          <a:xfrm>
            <a:off x="8356600" y="1143000"/>
            <a:ext cx="548640" cy="548640"/>
          </a:xfrm>
          <a:prstGeom prst="ellipse">
            <a:avLst/>
          </a:prstGeom>
          <a:solidFill>
            <a:srgbClr val="587579"/>
          </a:solidFill>
          <a:ln>
            <a:noFill/>
          </a:ln>
        </p:spPr>
        <p:txBody>
          <a:bodyPr wrap="none" lIns="0" tIns="0" rIns="0" bIns="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2000" b="1" i="0" u="none" strike="noStrike" kern="0" cap="none" spc="0" normalizeH="0" baseline="0" noProof="0">
                <a:ln>
                  <a:noFill/>
                </a:ln>
                <a:solidFill>
                  <a:srgbClr val="FFFFFF"/>
                </a:solidFill>
                <a:effectLst/>
                <a:uLnTx/>
                <a:uFillTx/>
                <a:latin typeface="Ailerons" panose="00000500000000000000" pitchFamily="50" charset="0"/>
                <a:cs typeface="Arial"/>
                <a:sym typeface="Arial"/>
              </a:rPr>
              <a:t>03</a:t>
            </a:r>
          </a:p>
        </p:txBody>
      </p:sp>
      <p:sp>
        <p:nvSpPr>
          <p:cNvPr id="132" name="Card2Title">
            <a:extLst>
              <a:ext uri="{FF2B5EF4-FFF2-40B4-BE49-F238E27FC236}">
                <a16:creationId xmlns:a16="http://schemas.microsoft.com/office/drawing/2014/main" id="{04088A0C-D727-DBD0-44CC-0C76FF68BE8D}"/>
              </a:ext>
            </a:extLst>
          </p:cNvPr>
          <p:cNvSpPr/>
          <p:nvPr/>
        </p:nvSpPr>
        <p:spPr>
          <a:xfrm>
            <a:off x="8356600" y="1828800"/>
            <a:ext cx="3149600" cy="365760"/>
          </a:xfrm>
          <a:prstGeom prst="rect">
            <a:avLst/>
          </a:prstGeom>
          <a:noFill/>
          <a:ln>
            <a:noFill/>
          </a:ln>
        </p:spPr>
        <p:txBody>
          <a:bodyPr wrap="square" lIns="0" tIns="0" rIns="0" bIns="0" anchor="t"/>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800" u="none" strike="noStrike" kern="0" cap="none" spc="0" normalizeH="0" baseline="0" noProof="0">
                <a:ln>
                  <a:noFill/>
                </a:ln>
                <a:solidFill>
                  <a:srgbClr val="202031"/>
                </a:solidFill>
                <a:effectLst/>
                <a:uLnTx/>
                <a:uFillTx/>
                <a:latin typeface="Raleway Light" pitchFamily="2" charset="77"/>
                <a:cs typeface="Arial"/>
                <a:sym typeface="Arial"/>
              </a:rPr>
              <a:t>Impacto Real</a:t>
            </a:r>
          </a:p>
        </p:txBody>
      </p:sp>
      <p:sp>
        <p:nvSpPr>
          <p:cNvPr id="133" name="Card2Body">
            <a:extLst>
              <a:ext uri="{FF2B5EF4-FFF2-40B4-BE49-F238E27FC236}">
                <a16:creationId xmlns:a16="http://schemas.microsoft.com/office/drawing/2014/main" id="{913A333C-7ECB-418E-16B3-C47D11966BEB}"/>
              </a:ext>
            </a:extLst>
          </p:cNvPr>
          <p:cNvSpPr/>
          <p:nvPr/>
        </p:nvSpPr>
        <p:spPr>
          <a:xfrm>
            <a:off x="8356600" y="2119770"/>
            <a:ext cx="3149600" cy="1005840"/>
          </a:xfrm>
          <a:prstGeom prst="rect">
            <a:avLst/>
          </a:prstGeom>
          <a:noFill/>
          <a:ln>
            <a:noFill/>
          </a:ln>
        </p:spPr>
        <p:txBody>
          <a:bodyPr wrap="square" lIns="0" tIns="0" rIns="0" bIns="0" anchor="t"/>
          <a:lstStyle/>
          <a:p>
            <a:pPr marL="0" marR="0" lvl="0" indent="0" algn="l" defTabSz="914400" rtl="0" eaLnBrk="1" fontAlgn="auto" latinLnBrk="0" hangingPunct="1">
              <a:lnSpc>
                <a:spcPts val="2000"/>
              </a:lnSpc>
              <a:spcBef>
                <a:spcPts val="0"/>
              </a:spcBef>
              <a:spcAft>
                <a:spcPts val="0"/>
              </a:spcAft>
              <a:buClr>
                <a:srgbClr val="000000"/>
              </a:buClr>
              <a:buSzTx/>
              <a:buFont typeface="Arial"/>
              <a:buNone/>
              <a:tabLst/>
              <a:defRPr/>
            </a:pPr>
            <a:r>
              <a:rPr lang="es-ES" sz="1200" kern="0">
                <a:solidFill>
                  <a:srgbClr val="636879"/>
                </a:solidFill>
                <a:latin typeface="Raleway Light" pitchFamily="2" charset="77"/>
                <a:cs typeface="Arial"/>
                <a:sym typeface="Arial"/>
              </a:rPr>
              <a:t>Soluciones que impulsan eficiencias y mejoras sostenibles en el negocio de nuestros clientes</a:t>
            </a:r>
          </a:p>
        </p:txBody>
      </p:sp>
      <p:sp>
        <p:nvSpPr>
          <p:cNvPr id="151" name="HonorariosLabel">
            <a:extLst>
              <a:ext uri="{FF2B5EF4-FFF2-40B4-BE49-F238E27FC236}">
                <a16:creationId xmlns:a16="http://schemas.microsoft.com/office/drawing/2014/main" id="{DC2439BC-36E6-D5D3-F856-D234C81D9CDC}"/>
              </a:ext>
            </a:extLst>
          </p:cNvPr>
          <p:cNvSpPr/>
          <p:nvPr/>
        </p:nvSpPr>
        <p:spPr>
          <a:xfrm>
            <a:off x="457200" y="3724098"/>
            <a:ext cx="2286000" cy="320040"/>
          </a:xfrm>
          <a:prstGeom prst="rect">
            <a:avLst/>
          </a:prstGeom>
          <a:noFill/>
          <a:ln>
            <a:noFill/>
          </a:ln>
        </p:spPr>
        <p:txBody>
          <a:bodyPr wrap="square" lIns="0" tIns="0" rIns="0" bIns="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b="1" u="none" strike="noStrike" kern="0" cap="none" spc="300" normalizeH="0" baseline="0" noProof="0">
                <a:ln>
                  <a:noFill/>
                </a:ln>
                <a:solidFill>
                  <a:srgbClr val="F0E8DE"/>
                </a:solidFill>
                <a:effectLst/>
                <a:uLnTx/>
                <a:uFillTx/>
                <a:latin typeface="Raleway Light" pitchFamily="2" charset="77"/>
                <a:cs typeface="Arial"/>
                <a:sym typeface="Arial"/>
              </a:rPr>
              <a:t>HONORARIOS</a:t>
            </a:r>
          </a:p>
        </p:txBody>
      </p:sp>
      <p:sp>
        <p:nvSpPr>
          <p:cNvPr id="160" name="PageNum">
            <a:extLst>
              <a:ext uri="{FF2B5EF4-FFF2-40B4-BE49-F238E27FC236}">
                <a16:creationId xmlns:a16="http://schemas.microsoft.com/office/drawing/2014/main" id="{2A2F4C6E-4A20-2D54-AE50-DECFC7D0D710}"/>
              </a:ext>
            </a:extLst>
          </p:cNvPr>
          <p:cNvSpPr/>
          <p:nvPr/>
        </p:nvSpPr>
        <p:spPr>
          <a:xfrm>
            <a:off x="9601200" y="6217920"/>
            <a:ext cx="2286000" cy="457200"/>
          </a:xfrm>
          <a:prstGeom prst="rect">
            <a:avLst/>
          </a:prstGeom>
          <a:noFill/>
          <a:ln>
            <a:noFill/>
          </a:ln>
        </p:spPr>
        <p:txBody>
          <a:bodyPr wrap="square" lIns="0" tIns="0" rIns="0" bIns="0" anchor="ct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3200" b="0" i="0" u="none" strike="noStrike" kern="0" cap="none" spc="-150" normalizeH="0" baseline="0" noProof="0">
                <a:ln>
                  <a:noFill/>
                </a:ln>
                <a:solidFill>
                  <a:srgbClr val="F0E8DE"/>
                </a:solidFill>
                <a:effectLst/>
                <a:uLnTx/>
                <a:uFillTx/>
                <a:latin typeface="Ailerons" panose="00000500000000000000" pitchFamily="50" charset="0"/>
                <a:cs typeface="Arial"/>
                <a:sym typeface="Arial"/>
              </a:rPr>
              <a:t>018</a:t>
            </a:r>
          </a:p>
        </p:txBody>
      </p:sp>
      <p:sp>
        <p:nvSpPr>
          <p:cNvPr id="2" name="TextBox 15">
            <a:extLst>
              <a:ext uri="{FF2B5EF4-FFF2-40B4-BE49-F238E27FC236}">
                <a16:creationId xmlns:a16="http://schemas.microsoft.com/office/drawing/2014/main" id="{C62A3875-1DA8-BEDD-3BE3-0C8DC10EC085}"/>
              </a:ext>
            </a:extLst>
          </p:cNvPr>
          <p:cNvSpPr txBox="1"/>
          <p:nvPr/>
        </p:nvSpPr>
        <p:spPr>
          <a:xfrm>
            <a:off x="11362281" y="-33196"/>
            <a:ext cx="639220" cy="246221"/>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000" u="none" strike="noStrike" kern="0" cap="none" spc="0" normalizeH="0" baseline="0" noProof="0">
                <a:ln>
                  <a:noFill/>
                </a:ln>
                <a:solidFill>
                  <a:srgbClr val="202031"/>
                </a:solidFill>
                <a:effectLst/>
                <a:uLnTx/>
                <a:uFillTx/>
                <a:latin typeface="Manrope" pitchFamily="2" charset="0"/>
                <a:cs typeface="Arial"/>
                <a:sym typeface="Arial"/>
              </a:rPr>
              <a:t>2026</a:t>
            </a:r>
          </a:p>
        </p:txBody>
      </p:sp>
      <p:sp>
        <p:nvSpPr>
          <p:cNvPr id="3" name="TextBox 19">
            <a:extLst>
              <a:ext uri="{FF2B5EF4-FFF2-40B4-BE49-F238E27FC236}">
                <a16:creationId xmlns:a16="http://schemas.microsoft.com/office/drawing/2014/main" id="{ACE5807A-2403-89E7-7E81-EEAA0D132E5A}"/>
              </a:ext>
            </a:extLst>
          </p:cNvPr>
          <p:cNvSpPr txBox="1"/>
          <p:nvPr/>
        </p:nvSpPr>
        <p:spPr>
          <a:xfrm>
            <a:off x="8281759" y="-23774"/>
            <a:ext cx="2752001" cy="2462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000" u="none" strike="noStrike" kern="0" cap="none" spc="0" normalizeH="0" baseline="0" noProof="0">
                <a:ln>
                  <a:noFill/>
                </a:ln>
                <a:solidFill>
                  <a:srgbClr val="202031"/>
                </a:solidFill>
                <a:effectLst/>
                <a:uLnTx/>
                <a:uFillTx/>
                <a:latin typeface="Raleway Light" pitchFamily="2" charset="77"/>
                <a:cs typeface="Arial"/>
                <a:sym typeface="Arial"/>
              </a:rPr>
              <a:t>HONORARIOS</a:t>
            </a:r>
          </a:p>
        </p:txBody>
      </p:sp>
      <p:pic>
        <p:nvPicPr>
          <p:cNvPr id="4" name="Graphic 4">
            <a:extLst>
              <a:ext uri="{FF2B5EF4-FFF2-40B4-BE49-F238E27FC236}">
                <a16:creationId xmlns:a16="http://schemas.microsoft.com/office/drawing/2014/main" id="{20CD1C66-4291-D07F-D056-5F1FDF18F430}"/>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26274" y="-18288"/>
            <a:ext cx="885662" cy="239129"/>
          </a:xfrm>
          <a:prstGeom prst="rect">
            <a:avLst/>
          </a:prstGeom>
        </p:spPr>
      </p:pic>
      <p:cxnSp>
        <p:nvCxnSpPr>
          <p:cNvPr id="5" name="Straight Connector 5">
            <a:extLst>
              <a:ext uri="{FF2B5EF4-FFF2-40B4-BE49-F238E27FC236}">
                <a16:creationId xmlns:a16="http://schemas.microsoft.com/office/drawing/2014/main" id="{B63F577A-6053-982F-DAF9-CDC2F78BD0B5}"/>
              </a:ext>
            </a:extLst>
          </p:cNvPr>
          <p:cNvCxnSpPr/>
          <p:nvPr/>
        </p:nvCxnSpPr>
        <p:spPr>
          <a:xfrm>
            <a:off x="0" y="190500"/>
            <a:ext cx="12279086" cy="0"/>
          </a:xfrm>
          <a:prstGeom prst="line">
            <a:avLst/>
          </a:prstGeom>
          <a:ln>
            <a:solidFill>
              <a:srgbClr val="202031"/>
            </a:solidFill>
          </a:ln>
          <a:effectLst/>
        </p:spPr>
        <p:style>
          <a:lnRef idx="2">
            <a:schemeClr val="accent1"/>
          </a:lnRef>
          <a:fillRef idx="0">
            <a:schemeClr val="accent1"/>
          </a:fillRef>
          <a:effectRef idx="1">
            <a:schemeClr val="accent1"/>
          </a:effectRef>
          <a:fontRef idx="minor">
            <a:schemeClr val="tx1"/>
          </a:fontRef>
        </p:style>
      </p:cxnSp>
      <p:sp>
        <p:nvSpPr>
          <p:cNvPr id="20" name="Rectangle 2">
            <a:extLst>
              <a:ext uri="{FF2B5EF4-FFF2-40B4-BE49-F238E27FC236}">
                <a16:creationId xmlns:a16="http://schemas.microsoft.com/office/drawing/2014/main" id="{6CE812FA-18A3-B120-01EE-F262714D2C87}"/>
              </a:ext>
            </a:extLst>
          </p:cNvPr>
          <p:cNvSpPr>
            <a:spLocks noChangeArrowheads="1"/>
          </p:cNvSpPr>
          <p:nvPr/>
        </p:nvSpPr>
        <p:spPr bwMode="auto">
          <a:xfrm>
            <a:off x="457200" y="5062078"/>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eaLnBrk="0" fontAlgn="base" hangingPunct="0">
              <a:spcBef>
                <a:spcPct val="0"/>
              </a:spcBef>
              <a:spcAft>
                <a:spcPct val="0"/>
              </a:spcAft>
              <a:defRPr>
                <a:solidFill>
                  <a:schemeClr val="tx1"/>
                </a:solidFill>
                <a:latin typeface="Arial" panose="020B0604020202020204" pitchFamily="34" charset="0"/>
              </a:defRPr>
            </a:lvl1pPr>
            <a:lvl2pPr eaLnBrk="0" fontAlgn="base" hangingPunct="0">
              <a:spcBef>
                <a:spcPct val="0"/>
              </a:spcBef>
              <a:spcAft>
                <a:spcPct val="0"/>
              </a:spcAft>
              <a:defRPr>
                <a:solidFill>
                  <a:schemeClr val="tx1"/>
                </a:solidFill>
                <a:latin typeface="Arial" panose="020B0604020202020204" pitchFamily="34" charset="0"/>
              </a:defRPr>
            </a:lvl2pPr>
            <a:lvl3pPr eaLnBrk="0" fontAlgn="base" hangingPunct="0">
              <a:spcBef>
                <a:spcPct val="0"/>
              </a:spcBef>
              <a:spcAft>
                <a:spcPct val="0"/>
              </a:spcAft>
              <a:defRPr>
                <a:solidFill>
                  <a:schemeClr val="tx1"/>
                </a:solidFill>
                <a:latin typeface="Arial" panose="020B0604020202020204" pitchFamily="34" charset="0"/>
              </a:defRPr>
            </a:lvl3pPr>
            <a:lvl4pPr eaLnBrk="0" fontAlgn="base" hangingPunct="0">
              <a:spcBef>
                <a:spcPct val="0"/>
              </a:spcBef>
              <a:spcAft>
                <a:spcPct val="0"/>
              </a:spcAft>
              <a:defRPr>
                <a:solidFill>
                  <a:schemeClr val="tx1"/>
                </a:solidFill>
                <a:latin typeface="Arial" panose="020B0604020202020204" pitchFamily="34" charset="0"/>
              </a:defRPr>
            </a:lvl4pPr>
            <a:lvl5pPr eaLnBrk="0" fontAlgn="base" hangingPunct="0">
              <a:spcBef>
                <a:spcPct val="0"/>
              </a:spcBef>
              <a:spcAft>
                <a:spcPct val="0"/>
              </a:spcAft>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s-ES" altLang="es-ES" sz="1800" b="0" i="0" u="none" strike="noStrike" cap="none" normalizeH="0" baseline="0">
                <a:ln>
                  <a:noFill/>
                </a:ln>
                <a:solidFill>
                  <a:srgbClr val="000000"/>
                </a:solidFill>
                <a:effectLst/>
                <a:latin typeface="Times"/>
              </a:rPr>
              <a:t> </a:t>
            </a:r>
            <a:endParaRPr kumimoji="0" lang="es-ES" altLang="es-ES" sz="1800" b="0" i="0" u="none" strike="noStrike" cap="none" normalizeH="0" baseline="0">
              <a:ln>
                <a:noFill/>
              </a:ln>
              <a:solidFill>
                <a:schemeClr val="tx1"/>
              </a:solidFill>
              <a:effectLst/>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s-ES" altLang="es-ES" sz="1800" b="0" i="0" u="none" strike="noStrike" cap="none" normalizeH="0" baseline="0">
              <a:ln>
                <a:noFill/>
              </a:ln>
              <a:solidFill>
                <a:schemeClr val="tx1"/>
              </a:solidFill>
              <a:effectLst/>
              <a:latin typeface="Arial" panose="020B0604020202020204" pitchFamily="34" charset="0"/>
            </a:endParaRPr>
          </a:p>
        </p:txBody>
      </p:sp>
      <p:grpSp>
        <p:nvGrpSpPr>
          <p:cNvPr id="30" name="Grupo 29">
            <a:extLst>
              <a:ext uri="{FF2B5EF4-FFF2-40B4-BE49-F238E27FC236}">
                <a16:creationId xmlns:a16="http://schemas.microsoft.com/office/drawing/2014/main" id="{024CC839-5B55-4FAE-ABE2-873E6E7CF836}"/>
              </a:ext>
            </a:extLst>
          </p:cNvPr>
          <p:cNvGrpSpPr/>
          <p:nvPr/>
        </p:nvGrpSpPr>
        <p:grpSpPr>
          <a:xfrm>
            <a:off x="449943" y="4370815"/>
            <a:ext cx="3835400" cy="1134143"/>
            <a:chOff x="368300" y="5177999"/>
            <a:chExt cx="3835400" cy="1134143"/>
          </a:xfrm>
        </p:grpSpPr>
        <p:sp>
          <p:nvSpPr>
            <p:cNvPr id="25" name="CFOPrice">
              <a:extLst>
                <a:ext uri="{FF2B5EF4-FFF2-40B4-BE49-F238E27FC236}">
                  <a16:creationId xmlns:a16="http://schemas.microsoft.com/office/drawing/2014/main" id="{09C241EB-0990-4C9F-76F3-2C6F1CD44A0F}"/>
                </a:ext>
              </a:extLst>
            </p:cNvPr>
            <p:cNvSpPr/>
            <p:nvPr/>
          </p:nvSpPr>
          <p:spPr>
            <a:xfrm>
              <a:off x="368300" y="5177999"/>
              <a:ext cx="3835400" cy="1134143"/>
            </a:xfrm>
            <a:prstGeom prst="roundRect">
              <a:avLst>
                <a:gd name="adj" fmla="val 8000"/>
              </a:avLst>
            </a:prstGeom>
            <a:solidFill>
              <a:srgbClr val="F0E8DE"/>
            </a:solidFill>
            <a:ln w="12700">
              <a:solidFill>
                <a:srgbClr val="587579"/>
              </a:solidFill>
            </a:ln>
          </p:spPr>
          <p:txBody>
            <a:bodyPr wrap="square" lIns="182880" tIns="91440" rIns="182880" bIns="91440" anchor="ct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u="none" strike="noStrike" kern="0" cap="none" spc="0" normalizeH="0" baseline="0" noProof="0">
                <a:ln>
                  <a:noFill/>
                </a:ln>
                <a:solidFill>
                  <a:srgbClr val="FFFFFF"/>
                </a:solidFill>
                <a:effectLst/>
                <a:uLnTx/>
                <a:uFillTx/>
                <a:latin typeface="Raleway Light" pitchFamily="2" charset="77"/>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400" u="none" strike="noStrike" kern="0" cap="none" spc="0" normalizeH="0" baseline="0" noProof="0">
                  <a:ln>
                    <a:noFill/>
                  </a:ln>
                  <a:solidFill>
                    <a:srgbClr val="202031"/>
                  </a:solidFill>
                  <a:effectLst/>
                  <a:uLnTx/>
                  <a:uFillTx/>
                  <a:latin typeface="Raleway Light"/>
                  <a:cs typeface="Arial"/>
                  <a:sym typeface="Arial"/>
                </a:rPr>
                <a:t>Modalidad a éxito en </a:t>
              </a:r>
              <a:r>
                <a:rPr kumimoji="0" lang="es-ES" sz="1400" u="none" strike="noStrike" kern="0" cap="none" spc="0" normalizeH="0" baseline="0" noProof="0" err="1">
                  <a:ln>
                    <a:noFill/>
                  </a:ln>
                  <a:solidFill>
                    <a:srgbClr val="202031"/>
                  </a:solidFill>
                  <a:effectLst/>
                  <a:uLnTx/>
                  <a:uFillTx/>
                  <a:latin typeface="Raleway Light"/>
                  <a:cs typeface="Arial"/>
                  <a:sym typeface="Arial"/>
                </a:rPr>
                <a:t>Headhunting</a:t>
              </a:r>
              <a:r>
                <a:rPr kumimoji="0" lang="es-ES" sz="1400" u="none" strike="noStrike" kern="0" cap="none" spc="0" normalizeH="0" baseline="0" noProof="0">
                  <a:ln>
                    <a:noFill/>
                  </a:ln>
                  <a:solidFill>
                    <a:srgbClr val="202031"/>
                  </a:solidFill>
                  <a:effectLst/>
                  <a:uLnTx/>
                  <a:uFillTx/>
                  <a:latin typeface="Raleway Light"/>
                  <a:cs typeface="Arial"/>
                  <a:sym typeface="Arial"/>
                </a:rPr>
                <a:t> </a:t>
              </a:r>
              <a:endParaRPr lang="es-ES" sz="1400" kern="0">
                <a:solidFill>
                  <a:srgbClr val="202031"/>
                </a:solidFill>
                <a:latin typeface="Raleway Light"/>
                <a:cs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u="none" strike="noStrike" kern="0" cap="none" spc="0" normalizeH="0" baseline="0" noProof="0">
                <a:ln>
                  <a:noFill/>
                </a:ln>
                <a:solidFill>
                  <a:srgbClr val="FFFFFF"/>
                </a:solidFill>
                <a:effectLst/>
                <a:uLnTx/>
                <a:uFillTx/>
                <a:latin typeface="Raleway Light" pitchFamily="2" charset="77"/>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u="none" strike="noStrike" kern="0" cap="none" spc="0" normalizeH="0" baseline="0" noProof="0">
                  <a:ln>
                    <a:noFill/>
                  </a:ln>
                  <a:solidFill>
                    <a:srgbClr val="202031"/>
                  </a:solidFill>
                  <a:effectLst/>
                  <a:uLnTx/>
                  <a:uFillTx/>
                  <a:latin typeface="Raleway Light" pitchFamily="2" charset="77"/>
                  <a:cs typeface="Arial"/>
                  <a:sym typeface="Arial"/>
                </a:rPr>
                <a:t>Salario Bruto Anual                  Fee%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200" u="none" strike="noStrike" kern="0" cap="none" spc="0" normalizeH="0" baseline="0" noProof="0">
                <a:ln>
                  <a:noFill/>
                </a:ln>
                <a:solidFill>
                  <a:srgbClr val="FFFFFF"/>
                </a:solidFill>
                <a:effectLst/>
                <a:uLnTx/>
                <a:uFillTx/>
                <a:latin typeface="Raleway Light" pitchFamily="2" charset="77"/>
                <a:cs typeface="Arial"/>
                <a:sym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s-ES" sz="1200" u="none" strike="noStrike" kern="0" cap="none" spc="0" normalizeH="0" baseline="0" noProof="0">
                  <a:ln>
                    <a:noFill/>
                  </a:ln>
                  <a:solidFill>
                    <a:srgbClr val="202031"/>
                  </a:solidFill>
                  <a:effectLst/>
                  <a:uLnTx/>
                  <a:uFillTx/>
                  <a:latin typeface="Raleway Light"/>
                  <a:cs typeface="Arial"/>
                  <a:sym typeface="Arial"/>
                </a:rPr>
                <a:t>                                                      13%</a:t>
              </a:r>
              <a:endParaRPr lang="es-ES" sz="1200" u="none" strike="noStrike" kern="0" cap="none" spc="0" normalizeH="0" baseline="0" noProof="0">
                <a:ln>
                  <a:noFill/>
                </a:ln>
                <a:solidFill>
                  <a:srgbClr val="202031"/>
                </a:solidFill>
                <a:effectLst/>
                <a:uLnTx/>
                <a:uFillTx/>
                <a:latin typeface="Raleway Light"/>
                <a:cs typeface="Arial"/>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u="none" strike="noStrike" kern="0" cap="none" spc="0" normalizeH="0" baseline="0" noProof="0">
                <a:ln>
                  <a:noFill/>
                </a:ln>
                <a:solidFill>
                  <a:srgbClr val="FFFFFF"/>
                </a:solidFill>
                <a:effectLst/>
                <a:uLnTx/>
                <a:uFillTx/>
                <a:latin typeface="Raleway Light" pitchFamily="2" charset="77"/>
                <a:cs typeface="Arial"/>
                <a:sym typeface="Arial"/>
              </a:endParaRPr>
            </a:p>
          </p:txBody>
        </p:sp>
        <p:sp>
          <p:nvSpPr>
            <p:cNvPr id="26" name="HonorariosLine">
              <a:extLst>
                <a:ext uri="{FF2B5EF4-FFF2-40B4-BE49-F238E27FC236}">
                  <a16:creationId xmlns:a16="http://schemas.microsoft.com/office/drawing/2014/main" id="{8BDB866A-AB67-63F6-4CEB-B90052452191}"/>
                </a:ext>
              </a:extLst>
            </p:cNvPr>
            <p:cNvSpPr/>
            <p:nvPr/>
          </p:nvSpPr>
          <p:spPr>
            <a:xfrm>
              <a:off x="569105" y="5457807"/>
              <a:ext cx="2742199" cy="18000"/>
            </a:xfrm>
            <a:prstGeom prst="rect">
              <a:avLst/>
            </a:prstGeom>
            <a:solidFill>
              <a:srgbClr val="587579"/>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sp>
          <p:nvSpPr>
            <p:cNvPr id="27" name="HonorariosLine">
              <a:extLst>
                <a:ext uri="{FF2B5EF4-FFF2-40B4-BE49-F238E27FC236}">
                  <a16:creationId xmlns:a16="http://schemas.microsoft.com/office/drawing/2014/main" id="{3DCDF22D-22F8-9FCD-989A-83D36A0447A3}"/>
                </a:ext>
              </a:extLst>
            </p:cNvPr>
            <p:cNvSpPr/>
            <p:nvPr/>
          </p:nvSpPr>
          <p:spPr>
            <a:xfrm>
              <a:off x="569105" y="5844872"/>
              <a:ext cx="3494895" cy="18000"/>
            </a:xfrm>
            <a:prstGeom prst="rect">
              <a:avLst/>
            </a:prstGeom>
            <a:solidFill>
              <a:srgbClr val="587579"/>
            </a:solidFill>
            <a:ln>
              <a:noFill/>
            </a:ln>
          </p:spPr>
          <p: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kumimoji="0" lang="es-ES" sz="1400" b="0" i="0" u="none" strike="noStrike" kern="0" cap="none" spc="0" normalizeH="0" baseline="0" noProof="0">
                <a:ln>
                  <a:noFill/>
                </a:ln>
                <a:solidFill>
                  <a:srgbClr val="000000"/>
                </a:solidFill>
                <a:effectLst/>
                <a:uLnTx/>
                <a:uFillTx/>
                <a:latin typeface="Arial"/>
                <a:cs typeface="Arial"/>
                <a:sym typeface="Arial"/>
              </a:endParaRPr>
            </a:p>
          </p:txBody>
        </p:sp>
      </p:grpSp>
      <p:pic>
        <p:nvPicPr>
          <p:cNvPr id="6" name="Graphic 18">
            <a:extLst>
              <a:ext uri="{FF2B5EF4-FFF2-40B4-BE49-F238E27FC236}">
                <a16:creationId xmlns:a16="http://schemas.microsoft.com/office/drawing/2014/main" id="{4FE4953A-F1A8-626E-8594-80C1B540841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77501" y="3695435"/>
            <a:ext cx="1609919" cy="733914"/>
          </a:xfrm>
          <a:prstGeom prst="rect">
            <a:avLst/>
          </a:prstGeom>
        </p:spPr>
      </p:pic>
      <p:pic>
        <p:nvPicPr>
          <p:cNvPr id="7" name="Graphic 18">
            <a:extLst>
              <a:ext uri="{FF2B5EF4-FFF2-40B4-BE49-F238E27FC236}">
                <a16:creationId xmlns:a16="http://schemas.microsoft.com/office/drawing/2014/main" id="{147A663C-8924-E376-3E18-32678645562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5800" y="2751446"/>
            <a:ext cx="1222699" cy="733914"/>
          </a:xfrm>
          <a:prstGeom prst="rect">
            <a:avLst/>
          </a:prstGeom>
        </p:spPr>
      </p:pic>
      <p:pic>
        <p:nvPicPr>
          <p:cNvPr id="8" name="Graphic 18">
            <a:extLst>
              <a:ext uri="{FF2B5EF4-FFF2-40B4-BE49-F238E27FC236}">
                <a16:creationId xmlns:a16="http://schemas.microsoft.com/office/drawing/2014/main" id="{E6E1ECD1-2BD1-306E-83F0-D6E191DAA94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795520" y="2054756"/>
            <a:ext cx="1222699" cy="656293"/>
          </a:xfrm>
          <a:prstGeom prst="rect">
            <a:avLst/>
          </a:prstGeom>
        </p:spPr>
      </p:pic>
      <p:pic>
        <p:nvPicPr>
          <p:cNvPr id="9" name="Graphic 18">
            <a:extLst>
              <a:ext uri="{FF2B5EF4-FFF2-40B4-BE49-F238E27FC236}">
                <a16:creationId xmlns:a16="http://schemas.microsoft.com/office/drawing/2014/main" id="{E6173D1A-8594-8F5C-BFBB-C5A28802AD7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797212" y="2269440"/>
            <a:ext cx="1222699" cy="733914"/>
          </a:xfrm>
          <a:prstGeom prst="rect">
            <a:avLst/>
          </a:prstGeom>
        </p:spPr>
      </p:pic>
    </p:spTree>
    <p:extLst>
      <p:ext uri="{BB962C8B-B14F-4D97-AF65-F5344CB8AC3E}">
        <p14:creationId xmlns:p14="http://schemas.microsoft.com/office/powerpoint/2010/main" val="37836966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367" name="Picture 14" descr="Imagen generada"/>
          <p:cNvPicPr/>
          <p:nvPr/>
        </p:nvPicPr>
        <p:blipFill>
          <a:blip r:embed="rId3"/>
          <a:stretch/>
        </p:blipFill>
        <p:spPr>
          <a:xfrm>
            <a:off x="9317160" y="3905280"/>
            <a:ext cx="2591640" cy="2591640"/>
          </a:xfrm>
          <a:prstGeom prst="rect">
            <a:avLst/>
          </a:prstGeom>
          <a:ln w="19080">
            <a:noFill/>
          </a:ln>
        </p:spPr>
      </p:pic>
      <p:pic>
        <p:nvPicPr>
          <p:cNvPr id="368" name="Imagen 22" descr="Logotipo, nombre de la empresa&#10;&#10;El contenido generado por IA puede ser incorrecto."/>
          <p:cNvPicPr/>
          <p:nvPr/>
        </p:nvPicPr>
        <p:blipFill>
          <a:blip r:embed="rId4"/>
          <a:srcRect t="14908" b="45466"/>
          <a:stretch/>
        </p:blipFill>
        <p:spPr>
          <a:xfrm>
            <a:off x="6958080" y="3843720"/>
            <a:ext cx="2026440" cy="803160"/>
          </a:xfrm>
          <a:prstGeom prst="rect">
            <a:avLst/>
          </a:prstGeom>
          <a:ln w="19080">
            <a:noFill/>
          </a:ln>
        </p:spPr>
      </p:pic>
      <p:sp>
        <p:nvSpPr>
          <p:cNvPr id="369" name="TextBox 7"/>
          <p:cNvSpPr txBox="1"/>
          <p:nvPr/>
        </p:nvSpPr>
        <p:spPr>
          <a:xfrm>
            <a:off x="152688" y="828423"/>
            <a:ext cx="11247120" cy="777240"/>
          </a:xfrm>
          <a:prstGeom prst="rect">
            <a:avLst/>
          </a:prstGeom>
          <a:noFill/>
          <a:ln w="0">
            <a:noFill/>
          </a:ln>
        </p:spPr>
        <p:txBody>
          <a:bodyPr lIns="45720" tIns="27432" rIns="91440" bIns="45720" anchor="t">
            <a:noAutofit/>
          </a:bodyPr>
          <a:lstStyle/>
          <a:p>
            <a:r>
              <a:rPr lang="es-ES" sz="4000" spc="-151">
                <a:solidFill>
                  <a:srgbClr val="5A757A"/>
                </a:solidFill>
                <a:latin typeface="Raleway Medium"/>
              </a:rPr>
              <a:t>Nuestros </a:t>
            </a:r>
            <a:r>
              <a:rPr lang="es-ES" sz="4000" b="1" i="1" spc="-151" err="1">
                <a:solidFill>
                  <a:srgbClr val="5A757A"/>
                </a:solidFill>
                <a:latin typeface="Raleway Medium"/>
              </a:rPr>
              <a:t>Partners</a:t>
            </a:r>
            <a:endParaRPr lang="es-ES" b="1" i="1" err="1"/>
          </a:p>
        </p:txBody>
      </p:sp>
      <p:sp>
        <p:nvSpPr>
          <p:cNvPr id="370" name="TextBox 9"/>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Raleway Light"/>
              </a:rPr>
              <a:t>2026</a:t>
            </a:r>
            <a:endParaRPr lang="en-US" sz="1000" b="0" strike="noStrike" spc="-1">
              <a:solidFill>
                <a:srgbClr val="000000"/>
              </a:solidFill>
              <a:latin typeface="Arial"/>
            </a:endParaRPr>
          </a:p>
        </p:txBody>
      </p:sp>
      <p:pic>
        <p:nvPicPr>
          <p:cNvPr id="371" name="Graphic 11"/>
          <p:cNvPicPr/>
          <p:nvPr/>
        </p:nvPicPr>
        <p:blipFill>
          <a:blip>
            <a:extLst>
              <a:ext uri="{96DAC541-7B7A-43D3-8B79-37D633B846F1}">
                <asvg:svgBlip xmlns:asvg="http://schemas.microsoft.com/office/drawing/2016/SVG/main" r:embed="rId5"/>
              </a:ext>
            </a:extLst>
          </a:blip>
          <a:stretch/>
        </p:blipFill>
        <p:spPr>
          <a:xfrm>
            <a:off x="126360" y="-18360"/>
            <a:ext cx="885600" cy="239040"/>
          </a:xfrm>
          <a:prstGeom prst="rect">
            <a:avLst/>
          </a:prstGeom>
          <a:ln w="19080">
            <a:noFill/>
          </a:ln>
        </p:spPr>
      </p:pic>
      <p:cxnSp>
        <p:nvCxnSpPr>
          <p:cNvPr id="372" name="Straight Connector 12"/>
          <p:cNvCxnSpPr/>
          <p:nvPr/>
        </p:nvCxnSpPr>
        <p:spPr>
          <a:xfrm>
            <a:off x="0" y="190440"/>
            <a:ext cx="12279600" cy="360"/>
          </a:xfrm>
          <a:prstGeom prst="straightConnector1">
            <a:avLst/>
          </a:prstGeom>
          <a:ln w="19080">
            <a:solidFill>
              <a:srgbClr val="202031"/>
            </a:solidFill>
            <a:miter/>
          </a:ln>
        </p:spPr>
      </p:cxnSp>
      <p:sp>
        <p:nvSpPr>
          <p:cNvPr id="373" name="TextBox 2"/>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TESSERA GROUP</a:t>
            </a:r>
            <a:endParaRPr lang="en-US" sz="1000" b="0" strike="noStrike" spc="-1">
              <a:solidFill>
                <a:srgbClr val="000000"/>
              </a:solidFill>
              <a:latin typeface="Arial"/>
            </a:endParaRPr>
          </a:p>
        </p:txBody>
      </p:sp>
      <p:pic>
        <p:nvPicPr>
          <p:cNvPr id="374" name="Picture 2" descr="Accede a la sala de prensa de Agroptimum - Agroptimum"/>
          <p:cNvPicPr/>
          <p:nvPr/>
        </p:nvPicPr>
        <p:blipFill>
          <a:blip r:embed="rId6">
            <a:grayscl/>
          </a:blip>
          <a:stretch/>
        </p:blipFill>
        <p:spPr>
          <a:xfrm>
            <a:off x="4433040" y="3020040"/>
            <a:ext cx="2370960" cy="798480"/>
          </a:xfrm>
          <a:prstGeom prst="rect">
            <a:avLst/>
          </a:prstGeom>
          <a:ln w="19080">
            <a:noFill/>
          </a:ln>
        </p:spPr>
      </p:pic>
      <p:pic>
        <p:nvPicPr>
          <p:cNvPr id="375" name="Picture 4" descr="CATALOGO - CONSERVAS HUERTAS"/>
          <p:cNvPicPr/>
          <p:nvPr/>
        </p:nvPicPr>
        <p:blipFill>
          <a:blip r:embed="rId7">
            <a:grayscl/>
          </a:blip>
          <a:srcRect l="24631" t="23095" r="24719" b="22504"/>
          <a:stretch/>
        </p:blipFill>
        <p:spPr>
          <a:xfrm>
            <a:off x="2783160" y="3205440"/>
            <a:ext cx="1250640" cy="1343520"/>
          </a:xfrm>
          <a:prstGeom prst="rect">
            <a:avLst/>
          </a:prstGeom>
          <a:ln w="19080">
            <a:noFill/>
          </a:ln>
        </p:spPr>
      </p:pic>
      <p:pic>
        <p:nvPicPr>
          <p:cNvPr id="376" name="Picture 8" descr="Genetracer Biotech - lanzadera"/>
          <p:cNvPicPr/>
          <p:nvPr/>
        </p:nvPicPr>
        <p:blipFill>
          <a:blip r:embed="rId8">
            <a:grayscl/>
          </a:blip>
          <a:srcRect t="35469" b="34973"/>
          <a:stretch/>
        </p:blipFill>
        <p:spPr>
          <a:xfrm>
            <a:off x="7037640" y="2130480"/>
            <a:ext cx="2061000" cy="609480"/>
          </a:xfrm>
          <a:prstGeom prst="rect">
            <a:avLst/>
          </a:prstGeom>
          <a:ln w="19080">
            <a:noFill/>
          </a:ln>
        </p:spPr>
      </p:pic>
      <p:pic>
        <p:nvPicPr>
          <p:cNvPr id="377" name="Picture 6"/>
          <p:cNvPicPr/>
          <p:nvPr/>
        </p:nvPicPr>
        <p:blipFill>
          <a:blip r:embed="rId9">
            <a:grayscl/>
          </a:blip>
          <a:stretch/>
        </p:blipFill>
        <p:spPr>
          <a:xfrm>
            <a:off x="190440" y="2223360"/>
            <a:ext cx="2037600" cy="632880"/>
          </a:xfrm>
          <a:prstGeom prst="rect">
            <a:avLst/>
          </a:prstGeom>
          <a:ln w="19080">
            <a:noFill/>
          </a:ln>
        </p:spPr>
      </p:pic>
      <p:pic>
        <p:nvPicPr>
          <p:cNvPr id="378" name="Picture 4" descr="Acerca de Cosori | Cosori"/>
          <p:cNvPicPr/>
          <p:nvPr/>
        </p:nvPicPr>
        <p:blipFill>
          <a:blip r:embed="rId10">
            <a:grayscl/>
          </a:blip>
          <a:srcRect l="25314" t="32768" r="22801" b="27238"/>
          <a:stretch/>
        </p:blipFill>
        <p:spPr>
          <a:xfrm>
            <a:off x="2625480" y="5026680"/>
            <a:ext cx="2220480" cy="1219320"/>
          </a:xfrm>
          <a:prstGeom prst="rect">
            <a:avLst/>
          </a:prstGeom>
          <a:ln w="19080">
            <a:noFill/>
          </a:ln>
        </p:spPr>
      </p:pic>
      <p:pic>
        <p:nvPicPr>
          <p:cNvPr id="379" name="Google Shape;199;p9"/>
          <p:cNvPicPr/>
          <p:nvPr/>
        </p:nvPicPr>
        <p:blipFill>
          <a:blip r:embed="rId11">
            <a:grayscl/>
          </a:blip>
          <a:stretch/>
        </p:blipFill>
        <p:spPr>
          <a:xfrm>
            <a:off x="8788320" y="3147120"/>
            <a:ext cx="3213000" cy="546120"/>
          </a:xfrm>
          <a:prstGeom prst="rect">
            <a:avLst/>
          </a:prstGeom>
          <a:ln w="19080">
            <a:noFill/>
          </a:ln>
        </p:spPr>
      </p:pic>
      <p:pic>
        <p:nvPicPr>
          <p:cNvPr id="380" name="Picture 2" descr="Logo auren transparente con claim_VECTORIZADO para imprenta - Cámara  Valladolid"/>
          <p:cNvPicPr/>
          <p:nvPr/>
        </p:nvPicPr>
        <p:blipFill>
          <a:blip r:embed="rId12">
            <a:grayscl/>
          </a:blip>
          <a:stretch/>
        </p:blipFill>
        <p:spPr>
          <a:xfrm>
            <a:off x="2735280" y="2095920"/>
            <a:ext cx="1697760" cy="847440"/>
          </a:xfrm>
          <a:prstGeom prst="rect">
            <a:avLst/>
          </a:prstGeom>
          <a:ln w="19080">
            <a:noFill/>
          </a:ln>
        </p:spPr>
      </p:pic>
      <p:pic>
        <p:nvPicPr>
          <p:cNvPr id="381" name="Picture 6" descr="Imagen generada"/>
          <p:cNvPicPr/>
          <p:nvPr/>
        </p:nvPicPr>
        <p:blipFill>
          <a:blip r:embed="rId13"/>
          <a:stretch/>
        </p:blipFill>
        <p:spPr>
          <a:xfrm>
            <a:off x="190440" y="4751280"/>
            <a:ext cx="1847880" cy="1847880"/>
          </a:xfrm>
          <a:prstGeom prst="rect">
            <a:avLst/>
          </a:prstGeom>
          <a:ln w="19080">
            <a:noFill/>
          </a:ln>
        </p:spPr>
      </p:pic>
      <p:pic>
        <p:nvPicPr>
          <p:cNvPr id="382" name="Picture 10" descr="Imagen generada"/>
          <p:cNvPicPr/>
          <p:nvPr/>
        </p:nvPicPr>
        <p:blipFill>
          <a:blip r:embed="rId14"/>
          <a:srcRect t="32101" b="36559"/>
          <a:stretch/>
        </p:blipFill>
        <p:spPr>
          <a:xfrm>
            <a:off x="203760" y="3147120"/>
            <a:ext cx="2019240" cy="632880"/>
          </a:xfrm>
          <a:prstGeom prst="rect">
            <a:avLst/>
          </a:prstGeom>
          <a:ln w="19080">
            <a:noFill/>
          </a:ln>
        </p:spPr>
      </p:pic>
      <p:pic>
        <p:nvPicPr>
          <p:cNvPr id="383" name="Picture 12"/>
          <p:cNvPicPr/>
          <p:nvPr/>
        </p:nvPicPr>
        <p:blipFill>
          <a:blip r:embed="rId15"/>
          <a:srcRect l="-2779" t="32363" r="2779" b="32363"/>
          <a:stretch/>
        </p:blipFill>
        <p:spPr>
          <a:xfrm>
            <a:off x="5086440" y="5603400"/>
            <a:ext cx="1657440" cy="584640"/>
          </a:xfrm>
          <a:prstGeom prst="rect">
            <a:avLst/>
          </a:prstGeom>
          <a:ln w="19080">
            <a:noFill/>
          </a:ln>
        </p:spPr>
      </p:pic>
      <p:pic>
        <p:nvPicPr>
          <p:cNvPr id="384" name="Picture 4" descr="Harbiz - El Referente"/>
          <p:cNvPicPr/>
          <p:nvPr/>
        </p:nvPicPr>
        <p:blipFill>
          <a:blip r:embed="rId16">
            <a:grayscl/>
          </a:blip>
          <a:stretch/>
        </p:blipFill>
        <p:spPr>
          <a:xfrm>
            <a:off x="5056200" y="3907800"/>
            <a:ext cx="1439280" cy="803160"/>
          </a:xfrm>
          <a:prstGeom prst="rect">
            <a:avLst/>
          </a:prstGeom>
          <a:ln w="19080">
            <a:noFill/>
          </a:ln>
        </p:spPr>
      </p:pic>
      <p:pic>
        <p:nvPicPr>
          <p:cNvPr id="385" name="Imagen 3" descr="Seedtag optimiza sus procesos con Google Cloud. | Devoteam"/>
          <p:cNvPicPr/>
          <p:nvPr/>
        </p:nvPicPr>
        <p:blipFill>
          <a:blip r:embed="rId17"/>
          <a:stretch/>
        </p:blipFill>
        <p:spPr>
          <a:xfrm>
            <a:off x="9417240" y="1857600"/>
            <a:ext cx="2584080" cy="1122840"/>
          </a:xfrm>
          <a:prstGeom prst="rect">
            <a:avLst/>
          </a:prstGeom>
          <a:ln w="19080">
            <a:noFill/>
          </a:ln>
        </p:spPr>
      </p:pic>
      <p:pic>
        <p:nvPicPr>
          <p:cNvPr id="386" name="Picture 2" descr="ullastres-1 - Gestalia | Enterprise Business Solutions"/>
          <p:cNvPicPr/>
          <p:nvPr/>
        </p:nvPicPr>
        <p:blipFill>
          <a:blip r:embed="rId18"/>
          <a:stretch/>
        </p:blipFill>
        <p:spPr>
          <a:xfrm>
            <a:off x="9699120" y="5295240"/>
            <a:ext cx="1802160" cy="1201320"/>
          </a:xfrm>
          <a:prstGeom prst="rect">
            <a:avLst/>
          </a:prstGeom>
          <a:ln w="19080">
            <a:noFill/>
          </a:ln>
        </p:spPr>
      </p:pic>
      <p:pic>
        <p:nvPicPr>
          <p:cNvPr id="387" name="Picture 8" descr="Eiffage Infraestructuras, innovaciones al servicio de la carretera del  futuro – Jornadas Nacionales de Seguridad Vial 2022"/>
          <p:cNvPicPr/>
          <p:nvPr/>
        </p:nvPicPr>
        <p:blipFill>
          <a:blip r:embed="rId19"/>
          <a:stretch/>
        </p:blipFill>
        <p:spPr>
          <a:xfrm>
            <a:off x="9374400" y="3852000"/>
            <a:ext cx="2126880" cy="846360"/>
          </a:xfrm>
          <a:prstGeom prst="rect">
            <a:avLst/>
          </a:prstGeom>
          <a:ln w="19080">
            <a:noFill/>
          </a:ln>
        </p:spPr>
      </p:pic>
      <p:pic>
        <p:nvPicPr>
          <p:cNvPr id="388" name="Picture 16"/>
          <p:cNvPicPr/>
          <p:nvPr/>
        </p:nvPicPr>
        <p:blipFill>
          <a:blip r:embed="rId20"/>
          <a:stretch/>
        </p:blipFill>
        <p:spPr>
          <a:xfrm>
            <a:off x="7037640" y="3061800"/>
            <a:ext cx="1760400" cy="591480"/>
          </a:xfrm>
          <a:prstGeom prst="rect">
            <a:avLst/>
          </a:prstGeom>
          <a:ln w="19080">
            <a:noFill/>
          </a:ln>
        </p:spPr>
      </p:pic>
      <p:pic>
        <p:nvPicPr>
          <p:cNvPr id="389" name="Picture 18" descr="Programmatic Video Advertising | JWX"/>
          <p:cNvPicPr/>
          <p:nvPr/>
        </p:nvPicPr>
        <p:blipFill>
          <a:blip r:embed="rId21"/>
          <a:stretch/>
        </p:blipFill>
        <p:spPr>
          <a:xfrm>
            <a:off x="500040" y="4196880"/>
            <a:ext cx="1295640" cy="704160"/>
          </a:xfrm>
          <a:prstGeom prst="rect">
            <a:avLst/>
          </a:prstGeom>
          <a:ln w="19080">
            <a:noFill/>
          </a:ln>
        </p:spPr>
      </p:pic>
      <p:pic>
        <p:nvPicPr>
          <p:cNvPr id="390" name="Imagen 25" descr="Logotipo, nombre de la empresa&#10;&#10;El contenido generado por IA puede ser incorrecto."/>
          <p:cNvPicPr/>
          <p:nvPr/>
        </p:nvPicPr>
        <p:blipFill>
          <a:blip r:embed="rId4"/>
          <a:srcRect t="60263" b="20478"/>
          <a:stretch/>
        </p:blipFill>
        <p:spPr>
          <a:xfrm>
            <a:off x="6698520" y="5603400"/>
            <a:ext cx="3035520" cy="584640"/>
          </a:xfrm>
          <a:prstGeom prst="rect">
            <a:avLst/>
          </a:prstGeom>
          <a:ln w="19080">
            <a:noFill/>
          </a:ln>
        </p:spPr>
      </p:pic>
      <p:pic>
        <p:nvPicPr>
          <p:cNvPr id="391" name="Picture 20" descr="JL Casajuana Abogados | Desde 1976 creciendo en derecho"/>
          <p:cNvPicPr/>
          <p:nvPr/>
        </p:nvPicPr>
        <p:blipFill>
          <a:blip r:embed="rId22"/>
          <a:stretch/>
        </p:blipFill>
        <p:spPr>
          <a:xfrm>
            <a:off x="7258320" y="4847400"/>
            <a:ext cx="1916280" cy="584640"/>
          </a:xfrm>
          <a:prstGeom prst="rect">
            <a:avLst/>
          </a:prstGeom>
          <a:ln w="19080">
            <a:noFill/>
          </a:ln>
        </p:spPr>
      </p:pic>
      <p:pic>
        <p:nvPicPr>
          <p:cNvPr id="392" name="Picture 22" descr="Turning ads into Answers"/>
          <p:cNvPicPr/>
          <p:nvPr/>
        </p:nvPicPr>
        <p:blipFill>
          <a:blip r:embed="rId23"/>
          <a:stretch/>
        </p:blipFill>
        <p:spPr>
          <a:xfrm>
            <a:off x="5153040" y="5037480"/>
            <a:ext cx="1356120" cy="303120"/>
          </a:xfrm>
          <a:prstGeom prst="rect">
            <a:avLst/>
          </a:prstGeom>
          <a:ln w="19080">
            <a:noFill/>
          </a:ln>
        </p:spPr>
      </p:pic>
      <p:pic>
        <p:nvPicPr>
          <p:cNvPr id="393" name="Imagen 1" descr="Corpay | The Payments Association"/>
          <p:cNvPicPr/>
          <p:nvPr/>
        </p:nvPicPr>
        <p:blipFill>
          <a:blip r:embed="rId24"/>
          <a:stretch/>
        </p:blipFill>
        <p:spPr>
          <a:xfrm>
            <a:off x="4939920" y="1473840"/>
            <a:ext cx="2014920" cy="2126520"/>
          </a:xfrm>
          <a:prstGeom prst="rect">
            <a:avLst/>
          </a:prstGeom>
          <a:ln w="19080">
            <a:noFill/>
          </a:ln>
        </p:spPr>
      </p:pic>
      <p:sp>
        <p:nvSpPr>
          <p:cNvPr id="31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08</a:t>
            </a:r>
            <a:endParaRPr lang="en-US" sz="4000" b="0" strike="noStrike" spc="-1">
              <a:solidFill>
                <a:srgbClr val="000000"/>
              </a:solidFill>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0E7DE"/>
        </a:solidFill>
        <a:effectLst/>
      </p:bgPr>
    </p:bg>
    <p:spTree>
      <p:nvGrpSpPr>
        <p:cNvPr id="1" name=""/>
        <p:cNvGrpSpPr/>
        <p:nvPr/>
      </p:nvGrpSpPr>
      <p:grpSpPr>
        <a:xfrm>
          <a:off x="0" y="0"/>
          <a:ext cx="0" cy="0"/>
          <a:chOff x="0" y="0"/>
          <a:chExt cx="0" cy="0"/>
        </a:xfrm>
      </p:grpSpPr>
      <p:pic>
        <p:nvPicPr>
          <p:cNvPr id="276" name="Image 0" descr="preencoded.png"/>
          <p:cNvPicPr/>
          <p:nvPr/>
        </p:nvPicPr>
        <p:blipFill>
          <a:blip r:embed="rId2"/>
          <a:stretch/>
        </p:blipFill>
        <p:spPr>
          <a:xfrm>
            <a:off x="128160" y="-18360"/>
            <a:ext cx="887040" cy="237600"/>
          </a:xfrm>
          <a:prstGeom prst="rect">
            <a:avLst/>
          </a:prstGeom>
          <a:ln w="19080">
            <a:noFill/>
          </a:ln>
        </p:spPr>
      </p:pic>
      <p:cxnSp>
        <p:nvCxnSpPr>
          <p:cNvPr id="321" name="Straight Connector 5"/>
          <p:cNvCxnSpPr/>
          <p:nvPr/>
        </p:nvCxnSpPr>
        <p:spPr>
          <a:xfrm>
            <a:off x="0" y="190440"/>
            <a:ext cx="12279600" cy="360"/>
          </a:xfrm>
          <a:prstGeom prst="straightConnector1">
            <a:avLst/>
          </a:prstGeom>
          <a:ln w="19080">
            <a:solidFill>
              <a:srgbClr val="202031"/>
            </a:solidFill>
            <a:miter/>
          </a:ln>
        </p:spPr>
      </p:cxnSp>
      <p:sp>
        <p:nvSpPr>
          <p:cNvPr id="319" name="TextBox 13"/>
          <p:cNvSpPr txBox="1"/>
          <p:nvPr/>
        </p:nvSpPr>
        <p:spPr>
          <a:xfrm>
            <a:off x="2392920" y="-23760"/>
            <a:ext cx="182088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TESSERA GROUP</a:t>
            </a:r>
            <a:endParaRPr lang="en-US" sz="1000" b="0" strike="noStrike" spc="-1">
              <a:solidFill>
                <a:srgbClr val="000000"/>
              </a:solidFill>
              <a:latin typeface="Arial"/>
            </a:endParaRPr>
          </a:p>
        </p:txBody>
      </p:sp>
      <p:sp>
        <p:nvSpPr>
          <p:cNvPr id="318" name="TextBox 15"/>
          <p:cNvSpPr txBox="1"/>
          <p:nvPr/>
        </p:nvSpPr>
        <p:spPr>
          <a:xfrm>
            <a:off x="11362320" y="-33120"/>
            <a:ext cx="639360" cy="246240"/>
          </a:xfrm>
          <a:prstGeom prst="rect">
            <a:avLst/>
          </a:prstGeom>
          <a:noFill/>
          <a:ln w="0">
            <a:noFill/>
          </a:ln>
        </p:spPr>
        <p:txBody>
          <a:bodyPr anchor="t">
            <a:noAutofit/>
          </a:bodyPr>
          <a:lstStyle/>
          <a:p>
            <a:pPr algn="r">
              <a:lnSpc>
                <a:spcPct val="100000"/>
              </a:lnSpc>
            </a:pPr>
            <a:r>
              <a:rPr lang="es-ES" sz="1000" b="0" strike="noStrike" spc="-1">
                <a:solidFill>
                  <a:srgbClr val="202031"/>
                </a:solidFill>
                <a:latin typeface="Manrope"/>
              </a:rPr>
              <a:t>2026</a:t>
            </a:r>
            <a:endParaRPr lang="en-US" sz="1000" b="0" strike="noStrike" spc="-1">
              <a:solidFill>
                <a:srgbClr val="000000"/>
              </a:solidFill>
              <a:latin typeface="Arial"/>
            </a:endParaRPr>
          </a:p>
        </p:txBody>
      </p:sp>
      <p:sp>
        <p:nvSpPr>
          <p:cNvPr id="320" name="TextBox 19"/>
          <p:cNvSpPr txBox="1"/>
          <p:nvPr/>
        </p:nvSpPr>
        <p:spPr>
          <a:xfrm>
            <a:off x="8281800" y="-23760"/>
            <a:ext cx="3178800" cy="246240"/>
          </a:xfrm>
          <a:prstGeom prst="rect">
            <a:avLst/>
          </a:prstGeom>
          <a:noFill/>
          <a:ln w="0">
            <a:noFill/>
          </a:ln>
        </p:spPr>
        <p:txBody>
          <a:bodyPr anchor="t">
            <a:noAutofit/>
          </a:bodyPr>
          <a:lstStyle/>
          <a:p>
            <a:pPr>
              <a:lnSpc>
                <a:spcPct val="100000"/>
              </a:lnSpc>
            </a:pPr>
            <a:r>
              <a:rPr lang="es-ES" sz="1000" b="0" strike="noStrike" spc="-1">
                <a:solidFill>
                  <a:srgbClr val="202031"/>
                </a:solidFill>
                <a:latin typeface="Raleway Light"/>
              </a:rPr>
              <a:t>CONTACTO</a:t>
            </a:r>
            <a:endParaRPr lang="en-US" sz="1000" b="0" strike="noStrike" spc="-1">
              <a:solidFill>
                <a:srgbClr val="000000"/>
              </a:solidFill>
              <a:latin typeface="Arial"/>
            </a:endParaRPr>
          </a:p>
        </p:txBody>
      </p:sp>
      <p:sp>
        <p:nvSpPr>
          <p:cNvPr id="322" name="TextBox 321"/>
          <p:cNvSpPr txBox="1"/>
          <p:nvPr/>
        </p:nvSpPr>
        <p:spPr>
          <a:xfrm>
            <a:off x="411480" y="746298"/>
            <a:ext cx="11247120" cy="794064"/>
          </a:xfrm>
          <a:prstGeom prst="rect">
            <a:avLst/>
          </a:prstGeom>
          <a:noFill/>
        </p:spPr>
        <p:txBody>
          <a:bodyPr wrap="square" lIns="45720" tIns="27432" rIns="45720" bIns="27432" anchor="t">
            <a:spAutoFit/>
          </a:bodyPr>
          <a:lstStyle/>
          <a:p>
            <a:r>
              <a:rPr sz="4800" spc="-151">
                <a:solidFill>
                  <a:srgbClr val="202031"/>
                </a:solidFill>
                <a:latin typeface="Raleway Medium"/>
              </a:rPr>
              <a:t>Contacta con nosotros</a:t>
            </a:r>
          </a:p>
        </p:txBody>
      </p:sp>
      <p:sp>
        <p:nvSpPr>
          <p:cNvPr id="323" name="TextBox 322"/>
          <p:cNvSpPr txBox="1"/>
          <p:nvPr/>
        </p:nvSpPr>
        <p:spPr>
          <a:xfrm>
            <a:off x="548640" y="1920240"/>
            <a:ext cx="5303520" cy="320040"/>
          </a:xfrm>
          <a:prstGeom prst="rect">
            <a:avLst/>
          </a:prstGeom>
          <a:noFill/>
        </p:spPr>
        <p:txBody>
          <a:bodyPr wrap="square" lIns="45720" tIns="27432" rIns="45720" bIns="27432" anchor="t">
            <a:spAutoFit/>
          </a:bodyPr>
          <a:lstStyle/>
          <a:p>
            <a:pPr algn="l"/>
            <a:r>
              <a:rPr sz="1300" b="0">
                <a:solidFill>
                  <a:srgbClr val="202031"/>
                </a:solidFill>
                <a:latin typeface="Raleway Black"/>
              </a:rPr>
              <a:t>MANUEL GARCÍA PINA</a:t>
            </a:r>
          </a:p>
        </p:txBody>
      </p:sp>
      <p:sp>
        <p:nvSpPr>
          <p:cNvPr id="324" name="TextBox 323"/>
          <p:cNvSpPr txBox="1"/>
          <p:nvPr/>
        </p:nvSpPr>
        <p:spPr>
          <a:xfrm>
            <a:off x="548640" y="2212848"/>
            <a:ext cx="5303520" cy="274320"/>
          </a:xfrm>
          <a:prstGeom prst="rect">
            <a:avLst/>
          </a:prstGeom>
          <a:noFill/>
        </p:spPr>
        <p:txBody>
          <a:bodyPr wrap="square" lIns="45720" tIns="27432" rIns="45720" bIns="27432" anchor="t">
            <a:spAutoFit/>
          </a:bodyPr>
          <a:lstStyle/>
          <a:p>
            <a:pPr algn="l"/>
            <a:r>
              <a:rPr sz="1100" b="0">
                <a:solidFill>
                  <a:srgbClr val="516B6C"/>
                </a:solidFill>
                <a:latin typeface="Raleway"/>
              </a:rPr>
              <a:t>Partner · Finance</a:t>
            </a:r>
          </a:p>
        </p:txBody>
      </p:sp>
      <p:sp>
        <p:nvSpPr>
          <p:cNvPr id="325" name="TextBox 324"/>
          <p:cNvSpPr txBox="1"/>
          <p:nvPr/>
        </p:nvSpPr>
        <p:spPr>
          <a:xfrm>
            <a:off x="548640" y="2514600"/>
            <a:ext cx="5303520" cy="640080"/>
          </a:xfrm>
          <a:prstGeom prst="rect">
            <a:avLst/>
          </a:prstGeom>
          <a:noFill/>
        </p:spPr>
        <p:txBody>
          <a:bodyPr wrap="square" lIns="45720" tIns="27432" rIns="45720" bIns="27432" anchor="t">
            <a:spAutoFit/>
          </a:bodyPr>
          <a:lstStyle/>
          <a:p>
            <a:pPr algn="l"/>
            <a:r>
              <a:rPr sz="1200" b="0">
                <a:solidFill>
                  <a:srgbClr val="202031"/>
                </a:solidFill>
                <a:latin typeface="Raleway Light"/>
              </a:rPr>
              <a:t>+34 669 01 49 58</a:t>
            </a:r>
          </a:p>
          <a:p>
            <a:pPr algn="l"/>
            <a:r>
              <a:rPr sz="1200" b="0">
                <a:solidFill>
                  <a:srgbClr val="202031"/>
                </a:solidFill>
                <a:latin typeface="Raleway Light"/>
              </a:rPr>
              <a:t>manuel.garcia@tesseraservices.com</a:t>
            </a:r>
          </a:p>
        </p:txBody>
      </p:sp>
      <p:sp>
        <p:nvSpPr>
          <p:cNvPr id="326" name="TextBox 325"/>
          <p:cNvSpPr txBox="1"/>
          <p:nvPr/>
        </p:nvSpPr>
        <p:spPr>
          <a:xfrm>
            <a:off x="6217920" y="1920240"/>
            <a:ext cx="5303520" cy="320040"/>
          </a:xfrm>
          <a:prstGeom prst="rect">
            <a:avLst/>
          </a:prstGeom>
          <a:noFill/>
        </p:spPr>
        <p:txBody>
          <a:bodyPr wrap="square" lIns="45720" tIns="27432" rIns="45720" bIns="27432" anchor="t">
            <a:spAutoFit/>
          </a:bodyPr>
          <a:lstStyle/>
          <a:p>
            <a:pPr algn="l"/>
            <a:r>
              <a:rPr sz="1300" b="0">
                <a:solidFill>
                  <a:srgbClr val="202031"/>
                </a:solidFill>
                <a:latin typeface="Raleway Black"/>
              </a:rPr>
              <a:t>EDUARDO SERRANO CARRETERO</a:t>
            </a:r>
          </a:p>
        </p:txBody>
      </p:sp>
      <p:sp>
        <p:nvSpPr>
          <p:cNvPr id="327" name="TextBox 326"/>
          <p:cNvSpPr txBox="1"/>
          <p:nvPr/>
        </p:nvSpPr>
        <p:spPr>
          <a:xfrm>
            <a:off x="6217920" y="2212848"/>
            <a:ext cx="5303520" cy="274320"/>
          </a:xfrm>
          <a:prstGeom prst="rect">
            <a:avLst/>
          </a:prstGeom>
          <a:noFill/>
        </p:spPr>
        <p:txBody>
          <a:bodyPr wrap="square" lIns="45720" tIns="27432" rIns="45720" bIns="27432" anchor="t">
            <a:spAutoFit/>
          </a:bodyPr>
          <a:lstStyle/>
          <a:p>
            <a:pPr algn="l"/>
            <a:r>
              <a:rPr sz="1100" b="0">
                <a:solidFill>
                  <a:srgbClr val="516B6C"/>
                </a:solidFill>
                <a:latin typeface="Raleway"/>
              </a:rPr>
              <a:t>Partner · Finance</a:t>
            </a:r>
          </a:p>
        </p:txBody>
      </p:sp>
      <p:sp>
        <p:nvSpPr>
          <p:cNvPr id="328" name="TextBox 327"/>
          <p:cNvSpPr txBox="1"/>
          <p:nvPr/>
        </p:nvSpPr>
        <p:spPr>
          <a:xfrm>
            <a:off x="6217920" y="2514600"/>
            <a:ext cx="5303520" cy="640080"/>
          </a:xfrm>
          <a:prstGeom prst="rect">
            <a:avLst/>
          </a:prstGeom>
          <a:noFill/>
        </p:spPr>
        <p:txBody>
          <a:bodyPr wrap="square" lIns="45720" tIns="27432" rIns="45720" bIns="27432" anchor="t">
            <a:spAutoFit/>
          </a:bodyPr>
          <a:lstStyle/>
          <a:p>
            <a:pPr algn="l"/>
            <a:r>
              <a:rPr sz="1200" b="0">
                <a:solidFill>
                  <a:srgbClr val="202031"/>
                </a:solidFill>
                <a:latin typeface="Raleway Light"/>
              </a:rPr>
              <a:t>+34 619 51 11 55</a:t>
            </a:r>
          </a:p>
          <a:p>
            <a:pPr algn="l"/>
            <a:r>
              <a:rPr sz="1200" b="0">
                <a:solidFill>
                  <a:srgbClr val="202031"/>
                </a:solidFill>
                <a:latin typeface="Raleway Light"/>
              </a:rPr>
              <a:t>eduardo.serrano@tesseraservices.com</a:t>
            </a:r>
          </a:p>
        </p:txBody>
      </p:sp>
      <p:sp>
        <p:nvSpPr>
          <p:cNvPr id="329" name="TextBox 328"/>
          <p:cNvSpPr txBox="1"/>
          <p:nvPr/>
        </p:nvSpPr>
        <p:spPr>
          <a:xfrm>
            <a:off x="548640" y="3657600"/>
            <a:ext cx="5303520" cy="320040"/>
          </a:xfrm>
          <a:prstGeom prst="rect">
            <a:avLst/>
          </a:prstGeom>
          <a:noFill/>
        </p:spPr>
        <p:txBody>
          <a:bodyPr wrap="square" lIns="45720" tIns="27432" rIns="45720" bIns="27432" anchor="t">
            <a:spAutoFit/>
          </a:bodyPr>
          <a:lstStyle/>
          <a:p>
            <a:pPr algn="l"/>
            <a:r>
              <a:rPr sz="1300" b="0">
                <a:solidFill>
                  <a:srgbClr val="202031"/>
                </a:solidFill>
                <a:latin typeface="Raleway Black"/>
              </a:rPr>
              <a:t>MÓNICA MAYORAL</a:t>
            </a:r>
          </a:p>
        </p:txBody>
      </p:sp>
      <p:sp>
        <p:nvSpPr>
          <p:cNvPr id="330" name="TextBox 329"/>
          <p:cNvSpPr txBox="1"/>
          <p:nvPr/>
        </p:nvSpPr>
        <p:spPr>
          <a:xfrm>
            <a:off x="548640" y="3950208"/>
            <a:ext cx="5303520" cy="274320"/>
          </a:xfrm>
          <a:prstGeom prst="rect">
            <a:avLst/>
          </a:prstGeom>
          <a:noFill/>
        </p:spPr>
        <p:txBody>
          <a:bodyPr wrap="square" lIns="45720" tIns="27432" rIns="45720" bIns="27432" anchor="t">
            <a:spAutoFit/>
          </a:bodyPr>
          <a:lstStyle/>
          <a:p>
            <a:pPr algn="l"/>
            <a:r>
              <a:rPr sz="1100" b="0">
                <a:solidFill>
                  <a:srgbClr val="516B6C"/>
                </a:solidFill>
                <a:latin typeface="Raleway"/>
              </a:rPr>
              <a:t>Partner · Finance</a:t>
            </a:r>
          </a:p>
        </p:txBody>
      </p:sp>
      <p:sp>
        <p:nvSpPr>
          <p:cNvPr id="331" name="TextBox 330"/>
          <p:cNvSpPr txBox="1"/>
          <p:nvPr/>
        </p:nvSpPr>
        <p:spPr>
          <a:xfrm>
            <a:off x="548640" y="4251960"/>
            <a:ext cx="5303520" cy="640080"/>
          </a:xfrm>
          <a:prstGeom prst="rect">
            <a:avLst/>
          </a:prstGeom>
          <a:noFill/>
        </p:spPr>
        <p:txBody>
          <a:bodyPr wrap="square" lIns="45720" tIns="27432" rIns="45720" bIns="27432" anchor="t">
            <a:spAutoFit/>
          </a:bodyPr>
          <a:lstStyle/>
          <a:p>
            <a:pPr algn="l"/>
            <a:r>
              <a:rPr sz="1200" b="0">
                <a:solidFill>
                  <a:srgbClr val="202031"/>
                </a:solidFill>
                <a:latin typeface="Raleway Light"/>
              </a:rPr>
              <a:t>+34 696 39 38 49</a:t>
            </a:r>
          </a:p>
          <a:p>
            <a:pPr algn="l"/>
            <a:r>
              <a:rPr sz="1200" b="0">
                <a:solidFill>
                  <a:srgbClr val="202031"/>
                </a:solidFill>
                <a:latin typeface="Raleway Light"/>
              </a:rPr>
              <a:t>monica.mayoral@tesseraservices.com</a:t>
            </a:r>
          </a:p>
        </p:txBody>
      </p:sp>
      <p:sp>
        <p:nvSpPr>
          <p:cNvPr id="332" name="TextBox 331"/>
          <p:cNvSpPr txBox="1"/>
          <p:nvPr/>
        </p:nvSpPr>
        <p:spPr>
          <a:xfrm>
            <a:off x="6217920" y="3657600"/>
            <a:ext cx="5303520" cy="320040"/>
          </a:xfrm>
          <a:prstGeom prst="rect">
            <a:avLst/>
          </a:prstGeom>
          <a:noFill/>
        </p:spPr>
        <p:txBody>
          <a:bodyPr wrap="square" lIns="45720" tIns="27432" rIns="45720" bIns="27432" anchor="t">
            <a:spAutoFit/>
          </a:bodyPr>
          <a:lstStyle/>
          <a:p>
            <a:pPr algn="l"/>
            <a:r>
              <a:rPr sz="1300" b="0">
                <a:solidFill>
                  <a:srgbClr val="202031"/>
                </a:solidFill>
                <a:latin typeface="Raleway Black"/>
              </a:rPr>
              <a:t>EDWARD MANRIQUE</a:t>
            </a:r>
          </a:p>
        </p:txBody>
      </p:sp>
      <p:sp>
        <p:nvSpPr>
          <p:cNvPr id="333" name="TextBox 332"/>
          <p:cNvSpPr txBox="1"/>
          <p:nvPr/>
        </p:nvSpPr>
        <p:spPr>
          <a:xfrm>
            <a:off x="6217920" y="3950208"/>
            <a:ext cx="5303520" cy="274320"/>
          </a:xfrm>
          <a:prstGeom prst="rect">
            <a:avLst/>
          </a:prstGeom>
          <a:noFill/>
        </p:spPr>
        <p:txBody>
          <a:bodyPr wrap="square" lIns="45720" tIns="27432" rIns="45720" bIns="27432" anchor="t">
            <a:spAutoFit/>
          </a:bodyPr>
          <a:lstStyle/>
          <a:p>
            <a:pPr algn="l"/>
            <a:r>
              <a:rPr sz="1100" b="0">
                <a:solidFill>
                  <a:srgbClr val="516B6C"/>
                </a:solidFill>
                <a:latin typeface="Raleway"/>
              </a:rPr>
              <a:t>Head of Recruitment &amp; Talent Operations</a:t>
            </a:r>
          </a:p>
        </p:txBody>
      </p:sp>
      <p:sp>
        <p:nvSpPr>
          <p:cNvPr id="334" name="TextBox 333"/>
          <p:cNvSpPr txBox="1"/>
          <p:nvPr/>
        </p:nvSpPr>
        <p:spPr>
          <a:xfrm>
            <a:off x="6217920" y="4251960"/>
            <a:ext cx="5303520" cy="640080"/>
          </a:xfrm>
          <a:prstGeom prst="rect">
            <a:avLst/>
          </a:prstGeom>
          <a:noFill/>
        </p:spPr>
        <p:txBody>
          <a:bodyPr wrap="square" lIns="45720" tIns="27432" rIns="45720" bIns="27432" anchor="t">
            <a:spAutoFit/>
          </a:bodyPr>
          <a:lstStyle/>
          <a:p>
            <a:pPr algn="l"/>
            <a:r>
              <a:rPr sz="1200" b="0">
                <a:solidFill>
                  <a:srgbClr val="202031"/>
                </a:solidFill>
                <a:latin typeface="Raleway Light"/>
              </a:rPr>
              <a:t>+34 695 02 19 78</a:t>
            </a:r>
          </a:p>
          <a:p>
            <a:pPr algn="l"/>
            <a:r>
              <a:rPr sz="1200" b="0">
                <a:solidFill>
                  <a:srgbClr val="202031"/>
                </a:solidFill>
                <a:latin typeface="Raleway Light"/>
              </a:rPr>
              <a:t>edward@tesseraservices.com</a:t>
            </a:r>
          </a:p>
        </p:txBody>
      </p:sp>
      <p:sp>
        <p:nvSpPr>
          <p:cNvPr id="335" name="TextBox 334"/>
          <p:cNvSpPr txBox="1"/>
          <p:nvPr/>
        </p:nvSpPr>
        <p:spPr>
          <a:xfrm>
            <a:off x="548640" y="5486400"/>
            <a:ext cx="5486400" cy="365760"/>
          </a:xfrm>
          <a:prstGeom prst="rect">
            <a:avLst/>
          </a:prstGeom>
          <a:noFill/>
        </p:spPr>
        <p:txBody>
          <a:bodyPr wrap="square" lIns="45720" tIns="27432" rIns="45720" bIns="27432" anchor="t">
            <a:spAutoFit/>
          </a:bodyPr>
          <a:lstStyle/>
          <a:p>
            <a:pPr algn="l"/>
            <a:r>
              <a:rPr sz="1200" b="0">
                <a:solidFill>
                  <a:srgbClr val="516B6C"/>
                </a:solidFill>
                <a:latin typeface="Raleway Medium"/>
              </a:rPr>
              <a:t>tesseraservices.com</a:t>
            </a:r>
          </a:p>
        </p:txBody>
      </p:sp>
      <p:pic>
        <p:nvPicPr>
          <p:cNvPr id="356" name="Picture 17"/>
          <p:cNvPicPr/>
          <p:nvPr/>
        </p:nvPicPr>
        <p:blipFill>
          <a:blip r:embed="rId3"/>
          <a:stretch/>
        </p:blipFill>
        <p:spPr>
          <a:xfrm>
            <a:off x="8778240" y="5120640"/>
            <a:ext cx="2926080" cy="932688"/>
          </a:xfrm>
          <a:prstGeom prst="rect">
            <a:avLst/>
          </a:prstGeom>
          <a:ln w="19080">
            <a:noFill/>
          </a:ln>
        </p:spPr>
      </p:pic>
      <p:sp>
        <p:nvSpPr>
          <p:cNvPr id="312" name="TextBox 3"/>
          <p:cNvSpPr txBox="1"/>
          <p:nvPr/>
        </p:nvSpPr>
        <p:spPr>
          <a:xfrm>
            <a:off x="9791640" y="6080040"/>
            <a:ext cx="2291040" cy="707760"/>
          </a:xfrm>
          <a:prstGeom prst="rect">
            <a:avLst/>
          </a:prstGeom>
          <a:noFill/>
          <a:ln w="0">
            <a:noFill/>
          </a:ln>
        </p:spPr>
        <p:txBody>
          <a:bodyPr anchor="t">
            <a:noAutofit/>
          </a:bodyPr>
          <a:lstStyle/>
          <a:p>
            <a:pPr algn="r">
              <a:lnSpc>
                <a:spcPct val="100000"/>
              </a:lnSpc>
            </a:pPr>
            <a:r>
              <a:rPr lang="es-ES" sz="4000" b="0" strike="noStrike" spc="-151">
                <a:solidFill>
                  <a:srgbClr val="202031"/>
                </a:solidFill>
                <a:latin typeface="Ailerons"/>
              </a:rPr>
              <a:t>09</a:t>
            </a:r>
            <a:endParaRPr lang="en-US" sz="4000" b="0" strike="noStrike" spc="-1">
              <a:solidFill>
                <a:srgbClr val="000000"/>
              </a:solidFill>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rotWithShape="0">
          <a:blip r:embed="rId2"/>
          <a:stretch/>
        </a:blipFill>
        <a:effectLst/>
      </p:bgPr>
    </p:bg>
    <p:spTree>
      <p:nvGrpSpPr>
        <p:cNvPr id="1" name=""/>
        <p:cNvGrpSpPr/>
        <p:nvPr/>
      </p:nvGrpSpPr>
      <p:grpSpPr>
        <a:xfrm>
          <a:off x="0" y="0"/>
          <a:ext cx="0" cy="0"/>
          <a:chOff x="0" y="0"/>
          <a:chExt cx="0" cy="0"/>
        </a:xfrm>
      </p:grpSpPr>
      <p:sp>
        <p:nvSpPr>
          <p:cNvPr id="111" name="Text 0"/>
          <p:cNvSpPr/>
          <p:nvPr/>
        </p:nvSpPr>
        <p:spPr>
          <a:xfrm>
            <a:off x="10180080" y="567000"/>
            <a:ext cx="1463040" cy="27432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pPr algn="r">
              <a:lnSpc>
                <a:spcPct val="100000"/>
              </a:lnSpc>
            </a:pPr>
            <a:r>
              <a:rPr lang="en-US" sz="1100" b="0" strike="noStrike" spc="199">
                <a:solidFill>
                  <a:srgbClr val="AFB2BE"/>
                </a:solidFill>
                <a:latin typeface="Manrope"/>
                <a:ea typeface="Raleway Medium"/>
              </a:rPr>
              <a:t>2026</a:t>
            </a:r>
            <a:endParaRPr lang="en-US" sz="1100" b="0" strike="noStrike" spc="-1">
              <a:solidFill>
                <a:srgbClr val="FFFFFF"/>
              </a:solidFill>
              <a:latin typeface="Arial"/>
            </a:endParaRPr>
          </a:p>
        </p:txBody>
      </p:sp>
      <p:sp>
        <p:nvSpPr>
          <p:cNvPr id="112" name="Text 1"/>
          <p:cNvSpPr/>
          <p:nvPr/>
        </p:nvSpPr>
        <p:spPr>
          <a:xfrm>
            <a:off x="414000" y="2926800"/>
            <a:ext cx="9666000" cy="91440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pPr>
              <a:lnSpc>
                <a:spcPct val="100000"/>
              </a:lnSpc>
            </a:pPr>
            <a:r>
              <a:rPr lang="en-US" sz="5800" b="0" strike="noStrike" spc="97">
                <a:solidFill>
                  <a:srgbClr val="F0E8DE"/>
                </a:solidFill>
                <a:latin typeface="Raleway ExtraBold"/>
                <a:ea typeface="Raleway ExtraBold"/>
              </a:rPr>
              <a:t>Better decisions,</a:t>
            </a:r>
            <a:endParaRPr lang="en-US" sz="5800" b="0" strike="noStrike" spc="-1">
              <a:solidFill>
                <a:srgbClr val="FFFFFF"/>
              </a:solidFill>
              <a:latin typeface="Arial"/>
            </a:endParaRPr>
          </a:p>
          <a:p>
            <a:pPr>
              <a:lnSpc>
                <a:spcPct val="100000"/>
              </a:lnSpc>
            </a:pPr>
            <a:r>
              <a:rPr lang="en-US" sz="5800" b="0" strike="noStrike" spc="97">
                <a:solidFill>
                  <a:srgbClr val="F0E8DE"/>
                </a:solidFill>
                <a:latin typeface="Raleway ExtraBold"/>
                <a:ea typeface="Raleway ExtraBold"/>
              </a:rPr>
              <a:t>together.</a:t>
            </a:r>
            <a:endParaRPr lang="en-US" sz="5800" b="0" strike="noStrike" spc="-1">
              <a:solidFill>
                <a:srgbClr val="FFFFFF"/>
              </a:solidFill>
              <a:latin typeface="Arial"/>
            </a:endParaRPr>
          </a:p>
        </p:txBody>
      </p:sp>
      <p:sp>
        <p:nvSpPr>
          <p:cNvPr id="113" name="Text 2"/>
          <p:cNvSpPr/>
          <p:nvPr/>
        </p:nvSpPr>
        <p:spPr>
          <a:xfrm>
            <a:off x="658440" y="3200400"/>
            <a:ext cx="8229600" cy="91440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endParaRPr lang="en-US" sz="1800" b="0" strike="noStrike" spc="-1">
              <a:solidFill>
                <a:srgbClr val="FFFFFF"/>
              </a:solidFill>
              <a:latin typeface="Arial"/>
            </a:endParaRPr>
          </a:p>
        </p:txBody>
      </p:sp>
      <p:sp>
        <p:nvSpPr>
          <p:cNvPr id="114" name="Text 3"/>
          <p:cNvSpPr/>
          <p:nvPr/>
        </p:nvSpPr>
        <p:spPr>
          <a:xfrm>
            <a:off x="676800" y="4251960"/>
            <a:ext cx="8229600" cy="36576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endParaRPr lang="en-US" sz="1800" b="0" strike="noStrike" spc="-1">
              <a:solidFill>
                <a:srgbClr val="FFFFFF"/>
              </a:solidFill>
              <a:latin typeface="Arial"/>
            </a:endParaRPr>
          </a:p>
        </p:txBody>
      </p:sp>
      <p:sp>
        <p:nvSpPr>
          <p:cNvPr id="115" name="Text 4"/>
          <p:cNvSpPr/>
          <p:nvPr/>
        </p:nvSpPr>
        <p:spPr>
          <a:xfrm>
            <a:off x="414000" y="4191120"/>
            <a:ext cx="8229600" cy="67104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pPr>
              <a:lnSpc>
                <a:spcPct val="100000"/>
              </a:lnSpc>
            </a:pPr>
            <a:endParaRPr lang="en-US" sz="1400" b="0" strike="noStrike" spc="-1">
              <a:solidFill>
                <a:srgbClr val="FFFFFF"/>
              </a:solidFill>
              <a:latin typeface="Arial"/>
            </a:endParaRPr>
          </a:p>
          <a:p>
            <a:pPr>
              <a:lnSpc>
                <a:spcPct val="100000"/>
              </a:lnSpc>
            </a:pPr>
            <a:r>
              <a:rPr lang="es-ES" sz="1400" b="1" strike="noStrike" spc="-1">
                <a:solidFill>
                  <a:srgbClr val="FBE0A0"/>
                </a:solidFill>
                <a:latin typeface="Raleway Light"/>
              </a:rPr>
              <a:t>Gracias</a:t>
            </a:r>
            <a:r>
              <a:rPr lang="es-ES" sz="1400" b="0" strike="noStrike" spc="-1">
                <a:solidFill>
                  <a:srgbClr val="FBE0A0"/>
                </a:solidFill>
                <a:latin typeface="Raleway Light"/>
              </a:rPr>
              <a:t> por tu tiempo.</a:t>
            </a:r>
            <a:endParaRPr lang="en-US" sz="1400" b="0" strike="noStrike" spc="-1">
              <a:solidFill>
                <a:srgbClr val="FFFFFF"/>
              </a:solidFill>
              <a:latin typeface="Arial"/>
            </a:endParaRPr>
          </a:p>
          <a:p>
            <a:pPr>
              <a:lnSpc>
                <a:spcPct val="100000"/>
              </a:lnSpc>
            </a:pPr>
            <a:r>
              <a:rPr lang="es-ES" sz="1200" b="0" strike="noStrike" spc="-1">
                <a:solidFill>
                  <a:srgbClr val="FBE0A0"/>
                </a:solidFill>
                <a:latin typeface="Raleway Light"/>
              </a:rPr>
              <a:t>Estaremos encantados de concretar cómo podemos acompañar al fondo y a sus participadas.</a:t>
            </a:r>
            <a:endParaRPr lang="en-US" sz="1200" b="0" strike="noStrike" spc="-1">
              <a:solidFill>
                <a:srgbClr val="FFFFFF"/>
              </a:solidFill>
              <a:latin typeface="Arial"/>
            </a:endParaRPr>
          </a:p>
          <a:p>
            <a:pPr>
              <a:lnSpc>
                <a:spcPct val="100000"/>
              </a:lnSpc>
            </a:pPr>
            <a:endParaRPr lang="en-US" sz="1400" b="0" strike="noStrike" spc="-1">
              <a:solidFill>
                <a:srgbClr val="FFFFFF"/>
              </a:solidFill>
              <a:latin typeface="Arial"/>
            </a:endParaRPr>
          </a:p>
        </p:txBody>
      </p:sp>
      <p:sp>
        <p:nvSpPr>
          <p:cNvPr id="116" name="Text 5"/>
          <p:cNvSpPr/>
          <p:nvPr/>
        </p:nvSpPr>
        <p:spPr>
          <a:xfrm>
            <a:off x="414000" y="6303240"/>
            <a:ext cx="6400800" cy="36576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pPr>
              <a:lnSpc>
                <a:spcPct val="100000"/>
              </a:lnSpc>
            </a:pPr>
            <a:r>
              <a:rPr lang="en-US" sz="1600" b="1" strike="noStrike" spc="-1">
                <a:solidFill>
                  <a:srgbClr val="F0E8DE"/>
                </a:solidFill>
                <a:latin typeface="Raleway Medium"/>
                <a:ea typeface="Raleway Medium"/>
              </a:rPr>
              <a:t>tesseraservices.com</a:t>
            </a:r>
            <a:r>
              <a:rPr lang="en-US" sz="1600" b="0" strike="noStrike" spc="-1">
                <a:solidFill>
                  <a:srgbClr val="F0E8DE"/>
                </a:solidFill>
                <a:latin typeface="Raleway Medium"/>
                <a:ea typeface="Raleway Medium"/>
              </a:rPr>
              <a:t>   ·   LinkedIn @tesseraservices</a:t>
            </a:r>
            <a:endParaRPr lang="en-US" sz="1600" b="0" strike="noStrike" spc="-1">
              <a:solidFill>
                <a:srgbClr val="FFFFFF"/>
              </a:solidFill>
              <a:latin typeface="Arial"/>
            </a:endParaRPr>
          </a:p>
        </p:txBody>
      </p:sp>
      <p:pic>
        <p:nvPicPr>
          <p:cNvPr id="117" name="Imagen 11"/>
          <p:cNvPicPr/>
          <p:nvPr/>
        </p:nvPicPr>
        <p:blipFill>
          <a:blip r:embed="rId3"/>
          <a:stretch/>
        </p:blipFill>
        <p:spPr>
          <a:xfrm>
            <a:off x="314280" y="469800"/>
            <a:ext cx="2754360" cy="743040"/>
          </a:xfrm>
          <a:prstGeom prst="rect">
            <a:avLst/>
          </a:prstGeom>
          <a:ln w="19080">
            <a:noFill/>
          </a:ln>
        </p:spPr>
      </p:pic>
      <p:sp>
        <p:nvSpPr>
          <p:cNvPr id="118" name="Text 5"/>
          <p:cNvSpPr/>
          <p:nvPr/>
        </p:nvSpPr>
        <p:spPr>
          <a:xfrm>
            <a:off x="314280" y="6217200"/>
            <a:ext cx="6400800" cy="365760"/>
          </a:xfrm>
          <a:custGeom>
            <a:avLst/>
            <a:gdLst/>
            <a:ahLst/>
            <a:cxnLst/>
            <a:rect l="l" t="t" r="r" b="b"/>
            <a:pathLst>
              <a:path w="21600" h="21600">
                <a:moveTo>
                  <a:pt x="0" y="0"/>
                </a:moveTo>
                <a:lnTo>
                  <a:pt x="21600" y="0"/>
                </a:lnTo>
                <a:lnTo>
                  <a:pt x="21600" y="21600"/>
                </a:lnTo>
                <a:lnTo>
                  <a:pt x="0" y="21600"/>
                </a:lnTo>
                <a:close/>
              </a:path>
            </a:pathLst>
          </a:custGeom>
          <a:noFill/>
          <a:ln w="0">
            <a:noFill/>
          </a:ln>
        </p:spPr>
        <p:style>
          <a:lnRef idx="0">
            <a:scrgbClr r="0" g="0" b="0"/>
          </a:lnRef>
          <a:fillRef idx="0">
            <a:scrgbClr r="0" g="0" b="0"/>
          </a:fillRef>
          <a:effectRef idx="0">
            <a:scrgbClr r="0" g="0" b="0"/>
          </a:effectRef>
          <a:fontRef idx="minor"/>
        </p:style>
        <p:txBody>
          <a:bodyPr anchor="ctr">
            <a:noAutofit/>
          </a:bodyPr>
          <a:lstStyle/>
          <a:p>
            <a:endParaRPr lang="en-US" sz="1800" b="0" strike="noStrike" spc="-1">
              <a:solidFill>
                <a:srgbClr val="FFFFFF"/>
              </a:solidFill>
              <a:latin typeface="Arial"/>
            </a:endParaRPr>
          </a:p>
        </p:txBody>
      </p:sp>
    </p:spTree>
  </p:cSld>
  <p:clrMapOvr>
    <a:masterClrMapping/>
  </p:clrMapOvr>
</p:sld>
</file>

<file path=ppt/theme/theme1.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4.xml><?xml version="1.0" encoding="utf-8"?>
<a:theme xmlns:a="http://schemas.openxmlformats.org/drawingml/2006/main"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5.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E7B1370-03CF-48B8-96FF-36287D44756C}">
  <we:reference id="f5f369e5-aa35-49d7-ad7b-638152ddb008" version="1.0.0.1" store="excatalog" storeType="excatalog"/>
  <we:alternateReferences>
    <we:reference id="WA200010001" version="1.0.0.1" store="es-es" storeType="omex"/>
  </we:alternateReferences>
  <we:properties>
    <we:property name="claude.fileId" value="&quot;b5ae6cf9-fe81-4361-a2c3-12e846306d04&quot;"/>
  </we:properties>
  <we:bindings/>
  <we:snapshot xmlns:r="http://schemas.openxmlformats.org/officeDocument/2006/relationships"/>
  <we:extLst>
    <a:ext xmlns:a="http://schemas.openxmlformats.org/drawingml/2006/main" uri="{0858819E-0033-43BF-8937-05EC82904868}">
      <we:backgroundApp state="0" runtimeId="Taskpane.Url"/>
    </a:ext>
  </we:extLst>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53BE08315ACD3C45BE562347C05CF5EB" ma:contentTypeVersion="10" ma:contentTypeDescription="Crear nuevo documento." ma:contentTypeScope="" ma:versionID="b4e1292ac7e759eb3baec1f6d50d97f3">
  <xsd:schema xmlns:xsd="http://www.w3.org/2001/XMLSchema" xmlns:xs="http://www.w3.org/2001/XMLSchema" xmlns:p="http://schemas.microsoft.com/office/2006/metadata/properties" xmlns:ns2="c3d84d8c-9f5e-4220-b809-bd050cc4def7" targetNamespace="http://schemas.microsoft.com/office/2006/metadata/properties" ma:root="true" ma:fieldsID="d8786116ecd06694604b2c64c49a5eb8" ns2:_="">
    <xsd:import namespace="c3d84d8c-9f5e-4220-b809-bd050cc4def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3d84d8c-9f5e-4220-b809-bd050cc4def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6f94a821-a78e-44d7-98ea-80c16a79ba49"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c3d84d8c-9f5e-4220-b809-bd050cc4def7">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348B6BB-D23D-4E52-B8BA-51A256266371}">
  <ds:schemaRefs>
    <ds:schemaRef ds:uri="c3d84d8c-9f5e-4220-b809-bd050cc4def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BF31B681-5289-4CF8-838C-EA7557864A41}">
  <ds:schemaRefs>
    <ds:schemaRef ds:uri="c3d84d8c-9f5e-4220-b809-bd050cc4def7"/>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8B836FA9-F80F-4FA2-8F9E-B803B601CC5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Panorámica</PresentationFormat>
  <Slides>15</Slides>
  <Notes>6</Notes>
  <HiddenSlides>0</HiddenSlides>
  <ScaleCrop>false</ScaleCrop>
  <HeadingPairs>
    <vt:vector size="4" baseType="variant">
      <vt:variant>
        <vt:lpstr>Tema</vt:lpstr>
      </vt:variant>
      <vt:variant>
        <vt:i4>4</vt:i4>
      </vt:variant>
      <vt:variant>
        <vt:lpstr>Títulos de diapositiva</vt:lpstr>
      </vt:variant>
      <vt:variant>
        <vt:i4>15</vt:i4>
      </vt:variant>
    </vt:vector>
  </HeadingPairs>
  <TitlesOfParts>
    <vt:vector size="19" baseType="lpstr">
      <vt:lpstr>Office</vt:lpstr>
      <vt:lpstr>Office</vt:lpstr>
      <vt:lpstr>Office</vt:lpstr>
      <vt:lpstr>Office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revision>7</cp:revision>
  <dcterms:modified xsi:type="dcterms:W3CDTF">2026-09-15T13:23:18Z</dcterms:modified>
</cp:coreProperties>
</file>

<file path=docProps/core0.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2025-01-10T09:36:36Z</dcterms:created>
  <dc:creator>paloma alberola</dc:creator>
  <dc:description/>
  <dc:language>en-US</dc:language>
  <cp:lastModifiedBy>Eddy</cp:lastModifiedBy>
  <dcterms:modified xsi:type="dcterms:W3CDTF">2026-09-10T08:49:06Z</dcterms:modified>
  <cp:revision>90</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0x01010053BE08315ACD3C45BE562347C05CF5EB</vt:lpwstr>
  </property>
  <property fmtid="{D5CDD505-2E9C-101B-9397-08002B2CF9AE}" pid="3" name="MediaServiceImageTags">
    <vt:lpwstr/>
  </property>
</Properties>
</file>